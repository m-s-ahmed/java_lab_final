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handoutMasterIdLst>
    <p:handoutMasterId r:id="rId89"/>
  </p:handoutMasterIdLst>
  <p:sldIdLst>
    <p:sldId id="257" r:id="rId2"/>
    <p:sldId id="316" r:id="rId3"/>
    <p:sldId id="315" r:id="rId4"/>
    <p:sldId id="317" r:id="rId5"/>
    <p:sldId id="318" r:id="rId6"/>
    <p:sldId id="319" r:id="rId7"/>
    <p:sldId id="256" r:id="rId8"/>
    <p:sldId id="338" r:id="rId9"/>
    <p:sldId id="552" r:id="rId10"/>
    <p:sldId id="553" r:id="rId11"/>
    <p:sldId id="555" r:id="rId12"/>
    <p:sldId id="556" r:id="rId13"/>
    <p:sldId id="562" r:id="rId14"/>
    <p:sldId id="557" r:id="rId15"/>
    <p:sldId id="563" r:id="rId16"/>
    <p:sldId id="558" r:id="rId17"/>
    <p:sldId id="559" r:id="rId18"/>
    <p:sldId id="568" r:id="rId19"/>
    <p:sldId id="566" r:id="rId20"/>
    <p:sldId id="599" r:id="rId21"/>
    <p:sldId id="600" r:id="rId22"/>
    <p:sldId id="601" r:id="rId23"/>
    <p:sldId id="602" r:id="rId24"/>
    <p:sldId id="603" r:id="rId25"/>
    <p:sldId id="604" r:id="rId26"/>
    <p:sldId id="605" r:id="rId27"/>
    <p:sldId id="606" r:id="rId28"/>
    <p:sldId id="607" r:id="rId29"/>
    <p:sldId id="608" r:id="rId30"/>
    <p:sldId id="629" r:id="rId31"/>
    <p:sldId id="630" r:id="rId32"/>
    <p:sldId id="631" r:id="rId33"/>
    <p:sldId id="609" r:id="rId34"/>
    <p:sldId id="610" r:id="rId35"/>
    <p:sldId id="611" r:id="rId36"/>
    <p:sldId id="612" r:id="rId37"/>
    <p:sldId id="613" r:id="rId38"/>
    <p:sldId id="617" r:id="rId39"/>
    <p:sldId id="614" r:id="rId40"/>
    <p:sldId id="615" r:id="rId41"/>
    <p:sldId id="616" r:id="rId42"/>
    <p:sldId id="618" r:id="rId43"/>
    <p:sldId id="620" r:id="rId44"/>
    <p:sldId id="623" r:id="rId45"/>
    <p:sldId id="624" r:id="rId46"/>
    <p:sldId id="621" r:id="rId47"/>
    <p:sldId id="622" r:id="rId48"/>
    <p:sldId id="625" r:id="rId49"/>
    <p:sldId id="626" r:id="rId50"/>
    <p:sldId id="627" r:id="rId51"/>
    <p:sldId id="628" r:id="rId52"/>
    <p:sldId id="632" r:id="rId53"/>
    <p:sldId id="633" r:id="rId54"/>
    <p:sldId id="635" r:id="rId55"/>
    <p:sldId id="634" r:id="rId56"/>
    <p:sldId id="640" r:id="rId57"/>
    <p:sldId id="641" r:id="rId58"/>
    <p:sldId id="642" r:id="rId59"/>
    <p:sldId id="643" r:id="rId60"/>
    <p:sldId id="644" r:id="rId61"/>
    <p:sldId id="645" r:id="rId62"/>
    <p:sldId id="646" r:id="rId63"/>
    <p:sldId id="647" r:id="rId64"/>
    <p:sldId id="649" r:id="rId65"/>
    <p:sldId id="650" r:id="rId66"/>
    <p:sldId id="648" r:id="rId67"/>
    <p:sldId id="651" r:id="rId68"/>
    <p:sldId id="652" r:id="rId69"/>
    <p:sldId id="639" r:id="rId70"/>
    <p:sldId id="636" r:id="rId71"/>
    <p:sldId id="637" r:id="rId72"/>
    <p:sldId id="638" r:id="rId73"/>
    <p:sldId id="653" r:id="rId74"/>
    <p:sldId id="654" r:id="rId75"/>
    <p:sldId id="659" r:id="rId76"/>
    <p:sldId id="655" r:id="rId77"/>
    <p:sldId id="660" r:id="rId78"/>
    <p:sldId id="656" r:id="rId79"/>
    <p:sldId id="661" r:id="rId80"/>
    <p:sldId id="657" r:id="rId81"/>
    <p:sldId id="662" r:id="rId82"/>
    <p:sldId id="658" r:id="rId83"/>
    <p:sldId id="663" r:id="rId84"/>
    <p:sldId id="665" r:id="rId85"/>
    <p:sldId id="666" r:id="rId86"/>
    <p:sldId id="619" r:id="rId87"/>
  </p:sldIdLst>
  <p:sldSz cx="9144000" cy="6858000" type="screen4x3"/>
  <p:notesSz cx="6985000" cy="9271000"/>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0">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a:srgbClr val="003399"/>
    <a:srgbClr val="CC3300"/>
    <a:srgbClr val="11FF11"/>
    <a:srgbClr val="CCCCFF"/>
    <a:srgbClr val="FFFF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76" autoAdjust="0"/>
    <p:restoredTop sz="92606" autoAdjust="0"/>
  </p:normalViewPr>
  <p:slideViewPr>
    <p:cSldViewPr>
      <p:cViewPr varScale="1">
        <p:scale>
          <a:sx n="107" d="100"/>
          <a:sy n="107" d="100"/>
        </p:scale>
        <p:origin x="-196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430"/>
    </p:cViewPr>
  </p:sorterViewPr>
  <p:notesViewPr>
    <p:cSldViewPr>
      <p:cViewPr varScale="1">
        <p:scale>
          <a:sx n="55" d="100"/>
          <a:sy n="55" d="100"/>
        </p:scale>
        <p:origin x="-2838" y="-84"/>
      </p:cViewPr>
      <p:guideLst>
        <p:guide orient="horz" pos="2920"/>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xmlns="" id="{1341AAB7-3831-E314-0395-3818C25D9C2B}"/>
              </a:ext>
            </a:extLst>
          </p:cNvPr>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eaLnBrk="1" hangingPunct="1">
              <a:defRPr sz="1200">
                <a:latin typeface="Arial" pitchFamily="34" charset="0"/>
              </a:defRPr>
            </a:lvl1pPr>
          </a:lstStyle>
          <a:p>
            <a:pPr>
              <a:defRPr/>
            </a:pPr>
            <a:endParaRPr lang="en-US"/>
          </a:p>
        </p:txBody>
      </p:sp>
      <p:sp>
        <p:nvSpPr>
          <p:cNvPr id="24579" name="Rectangle 3">
            <a:extLst>
              <a:ext uri="{FF2B5EF4-FFF2-40B4-BE49-F238E27FC236}">
                <a16:creationId xmlns:a16="http://schemas.microsoft.com/office/drawing/2014/main" xmlns="" id="{B66C7BEC-AB27-9317-D065-7D8E31ED4B91}"/>
              </a:ext>
            </a:extLst>
          </p:cNvPr>
          <p:cNvSpPr>
            <a:spLocks noGrp="1" noChangeArrowheads="1"/>
          </p:cNvSpPr>
          <p:nvPr>
            <p:ph type="dt" sz="quarter" idx="1"/>
          </p:nvPr>
        </p:nvSpPr>
        <p:spPr bwMode="auto">
          <a:xfrm>
            <a:off x="3956050" y="0"/>
            <a:ext cx="3027363"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atin typeface="Arial" pitchFamily="34" charset="0"/>
              </a:defRPr>
            </a:lvl1pPr>
          </a:lstStyle>
          <a:p>
            <a:pPr>
              <a:defRPr/>
            </a:pPr>
            <a:endParaRPr lang="en-US"/>
          </a:p>
        </p:txBody>
      </p:sp>
      <p:sp>
        <p:nvSpPr>
          <p:cNvPr id="24580" name="Rectangle 4">
            <a:extLst>
              <a:ext uri="{FF2B5EF4-FFF2-40B4-BE49-F238E27FC236}">
                <a16:creationId xmlns:a16="http://schemas.microsoft.com/office/drawing/2014/main" xmlns="" id="{EEC6E1C2-E7B0-62A0-3135-9E071AE7F3BD}"/>
              </a:ext>
            </a:extLst>
          </p:cNvPr>
          <p:cNvSpPr>
            <a:spLocks noGrp="1" noChangeArrowheads="1"/>
          </p:cNvSpPr>
          <p:nvPr>
            <p:ph type="ftr" sz="quarter" idx="2"/>
          </p:nvPr>
        </p:nvSpPr>
        <p:spPr bwMode="auto">
          <a:xfrm>
            <a:off x="0" y="8805863"/>
            <a:ext cx="3027363" cy="46355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eaLnBrk="1" hangingPunct="1">
              <a:defRPr sz="1200">
                <a:latin typeface="Arial" pitchFamily="34" charset="0"/>
              </a:defRPr>
            </a:lvl1pPr>
          </a:lstStyle>
          <a:p>
            <a:pPr>
              <a:defRPr/>
            </a:pPr>
            <a:endParaRPr lang="en-US"/>
          </a:p>
        </p:txBody>
      </p:sp>
      <p:sp>
        <p:nvSpPr>
          <p:cNvPr id="24581" name="Rectangle 5">
            <a:extLst>
              <a:ext uri="{FF2B5EF4-FFF2-40B4-BE49-F238E27FC236}">
                <a16:creationId xmlns:a16="http://schemas.microsoft.com/office/drawing/2014/main" xmlns="" id="{44ACC05E-F66F-2CD3-C712-A5943431D20F}"/>
              </a:ext>
            </a:extLst>
          </p:cNvPr>
          <p:cNvSpPr>
            <a:spLocks noGrp="1" noChangeArrowheads="1"/>
          </p:cNvSpPr>
          <p:nvPr>
            <p:ph type="sldNum" sz="quarter" idx="3"/>
          </p:nvPr>
        </p:nvSpPr>
        <p:spPr bwMode="auto">
          <a:xfrm>
            <a:off x="3956050" y="8805863"/>
            <a:ext cx="3027363" cy="46355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vl1pPr>
          </a:lstStyle>
          <a:p>
            <a:fld id="{AE6439FB-7476-4873-A51D-2E5BF092E0CF}"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3B0FF70C-BDF2-2CF6-DD03-F0654BD5531B}"/>
              </a:ext>
            </a:extLst>
          </p:cNvPr>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eaLnBrk="1" hangingPunct="1">
              <a:defRPr sz="1200">
                <a:latin typeface="Arial" pitchFamily="34" charset="0"/>
              </a:defRPr>
            </a:lvl1pPr>
          </a:lstStyle>
          <a:p>
            <a:pPr>
              <a:defRPr/>
            </a:pPr>
            <a:endParaRPr lang="en-US"/>
          </a:p>
        </p:txBody>
      </p:sp>
      <p:sp>
        <p:nvSpPr>
          <p:cNvPr id="12291" name="Rectangle 3">
            <a:extLst>
              <a:ext uri="{FF2B5EF4-FFF2-40B4-BE49-F238E27FC236}">
                <a16:creationId xmlns:a16="http://schemas.microsoft.com/office/drawing/2014/main" xmlns="" id="{A639C55E-7F97-64D5-2EDF-236F8FDC209D}"/>
              </a:ext>
            </a:extLst>
          </p:cNvPr>
          <p:cNvSpPr>
            <a:spLocks noGrp="1" noChangeArrowheads="1"/>
          </p:cNvSpPr>
          <p:nvPr>
            <p:ph type="dt" idx="1"/>
          </p:nvPr>
        </p:nvSpPr>
        <p:spPr bwMode="auto">
          <a:xfrm>
            <a:off x="3956050" y="0"/>
            <a:ext cx="3027363"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atin typeface="Arial" pitchFamily="34" charset="0"/>
              </a:defRPr>
            </a:lvl1pPr>
          </a:lstStyle>
          <a:p>
            <a:pPr>
              <a:defRPr/>
            </a:pPr>
            <a:endParaRPr lang="en-US"/>
          </a:p>
        </p:txBody>
      </p:sp>
      <p:sp>
        <p:nvSpPr>
          <p:cNvPr id="49156" name="Rectangle 4">
            <a:extLst>
              <a:ext uri="{FF2B5EF4-FFF2-40B4-BE49-F238E27FC236}">
                <a16:creationId xmlns:a16="http://schemas.microsoft.com/office/drawing/2014/main" xmlns="" id="{6BBC8ED4-E90C-44FD-8465-B953D53FB3D0}"/>
              </a:ext>
            </a:extLst>
          </p:cNvPr>
          <p:cNvSpPr>
            <a:spLocks noGrp="1" noRot="1" noChangeAspect="1" noChangeArrowheads="1" noTextEdit="1"/>
          </p:cNvSpPr>
          <p:nvPr>
            <p:ph type="sldImg" idx="2"/>
          </p:nvPr>
        </p:nvSpPr>
        <p:spPr bwMode="auto">
          <a:xfrm>
            <a:off x="1174750" y="695325"/>
            <a:ext cx="4637088" cy="3476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a:extLst>
              <a:ext uri="{FF2B5EF4-FFF2-40B4-BE49-F238E27FC236}">
                <a16:creationId xmlns:a16="http://schemas.microsoft.com/office/drawing/2014/main" xmlns="" id="{7B27CCC2-4821-1E97-E6D8-639890562810}"/>
              </a:ext>
            </a:extLst>
          </p:cNvPr>
          <p:cNvSpPr>
            <a:spLocks noGrp="1" noChangeArrowheads="1"/>
          </p:cNvSpPr>
          <p:nvPr>
            <p:ph type="body" sz="quarter" idx="3"/>
          </p:nvPr>
        </p:nvSpPr>
        <p:spPr bwMode="auto">
          <a:xfrm>
            <a:off x="700088" y="4403725"/>
            <a:ext cx="5584825" cy="41719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294" name="Rectangle 6">
            <a:extLst>
              <a:ext uri="{FF2B5EF4-FFF2-40B4-BE49-F238E27FC236}">
                <a16:creationId xmlns:a16="http://schemas.microsoft.com/office/drawing/2014/main" xmlns="" id="{00B7BB33-3201-E08E-CEB9-814BE450F894}"/>
              </a:ext>
            </a:extLst>
          </p:cNvPr>
          <p:cNvSpPr>
            <a:spLocks noGrp="1" noChangeArrowheads="1"/>
          </p:cNvSpPr>
          <p:nvPr>
            <p:ph type="ftr" sz="quarter" idx="4"/>
          </p:nvPr>
        </p:nvSpPr>
        <p:spPr bwMode="auto">
          <a:xfrm>
            <a:off x="0" y="8805863"/>
            <a:ext cx="3027363" cy="46355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eaLnBrk="1" hangingPunct="1">
              <a:defRPr sz="1200">
                <a:latin typeface="Arial" pitchFamily="34" charset="0"/>
              </a:defRPr>
            </a:lvl1pPr>
          </a:lstStyle>
          <a:p>
            <a:pPr>
              <a:defRPr/>
            </a:pPr>
            <a:endParaRPr lang="en-US"/>
          </a:p>
        </p:txBody>
      </p:sp>
    </p:spTree>
    <p:extLst>
      <p:ext uri="{BB962C8B-B14F-4D97-AF65-F5344CB8AC3E}">
        <p14:creationId xmlns:p14="http://schemas.microsoft.com/office/powerpoint/2010/main" val="19995410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a:t>
            </a:fld>
            <a:endParaRPr lang="en-US"/>
          </a:p>
        </p:txBody>
      </p:sp>
    </p:spTree>
    <p:extLst>
      <p:ext uri="{BB962C8B-B14F-4D97-AF65-F5344CB8AC3E}">
        <p14:creationId xmlns:p14="http://schemas.microsoft.com/office/powerpoint/2010/main" val="1923459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a:t>
            </a:fld>
            <a:endParaRPr lang="en-US"/>
          </a:p>
        </p:txBody>
      </p:sp>
    </p:spTree>
    <p:extLst>
      <p:ext uri="{BB962C8B-B14F-4D97-AF65-F5344CB8AC3E}">
        <p14:creationId xmlns:p14="http://schemas.microsoft.com/office/powerpoint/2010/main" val="140345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a:t>
            </a:fld>
            <a:endParaRPr lang="en-US"/>
          </a:p>
        </p:txBody>
      </p:sp>
    </p:spTree>
    <p:extLst>
      <p:ext uri="{BB962C8B-B14F-4D97-AF65-F5344CB8AC3E}">
        <p14:creationId xmlns:p14="http://schemas.microsoft.com/office/powerpoint/2010/main" val="635731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a:t>
            </a:fld>
            <a:endParaRPr lang="en-US"/>
          </a:p>
        </p:txBody>
      </p:sp>
    </p:spTree>
    <p:extLst>
      <p:ext uri="{BB962C8B-B14F-4D97-AF65-F5344CB8AC3E}">
        <p14:creationId xmlns:p14="http://schemas.microsoft.com/office/powerpoint/2010/main" val="897142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5</a:t>
            </a:fld>
            <a:endParaRPr lang="en-US"/>
          </a:p>
        </p:txBody>
      </p:sp>
    </p:spTree>
    <p:extLst>
      <p:ext uri="{BB962C8B-B14F-4D97-AF65-F5344CB8AC3E}">
        <p14:creationId xmlns:p14="http://schemas.microsoft.com/office/powerpoint/2010/main" val="221753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6</a:t>
            </a:fld>
            <a:endParaRPr lang="en-US"/>
          </a:p>
        </p:txBody>
      </p:sp>
    </p:spTree>
    <p:extLst>
      <p:ext uri="{BB962C8B-B14F-4D97-AF65-F5344CB8AC3E}">
        <p14:creationId xmlns:p14="http://schemas.microsoft.com/office/powerpoint/2010/main" val="4221193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xmlns="" id="{70930FB8-32B3-D07C-7345-B983DBB6E1A1}"/>
              </a:ext>
            </a:extLst>
          </p:cNvPr>
          <p:cNvSpPr>
            <a:spLocks noGrp="1" noChangeArrowheads="1"/>
          </p:cNvSpPr>
          <p:nvPr>
            <p:ph type="sldNum" sz="quarter" idx="4294967295"/>
          </p:nvPr>
        </p:nvSpPr>
        <p:spPr bwMode="auto">
          <a:xfrm>
            <a:off x="3956050" y="8805863"/>
            <a:ext cx="3027363" cy="4635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fld id="{5D3A275C-EDFF-43B9-B28A-BE35E723048A}" type="slidenum">
              <a:rPr lang="en-US" altLang="en-US">
                <a:cs typeface="Arial" panose="020B0604020202020204" pitchFamily="34" charset="0"/>
              </a:rPr>
              <a:pPr algn="ctr" eaLnBrk="1" hangingPunct="1"/>
              <a:t>7</a:t>
            </a:fld>
            <a:endParaRPr lang="en-US" altLang="en-US">
              <a:cs typeface="Arial" panose="020B0604020202020204" pitchFamily="34" charset="0"/>
            </a:endParaRPr>
          </a:p>
        </p:txBody>
      </p:sp>
      <p:sp>
        <p:nvSpPr>
          <p:cNvPr id="50179" name="Rectangle 2">
            <a:extLst>
              <a:ext uri="{FF2B5EF4-FFF2-40B4-BE49-F238E27FC236}">
                <a16:creationId xmlns:a16="http://schemas.microsoft.com/office/drawing/2014/main" xmlns="" id="{233A707A-72C6-AD11-6ECC-7E4585A1C56D}"/>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xmlns="" id="{0FBD0B44-7435-E979-534B-D8F5175DA3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317989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xmlns="" id="{027A4FFB-2EE4-2D95-858A-47CB845A6A36}"/>
              </a:ext>
            </a:extLst>
          </p:cNvPr>
          <p:cNvSpPr>
            <a:spLocks noGrp="1" noRot="1" noChangeAspect="1" noTextEdit="1"/>
          </p:cNvSpPr>
          <p:nvPr>
            <p:ph type="sldImg"/>
          </p:nvPr>
        </p:nvSpPr>
        <p:spPr>
          <a:ln/>
        </p:spPr>
      </p:sp>
      <p:sp>
        <p:nvSpPr>
          <p:cNvPr id="51203" name="Notes Placeholder 2">
            <a:extLst>
              <a:ext uri="{FF2B5EF4-FFF2-40B4-BE49-F238E27FC236}">
                <a16:creationId xmlns:a16="http://schemas.microsoft.com/office/drawing/2014/main" xmlns="" id="{70B42316-B731-B971-9B49-40695DBB7A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21921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a:extLst>
              <a:ext uri="{FF2B5EF4-FFF2-40B4-BE49-F238E27FC236}">
                <a16:creationId xmlns:a16="http://schemas.microsoft.com/office/drawing/2014/main" xmlns="" id="{1B10F431-3B71-9C79-D222-8E3F286BBDE0}"/>
              </a:ext>
            </a:extLst>
          </p:cNvPr>
          <p:cNvSpPr>
            <a:spLocks noGrp="1" noChangeArrowheads="1"/>
          </p:cNvSpPr>
          <p:nvPr>
            <p:ph type="sldNum" sz="quarter" idx="10"/>
          </p:nvPr>
        </p:nvSpPr>
        <p:spPr>
          <a:ln/>
        </p:spPr>
        <p:txBody>
          <a:bodyPr/>
          <a:lstStyle>
            <a:lvl1pPr>
              <a:defRPr/>
            </a:lvl1pPr>
          </a:lstStyle>
          <a:p>
            <a:fld id="{3C1B28AF-3C87-4B84-878C-17F382C916B9}" type="slidenum">
              <a:rPr lang="en-US" altLang="en-US"/>
              <a:pPr/>
              <a:t>‹#›</a:t>
            </a:fld>
            <a:endParaRPr lang="en-US" altLang="en-US"/>
          </a:p>
        </p:txBody>
      </p:sp>
    </p:spTree>
    <p:extLst>
      <p:ext uri="{BB962C8B-B14F-4D97-AF65-F5344CB8AC3E}">
        <p14:creationId xmlns:p14="http://schemas.microsoft.com/office/powerpoint/2010/main" val="9963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7BCC2514-39F7-4EFB-4142-9010ED0911D0}"/>
              </a:ext>
            </a:extLst>
          </p:cNvPr>
          <p:cNvSpPr>
            <a:spLocks noGrp="1" noChangeArrowheads="1"/>
          </p:cNvSpPr>
          <p:nvPr>
            <p:ph type="sldNum" sz="quarter" idx="10"/>
          </p:nvPr>
        </p:nvSpPr>
        <p:spPr>
          <a:ln/>
        </p:spPr>
        <p:txBody>
          <a:bodyPr/>
          <a:lstStyle>
            <a:lvl1pPr>
              <a:defRPr/>
            </a:lvl1pPr>
          </a:lstStyle>
          <a:p>
            <a:fld id="{318E18A1-927C-44B6-85CB-6862163FC039}" type="slidenum">
              <a:rPr lang="en-US" altLang="en-US"/>
              <a:pPr/>
              <a:t>‹#›</a:t>
            </a:fld>
            <a:endParaRPr lang="en-US" altLang="en-US"/>
          </a:p>
        </p:txBody>
      </p:sp>
    </p:spTree>
    <p:extLst>
      <p:ext uri="{BB962C8B-B14F-4D97-AF65-F5344CB8AC3E}">
        <p14:creationId xmlns:p14="http://schemas.microsoft.com/office/powerpoint/2010/main" val="4211728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xmlns="" id="{3C9ADD02-F90B-5FC1-619D-99220FEF0295}"/>
              </a:ext>
            </a:extLst>
          </p:cNvPr>
          <p:cNvSpPr>
            <a:spLocks noGrp="1" noChangeArrowheads="1"/>
          </p:cNvSpPr>
          <p:nvPr>
            <p:ph type="sldNum" sz="quarter" idx="10"/>
          </p:nvPr>
        </p:nvSpPr>
        <p:spPr>
          <a:ln/>
        </p:spPr>
        <p:txBody>
          <a:bodyPr/>
          <a:lstStyle>
            <a:lvl1pPr>
              <a:defRPr/>
            </a:lvl1pPr>
          </a:lstStyle>
          <a:p>
            <a:fld id="{30996533-C0C2-49AC-AFC4-9A6C65CB876A}" type="slidenum">
              <a:rPr lang="en-US" altLang="en-US"/>
              <a:pPr/>
              <a:t>‹#›</a:t>
            </a:fld>
            <a:endParaRPr lang="en-US" altLang="en-US"/>
          </a:p>
        </p:txBody>
      </p:sp>
    </p:spTree>
    <p:extLst>
      <p:ext uri="{BB962C8B-B14F-4D97-AF65-F5344CB8AC3E}">
        <p14:creationId xmlns:p14="http://schemas.microsoft.com/office/powerpoint/2010/main" val="292286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71450" y="838200"/>
            <a:ext cx="4305300" cy="579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838200"/>
            <a:ext cx="4305300" cy="579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xmlns="" id="{16D482C6-C63B-6442-2367-AFFB394663A9}"/>
              </a:ext>
            </a:extLst>
          </p:cNvPr>
          <p:cNvSpPr>
            <a:spLocks noGrp="1" noChangeArrowheads="1"/>
          </p:cNvSpPr>
          <p:nvPr>
            <p:ph type="sldNum" sz="quarter" idx="10"/>
          </p:nvPr>
        </p:nvSpPr>
        <p:spPr>
          <a:ln/>
        </p:spPr>
        <p:txBody>
          <a:bodyPr/>
          <a:lstStyle>
            <a:lvl1pPr>
              <a:defRPr/>
            </a:lvl1pPr>
          </a:lstStyle>
          <a:p>
            <a:fld id="{3FEB132A-C68D-4646-A62F-7E3A2DDD83F4}" type="slidenum">
              <a:rPr lang="en-US" altLang="en-US"/>
              <a:pPr/>
              <a:t>‹#›</a:t>
            </a:fld>
            <a:endParaRPr lang="en-US" altLang="en-US"/>
          </a:p>
        </p:txBody>
      </p:sp>
    </p:spTree>
    <p:extLst>
      <p:ext uri="{BB962C8B-B14F-4D97-AF65-F5344CB8AC3E}">
        <p14:creationId xmlns:p14="http://schemas.microsoft.com/office/powerpoint/2010/main" val="2542336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xmlns="" id="{F33C1F43-B1BD-4248-D711-54931764AA83}"/>
              </a:ext>
            </a:extLst>
          </p:cNvPr>
          <p:cNvSpPr>
            <a:spLocks noGrp="1" noChangeArrowheads="1"/>
          </p:cNvSpPr>
          <p:nvPr>
            <p:ph type="sldNum" sz="quarter" idx="10"/>
          </p:nvPr>
        </p:nvSpPr>
        <p:spPr>
          <a:ln/>
        </p:spPr>
        <p:txBody>
          <a:bodyPr/>
          <a:lstStyle>
            <a:lvl1pPr>
              <a:defRPr/>
            </a:lvl1pPr>
          </a:lstStyle>
          <a:p>
            <a:fld id="{4F38A9CE-EB16-43CC-8BAF-8F23D0D2B286}" type="slidenum">
              <a:rPr lang="en-US" altLang="en-US"/>
              <a:pPr/>
              <a:t>‹#›</a:t>
            </a:fld>
            <a:endParaRPr lang="en-US" altLang="en-US"/>
          </a:p>
        </p:txBody>
      </p:sp>
    </p:spTree>
    <p:extLst>
      <p:ext uri="{BB962C8B-B14F-4D97-AF65-F5344CB8AC3E}">
        <p14:creationId xmlns:p14="http://schemas.microsoft.com/office/powerpoint/2010/main" val="2509747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xmlns="" id="{6CCBE1C8-E16E-3826-8E5D-6E3C5DB712DD}"/>
              </a:ext>
            </a:extLst>
          </p:cNvPr>
          <p:cNvSpPr>
            <a:spLocks noGrp="1" noChangeArrowheads="1"/>
          </p:cNvSpPr>
          <p:nvPr>
            <p:ph type="sldNum" sz="quarter" idx="10"/>
          </p:nvPr>
        </p:nvSpPr>
        <p:spPr>
          <a:ln/>
        </p:spPr>
        <p:txBody>
          <a:bodyPr/>
          <a:lstStyle>
            <a:lvl1pPr>
              <a:defRPr/>
            </a:lvl1pPr>
          </a:lstStyle>
          <a:p>
            <a:fld id="{D6448AA0-C3CF-4095-A8B2-2F7774C3723D}" type="slidenum">
              <a:rPr lang="en-US" altLang="en-US"/>
              <a:pPr/>
              <a:t>‹#›</a:t>
            </a:fld>
            <a:endParaRPr lang="en-US" altLang="en-US"/>
          </a:p>
        </p:txBody>
      </p:sp>
    </p:spTree>
    <p:extLst>
      <p:ext uri="{BB962C8B-B14F-4D97-AF65-F5344CB8AC3E}">
        <p14:creationId xmlns:p14="http://schemas.microsoft.com/office/powerpoint/2010/main" val="537443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xmlns="" id="{251D7F4B-47F6-544E-3BCD-844274CE25DF}"/>
              </a:ext>
            </a:extLst>
          </p:cNvPr>
          <p:cNvSpPr>
            <a:spLocks noGrp="1" noChangeArrowheads="1"/>
          </p:cNvSpPr>
          <p:nvPr>
            <p:ph type="sldNum" sz="quarter" idx="10"/>
          </p:nvPr>
        </p:nvSpPr>
        <p:spPr>
          <a:ln/>
        </p:spPr>
        <p:txBody>
          <a:bodyPr/>
          <a:lstStyle>
            <a:lvl1pPr>
              <a:defRPr/>
            </a:lvl1pPr>
          </a:lstStyle>
          <a:p>
            <a:fld id="{BB064FD6-3D0E-461B-8751-672BF2092A45}" type="slidenum">
              <a:rPr lang="en-US" altLang="en-US"/>
              <a:pPr/>
              <a:t>‹#›</a:t>
            </a:fld>
            <a:endParaRPr lang="en-US" altLang="en-US"/>
          </a:p>
        </p:txBody>
      </p:sp>
    </p:spTree>
    <p:extLst>
      <p:ext uri="{BB962C8B-B14F-4D97-AF65-F5344CB8AC3E}">
        <p14:creationId xmlns:p14="http://schemas.microsoft.com/office/powerpoint/2010/main" val="3153168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xmlns="" id="{EB9FD633-3263-3AB9-E139-4A5F78559C13}"/>
              </a:ext>
            </a:extLst>
          </p:cNvPr>
          <p:cNvSpPr>
            <a:spLocks noGrp="1" noChangeArrowheads="1"/>
          </p:cNvSpPr>
          <p:nvPr>
            <p:ph type="sldNum" sz="quarter" idx="10"/>
          </p:nvPr>
        </p:nvSpPr>
        <p:spPr>
          <a:ln/>
        </p:spPr>
        <p:txBody>
          <a:bodyPr/>
          <a:lstStyle>
            <a:lvl1pPr>
              <a:defRPr/>
            </a:lvl1pPr>
          </a:lstStyle>
          <a:p>
            <a:fld id="{934D9B01-0174-49A4-93F3-4269E07AE7D1}" type="slidenum">
              <a:rPr lang="en-US" altLang="en-US"/>
              <a:pPr/>
              <a:t>‹#›</a:t>
            </a:fld>
            <a:endParaRPr lang="en-US" altLang="en-US"/>
          </a:p>
        </p:txBody>
      </p:sp>
    </p:spTree>
    <p:extLst>
      <p:ext uri="{BB962C8B-B14F-4D97-AF65-F5344CB8AC3E}">
        <p14:creationId xmlns:p14="http://schemas.microsoft.com/office/powerpoint/2010/main" val="1383897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xmlns="" id="{58C1D663-EAB4-8538-82F9-FBF21CF3DA91}"/>
              </a:ext>
            </a:extLst>
          </p:cNvPr>
          <p:cNvSpPr>
            <a:spLocks noGrp="1" noChangeArrowheads="1"/>
          </p:cNvSpPr>
          <p:nvPr>
            <p:ph type="sldNum" sz="quarter" idx="10"/>
          </p:nvPr>
        </p:nvSpPr>
        <p:spPr>
          <a:ln/>
        </p:spPr>
        <p:txBody>
          <a:bodyPr/>
          <a:lstStyle>
            <a:lvl1pPr>
              <a:defRPr/>
            </a:lvl1pPr>
          </a:lstStyle>
          <a:p>
            <a:fld id="{D034F2B3-6AE3-4DBD-8C0B-E48860ABC8C0}" type="slidenum">
              <a:rPr lang="en-US" altLang="en-US"/>
              <a:pPr/>
              <a:t>‹#›</a:t>
            </a:fld>
            <a:endParaRPr lang="en-US" altLang="en-US"/>
          </a:p>
        </p:txBody>
      </p:sp>
    </p:spTree>
    <p:extLst>
      <p:ext uri="{BB962C8B-B14F-4D97-AF65-F5344CB8AC3E}">
        <p14:creationId xmlns:p14="http://schemas.microsoft.com/office/powerpoint/2010/main" val="1614547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2DD61BE0-28E9-960E-12EE-94FFA2F266EF}"/>
              </a:ext>
            </a:extLst>
          </p:cNvPr>
          <p:cNvSpPr>
            <a:spLocks noGrp="1" noChangeArrowheads="1"/>
          </p:cNvSpPr>
          <p:nvPr>
            <p:ph type="sldNum" sz="quarter" idx="10"/>
          </p:nvPr>
        </p:nvSpPr>
        <p:spPr>
          <a:ln/>
        </p:spPr>
        <p:txBody>
          <a:bodyPr/>
          <a:lstStyle>
            <a:lvl1pPr>
              <a:defRPr/>
            </a:lvl1pPr>
          </a:lstStyle>
          <a:p>
            <a:fld id="{2FCF6C32-F141-4DB7-BB3D-A4891E26321A}" type="slidenum">
              <a:rPr lang="en-US" altLang="en-US"/>
              <a:pPr/>
              <a:t>‹#›</a:t>
            </a:fld>
            <a:endParaRPr lang="en-US" altLang="en-US"/>
          </a:p>
        </p:txBody>
      </p:sp>
    </p:spTree>
    <p:extLst>
      <p:ext uri="{BB962C8B-B14F-4D97-AF65-F5344CB8AC3E}">
        <p14:creationId xmlns:p14="http://schemas.microsoft.com/office/powerpoint/2010/main" val="3753476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9050"/>
            <a:ext cx="2190750" cy="66484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1450" y="-19050"/>
            <a:ext cx="6419850" cy="664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02B76F34-9CA0-A7D0-847E-15DAFD3479E1}"/>
              </a:ext>
            </a:extLst>
          </p:cNvPr>
          <p:cNvSpPr>
            <a:spLocks noGrp="1" noChangeArrowheads="1"/>
          </p:cNvSpPr>
          <p:nvPr>
            <p:ph type="sldNum" sz="quarter" idx="10"/>
          </p:nvPr>
        </p:nvSpPr>
        <p:spPr>
          <a:ln/>
        </p:spPr>
        <p:txBody>
          <a:bodyPr/>
          <a:lstStyle>
            <a:lvl1pPr>
              <a:defRPr/>
            </a:lvl1pPr>
          </a:lstStyle>
          <a:p>
            <a:fld id="{6119C50D-FDFF-435E-9265-F3C0610106EF}" type="slidenum">
              <a:rPr lang="en-US" altLang="en-US"/>
              <a:pPr/>
              <a:t>‹#›</a:t>
            </a:fld>
            <a:endParaRPr lang="en-US" altLang="en-US"/>
          </a:p>
        </p:txBody>
      </p:sp>
    </p:spTree>
    <p:extLst>
      <p:ext uri="{BB962C8B-B14F-4D97-AF65-F5344CB8AC3E}">
        <p14:creationId xmlns:p14="http://schemas.microsoft.com/office/powerpoint/2010/main" val="2066487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9050"/>
            <a:ext cx="8686800" cy="838200"/>
          </a:xfrm>
        </p:spPr>
        <p:txBody>
          <a:bodyPr/>
          <a:lstStyle/>
          <a:p>
            <a:r>
              <a:rPr lang="en-US"/>
              <a:t>Click to edit Master title style</a:t>
            </a:r>
          </a:p>
        </p:txBody>
      </p:sp>
      <p:sp>
        <p:nvSpPr>
          <p:cNvPr id="3" name="Text Placeholder 2"/>
          <p:cNvSpPr>
            <a:spLocks noGrp="1"/>
          </p:cNvSpPr>
          <p:nvPr>
            <p:ph type="body" sz="half" idx="1"/>
          </p:nvPr>
        </p:nvSpPr>
        <p:spPr>
          <a:xfrm>
            <a:off x="171450" y="838200"/>
            <a:ext cx="4305300"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29150" y="838200"/>
            <a:ext cx="4305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29150" y="3810000"/>
            <a:ext cx="4305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xmlns="" id="{C7FE00D4-0E20-EA3B-7749-D792C92D0A90}"/>
              </a:ext>
            </a:extLst>
          </p:cNvPr>
          <p:cNvSpPr>
            <a:spLocks noGrp="1" noChangeArrowheads="1"/>
          </p:cNvSpPr>
          <p:nvPr>
            <p:ph type="sldNum" sz="quarter" idx="10"/>
          </p:nvPr>
        </p:nvSpPr>
        <p:spPr>
          <a:ln/>
        </p:spPr>
        <p:txBody>
          <a:bodyPr/>
          <a:lstStyle>
            <a:lvl1pPr>
              <a:defRPr/>
            </a:lvl1pPr>
          </a:lstStyle>
          <a:p>
            <a:fld id="{C9056DD8-6CF7-4604-B4B5-F2B61BEDE17E}" type="slidenum">
              <a:rPr lang="en-US" altLang="en-US"/>
              <a:pPr/>
              <a:t>‹#›</a:t>
            </a:fld>
            <a:endParaRPr lang="en-US" altLang="en-US"/>
          </a:p>
        </p:txBody>
      </p:sp>
    </p:spTree>
    <p:extLst>
      <p:ext uri="{BB962C8B-B14F-4D97-AF65-F5344CB8AC3E}">
        <p14:creationId xmlns:p14="http://schemas.microsoft.com/office/powerpoint/2010/main" val="3587612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07DCE68-5233-42EC-9F41-11490624A115}" type="datetime1">
              <a:rPr lang="en-US" smtClean="0"/>
              <a:t>10/6/2024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1867973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458F0D43-341E-51D4-2D0A-06358B05212C}"/>
              </a:ext>
            </a:extLst>
          </p:cNvPr>
          <p:cNvSpPr>
            <a:spLocks noGrp="1" noChangeArrowheads="1"/>
          </p:cNvSpPr>
          <p:nvPr>
            <p:ph type="title"/>
          </p:nvPr>
        </p:nvSpPr>
        <p:spPr bwMode="auto">
          <a:xfrm>
            <a:off x="228600" y="-19050"/>
            <a:ext cx="8686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9B032586-FF0A-F764-090D-FB9850533FF7}"/>
              </a:ext>
            </a:extLst>
          </p:cNvPr>
          <p:cNvSpPr>
            <a:spLocks noGrp="1" noChangeArrowheads="1"/>
          </p:cNvSpPr>
          <p:nvPr>
            <p:ph type="body" idx="1"/>
          </p:nvPr>
        </p:nvSpPr>
        <p:spPr bwMode="auto">
          <a:xfrm>
            <a:off x="171450" y="838200"/>
            <a:ext cx="87630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a:extLst>
              <a:ext uri="{FF2B5EF4-FFF2-40B4-BE49-F238E27FC236}">
                <a16:creationId xmlns:a16="http://schemas.microsoft.com/office/drawing/2014/main" xmlns="" id="{04841D89-0BFE-276B-833B-EC5A0A1F401D}"/>
              </a:ext>
            </a:extLst>
          </p:cNvPr>
          <p:cNvSpPr>
            <a:spLocks noGrp="1" noChangeArrowheads="1"/>
          </p:cNvSpPr>
          <p:nvPr>
            <p:ph type="sldNum" sz="quarter" idx="4"/>
          </p:nvPr>
        </p:nvSpPr>
        <p:spPr bwMode="auto">
          <a:xfrm>
            <a:off x="4191000" y="6553200"/>
            <a:ext cx="609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1">
                <a:latin typeface="Times New Roman" panose="02020603050405020304" pitchFamily="18" charset="0"/>
                <a:cs typeface="Times New Roman" panose="02020603050405020304" pitchFamily="18" charset="0"/>
              </a:defRPr>
            </a:lvl1pPr>
          </a:lstStyle>
          <a:p>
            <a:fld id="{5948B1A6-9016-4E0A-9A2D-2C9FE5675409}" type="slidenum">
              <a:rPr lang="en-US" altLang="en-US"/>
              <a:pPr/>
              <a:t>‹#›</a:t>
            </a:fld>
            <a:endParaRPr lang="en-US" altLang="en-US"/>
          </a:p>
        </p:txBody>
      </p:sp>
      <p:sp>
        <p:nvSpPr>
          <p:cNvPr id="1029" name="Line 8">
            <a:extLst>
              <a:ext uri="{FF2B5EF4-FFF2-40B4-BE49-F238E27FC236}">
                <a16:creationId xmlns:a16="http://schemas.microsoft.com/office/drawing/2014/main" xmlns="" id="{1B25A538-981E-F901-F65E-1D4DD834FCF5}"/>
              </a:ext>
            </a:extLst>
          </p:cNvPr>
          <p:cNvSpPr>
            <a:spLocks noChangeShapeType="1"/>
          </p:cNvSpPr>
          <p:nvPr/>
        </p:nvSpPr>
        <p:spPr bwMode="auto">
          <a:xfrm>
            <a:off x="0" y="838200"/>
            <a:ext cx="5715000" cy="0"/>
          </a:xfrm>
          <a:prstGeom prst="line">
            <a:avLst/>
          </a:prstGeom>
          <a:noFill/>
          <a:ln w="57150">
            <a:solidFill>
              <a:srgbClr val="996633"/>
            </a:solidFill>
            <a:round/>
            <a:headEnd/>
            <a:tailEnd/>
          </a:ln>
        </p:spPr>
        <p:txBody>
          <a:bodyPr/>
          <a:lstStyle/>
          <a:p>
            <a:pPr>
              <a:defRPr/>
            </a:pPr>
            <a:endParaRPr lang="en-US">
              <a:latin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0" fontAlgn="base" hangingPunct="0">
        <a:spcBef>
          <a:spcPct val="0"/>
        </a:spcBef>
        <a:spcAft>
          <a:spcPct val="0"/>
        </a:spcAft>
        <a:defRPr sz="4000">
          <a:solidFill>
            <a:srgbClr val="0000FF"/>
          </a:solidFill>
          <a:latin typeface="+mj-lt"/>
          <a:ea typeface="+mj-ea"/>
          <a:cs typeface="+mj-cs"/>
        </a:defRPr>
      </a:lvl1pPr>
      <a:lvl2pPr algn="l" rtl="0" eaLnBrk="0" fontAlgn="base" hangingPunct="0">
        <a:spcBef>
          <a:spcPct val="0"/>
        </a:spcBef>
        <a:spcAft>
          <a:spcPct val="0"/>
        </a:spcAft>
        <a:defRPr sz="4000">
          <a:solidFill>
            <a:srgbClr val="0000FF"/>
          </a:solidFill>
          <a:latin typeface="Arial" pitchFamily="34" charset="0"/>
        </a:defRPr>
      </a:lvl2pPr>
      <a:lvl3pPr algn="l" rtl="0" eaLnBrk="0" fontAlgn="base" hangingPunct="0">
        <a:spcBef>
          <a:spcPct val="0"/>
        </a:spcBef>
        <a:spcAft>
          <a:spcPct val="0"/>
        </a:spcAft>
        <a:defRPr sz="4000">
          <a:solidFill>
            <a:srgbClr val="0000FF"/>
          </a:solidFill>
          <a:latin typeface="Arial" pitchFamily="34" charset="0"/>
        </a:defRPr>
      </a:lvl3pPr>
      <a:lvl4pPr algn="l" rtl="0" eaLnBrk="0" fontAlgn="base" hangingPunct="0">
        <a:spcBef>
          <a:spcPct val="0"/>
        </a:spcBef>
        <a:spcAft>
          <a:spcPct val="0"/>
        </a:spcAft>
        <a:defRPr sz="4000">
          <a:solidFill>
            <a:srgbClr val="0000FF"/>
          </a:solidFill>
          <a:latin typeface="Arial" pitchFamily="34" charset="0"/>
        </a:defRPr>
      </a:lvl4pPr>
      <a:lvl5pPr algn="l" rtl="0" eaLnBrk="0" fontAlgn="base" hangingPunct="0">
        <a:spcBef>
          <a:spcPct val="0"/>
        </a:spcBef>
        <a:spcAft>
          <a:spcPct val="0"/>
        </a:spcAft>
        <a:defRPr sz="4000">
          <a:solidFill>
            <a:srgbClr val="0000FF"/>
          </a:solidFill>
          <a:latin typeface="Arial" pitchFamily="34" charset="0"/>
        </a:defRPr>
      </a:lvl5pPr>
      <a:lvl6pPr marL="457200" algn="l" rtl="0" fontAlgn="base">
        <a:spcBef>
          <a:spcPct val="0"/>
        </a:spcBef>
        <a:spcAft>
          <a:spcPct val="0"/>
        </a:spcAft>
        <a:defRPr sz="4000">
          <a:solidFill>
            <a:srgbClr val="0000FF"/>
          </a:solidFill>
          <a:latin typeface="Arial" pitchFamily="34" charset="0"/>
        </a:defRPr>
      </a:lvl6pPr>
      <a:lvl7pPr marL="914400" algn="l" rtl="0" fontAlgn="base">
        <a:spcBef>
          <a:spcPct val="0"/>
        </a:spcBef>
        <a:spcAft>
          <a:spcPct val="0"/>
        </a:spcAft>
        <a:defRPr sz="4000">
          <a:solidFill>
            <a:srgbClr val="0000FF"/>
          </a:solidFill>
          <a:latin typeface="Arial" pitchFamily="34" charset="0"/>
        </a:defRPr>
      </a:lvl7pPr>
      <a:lvl8pPr marL="1371600" algn="l" rtl="0" fontAlgn="base">
        <a:spcBef>
          <a:spcPct val="0"/>
        </a:spcBef>
        <a:spcAft>
          <a:spcPct val="0"/>
        </a:spcAft>
        <a:defRPr sz="4000">
          <a:solidFill>
            <a:srgbClr val="0000FF"/>
          </a:solidFill>
          <a:latin typeface="Arial" pitchFamily="34" charset="0"/>
        </a:defRPr>
      </a:lvl8pPr>
      <a:lvl9pPr marL="1828800" algn="l" rtl="0" fontAlgn="base">
        <a:spcBef>
          <a:spcPct val="0"/>
        </a:spcBef>
        <a:spcAft>
          <a:spcPct val="0"/>
        </a:spcAft>
        <a:defRPr sz="4000">
          <a:solidFill>
            <a:srgbClr val="0000FF"/>
          </a:solidFill>
          <a:latin typeface="Arial" pitchFamily="34" charset="0"/>
        </a:defRPr>
      </a:lvl9pPr>
    </p:titleStyle>
    <p:bodyStyle>
      <a:lvl1pPr marL="342900" indent="-342900" algn="l" rtl="0" eaLnBrk="0" fontAlgn="base" hangingPunct="0">
        <a:lnSpc>
          <a:spcPct val="105000"/>
        </a:lnSpc>
        <a:spcBef>
          <a:spcPct val="30000"/>
        </a:spcBef>
        <a:spcAft>
          <a:spcPct val="0"/>
        </a:spcAft>
        <a:buClr>
          <a:srgbClr val="CC3300"/>
        </a:buClr>
        <a:buFont typeface="Wingdings" panose="05000000000000000000" pitchFamily="2" charset="2"/>
        <a:buBlip>
          <a:blip r:embed="rId15"/>
        </a:buBlip>
        <a:defRPr sz="2600">
          <a:solidFill>
            <a:srgbClr val="0000FF"/>
          </a:solidFill>
          <a:latin typeface="+mn-lt"/>
          <a:ea typeface="+mn-ea"/>
          <a:cs typeface="+mn-cs"/>
        </a:defRPr>
      </a:lvl1pPr>
      <a:lvl2pPr marL="742950" indent="-285750" algn="l" rtl="0" eaLnBrk="0" fontAlgn="base" hangingPunct="0">
        <a:lnSpc>
          <a:spcPct val="105000"/>
        </a:lnSpc>
        <a:spcBef>
          <a:spcPct val="30000"/>
        </a:spcBef>
        <a:spcAft>
          <a:spcPct val="0"/>
        </a:spcAft>
        <a:buClr>
          <a:srgbClr val="990000"/>
        </a:buClr>
        <a:buFont typeface="Wingdings" panose="05000000000000000000" pitchFamily="2" charset="2"/>
        <a:buChar char="§"/>
        <a:defRPr sz="2300">
          <a:solidFill>
            <a:schemeClr val="tx1"/>
          </a:solidFill>
          <a:latin typeface="+mn-lt"/>
        </a:defRPr>
      </a:lvl2pPr>
      <a:lvl3pPr marL="1143000" indent="-228600" algn="l" rtl="0" eaLnBrk="0" fontAlgn="base" hangingPunct="0">
        <a:lnSpc>
          <a:spcPct val="105000"/>
        </a:lnSpc>
        <a:spcBef>
          <a:spcPct val="30000"/>
        </a:spcBef>
        <a:spcAft>
          <a:spcPct val="0"/>
        </a:spcAft>
        <a:buClr>
          <a:srgbClr val="FF9900"/>
        </a:buClr>
        <a:buSzPct val="120000"/>
        <a:buChar char="•"/>
        <a:defRPr sz="2100">
          <a:solidFill>
            <a:schemeClr val="tx1"/>
          </a:solidFill>
          <a:latin typeface="+mn-lt"/>
        </a:defRPr>
      </a:lvl3pPr>
      <a:lvl4pPr marL="1600200" indent="-228600" algn="l" rtl="0" eaLnBrk="0" fontAlgn="base" hangingPunct="0">
        <a:lnSpc>
          <a:spcPct val="105000"/>
        </a:lnSpc>
        <a:spcBef>
          <a:spcPct val="30000"/>
        </a:spcBef>
        <a:spcAft>
          <a:spcPct val="0"/>
        </a:spcAft>
        <a:buChar char="–"/>
        <a:defRPr sz="2100">
          <a:solidFill>
            <a:schemeClr val="tx1"/>
          </a:solidFill>
          <a:latin typeface="+mn-lt"/>
        </a:defRPr>
      </a:lvl4pPr>
      <a:lvl5pPr marL="2057400" indent="-228600" algn="l" rtl="0" eaLnBrk="0" fontAlgn="base" hangingPunct="0">
        <a:lnSpc>
          <a:spcPct val="105000"/>
        </a:lnSpc>
        <a:spcBef>
          <a:spcPct val="30000"/>
        </a:spcBef>
        <a:spcAft>
          <a:spcPct val="0"/>
        </a:spcAft>
        <a:buChar char="»"/>
        <a:defRPr sz="2000">
          <a:solidFill>
            <a:schemeClr val="tx1"/>
          </a:solidFill>
          <a:latin typeface="+mn-lt"/>
        </a:defRPr>
      </a:lvl5pPr>
      <a:lvl6pPr marL="2514600" indent="-228600" algn="l" rtl="0" fontAlgn="base">
        <a:lnSpc>
          <a:spcPct val="105000"/>
        </a:lnSpc>
        <a:spcBef>
          <a:spcPct val="30000"/>
        </a:spcBef>
        <a:spcAft>
          <a:spcPct val="0"/>
        </a:spcAft>
        <a:buChar char="»"/>
        <a:defRPr sz="2000">
          <a:solidFill>
            <a:schemeClr val="tx1"/>
          </a:solidFill>
          <a:latin typeface="+mn-lt"/>
        </a:defRPr>
      </a:lvl6pPr>
      <a:lvl7pPr marL="2971800" indent="-228600" algn="l" rtl="0" fontAlgn="base">
        <a:lnSpc>
          <a:spcPct val="105000"/>
        </a:lnSpc>
        <a:spcBef>
          <a:spcPct val="30000"/>
        </a:spcBef>
        <a:spcAft>
          <a:spcPct val="0"/>
        </a:spcAft>
        <a:buChar char="»"/>
        <a:defRPr sz="2000">
          <a:solidFill>
            <a:schemeClr val="tx1"/>
          </a:solidFill>
          <a:latin typeface="+mn-lt"/>
        </a:defRPr>
      </a:lvl7pPr>
      <a:lvl8pPr marL="3429000" indent="-228600" algn="l" rtl="0" fontAlgn="base">
        <a:lnSpc>
          <a:spcPct val="105000"/>
        </a:lnSpc>
        <a:spcBef>
          <a:spcPct val="30000"/>
        </a:spcBef>
        <a:spcAft>
          <a:spcPct val="0"/>
        </a:spcAft>
        <a:buChar char="»"/>
        <a:defRPr sz="2000">
          <a:solidFill>
            <a:schemeClr val="tx1"/>
          </a:solidFill>
          <a:latin typeface="+mn-lt"/>
        </a:defRPr>
      </a:lvl8pPr>
      <a:lvl9pPr marL="3886200" indent="-228600" algn="l" rtl="0" fontAlgn="base">
        <a:lnSpc>
          <a:spcPct val="105000"/>
        </a:lnSpc>
        <a:spcBef>
          <a:spcPct val="3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5107" y="1672523"/>
            <a:ext cx="8149701" cy="584775"/>
          </a:xfrm>
          <a:prstGeom prst="rect">
            <a:avLst/>
          </a:prstGeom>
          <a:noFill/>
        </p:spPr>
        <p:txBody>
          <a:bodyPr wrap="square" rtlCol="0">
            <a:spAutoFit/>
          </a:bodyPr>
          <a:lstStyle/>
          <a:p>
            <a:r>
              <a:rPr lang="en-US" sz="2800" b="1" dirty="0">
                <a:solidFill>
                  <a:srgbClr val="C00000"/>
                </a:solidFill>
                <a:latin typeface="Times New Roman" panose="02020603050405020304" pitchFamily="18" charset="0"/>
                <a:cs typeface="Times New Roman" panose="02020603050405020304" pitchFamily="18" charset="0"/>
              </a:rPr>
              <a:t>ICE 3131:</a:t>
            </a:r>
            <a:r>
              <a:rPr lang="en-US" sz="3200" b="1" dirty="0">
                <a:solidFill>
                  <a:srgbClr val="7030A0"/>
                </a:solidFill>
                <a:latin typeface="Times New Roman" panose="02020603050405020304" pitchFamily="18" charset="0"/>
                <a:cs typeface="Times New Roman" panose="02020603050405020304" pitchFamily="18" charset="0"/>
              </a:rPr>
              <a:t> Java and Network Programming</a:t>
            </a:r>
            <a:endParaRPr lang="en-US" sz="2800" b="1" dirty="0">
              <a:solidFill>
                <a:srgbClr val="7030A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276833" y="4585312"/>
            <a:ext cx="4141723" cy="1200329"/>
          </a:xfrm>
          <a:prstGeom prst="rect">
            <a:avLst/>
          </a:prstGeom>
          <a:noFill/>
        </p:spPr>
        <p:txBody>
          <a:bodyPr wrap="square" rtlCol="0">
            <a:spAutoFit/>
          </a:bodyPr>
          <a:lstStyle/>
          <a:p>
            <a:pPr algn="ctr"/>
            <a:r>
              <a:rPr lang="en-US" sz="2400" b="0" i="0" u="none" strike="noStrike" baseline="0" dirty="0">
                <a:solidFill>
                  <a:srgbClr val="7030A0"/>
                </a:solidFill>
                <a:latin typeface="Times-Roman"/>
              </a:rPr>
              <a:t>By</a:t>
            </a:r>
          </a:p>
          <a:p>
            <a:pPr algn="ctr"/>
            <a:r>
              <a:rPr lang="en-US" sz="2400" b="0" i="0" u="none" strike="noStrike" baseline="0" dirty="0">
                <a:solidFill>
                  <a:srgbClr val="7030A0"/>
                </a:solidFill>
                <a:latin typeface="Times-Roman"/>
              </a:rPr>
              <a:t>Md. </a:t>
            </a:r>
            <a:r>
              <a:rPr lang="en-US" sz="2400" b="0" i="0" u="none" strike="noStrike" baseline="0" dirty="0" err="1">
                <a:solidFill>
                  <a:srgbClr val="7030A0"/>
                </a:solidFill>
                <a:latin typeface="Times-Roman"/>
              </a:rPr>
              <a:t>Emdadul</a:t>
            </a:r>
            <a:r>
              <a:rPr lang="en-US" sz="2400" b="0" i="0" u="none" strike="noStrike" baseline="0" dirty="0">
                <a:solidFill>
                  <a:srgbClr val="7030A0"/>
                </a:solidFill>
                <a:latin typeface="Times-Roman"/>
              </a:rPr>
              <a:t> Haque</a:t>
            </a:r>
          </a:p>
          <a:p>
            <a:pPr algn="ctr"/>
            <a:r>
              <a:rPr lang="en-US" sz="2400" dirty="0">
                <a:solidFill>
                  <a:srgbClr val="7030A0"/>
                </a:solidFill>
                <a:latin typeface="Times-Roman"/>
              </a:rPr>
              <a:t>Prof. Dept of ICE, RU</a:t>
            </a:r>
            <a:endParaRPr lang="en-US" sz="2400" b="0" i="0" u="none" strike="noStrike" baseline="0" dirty="0">
              <a:solidFill>
                <a:srgbClr val="7030A0"/>
              </a:solidFill>
              <a:latin typeface="Times-Roman"/>
            </a:endParaRPr>
          </a:p>
        </p:txBody>
      </p:sp>
      <p:sp>
        <p:nvSpPr>
          <p:cNvPr id="8" name="Slide Number Placeholder 7"/>
          <p:cNvSpPr>
            <a:spLocks noGrp="1"/>
          </p:cNvSpPr>
          <p:nvPr>
            <p:ph type="sldNum" sz="quarter" idx="12"/>
          </p:nvPr>
        </p:nvSpPr>
        <p:spPr/>
        <p:txBody>
          <a:bodyPr/>
          <a:lstStyle/>
          <a:p>
            <a:fld id="{FFEB7DBD-EAFA-4393-9BBA-2D358FF94BB4}" type="slidenum">
              <a:rPr lang="en-US" smtClean="0"/>
              <a:t>1</a:t>
            </a:fld>
            <a:endParaRPr lang="en-US"/>
          </a:p>
        </p:txBody>
      </p:sp>
      <p:sp>
        <p:nvSpPr>
          <p:cNvPr id="2" name="TextBox 1">
            <a:extLst>
              <a:ext uri="{FF2B5EF4-FFF2-40B4-BE49-F238E27FC236}">
                <a16:creationId xmlns:a16="http://schemas.microsoft.com/office/drawing/2014/main" xmlns="" id="{1CA9FFAF-834F-2167-8A49-230070FBA2C5}"/>
              </a:ext>
            </a:extLst>
          </p:cNvPr>
          <p:cNvSpPr txBox="1"/>
          <p:nvPr/>
        </p:nvSpPr>
        <p:spPr>
          <a:xfrm>
            <a:off x="1579934" y="2682964"/>
            <a:ext cx="6560889" cy="1138773"/>
          </a:xfrm>
          <a:prstGeom prst="rect">
            <a:avLst/>
          </a:prstGeom>
          <a:noFill/>
        </p:spPr>
        <p:txBody>
          <a:bodyPr wrap="square" rtlCol="0">
            <a:spAutoFit/>
          </a:bodyPr>
          <a:lstStyle/>
          <a:p>
            <a:pPr algn="l"/>
            <a:r>
              <a:rPr lang="en-US" sz="2400" b="0" i="0" u="none" strike="noStrike" baseline="0" dirty="0">
                <a:solidFill>
                  <a:srgbClr val="292526"/>
                </a:solidFill>
                <a:latin typeface="Times-Roman"/>
              </a:rPr>
              <a:t>Third Year Odd Semester </a:t>
            </a:r>
          </a:p>
          <a:p>
            <a:pPr algn="l"/>
            <a:r>
              <a:rPr lang="en-US" sz="2000" dirty="0">
                <a:solidFill>
                  <a:srgbClr val="0070C0"/>
                </a:solidFill>
                <a:latin typeface="Times-Roman"/>
              </a:rPr>
              <a:t>Department of Information and Communication Engineering </a:t>
            </a:r>
          </a:p>
          <a:p>
            <a:pPr algn="l"/>
            <a:r>
              <a:rPr lang="en-US" sz="2400" dirty="0">
                <a:solidFill>
                  <a:srgbClr val="0070C0"/>
                </a:solidFill>
                <a:latin typeface="Times-Roman"/>
              </a:rPr>
              <a:t>University of </a:t>
            </a:r>
            <a:r>
              <a:rPr lang="en-US" sz="2400" dirty="0" err="1">
                <a:solidFill>
                  <a:srgbClr val="0070C0"/>
                </a:solidFill>
                <a:latin typeface="Times-Roman"/>
              </a:rPr>
              <a:t>Rajshahi</a:t>
            </a:r>
            <a:endParaRPr lang="en-US" sz="2400" dirty="0">
              <a:solidFill>
                <a:srgbClr val="0070C0"/>
              </a:solidFill>
            </a:endParaRPr>
          </a:p>
        </p:txBody>
      </p:sp>
    </p:spTree>
    <p:extLst>
      <p:ext uri="{BB962C8B-B14F-4D97-AF65-F5344CB8AC3E}">
        <p14:creationId xmlns:p14="http://schemas.microsoft.com/office/powerpoint/2010/main" val="4053380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67667" y="1628136"/>
            <a:ext cx="6732886" cy="523220"/>
          </a:xfrm>
          <a:prstGeom prst="rect">
            <a:avLst/>
          </a:prstGeom>
          <a:noFill/>
        </p:spPr>
        <p:txBody>
          <a:bodyPr wrap="square" rtlCol="0">
            <a:spAutoFit/>
          </a:bodyPr>
          <a:lstStyle/>
          <a:p>
            <a:r>
              <a:rPr lang="en-US" sz="2400" b="1" dirty="0">
                <a:solidFill>
                  <a:srgbClr val="C00000"/>
                </a:solidFill>
                <a:latin typeface="Times New Roman" panose="02020603050405020304" pitchFamily="18" charset="0"/>
                <a:cs typeface="Times New Roman" panose="02020603050405020304" pitchFamily="18" charset="0"/>
              </a:rPr>
              <a:t>ICE 3131:</a:t>
            </a:r>
            <a:r>
              <a:rPr lang="en-US" sz="2800" b="1" dirty="0">
                <a:solidFill>
                  <a:srgbClr val="7030A0"/>
                </a:solidFill>
                <a:latin typeface="Times New Roman" panose="02020603050405020304" pitchFamily="18" charset="0"/>
                <a:cs typeface="Times New Roman" panose="02020603050405020304" pitchFamily="18" charset="0"/>
              </a:rPr>
              <a:t> Java and Network Programming</a:t>
            </a:r>
            <a:endParaRPr lang="en-US" sz="2400" b="1" dirty="0">
              <a:solidFill>
                <a:srgbClr val="7030A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FFEB7DBD-EAFA-4393-9BBA-2D358FF94BB4}" type="slidenum">
              <a:rPr lang="en-US" smtClean="0"/>
              <a:t>2</a:t>
            </a:fld>
            <a:endParaRPr lang="en-US"/>
          </a:p>
        </p:txBody>
      </p:sp>
      <p:sp>
        <p:nvSpPr>
          <p:cNvPr id="2" name="TextBox 1">
            <a:extLst>
              <a:ext uri="{FF2B5EF4-FFF2-40B4-BE49-F238E27FC236}">
                <a16:creationId xmlns:a16="http://schemas.microsoft.com/office/drawing/2014/main" xmlns="" id="{70A2B983-D70B-B1A7-DDB9-CF63447B6490}"/>
              </a:ext>
            </a:extLst>
          </p:cNvPr>
          <p:cNvSpPr txBox="1"/>
          <p:nvPr/>
        </p:nvSpPr>
        <p:spPr>
          <a:xfrm>
            <a:off x="1162820" y="2718195"/>
            <a:ext cx="7246543" cy="1938992"/>
          </a:xfrm>
          <a:prstGeom prst="rect">
            <a:avLst/>
          </a:prstGeom>
          <a:noFill/>
        </p:spPr>
        <p:txBody>
          <a:bodyPr wrap="square" rtlCol="0">
            <a:spAutoFit/>
          </a:bodyPr>
          <a:lstStyle/>
          <a:p>
            <a:pPr marL="0" marR="0" algn="ctr">
              <a:spcBef>
                <a:spcPts val="0"/>
              </a:spcBef>
              <a:spcAft>
                <a:spcPts val="0"/>
              </a:spcAft>
            </a:pPr>
            <a:r>
              <a:rPr lang="en-US" sz="2400" b="1" dirty="0">
                <a:effectLst/>
                <a:latin typeface="Times New Roman" panose="02020603050405020304" pitchFamily="18" charset="0"/>
                <a:ea typeface="MS Mincho" panose="02020609040205080304" pitchFamily="49" charset="-128"/>
              </a:rPr>
              <a:t>75 Marks [70% Exam, 20% Quizzes/Class Tests, 10% Attendance]</a:t>
            </a:r>
          </a:p>
          <a:p>
            <a:pPr marL="0" marR="0" algn="ctr">
              <a:spcBef>
                <a:spcPts val="0"/>
              </a:spcBef>
              <a:spcAft>
                <a:spcPts val="0"/>
              </a:spcAft>
            </a:pPr>
            <a:endParaRPr lang="en-US" sz="2400" dirty="0">
              <a:effectLst/>
              <a:latin typeface="Times New Roman" panose="02020603050405020304" pitchFamily="18" charset="0"/>
              <a:ea typeface="MS Mincho" panose="02020609040205080304" pitchFamily="49" charset="-128"/>
            </a:endParaRPr>
          </a:p>
          <a:p>
            <a:pPr marL="0" marR="0" algn="ctr">
              <a:spcBef>
                <a:spcPts val="0"/>
              </a:spcBef>
              <a:spcAft>
                <a:spcPts val="0"/>
              </a:spcAft>
            </a:pPr>
            <a:r>
              <a:rPr lang="en-US" sz="2400" b="1" dirty="0">
                <a:effectLst/>
                <a:latin typeface="Times New Roman" panose="02020603050405020304" pitchFamily="18" charset="0"/>
                <a:ea typeface="MS Mincho" panose="02020609040205080304" pitchFamily="49" charset="-128"/>
              </a:rPr>
              <a:t>3 Credits, 3 Hours/week, Lectures: 39, Exam time: 3 Hours </a:t>
            </a:r>
            <a:endParaRPr lang="en-US" sz="2400" dirty="0">
              <a:effectLst/>
              <a:latin typeface="Times New Roman" panose="02020603050405020304" pitchFamily="18" charset="0"/>
              <a:ea typeface="MS Mincho" panose="02020609040205080304" pitchFamily="49" charset="-128"/>
            </a:endParaRPr>
          </a:p>
        </p:txBody>
      </p:sp>
    </p:spTree>
    <p:extLst>
      <p:ext uri="{BB962C8B-B14F-4D97-AF65-F5344CB8AC3E}">
        <p14:creationId xmlns:p14="http://schemas.microsoft.com/office/powerpoint/2010/main" val="4003092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32156" y="784757"/>
            <a:ext cx="7068844" cy="3046988"/>
          </a:xfrm>
          <a:prstGeom prst="rect">
            <a:avLst/>
          </a:prstGeom>
          <a:noFill/>
        </p:spPr>
        <p:txBody>
          <a:bodyPr wrap="square" rtlCol="0">
            <a:spAutoFit/>
          </a:bodyPr>
          <a:lstStyle/>
          <a:p>
            <a:pPr marL="0" marR="0">
              <a:spcBef>
                <a:spcPts val="0"/>
              </a:spcBef>
              <a:spcAft>
                <a:spcPts val="0"/>
              </a:spcAft>
            </a:pPr>
            <a:r>
              <a:rPr lang="en-US" sz="2400" b="1" dirty="0">
                <a:solidFill>
                  <a:srgbClr val="0070C0"/>
                </a:solidFill>
                <a:effectLst/>
                <a:latin typeface="Times New Roman" panose="02020603050405020304" pitchFamily="18" charset="0"/>
                <a:ea typeface="Times New Roman" panose="02020603050405020304" pitchFamily="18" charset="0"/>
              </a:rPr>
              <a:t>Course Objectives: </a:t>
            </a:r>
          </a:p>
          <a:p>
            <a:pPr marL="0" marR="0">
              <a:spcBef>
                <a:spcPts val="0"/>
              </a:spcBef>
              <a:spcAft>
                <a:spcPts val="0"/>
              </a:spcAft>
            </a:pPr>
            <a:endParaRPr lang="en-US" sz="2400" b="1" dirty="0">
              <a:solidFill>
                <a:srgbClr val="0070C0"/>
              </a:solidFill>
              <a:latin typeface="Times New Roman" panose="02020603050405020304" pitchFamily="18" charset="0"/>
              <a:ea typeface="MS Mincho" panose="02020609040205080304" pitchFamily="49" charset="-128"/>
            </a:endParaRPr>
          </a:p>
          <a:p>
            <a:pPr>
              <a:spcBef>
                <a:spcPts val="0"/>
              </a:spcBef>
              <a:spcAft>
                <a:spcPts val="0"/>
              </a:spcAft>
            </a:pPr>
            <a:r>
              <a:rPr lang="en-US" sz="2400" dirty="0">
                <a:latin typeface="Times New Roman" panose="02020603050405020304" pitchFamily="18" charset="0"/>
              </a:rPr>
              <a:t>The course is design to extend student knowledge in object-oriented programming such as class, object, method and constructor. This course also focuses on graphical user interface (GUI), multithreading, networking and database manipulation. 	</a:t>
            </a:r>
          </a:p>
          <a:p>
            <a:pPr marL="0" marR="0">
              <a:spcBef>
                <a:spcPts val="0"/>
              </a:spcBef>
              <a:spcAft>
                <a:spcPts val="0"/>
              </a:spcAft>
            </a:pPr>
            <a:endParaRPr lang="en-US" sz="2400" dirty="0">
              <a:effectLst/>
              <a:latin typeface="Times New Roman" panose="02020603050405020304" pitchFamily="18" charset="0"/>
              <a:ea typeface="MS Mincho" panose="02020609040205080304" pitchFamily="49" charset="-128"/>
            </a:endParaRPr>
          </a:p>
        </p:txBody>
      </p:sp>
      <p:sp>
        <p:nvSpPr>
          <p:cNvPr id="8" name="Slide Number Placeholder 7"/>
          <p:cNvSpPr>
            <a:spLocks noGrp="1"/>
          </p:cNvSpPr>
          <p:nvPr>
            <p:ph type="sldNum" sz="quarter" idx="12"/>
          </p:nvPr>
        </p:nvSpPr>
        <p:spPr/>
        <p:txBody>
          <a:bodyPr/>
          <a:lstStyle/>
          <a:p>
            <a:fld id="{FFEB7DBD-EAFA-4393-9BBA-2D358FF94BB4}" type="slidenum">
              <a:rPr lang="en-US" smtClean="0"/>
              <a:t>3</a:t>
            </a:fld>
            <a:endParaRPr lang="en-US"/>
          </a:p>
        </p:txBody>
      </p:sp>
    </p:spTree>
    <p:extLst>
      <p:ext uri="{BB962C8B-B14F-4D97-AF65-F5344CB8AC3E}">
        <p14:creationId xmlns:p14="http://schemas.microsoft.com/office/powerpoint/2010/main" val="2126843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7250" y="145565"/>
            <a:ext cx="8309499" cy="6647974"/>
          </a:xfrm>
          <a:prstGeom prst="rect">
            <a:avLst/>
          </a:prstGeom>
          <a:noFill/>
        </p:spPr>
        <p:txBody>
          <a:bodyPr wrap="square" rtlCol="0">
            <a:spAutoFit/>
          </a:bodyPr>
          <a:lstStyle/>
          <a:p>
            <a:pPr algn="just"/>
            <a:r>
              <a:rPr lang="en-US" b="1" dirty="0">
                <a:solidFill>
                  <a:schemeClr val="accent2"/>
                </a:solidFill>
                <a:effectLst/>
                <a:latin typeface="Times New Roman" panose="02020603050405020304" pitchFamily="18" charset="0"/>
                <a:ea typeface="Times New Roman" panose="02020603050405020304" pitchFamily="18" charset="0"/>
              </a:rPr>
              <a:t>Course Contents:</a:t>
            </a:r>
            <a:r>
              <a:rPr lang="en-US" sz="1800" dirty="0">
                <a:latin typeface="Times New Roman" panose="02020603050405020304" pitchFamily="18" charset="0"/>
                <a:ea typeface="MS Mincho" panose="02020609040205080304" pitchFamily="49" charset="-128"/>
              </a:rPr>
              <a:t>		</a:t>
            </a:r>
            <a:r>
              <a:rPr lang="en-US" sz="1800" b="1" i="0" u="none" strike="noStrike" baseline="0" dirty="0">
                <a:solidFill>
                  <a:srgbClr val="000000"/>
                </a:solidFill>
                <a:latin typeface="Times New Roman" panose="02020603050405020304" pitchFamily="18" charset="0"/>
              </a:rPr>
              <a:t>Section – A </a:t>
            </a:r>
            <a:endParaRPr lang="en-US" sz="1800" b="0" i="0" u="none" strike="noStrike" baseline="0" dirty="0">
              <a:solidFill>
                <a:srgbClr val="000000"/>
              </a:solidFill>
              <a:latin typeface="Times New Roman" panose="02020603050405020304" pitchFamily="18" charset="0"/>
            </a:endParaRPr>
          </a:p>
          <a:p>
            <a:r>
              <a:rPr lang="en-US" sz="1800" b="1" i="0" u="none" strike="noStrike" baseline="0" dirty="0">
                <a:solidFill>
                  <a:srgbClr val="000000"/>
                </a:solidFill>
                <a:latin typeface="Times New Roman" panose="02020603050405020304" pitchFamily="18" charset="0"/>
              </a:rPr>
              <a:t>Introduction to Java: </a:t>
            </a:r>
            <a:r>
              <a:rPr lang="en-US" sz="1800" b="0" i="0" u="none" strike="noStrike" baseline="0" dirty="0">
                <a:solidFill>
                  <a:srgbClr val="000000"/>
                </a:solidFill>
                <a:latin typeface="Times New Roman" panose="02020603050405020304" pitchFamily="18" charset="0"/>
              </a:rPr>
              <a:t>History of Java, Java features and advantages, Class, Object, Abstraction, Encapsulation, Inheritance, Polymorphism, Creating classes with Java, Concept of constructors, Using JDK, Data types, Arrays, Operators and control flow. </a:t>
            </a:r>
          </a:p>
          <a:p>
            <a:r>
              <a:rPr lang="en-US" sz="1800" b="1" i="0" u="none" strike="noStrike" baseline="0" dirty="0">
                <a:solidFill>
                  <a:srgbClr val="000000"/>
                </a:solidFill>
                <a:latin typeface="Times New Roman" panose="02020603050405020304" pitchFamily="18" charset="0"/>
              </a:rPr>
              <a:t>Methods: </a:t>
            </a:r>
            <a:r>
              <a:rPr lang="en-US" sz="1800" b="0" i="0" u="none" strike="noStrike" baseline="0" dirty="0">
                <a:solidFill>
                  <a:srgbClr val="000000"/>
                </a:solidFill>
                <a:latin typeface="Times New Roman" panose="02020603050405020304" pitchFamily="18" charset="0"/>
              </a:rPr>
              <a:t>Using methods, declaring a class method, Implementation of inheritance, calling a class method, Passing parameters, Variables, Local variables and variable scope. </a:t>
            </a:r>
          </a:p>
          <a:p>
            <a:r>
              <a:rPr lang="en-US" sz="1800" b="1" i="0" u="none" strike="noStrike" baseline="0" dirty="0">
                <a:solidFill>
                  <a:srgbClr val="000000"/>
                </a:solidFill>
                <a:latin typeface="Times New Roman" panose="02020603050405020304" pitchFamily="18" charset="0"/>
              </a:rPr>
              <a:t>Using Standard Java Packages: </a:t>
            </a:r>
            <a:r>
              <a:rPr lang="en-US" sz="1800" b="0" i="0" u="none" strike="noStrike" baseline="0" dirty="0">
                <a:solidFill>
                  <a:srgbClr val="000000"/>
                </a:solidFill>
                <a:latin typeface="Times New Roman" panose="02020603050405020304" pitchFamily="18" charset="0"/>
              </a:rPr>
              <a:t>Creating graphical user interfaces with AWT, Managing graphics objects with GUI layout managers, Event handling of various components. </a:t>
            </a:r>
          </a:p>
          <a:p>
            <a:r>
              <a:rPr lang="en-US" sz="1800" b="1" i="0" u="none" strike="noStrike" baseline="0" dirty="0">
                <a:solidFill>
                  <a:srgbClr val="000000"/>
                </a:solidFill>
                <a:latin typeface="Times New Roman" panose="02020603050405020304" pitchFamily="18" charset="0"/>
              </a:rPr>
              <a:t>Exception Handling: </a:t>
            </a:r>
            <a:r>
              <a:rPr lang="en-US" sz="1800" b="0" i="0" u="none" strike="noStrike" baseline="0" dirty="0">
                <a:solidFill>
                  <a:srgbClr val="000000"/>
                </a:solidFill>
                <a:latin typeface="Times New Roman" panose="02020603050405020304" pitchFamily="18" charset="0"/>
              </a:rPr>
              <a:t>Overview of exception handling, the basic model, Hierarchy of event classes, Throw clause, throws statement, try-catch block. </a:t>
            </a:r>
            <a:endParaRPr lang="en-US" sz="1800" b="0" i="0" u="none" strike="noStrike" baseline="0" dirty="0">
              <a:solidFill>
                <a:srgbClr val="000000"/>
              </a:solidFill>
              <a:latin typeface="Times New Roman" panose="02020603050405020304" pitchFamily="18" charset="0"/>
              <a:ea typeface="MS Mincho" panose="02020609040205080304" pitchFamily="49" charset="-128"/>
            </a:endParaRPr>
          </a:p>
          <a:p>
            <a:r>
              <a:rPr lang="en-US" sz="1800" b="1" i="0" u="none" strike="noStrike" baseline="0" dirty="0">
                <a:solidFill>
                  <a:srgbClr val="000000"/>
                </a:solidFill>
                <a:latin typeface="Times New Roman" panose="02020603050405020304" pitchFamily="18" charset="0"/>
              </a:rPr>
              <a:t>			Section – B </a:t>
            </a:r>
            <a:endParaRPr lang="en-US" sz="1800" b="0" i="0" u="none" strike="noStrike" baseline="0" dirty="0">
              <a:solidFill>
                <a:srgbClr val="000000"/>
              </a:solidFill>
              <a:latin typeface="Times New Roman" panose="02020603050405020304" pitchFamily="18" charset="0"/>
            </a:endParaRPr>
          </a:p>
          <a:p>
            <a:r>
              <a:rPr lang="en-US" sz="2400" b="1" i="0" u="none" strike="noStrike" baseline="0" dirty="0">
                <a:solidFill>
                  <a:srgbClr val="0000FF"/>
                </a:solidFill>
                <a:latin typeface="Times New Roman" panose="02020603050405020304" pitchFamily="18" charset="0"/>
              </a:rPr>
              <a:t>Managing Input/Output Files in Java: </a:t>
            </a:r>
            <a:r>
              <a:rPr lang="en-US" sz="2400" b="0" i="0" u="none" strike="noStrike" baseline="0" dirty="0">
                <a:solidFill>
                  <a:srgbClr val="0000FF"/>
                </a:solidFill>
                <a:latin typeface="Times New Roman" panose="02020603050405020304" pitchFamily="18" charset="0"/>
              </a:rPr>
              <a:t>Introduction, Concept of streams, Stream classes; Byte stream class, Character stream class, Other useful I/O classes, Using the file class. </a:t>
            </a:r>
          </a:p>
          <a:p>
            <a:r>
              <a:rPr lang="en-US" sz="2400" b="1" i="0" u="none" strike="noStrike" baseline="0" dirty="0">
                <a:solidFill>
                  <a:srgbClr val="0000FF"/>
                </a:solidFill>
                <a:latin typeface="Times New Roman" panose="02020603050405020304" pitchFamily="18" charset="0"/>
              </a:rPr>
              <a:t>Thread: </a:t>
            </a:r>
            <a:r>
              <a:rPr lang="en-US" sz="2400" b="0" i="0" u="none" strike="noStrike" baseline="0" dirty="0">
                <a:solidFill>
                  <a:srgbClr val="0000FF"/>
                </a:solidFill>
                <a:latin typeface="Times New Roman" panose="02020603050405020304" pitchFamily="18" charset="0"/>
              </a:rPr>
              <a:t>Introduction, Multithread, Synchronization, Deadlock. </a:t>
            </a:r>
          </a:p>
          <a:p>
            <a:r>
              <a:rPr lang="en-US" sz="2400" b="1" i="0" u="none" strike="noStrike" baseline="0" dirty="0">
                <a:solidFill>
                  <a:srgbClr val="0000FF"/>
                </a:solidFill>
                <a:latin typeface="Times New Roman" panose="02020603050405020304" pitchFamily="18" charset="0"/>
              </a:rPr>
              <a:t>Socket Programming: </a:t>
            </a:r>
            <a:r>
              <a:rPr lang="en-US" sz="2400" b="0" i="0" u="none" strike="noStrike" baseline="0" dirty="0">
                <a:solidFill>
                  <a:srgbClr val="0000FF"/>
                </a:solidFill>
                <a:latin typeface="Times New Roman" panose="02020603050405020304" pitchFamily="18" charset="0"/>
              </a:rPr>
              <a:t>Socket basics, Socket-based network concepts, Client server basics, Socket for client, Socket for server. </a:t>
            </a:r>
          </a:p>
          <a:p>
            <a:r>
              <a:rPr lang="en-US" sz="2400" b="1" i="0" u="none" strike="noStrike" baseline="0" dirty="0">
                <a:solidFill>
                  <a:srgbClr val="0000FF"/>
                </a:solidFill>
                <a:latin typeface="Times New Roman" panose="02020603050405020304" pitchFamily="18" charset="0"/>
              </a:rPr>
              <a:t>Java Database Connectivity: </a:t>
            </a:r>
            <a:r>
              <a:rPr lang="en-US" sz="2400" b="0" i="0" u="none" strike="noStrike" baseline="0" dirty="0">
                <a:solidFill>
                  <a:srgbClr val="0000FF"/>
                </a:solidFill>
                <a:latin typeface="Times New Roman" panose="02020603050405020304" pitchFamily="18" charset="0"/>
              </a:rPr>
              <a:t>JDBC, JDBC drivers, the </a:t>
            </a:r>
            <a:r>
              <a:rPr lang="en-US" sz="2400" b="0" i="0" u="none" strike="noStrike" baseline="0" dirty="0" err="1">
                <a:solidFill>
                  <a:srgbClr val="0000FF"/>
                </a:solidFill>
                <a:latin typeface="Times New Roman" panose="02020603050405020304" pitchFamily="18" charset="0"/>
              </a:rPr>
              <a:t>JAVA.sql</a:t>
            </a:r>
            <a:r>
              <a:rPr lang="en-US" sz="2400" b="0" i="0" u="none" strike="noStrike" baseline="0" dirty="0">
                <a:solidFill>
                  <a:srgbClr val="0000FF"/>
                </a:solidFill>
                <a:latin typeface="Times New Roman" panose="02020603050405020304" pitchFamily="18" charset="0"/>
              </a:rPr>
              <a:t> packages, SQL, JDBC connection and executing SQL. </a:t>
            </a:r>
            <a:endParaRPr lang="en-US" sz="1800" dirty="0">
              <a:solidFill>
                <a:srgbClr val="0000FF"/>
              </a:solidFill>
              <a:effectLst/>
              <a:latin typeface="Times New Roman" panose="02020603050405020304" pitchFamily="18" charset="0"/>
              <a:ea typeface="MS Mincho" panose="02020609040205080304" pitchFamily="49" charset="-128"/>
            </a:endParaRPr>
          </a:p>
        </p:txBody>
      </p:sp>
      <p:sp>
        <p:nvSpPr>
          <p:cNvPr id="8" name="Slide Number Placeholder 7"/>
          <p:cNvSpPr>
            <a:spLocks noGrp="1"/>
          </p:cNvSpPr>
          <p:nvPr>
            <p:ph type="sldNum" sz="quarter" idx="12"/>
          </p:nvPr>
        </p:nvSpPr>
        <p:spPr/>
        <p:txBody>
          <a:bodyPr/>
          <a:lstStyle/>
          <a:p>
            <a:fld id="{FFEB7DBD-EAFA-4393-9BBA-2D358FF94BB4}" type="slidenum">
              <a:rPr lang="en-US" smtClean="0"/>
              <a:t>4</a:t>
            </a:fld>
            <a:endParaRPr lang="en-US"/>
          </a:p>
        </p:txBody>
      </p:sp>
    </p:spTree>
    <p:extLst>
      <p:ext uri="{BB962C8B-B14F-4D97-AF65-F5344CB8AC3E}">
        <p14:creationId xmlns:p14="http://schemas.microsoft.com/office/powerpoint/2010/main" val="2811182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5</a:t>
            </a:fld>
            <a:endParaRPr lang="en-US"/>
          </a:p>
        </p:txBody>
      </p:sp>
      <p:graphicFrame>
        <p:nvGraphicFramePr>
          <p:cNvPr id="3" name="Table 2">
            <a:extLst>
              <a:ext uri="{FF2B5EF4-FFF2-40B4-BE49-F238E27FC236}">
                <a16:creationId xmlns:a16="http://schemas.microsoft.com/office/drawing/2014/main" xmlns="" id="{250A99EB-C56B-A593-38A3-A7482BA8A87C}"/>
              </a:ext>
            </a:extLst>
          </p:cNvPr>
          <p:cNvGraphicFramePr>
            <a:graphicFrameLocks noGrp="1"/>
          </p:cNvGraphicFramePr>
          <p:nvPr>
            <p:extLst>
              <p:ext uri="{D42A27DB-BD31-4B8C-83A1-F6EECF244321}">
                <p14:modId xmlns:p14="http://schemas.microsoft.com/office/powerpoint/2010/main" val="1370279317"/>
              </p:ext>
            </p:extLst>
          </p:nvPr>
        </p:nvGraphicFramePr>
        <p:xfrm>
          <a:off x="533400" y="2074703"/>
          <a:ext cx="8077200" cy="2800985"/>
        </p:xfrm>
        <a:graphic>
          <a:graphicData uri="http://schemas.openxmlformats.org/drawingml/2006/table">
            <a:tbl>
              <a:tblPr firstRow="1" bandRow="1">
                <a:tableStyleId>{F5AB1C69-6EDB-4FF4-983F-18BD219EF322}</a:tableStyleId>
              </a:tblPr>
              <a:tblGrid>
                <a:gridCol w="4038600">
                  <a:extLst>
                    <a:ext uri="{9D8B030D-6E8A-4147-A177-3AD203B41FA5}">
                      <a16:colId xmlns:a16="http://schemas.microsoft.com/office/drawing/2014/main" xmlns="" val="3177582312"/>
                    </a:ext>
                  </a:extLst>
                </a:gridCol>
                <a:gridCol w="4038600">
                  <a:extLst>
                    <a:ext uri="{9D8B030D-6E8A-4147-A177-3AD203B41FA5}">
                      <a16:colId xmlns:a16="http://schemas.microsoft.com/office/drawing/2014/main" xmlns="" val="702096841"/>
                    </a:ext>
                  </a:extLst>
                </a:gridCol>
              </a:tblGrid>
              <a:tr h="370840">
                <a:tc gridSpan="2">
                  <a:txBody>
                    <a:bodyPr/>
                    <a:lstStyle/>
                    <a:p>
                      <a:pPr marL="0" marR="0" lvl="0" indent="0" algn="l" defTabSz="957915" rtl="0" eaLnBrk="1" fontAlgn="auto" latinLnBrk="0" hangingPunct="1">
                        <a:lnSpc>
                          <a:spcPct val="100000"/>
                        </a:lnSpc>
                        <a:spcBef>
                          <a:spcPts val="0"/>
                        </a:spcBef>
                        <a:spcAft>
                          <a:spcPts val="0"/>
                        </a:spcAft>
                        <a:buClrTx/>
                        <a:buSzTx/>
                        <a:buFontTx/>
                        <a:buNone/>
                        <a:tabLst/>
                        <a:defRPr/>
                      </a:pPr>
                      <a:r>
                        <a:rPr lang="en-GB" sz="2800" b="1" dirty="0">
                          <a:solidFill>
                            <a:schemeClr val="tx1"/>
                          </a:solidFill>
                          <a:effectLst/>
                          <a:latin typeface="Times New Roman" panose="02020603050405020304" pitchFamily="18" charset="0"/>
                          <a:cs typeface="Times New Roman" panose="02020603050405020304" pitchFamily="18" charset="0"/>
                        </a:rPr>
                        <a:t>Reference Books:</a:t>
                      </a:r>
                      <a:endParaRPr lang="en-US" sz="2800" b="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506676379"/>
                  </a:ext>
                </a:extLst>
              </a:tr>
              <a:tr h="370840">
                <a:tc>
                  <a:txBody>
                    <a:bodyPr/>
                    <a:lstStyle/>
                    <a:p>
                      <a:pPr marL="0" marR="0" lvl="0" indent="0">
                        <a:lnSpc>
                          <a:spcPct val="107000"/>
                        </a:lnSpc>
                        <a:spcBef>
                          <a:spcPts val="0"/>
                        </a:spcBef>
                        <a:spcAft>
                          <a:spcPts val="0"/>
                        </a:spcAft>
                        <a:buFont typeface="+mj-lt"/>
                        <a:buNone/>
                      </a:pPr>
                      <a:r>
                        <a:rPr lang="en-US" sz="2800" kern="100" dirty="0">
                          <a:ln>
                            <a:noFill/>
                          </a:ln>
                          <a:effectLst/>
                          <a:latin typeface="Times New Roman" panose="02020603050405020304" pitchFamily="18" charset="0"/>
                          <a:ea typeface="MS Mincho" panose="02020609040205080304" pitchFamily="49" charset="-128"/>
                          <a:cs typeface="Times New Roman" panose="02020603050405020304" pitchFamily="18" charset="0"/>
                        </a:rPr>
                        <a:t>Y. Daniel Liang </a:t>
                      </a:r>
                      <a:endParaRPr lang="en-US" sz="2800" kern="100" dirty="0">
                        <a:ln>
                          <a:noFill/>
                        </a:ln>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57915" rtl="0" eaLnBrk="1" fontAlgn="auto" latinLnBrk="0" hangingPunct="1">
                        <a:lnSpc>
                          <a:spcPct val="107000"/>
                        </a:lnSpc>
                        <a:spcBef>
                          <a:spcPts val="0"/>
                        </a:spcBef>
                        <a:spcAft>
                          <a:spcPts val="0"/>
                        </a:spcAft>
                        <a:buClrTx/>
                        <a:buSzTx/>
                        <a:buFontTx/>
                        <a:buNone/>
                        <a:tabLst/>
                        <a:defRPr/>
                      </a:pPr>
                      <a:r>
                        <a:rPr lang="en-US" sz="2800" kern="100" dirty="0">
                          <a:ln>
                            <a:noFill/>
                          </a:ln>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Introduction to JAVA Programming</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3639883124"/>
                  </a:ext>
                </a:extLst>
              </a:tr>
              <a:tr h="370840">
                <a:tc>
                  <a:txBody>
                    <a:bodyPr/>
                    <a:lstStyle/>
                    <a:p>
                      <a:pPr marL="0" marR="0" lvl="0" indent="0" algn="l" defTabSz="957915" rtl="0" eaLnBrk="1" fontAlgn="auto" latinLnBrk="0" hangingPunct="1">
                        <a:lnSpc>
                          <a:spcPct val="107000"/>
                        </a:lnSpc>
                        <a:spcBef>
                          <a:spcPts val="0"/>
                        </a:spcBef>
                        <a:spcAft>
                          <a:spcPts val="0"/>
                        </a:spcAft>
                        <a:buClrTx/>
                        <a:buSzTx/>
                        <a:buFontTx/>
                        <a:buNone/>
                        <a:tabLst/>
                        <a:defRPr/>
                      </a:pPr>
                      <a:r>
                        <a:rPr lang="en-US" sz="2800" kern="100" dirty="0">
                          <a:ln>
                            <a:noFill/>
                          </a:ln>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Herbert </a:t>
                      </a:r>
                      <a:r>
                        <a:rPr lang="en-US" sz="2800" kern="100" dirty="0" err="1">
                          <a:ln>
                            <a:noFill/>
                          </a:ln>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Schildt</a:t>
                      </a:r>
                      <a:r>
                        <a:rPr lang="en-US" sz="2800" kern="100" dirty="0">
                          <a:ln>
                            <a:noFill/>
                          </a:ln>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p>
                    <a:p>
                      <a:pPr marL="0" marR="0" lvl="0" indent="0" algn="l" defTabSz="957915" rtl="0" eaLnBrk="1" fontAlgn="auto" latinLnBrk="0" hangingPunct="1">
                        <a:lnSpc>
                          <a:spcPct val="107000"/>
                        </a:lnSpc>
                        <a:spcBef>
                          <a:spcPts val="0"/>
                        </a:spcBef>
                        <a:spcAft>
                          <a:spcPts val="0"/>
                        </a:spcAft>
                        <a:buClrTx/>
                        <a:buSzTx/>
                        <a:buFontTx/>
                        <a:buNone/>
                        <a:tabLst/>
                        <a:defRPr/>
                      </a:pPr>
                      <a:endParaRPr lang="en-US" sz="2800" kern="100" dirty="0">
                        <a:ln>
                          <a:noFill/>
                        </a:ln>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57915" rtl="0" eaLnBrk="1" fontAlgn="auto" latinLnBrk="0" hangingPunct="1">
                        <a:lnSpc>
                          <a:spcPct val="107000"/>
                        </a:lnSpc>
                        <a:spcBef>
                          <a:spcPts val="0"/>
                        </a:spcBef>
                        <a:spcAft>
                          <a:spcPts val="0"/>
                        </a:spcAft>
                        <a:buClrTx/>
                        <a:buSzTx/>
                        <a:buFontTx/>
                        <a:buNone/>
                        <a:tabLst/>
                        <a:defRPr/>
                      </a:pPr>
                      <a:r>
                        <a:rPr lang="en-US" sz="2800" kern="100" dirty="0">
                          <a:ln>
                            <a:noFill/>
                          </a:ln>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The Complete Reference of Java 2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869697626"/>
                  </a:ext>
                </a:extLst>
              </a:tr>
              <a:tr h="370840">
                <a:tc>
                  <a:txBody>
                    <a:bodyPr/>
                    <a:lstStyle/>
                    <a:p>
                      <a:pPr marL="0" marR="0" lvl="0" indent="0">
                        <a:lnSpc>
                          <a:spcPct val="107000"/>
                        </a:lnSpc>
                        <a:spcBef>
                          <a:spcPts val="0"/>
                        </a:spcBef>
                        <a:spcAft>
                          <a:spcPts val="0"/>
                        </a:spcAft>
                        <a:buFont typeface="+mj-lt"/>
                        <a:buNone/>
                      </a:pPr>
                      <a:endParaRPr lang="en-US" sz="2800" kern="100" dirty="0">
                        <a:ln>
                          <a:noFill/>
                        </a:ln>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2800" kern="100" dirty="0">
                        <a:ln>
                          <a:noFill/>
                        </a:ln>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643830571"/>
                  </a:ext>
                </a:extLst>
              </a:tr>
            </a:tbl>
          </a:graphicData>
        </a:graphic>
      </p:graphicFrame>
    </p:spTree>
    <p:extLst>
      <p:ext uri="{BB962C8B-B14F-4D97-AF65-F5344CB8AC3E}">
        <p14:creationId xmlns:p14="http://schemas.microsoft.com/office/powerpoint/2010/main" val="3749887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67667" y="1628136"/>
            <a:ext cx="6732886" cy="523220"/>
          </a:xfrm>
          <a:prstGeom prst="rect">
            <a:avLst/>
          </a:prstGeom>
          <a:noFill/>
        </p:spPr>
        <p:txBody>
          <a:bodyPr wrap="square" rtlCol="0">
            <a:spAutoFit/>
          </a:bodyPr>
          <a:lstStyle/>
          <a:p>
            <a:pPr algn="ctr"/>
            <a:r>
              <a:rPr lang="en-US" sz="2800" b="1" dirty="0">
                <a:solidFill>
                  <a:srgbClr val="0070C0"/>
                </a:solidFill>
                <a:latin typeface="Times New Roman" panose="02020603050405020304" pitchFamily="18" charset="0"/>
                <a:cs typeface="Times New Roman" panose="02020603050405020304" pitchFamily="18" charset="0"/>
              </a:rPr>
              <a:t>Assessment and Evaluation Strategy:</a:t>
            </a:r>
          </a:p>
        </p:txBody>
      </p:sp>
      <p:sp>
        <p:nvSpPr>
          <p:cNvPr id="8" name="Slide Number Placeholder 7"/>
          <p:cNvSpPr>
            <a:spLocks noGrp="1"/>
          </p:cNvSpPr>
          <p:nvPr>
            <p:ph type="sldNum" sz="quarter" idx="12"/>
          </p:nvPr>
        </p:nvSpPr>
        <p:spPr/>
        <p:txBody>
          <a:bodyPr/>
          <a:lstStyle/>
          <a:p>
            <a:fld id="{FFEB7DBD-EAFA-4393-9BBA-2D358FF94BB4}" type="slidenum">
              <a:rPr lang="en-US" smtClean="0"/>
              <a:t>6</a:t>
            </a:fld>
            <a:endParaRPr lang="en-US"/>
          </a:p>
        </p:txBody>
      </p:sp>
      <p:sp>
        <p:nvSpPr>
          <p:cNvPr id="2" name="TextBox 1">
            <a:extLst>
              <a:ext uri="{FF2B5EF4-FFF2-40B4-BE49-F238E27FC236}">
                <a16:creationId xmlns:a16="http://schemas.microsoft.com/office/drawing/2014/main" xmlns="" id="{70A2B983-D70B-B1A7-DDB9-CF63447B6490}"/>
              </a:ext>
            </a:extLst>
          </p:cNvPr>
          <p:cNvSpPr txBox="1"/>
          <p:nvPr/>
        </p:nvSpPr>
        <p:spPr>
          <a:xfrm>
            <a:off x="1162820" y="2718195"/>
            <a:ext cx="7246543" cy="1877437"/>
          </a:xfrm>
          <a:prstGeom prst="rect">
            <a:avLst/>
          </a:prstGeom>
          <a:noFill/>
        </p:spPr>
        <p:txBody>
          <a:bodyPr wrap="square" rtlCol="0">
            <a:spAutoFit/>
          </a:bodyPr>
          <a:lstStyle/>
          <a:p>
            <a:pPr marL="342900" marR="0" lvl="0" indent="-342900" algn="just">
              <a:spcBef>
                <a:spcPts val="0"/>
              </a:spcBef>
              <a:spcAft>
                <a:spcPts val="0"/>
              </a:spcAft>
              <a:buFont typeface="Symbol" panose="05050102010706020507" pitchFamily="18" charset="2"/>
              <a:buChar char=""/>
            </a:pPr>
            <a:r>
              <a:rPr lang="en-US" sz="2000" b="1" dirty="0">
                <a:solidFill>
                  <a:srgbClr val="000000"/>
                </a:solidFill>
                <a:effectLst/>
                <a:latin typeface="Times New Roman" panose="02020603050405020304" pitchFamily="18" charset="0"/>
                <a:ea typeface="MS Mincho" panose="02020609040205080304" pitchFamily="49" charset="-128"/>
              </a:rPr>
              <a:t>Class tests/Assignments/Quizzes/Programming contest</a:t>
            </a:r>
          </a:p>
          <a:p>
            <a:pPr marL="800100" lvl="1" indent="-342900" algn="just">
              <a:buFont typeface="Symbol" panose="05050102010706020507" pitchFamily="18" charset="2"/>
              <a:buChar char=""/>
            </a:pPr>
            <a:r>
              <a:rPr lang="en-US" dirty="0">
                <a:solidFill>
                  <a:srgbClr val="000000"/>
                </a:solidFill>
                <a:latin typeface="Times New Roman" panose="02020603050405020304" pitchFamily="18" charset="0"/>
                <a:ea typeface="MS Mincho" panose="02020609040205080304" pitchFamily="49" charset="-128"/>
              </a:rPr>
              <a:t>Class test       		1 (50% of CA marks)</a:t>
            </a:r>
          </a:p>
          <a:p>
            <a:pPr marL="800100" lvl="1" indent="-342900" algn="just">
              <a:buFont typeface="Symbol" panose="05050102010706020507" pitchFamily="18" charset="2"/>
              <a:buChar char=""/>
            </a:pPr>
            <a:r>
              <a:rPr lang="en-US" dirty="0">
                <a:solidFill>
                  <a:srgbClr val="000000"/>
                </a:solidFill>
                <a:effectLst/>
                <a:latin typeface="Times New Roman" panose="02020603050405020304" pitchFamily="18" charset="0"/>
                <a:ea typeface="MS Mincho" panose="02020609040205080304" pitchFamily="49" charset="-128"/>
              </a:rPr>
              <a:t>Assignments/Quizzes/Presentation 1 </a:t>
            </a:r>
            <a:r>
              <a:rPr lang="en-US" dirty="0">
                <a:solidFill>
                  <a:srgbClr val="000000"/>
                </a:solidFill>
                <a:latin typeface="Times New Roman" panose="02020603050405020304" pitchFamily="18" charset="0"/>
                <a:ea typeface="MS Mincho" panose="02020609040205080304" pitchFamily="49" charset="-128"/>
              </a:rPr>
              <a:t>(50% of CA marks)</a:t>
            </a:r>
          </a:p>
          <a:p>
            <a:pPr marL="342900" indent="-342900" algn="just">
              <a:buFont typeface="Symbol" panose="05050102010706020507" pitchFamily="18" charset="2"/>
              <a:buChar char=""/>
            </a:pPr>
            <a:r>
              <a:rPr lang="en-US" sz="2000" b="1" dirty="0">
                <a:solidFill>
                  <a:srgbClr val="000000"/>
                </a:solidFill>
                <a:effectLst/>
                <a:latin typeface="Times New Roman" panose="02020603050405020304" pitchFamily="18" charset="0"/>
                <a:ea typeface="MS Mincho" panose="02020609040205080304" pitchFamily="49" charset="-128"/>
              </a:rPr>
              <a:t>Class attendance</a:t>
            </a:r>
            <a:r>
              <a:rPr lang="en-US" sz="2000" dirty="0">
                <a:solidFill>
                  <a:srgbClr val="000000"/>
                </a:solidFill>
                <a:effectLst/>
                <a:latin typeface="Times New Roman" panose="02020603050405020304" pitchFamily="18" charset="0"/>
                <a:ea typeface="MS Mincho" panose="02020609040205080304" pitchFamily="49" charset="-128"/>
              </a:rPr>
              <a:t> (10%)</a:t>
            </a:r>
            <a:endParaRPr lang="en-US" sz="2000" dirty="0">
              <a:effectLst/>
              <a:latin typeface="Times New Roman" panose="02020603050405020304" pitchFamily="18" charset="0"/>
              <a:ea typeface="MS Mincho" panose="02020609040205080304" pitchFamily="49" charset="-128"/>
            </a:endParaRPr>
          </a:p>
          <a:p>
            <a:pPr marL="342900" marR="0" lvl="0" indent="-342900" algn="just">
              <a:spcBef>
                <a:spcPts val="0"/>
              </a:spcBef>
              <a:spcAft>
                <a:spcPts val="0"/>
              </a:spcAft>
              <a:buFont typeface="Symbol" panose="05050102010706020507" pitchFamily="18" charset="2"/>
              <a:buChar char=""/>
            </a:pPr>
            <a:r>
              <a:rPr lang="en-US" sz="2000" b="1" dirty="0">
                <a:solidFill>
                  <a:srgbClr val="000000"/>
                </a:solidFill>
                <a:effectLst/>
                <a:latin typeface="Times New Roman" panose="02020603050405020304" pitchFamily="18" charset="0"/>
                <a:ea typeface="MS Mincho" panose="02020609040205080304" pitchFamily="49" charset="-128"/>
              </a:rPr>
              <a:t>Final exam</a:t>
            </a:r>
            <a:r>
              <a:rPr lang="en-US" sz="2000" dirty="0">
                <a:solidFill>
                  <a:srgbClr val="000000"/>
                </a:solidFill>
                <a:effectLst/>
                <a:latin typeface="Times New Roman" panose="02020603050405020304" pitchFamily="18" charset="0"/>
                <a:ea typeface="MS Mincho" panose="02020609040205080304" pitchFamily="49" charset="-128"/>
              </a:rPr>
              <a:t> (70%) </a:t>
            </a:r>
            <a:endParaRPr lang="en-US" sz="2000" dirty="0">
              <a:effectLst/>
              <a:latin typeface="Times New Roman" panose="02020603050405020304" pitchFamily="18" charset="0"/>
              <a:ea typeface="MS Mincho" panose="02020609040205080304" pitchFamily="49" charset="-128"/>
            </a:endParaRPr>
          </a:p>
          <a:p>
            <a:pPr marL="0" marR="0" algn="ctr">
              <a:spcBef>
                <a:spcPts val="0"/>
              </a:spcBef>
              <a:spcAft>
                <a:spcPts val="0"/>
              </a:spcAft>
            </a:pPr>
            <a:endParaRPr lang="en-US" sz="2400" dirty="0">
              <a:effectLst/>
              <a:latin typeface="Times New Roman" panose="02020603050405020304" pitchFamily="18" charset="0"/>
              <a:ea typeface="MS Mincho" panose="02020609040205080304" pitchFamily="49" charset="-128"/>
            </a:endParaRPr>
          </a:p>
        </p:txBody>
      </p:sp>
    </p:spTree>
    <p:extLst>
      <p:ext uri="{BB962C8B-B14F-4D97-AF65-F5344CB8AC3E}">
        <p14:creationId xmlns:p14="http://schemas.microsoft.com/office/powerpoint/2010/main" val="2645532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Line 5">
            <a:extLst>
              <a:ext uri="{FF2B5EF4-FFF2-40B4-BE49-F238E27FC236}">
                <a16:creationId xmlns:a16="http://schemas.microsoft.com/office/drawing/2014/main" xmlns="" id="{543CA836-CB5A-E547-6655-AACC78C3A35E}"/>
              </a:ext>
            </a:extLst>
          </p:cNvPr>
          <p:cNvSpPr>
            <a:spLocks noChangeShapeType="1"/>
          </p:cNvSpPr>
          <p:nvPr/>
        </p:nvSpPr>
        <p:spPr bwMode="auto">
          <a:xfrm>
            <a:off x="0" y="3810000"/>
            <a:ext cx="5715000" cy="0"/>
          </a:xfrm>
          <a:prstGeom prst="line">
            <a:avLst/>
          </a:prstGeom>
          <a:noFill/>
          <a:ln w="57150">
            <a:solidFill>
              <a:srgbClr val="99663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 name="Rectangle 2">
            <a:extLst>
              <a:ext uri="{FF2B5EF4-FFF2-40B4-BE49-F238E27FC236}">
                <a16:creationId xmlns:a16="http://schemas.microsoft.com/office/drawing/2014/main" xmlns="" id="{3C846987-69BF-322D-22AE-7308E28DF962}"/>
              </a:ext>
            </a:extLst>
          </p:cNvPr>
          <p:cNvSpPr>
            <a:spLocks noGrp="1" noChangeArrowheads="1"/>
          </p:cNvSpPr>
          <p:nvPr>
            <p:ph type="ctrTitle"/>
          </p:nvPr>
        </p:nvSpPr>
        <p:spPr>
          <a:xfrm>
            <a:off x="171450" y="1295400"/>
            <a:ext cx="8763000" cy="1981200"/>
          </a:xfrm>
        </p:spPr>
        <p:txBody>
          <a:bodyPr/>
          <a:lstStyle/>
          <a:p>
            <a:pPr algn="ctr" eaLnBrk="1" hangingPunct="1"/>
            <a:r>
              <a:rPr lang="en-US" altLang="en-US" sz="7000" dirty="0">
                <a:latin typeface="Times New Roman" panose="02020603050405020304" pitchFamily="18" charset="0"/>
                <a:cs typeface="Times New Roman" panose="02020603050405020304" pitchFamily="18" charset="0"/>
              </a:rPr>
              <a:t>Managing Input/Output Files in Java</a:t>
            </a:r>
          </a:p>
        </p:txBody>
      </p:sp>
      <p:pic>
        <p:nvPicPr>
          <p:cNvPr id="2053" name="Picture 6">
            <a:extLst>
              <a:ext uri="{FF2B5EF4-FFF2-40B4-BE49-F238E27FC236}">
                <a16:creationId xmlns:a16="http://schemas.microsoft.com/office/drawing/2014/main" xmlns="" id="{A41D9B25-B809-6913-F5D7-BF5A0B35A2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6988"/>
            <a:ext cx="83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3">
            <a:extLst>
              <a:ext uri="{FF2B5EF4-FFF2-40B4-BE49-F238E27FC236}">
                <a16:creationId xmlns:a16="http://schemas.microsoft.com/office/drawing/2014/main" xmlns="" id="{2D2F2385-0D11-0C7F-318F-22EDAE929CA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863F3BC5-2E0B-496A-B650-A95CA9D607F3}" type="slidenum">
              <a:rPr lang="en-US" altLang="en-US" sz="1400">
                <a:latin typeface="Times New Roman" panose="02020603050405020304" pitchFamily="18" charset="0"/>
              </a:rPr>
              <a:pPr/>
              <a:t>8</a:t>
            </a:fld>
            <a:endParaRPr lang="en-US" altLang="en-US" sz="1400">
              <a:latin typeface="Times New Roman" panose="02020603050405020304" pitchFamily="18" charset="0"/>
            </a:endParaRPr>
          </a:p>
        </p:txBody>
      </p:sp>
      <p:sp>
        <p:nvSpPr>
          <p:cNvPr id="3075" name="Rectangle 2">
            <a:extLst>
              <a:ext uri="{FF2B5EF4-FFF2-40B4-BE49-F238E27FC236}">
                <a16:creationId xmlns:a16="http://schemas.microsoft.com/office/drawing/2014/main" xmlns="" id="{16AA15F1-F6D3-DEBB-19D9-A749C16E2D6F}"/>
              </a:ext>
            </a:extLst>
          </p:cNvPr>
          <p:cNvSpPr>
            <a:spLocks noGrp="1" noChangeArrowheads="1"/>
          </p:cNvSpPr>
          <p:nvPr>
            <p:ph type="title"/>
          </p:nvPr>
        </p:nvSpPr>
        <p:spPr/>
        <p:txBody>
          <a:bodyPr/>
          <a:lstStyle/>
          <a:p>
            <a:pPr eaLnBrk="1" hangingPunct="1"/>
            <a:r>
              <a:rPr lang="en-US" altLang="en-US">
                <a:solidFill>
                  <a:srgbClr val="C00000"/>
                </a:solidFill>
                <a:latin typeface="Times New Roman" panose="02020603050405020304" pitchFamily="18" charset="0"/>
                <a:cs typeface="Times New Roman" panose="02020603050405020304" pitchFamily="18" charset="0"/>
              </a:rPr>
              <a:t>Outlines of Presentation</a:t>
            </a:r>
          </a:p>
        </p:txBody>
      </p:sp>
      <p:sp>
        <p:nvSpPr>
          <p:cNvPr id="6148" name="Content Placeholder 1">
            <a:extLst>
              <a:ext uri="{FF2B5EF4-FFF2-40B4-BE49-F238E27FC236}">
                <a16:creationId xmlns:a16="http://schemas.microsoft.com/office/drawing/2014/main" xmlns="" id="{576A9EBB-226F-8DF9-B2A3-D4DA2C410344}"/>
              </a:ext>
            </a:extLst>
          </p:cNvPr>
          <p:cNvSpPr>
            <a:spLocks noGrp="1"/>
          </p:cNvSpPr>
          <p:nvPr>
            <p:ph idx="1"/>
          </p:nvPr>
        </p:nvSpPr>
        <p:spPr/>
        <p:txBody>
          <a:bodyPr/>
          <a:lstStyle/>
          <a:p>
            <a:pPr algn="just"/>
            <a:r>
              <a:rPr lang="en-US" altLang="en-US" sz="3200">
                <a:latin typeface="Times New Roman" panose="02020603050405020304" pitchFamily="18" charset="0"/>
                <a:cs typeface="Times New Roman" panose="02020603050405020304" pitchFamily="18" charset="0"/>
              </a:rPr>
              <a:t>Introduction</a:t>
            </a:r>
          </a:p>
          <a:p>
            <a:pPr algn="just"/>
            <a:r>
              <a:rPr lang="en-US" altLang="en-US" sz="3200">
                <a:latin typeface="Times New Roman" panose="02020603050405020304" pitchFamily="18" charset="0"/>
                <a:cs typeface="Times New Roman" panose="02020603050405020304" pitchFamily="18" charset="0"/>
              </a:rPr>
              <a:t>Concept of streams</a:t>
            </a:r>
          </a:p>
          <a:p>
            <a:pPr algn="just"/>
            <a:r>
              <a:rPr lang="en-US" altLang="en-US" sz="3200">
                <a:latin typeface="Times New Roman" panose="02020603050405020304" pitchFamily="18" charset="0"/>
                <a:cs typeface="Times New Roman" panose="02020603050405020304" pitchFamily="18" charset="0"/>
              </a:rPr>
              <a:t>Stream classes</a:t>
            </a:r>
          </a:p>
          <a:p>
            <a:pPr algn="just"/>
            <a:r>
              <a:rPr lang="en-US" altLang="en-US" sz="3200">
                <a:latin typeface="Times New Roman" panose="02020603050405020304" pitchFamily="18" charset="0"/>
                <a:cs typeface="Times New Roman" panose="02020603050405020304" pitchFamily="18" charset="0"/>
              </a:rPr>
              <a:t>Byte stream class</a:t>
            </a:r>
          </a:p>
          <a:p>
            <a:pPr algn="just"/>
            <a:r>
              <a:rPr lang="en-US" altLang="en-US" sz="3200">
                <a:latin typeface="Times New Roman" panose="02020603050405020304" pitchFamily="18" charset="0"/>
                <a:cs typeface="Times New Roman" panose="02020603050405020304" pitchFamily="18" charset="0"/>
              </a:rPr>
              <a:t>Character stream class</a:t>
            </a:r>
          </a:p>
          <a:p>
            <a:pPr algn="just"/>
            <a:r>
              <a:rPr lang="en-US" altLang="en-US" sz="3200">
                <a:latin typeface="Times New Roman" panose="02020603050405020304" pitchFamily="18" charset="0"/>
                <a:cs typeface="Times New Roman" panose="02020603050405020304" pitchFamily="18" charset="0"/>
              </a:rPr>
              <a:t>Other useful I/O classes</a:t>
            </a:r>
          </a:p>
          <a:p>
            <a:pPr algn="just"/>
            <a:r>
              <a:rPr lang="en-US" altLang="en-US" sz="3200">
                <a:latin typeface="Times New Roman" panose="02020603050405020304" pitchFamily="18" charset="0"/>
                <a:cs typeface="Times New Roman" panose="02020603050405020304" pitchFamily="18" charset="0"/>
              </a:rPr>
              <a:t>Using the file class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fade">
                                      <p:cBhvr>
                                        <p:cTn id="7" dur="1000"/>
                                        <p:tgtEl>
                                          <p:spTgt spid="6148">
                                            <p:txEl>
                                              <p:pRg st="0" end="0"/>
                                            </p:txEl>
                                          </p:spTgt>
                                        </p:tgtEl>
                                      </p:cBhvr>
                                    </p:animEffect>
                                    <p:anim calcmode="lin" valueType="num">
                                      <p:cBhvr>
                                        <p:cTn id="8" dur="1000" fill="hold"/>
                                        <p:tgtEl>
                                          <p:spTgt spid="614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14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6148">
                                            <p:txEl>
                                              <p:pRg st="1" end="1"/>
                                            </p:txEl>
                                          </p:spTgt>
                                        </p:tgtEl>
                                        <p:attrNameLst>
                                          <p:attrName>style.visibility</p:attrName>
                                        </p:attrNameLst>
                                      </p:cBhvr>
                                      <p:to>
                                        <p:strVal val="visible"/>
                                      </p:to>
                                    </p:set>
                                    <p:animEffect transition="in" filter="fade">
                                      <p:cBhvr>
                                        <p:cTn id="14" dur="1000"/>
                                        <p:tgtEl>
                                          <p:spTgt spid="6148">
                                            <p:txEl>
                                              <p:pRg st="1" end="1"/>
                                            </p:txEl>
                                          </p:spTgt>
                                        </p:tgtEl>
                                      </p:cBhvr>
                                    </p:animEffect>
                                    <p:anim calcmode="lin" valueType="num">
                                      <p:cBhvr>
                                        <p:cTn id="15" dur="1000" fill="hold"/>
                                        <p:tgtEl>
                                          <p:spTgt spid="614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14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6148">
                                            <p:txEl>
                                              <p:pRg st="2" end="2"/>
                                            </p:txEl>
                                          </p:spTgt>
                                        </p:tgtEl>
                                        <p:attrNameLst>
                                          <p:attrName>style.visibility</p:attrName>
                                        </p:attrNameLst>
                                      </p:cBhvr>
                                      <p:to>
                                        <p:strVal val="visible"/>
                                      </p:to>
                                    </p:set>
                                    <p:animEffect transition="in" filter="fade">
                                      <p:cBhvr>
                                        <p:cTn id="21" dur="1000"/>
                                        <p:tgtEl>
                                          <p:spTgt spid="6148">
                                            <p:txEl>
                                              <p:pRg st="2" end="2"/>
                                            </p:txEl>
                                          </p:spTgt>
                                        </p:tgtEl>
                                      </p:cBhvr>
                                    </p:animEffect>
                                    <p:anim calcmode="lin" valueType="num">
                                      <p:cBhvr>
                                        <p:cTn id="22" dur="1000" fill="hold"/>
                                        <p:tgtEl>
                                          <p:spTgt spid="614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14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6148">
                                            <p:txEl>
                                              <p:pRg st="3" end="3"/>
                                            </p:txEl>
                                          </p:spTgt>
                                        </p:tgtEl>
                                        <p:attrNameLst>
                                          <p:attrName>style.visibility</p:attrName>
                                        </p:attrNameLst>
                                      </p:cBhvr>
                                      <p:to>
                                        <p:strVal val="visible"/>
                                      </p:to>
                                    </p:set>
                                    <p:animEffect transition="in" filter="fade">
                                      <p:cBhvr>
                                        <p:cTn id="28" dur="1000"/>
                                        <p:tgtEl>
                                          <p:spTgt spid="6148">
                                            <p:txEl>
                                              <p:pRg st="3" end="3"/>
                                            </p:txEl>
                                          </p:spTgt>
                                        </p:tgtEl>
                                      </p:cBhvr>
                                    </p:animEffect>
                                    <p:anim calcmode="lin" valueType="num">
                                      <p:cBhvr>
                                        <p:cTn id="29" dur="1000" fill="hold"/>
                                        <p:tgtEl>
                                          <p:spTgt spid="614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14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6148">
                                            <p:txEl>
                                              <p:pRg st="4" end="4"/>
                                            </p:txEl>
                                          </p:spTgt>
                                        </p:tgtEl>
                                        <p:attrNameLst>
                                          <p:attrName>style.visibility</p:attrName>
                                        </p:attrNameLst>
                                      </p:cBhvr>
                                      <p:to>
                                        <p:strVal val="visible"/>
                                      </p:to>
                                    </p:set>
                                    <p:animEffect transition="in" filter="fade">
                                      <p:cBhvr>
                                        <p:cTn id="35" dur="1000"/>
                                        <p:tgtEl>
                                          <p:spTgt spid="6148">
                                            <p:txEl>
                                              <p:pRg st="4" end="4"/>
                                            </p:txEl>
                                          </p:spTgt>
                                        </p:tgtEl>
                                      </p:cBhvr>
                                    </p:animEffect>
                                    <p:anim calcmode="lin" valueType="num">
                                      <p:cBhvr>
                                        <p:cTn id="36" dur="1000" fill="hold"/>
                                        <p:tgtEl>
                                          <p:spTgt spid="6148">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14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6148">
                                            <p:txEl>
                                              <p:pRg st="5" end="5"/>
                                            </p:txEl>
                                          </p:spTgt>
                                        </p:tgtEl>
                                        <p:attrNameLst>
                                          <p:attrName>style.visibility</p:attrName>
                                        </p:attrNameLst>
                                      </p:cBhvr>
                                      <p:to>
                                        <p:strVal val="visible"/>
                                      </p:to>
                                    </p:set>
                                    <p:animEffect transition="in" filter="fade">
                                      <p:cBhvr>
                                        <p:cTn id="42" dur="1000"/>
                                        <p:tgtEl>
                                          <p:spTgt spid="6148">
                                            <p:txEl>
                                              <p:pRg st="5" end="5"/>
                                            </p:txEl>
                                          </p:spTgt>
                                        </p:tgtEl>
                                      </p:cBhvr>
                                    </p:animEffect>
                                    <p:anim calcmode="lin" valueType="num">
                                      <p:cBhvr>
                                        <p:cTn id="43" dur="1000" fill="hold"/>
                                        <p:tgtEl>
                                          <p:spTgt spid="6148">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14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nodeType="clickEffect">
                                  <p:stCondLst>
                                    <p:cond delay="0"/>
                                  </p:stCondLst>
                                  <p:childTnLst>
                                    <p:set>
                                      <p:cBhvr>
                                        <p:cTn id="48" dur="1" fill="hold">
                                          <p:stCondLst>
                                            <p:cond delay="0"/>
                                          </p:stCondLst>
                                        </p:cTn>
                                        <p:tgtEl>
                                          <p:spTgt spid="6148">
                                            <p:txEl>
                                              <p:pRg st="6" end="6"/>
                                            </p:txEl>
                                          </p:spTgt>
                                        </p:tgtEl>
                                        <p:attrNameLst>
                                          <p:attrName>style.visibility</p:attrName>
                                        </p:attrNameLst>
                                      </p:cBhvr>
                                      <p:to>
                                        <p:strVal val="visible"/>
                                      </p:to>
                                    </p:set>
                                    <p:animEffect transition="in" filter="fade">
                                      <p:cBhvr>
                                        <p:cTn id="49" dur="1000"/>
                                        <p:tgtEl>
                                          <p:spTgt spid="6148">
                                            <p:txEl>
                                              <p:pRg st="6" end="6"/>
                                            </p:txEl>
                                          </p:spTgt>
                                        </p:tgtEl>
                                      </p:cBhvr>
                                    </p:animEffect>
                                    <p:anim calcmode="lin" valueType="num">
                                      <p:cBhvr>
                                        <p:cTn id="50" dur="1000" fill="hold"/>
                                        <p:tgtEl>
                                          <p:spTgt spid="6148">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614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xmlns="" id="{62A22BC6-36AF-05D3-9D6C-C17D43F71486}"/>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Introduction </a:t>
            </a:r>
          </a:p>
        </p:txBody>
      </p:sp>
      <p:sp>
        <p:nvSpPr>
          <p:cNvPr id="7171" name="Content Placeholder 2">
            <a:extLst>
              <a:ext uri="{FF2B5EF4-FFF2-40B4-BE49-F238E27FC236}">
                <a16:creationId xmlns:a16="http://schemas.microsoft.com/office/drawing/2014/main" xmlns="" id="{D6FE5C0C-EF04-A7A3-3ED9-CF30B19427FA}"/>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Generally we use variables and arrays for storing data inside the programs</a:t>
            </a:r>
          </a:p>
          <a:p>
            <a:pPr algn="just"/>
            <a:r>
              <a:rPr lang="en-US" altLang="en-US" dirty="0">
                <a:solidFill>
                  <a:schemeClr val="tx1"/>
                </a:solidFill>
                <a:latin typeface="Times New Roman" panose="02020603050405020304" pitchFamily="18" charset="0"/>
                <a:cs typeface="Times New Roman" panose="02020603050405020304" pitchFamily="18" charset="0"/>
              </a:rPr>
              <a:t>This approach has the following problems</a:t>
            </a:r>
          </a:p>
          <a:p>
            <a:pPr lvl="1" algn="just"/>
            <a:r>
              <a:rPr lang="en-US" altLang="en-US" dirty="0">
                <a:solidFill>
                  <a:srgbClr val="0000FF"/>
                </a:solidFill>
                <a:latin typeface="Times New Roman" panose="02020603050405020304" pitchFamily="18" charset="0"/>
                <a:cs typeface="Times New Roman" panose="02020603050405020304" pitchFamily="18" charset="0"/>
              </a:rPr>
              <a:t>The data is lost either when a variable goes out of scope or when the programs terminated, that is the storage is temporary</a:t>
            </a:r>
          </a:p>
          <a:p>
            <a:pPr lvl="1" algn="just"/>
            <a:r>
              <a:rPr lang="en-US" altLang="en-US" dirty="0">
                <a:solidFill>
                  <a:srgbClr val="0000FF"/>
                </a:solidFill>
                <a:latin typeface="Times New Roman" panose="02020603050405020304" pitchFamily="18" charset="0"/>
                <a:cs typeface="Times New Roman" panose="02020603050405020304" pitchFamily="18" charset="0"/>
              </a:rPr>
              <a:t>It is difficult to handle large volume of data using variables and arrays</a:t>
            </a:r>
          </a:p>
          <a:p>
            <a:pPr algn="just"/>
            <a:r>
              <a:rPr lang="en-US" altLang="en-US" dirty="0">
                <a:solidFill>
                  <a:schemeClr val="tx1"/>
                </a:solidFill>
                <a:latin typeface="Times New Roman" panose="02020603050405020304" pitchFamily="18" charset="0"/>
                <a:cs typeface="Times New Roman" panose="02020603050405020304" pitchFamily="18" charset="0"/>
              </a:rPr>
              <a:t>We can overcome these problem by storing data on secondary storage device such as hard disk</a:t>
            </a:r>
          </a:p>
          <a:p>
            <a:pPr algn="just"/>
            <a:r>
              <a:rPr lang="en-US" altLang="en-US" dirty="0">
                <a:solidFill>
                  <a:schemeClr val="tx1"/>
                </a:solidFill>
                <a:latin typeface="Times New Roman" panose="02020603050405020304" pitchFamily="18" charset="0"/>
                <a:cs typeface="Times New Roman" panose="02020603050405020304" pitchFamily="18" charset="0"/>
              </a:rPr>
              <a:t>The data is stored in these devise using the concept of files</a:t>
            </a:r>
          </a:p>
          <a:p>
            <a:pPr algn="just"/>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4100" name="Slide Number Placeholder 3">
            <a:extLst>
              <a:ext uri="{FF2B5EF4-FFF2-40B4-BE49-F238E27FC236}">
                <a16:creationId xmlns:a16="http://schemas.microsoft.com/office/drawing/2014/main" xmlns="" id="{585D04DB-381D-81A0-2273-24942FF83EE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8EE8EF8F-801B-4A35-92B3-F846521861E1}" type="slidenum">
              <a:rPr lang="en-US" altLang="en-US" sz="1400">
                <a:latin typeface="Times New Roman" panose="02020603050405020304" pitchFamily="18" charset="0"/>
              </a:rPr>
              <a:pPr/>
              <a:t>9</a:t>
            </a:fld>
            <a:endParaRPr lang="en-US"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arn(inVertical)">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arn(inVertical)">
                                      <p:cBhvr>
                                        <p:cTn id="12" dur="500"/>
                                        <p:tgtEl>
                                          <p:spTgt spid="7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fade">
                                      <p:cBhvr>
                                        <p:cTn id="17" dur="1000"/>
                                        <p:tgtEl>
                                          <p:spTgt spid="7171">
                                            <p:txEl>
                                              <p:pRg st="2" end="2"/>
                                            </p:txEl>
                                          </p:spTgt>
                                        </p:tgtEl>
                                      </p:cBhvr>
                                    </p:animEffect>
                                    <p:anim calcmode="lin" valueType="num">
                                      <p:cBhvr>
                                        <p:cTn id="18" dur="1000" fill="hold"/>
                                        <p:tgtEl>
                                          <p:spTgt spid="717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1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7171">
                                            <p:txEl>
                                              <p:pRg st="3" end="3"/>
                                            </p:txEl>
                                          </p:spTgt>
                                        </p:tgtEl>
                                        <p:attrNameLst>
                                          <p:attrName>style.visibility</p:attrName>
                                        </p:attrNameLst>
                                      </p:cBhvr>
                                      <p:to>
                                        <p:strVal val="visible"/>
                                      </p:to>
                                    </p:set>
                                    <p:animEffect transition="in" filter="fade">
                                      <p:cBhvr>
                                        <p:cTn id="24" dur="1000"/>
                                        <p:tgtEl>
                                          <p:spTgt spid="7171">
                                            <p:txEl>
                                              <p:pRg st="3" end="3"/>
                                            </p:txEl>
                                          </p:spTgt>
                                        </p:tgtEl>
                                      </p:cBhvr>
                                    </p:animEffect>
                                    <p:anim calcmode="lin" valueType="num">
                                      <p:cBhvr>
                                        <p:cTn id="25" dur="1000" fill="hold"/>
                                        <p:tgtEl>
                                          <p:spTgt spid="717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1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nodeType="clickEffect">
                                  <p:stCondLst>
                                    <p:cond delay="0"/>
                                  </p:stCondLst>
                                  <p:childTnLst>
                                    <p:set>
                                      <p:cBhvr>
                                        <p:cTn id="30" dur="1" fill="hold">
                                          <p:stCondLst>
                                            <p:cond delay="0"/>
                                          </p:stCondLst>
                                        </p:cTn>
                                        <p:tgtEl>
                                          <p:spTgt spid="7171">
                                            <p:txEl>
                                              <p:pRg st="4" end="4"/>
                                            </p:txEl>
                                          </p:spTgt>
                                        </p:tgtEl>
                                        <p:attrNameLst>
                                          <p:attrName>style.visibility</p:attrName>
                                        </p:attrNameLst>
                                      </p:cBhvr>
                                      <p:to>
                                        <p:strVal val="visible"/>
                                      </p:to>
                                    </p:set>
                                    <p:animEffect transition="in" filter="barn(inVertical)">
                                      <p:cBhvr>
                                        <p:cTn id="31" dur="500"/>
                                        <p:tgtEl>
                                          <p:spTgt spid="7171">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6" presetClass="entr" presetSubtype="21" fill="hold" nodeType="clickEffect">
                                  <p:stCondLst>
                                    <p:cond delay="0"/>
                                  </p:stCondLst>
                                  <p:childTnLst>
                                    <p:set>
                                      <p:cBhvr>
                                        <p:cTn id="35" dur="1" fill="hold">
                                          <p:stCondLst>
                                            <p:cond delay="0"/>
                                          </p:stCondLst>
                                        </p:cTn>
                                        <p:tgtEl>
                                          <p:spTgt spid="7171">
                                            <p:txEl>
                                              <p:pRg st="5" end="5"/>
                                            </p:txEl>
                                          </p:spTgt>
                                        </p:tgtEl>
                                        <p:attrNameLst>
                                          <p:attrName>style.visibility</p:attrName>
                                        </p:attrNameLst>
                                      </p:cBhvr>
                                      <p:to>
                                        <p:strVal val="visible"/>
                                      </p:to>
                                    </p:set>
                                    <p:animEffect transition="in" filter="barn(inVertical)">
                                      <p:cBhvr>
                                        <p:cTn id="36" dur="5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5C558801-9152-30B6-5506-B757EFB890ED}"/>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Introduction </a:t>
            </a:r>
            <a:endParaRPr lang="en-US" altLang="en-US"/>
          </a:p>
        </p:txBody>
      </p:sp>
      <p:sp>
        <p:nvSpPr>
          <p:cNvPr id="8195" name="Content Placeholder 2">
            <a:extLst>
              <a:ext uri="{FF2B5EF4-FFF2-40B4-BE49-F238E27FC236}">
                <a16:creationId xmlns:a16="http://schemas.microsoft.com/office/drawing/2014/main" xmlns="" id="{5E04B9C3-B309-6599-C7DE-CB80B9F0E069}"/>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A file is a collection of related records places in a particular area on a disk</a:t>
            </a:r>
          </a:p>
          <a:p>
            <a:pPr algn="just"/>
            <a:r>
              <a:rPr lang="en-US" altLang="en-US" dirty="0">
                <a:solidFill>
                  <a:schemeClr val="tx1"/>
                </a:solidFill>
                <a:latin typeface="Times New Roman" panose="02020603050405020304" pitchFamily="18" charset="0"/>
                <a:cs typeface="Times New Roman" panose="02020603050405020304" pitchFamily="18" charset="0"/>
              </a:rPr>
              <a:t>A record is composed of several fields and a field is a group of characters</a:t>
            </a:r>
          </a:p>
          <a:p>
            <a:pPr algn="just"/>
            <a:r>
              <a:rPr lang="en-US" altLang="en-US" dirty="0">
                <a:solidFill>
                  <a:schemeClr val="tx1"/>
                </a:solidFill>
                <a:latin typeface="Times New Roman" panose="02020603050405020304" pitchFamily="18" charset="0"/>
                <a:cs typeface="Times New Roman" panose="02020603050405020304" pitchFamily="18" charset="0"/>
              </a:rPr>
              <a:t>Characters in Java are Unicode characters composed of two bytes, each byte containing eight binary digits, 1 or 0</a:t>
            </a:r>
          </a:p>
          <a:p>
            <a:pPr algn="just"/>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5124" name="Slide Number Placeholder 3">
            <a:extLst>
              <a:ext uri="{FF2B5EF4-FFF2-40B4-BE49-F238E27FC236}">
                <a16:creationId xmlns:a16="http://schemas.microsoft.com/office/drawing/2014/main" xmlns="" id="{3ACCAF73-8371-8C68-3AAA-CA0FEEDD954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D4A623D2-C108-41B0-929B-530587024227}" type="slidenum">
              <a:rPr lang="en-US" altLang="en-US" sz="1400">
                <a:latin typeface="Times New Roman" panose="02020603050405020304" pitchFamily="18" charset="0"/>
              </a:rPr>
              <a:pPr/>
              <a:t>10</a:t>
            </a:fld>
            <a:endParaRPr lang="en-US"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arn(inVertical)">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arn(inVertical)">
                                      <p:cBhvr>
                                        <p:cTn id="17"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xmlns="" id="{A77BDFE1-3D27-8CED-7347-21DC96C06757}"/>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Introduction </a:t>
            </a:r>
            <a:endParaRPr lang="en-US" altLang="en-US"/>
          </a:p>
        </p:txBody>
      </p:sp>
      <p:sp>
        <p:nvSpPr>
          <p:cNvPr id="10243" name="Content Placeholder 2">
            <a:extLst>
              <a:ext uri="{FF2B5EF4-FFF2-40B4-BE49-F238E27FC236}">
                <a16:creationId xmlns:a16="http://schemas.microsoft.com/office/drawing/2014/main" xmlns="" id="{9FEADD31-95D8-BBB9-8FEA-1EABBF7E65F2}"/>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Storing and managing data using files is known as file processing </a:t>
            </a:r>
          </a:p>
          <a:p>
            <a:pPr algn="just"/>
            <a:r>
              <a:rPr lang="en-US" altLang="en-US" dirty="0">
                <a:solidFill>
                  <a:schemeClr val="tx1"/>
                </a:solidFill>
                <a:latin typeface="Times New Roman" panose="02020603050405020304" pitchFamily="18" charset="0"/>
                <a:cs typeface="Times New Roman" panose="02020603050405020304" pitchFamily="18" charset="0"/>
              </a:rPr>
              <a:t>File processing includes the following task</a:t>
            </a:r>
          </a:p>
          <a:p>
            <a:pPr lvl="1" algn="just"/>
            <a:r>
              <a:rPr lang="en-US" altLang="en-US" dirty="0">
                <a:solidFill>
                  <a:srgbClr val="0000FF"/>
                </a:solidFill>
                <a:latin typeface="Times New Roman" panose="02020603050405020304" pitchFamily="18" charset="0"/>
                <a:cs typeface="Times New Roman" panose="02020603050405020304" pitchFamily="18" charset="0"/>
              </a:rPr>
              <a:t>Creating files</a:t>
            </a:r>
          </a:p>
          <a:p>
            <a:pPr lvl="1" algn="just"/>
            <a:r>
              <a:rPr lang="en-US" altLang="en-US" dirty="0">
                <a:solidFill>
                  <a:srgbClr val="0000FF"/>
                </a:solidFill>
                <a:latin typeface="Times New Roman" panose="02020603050405020304" pitchFamily="18" charset="0"/>
                <a:cs typeface="Times New Roman" panose="02020603050405020304" pitchFamily="18" charset="0"/>
              </a:rPr>
              <a:t>Updating files and</a:t>
            </a:r>
          </a:p>
          <a:p>
            <a:pPr lvl="1" algn="just"/>
            <a:r>
              <a:rPr lang="en-US" altLang="en-US" dirty="0">
                <a:solidFill>
                  <a:srgbClr val="0000FF"/>
                </a:solidFill>
                <a:latin typeface="Times New Roman" panose="02020603050405020304" pitchFamily="18" charset="0"/>
                <a:cs typeface="Times New Roman" panose="02020603050405020304" pitchFamily="18" charset="0"/>
              </a:rPr>
              <a:t>Manipulation of data</a:t>
            </a:r>
          </a:p>
          <a:p>
            <a:pPr algn="just"/>
            <a:r>
              <a:rPr lang="en-US" altLang="en-US" dirty="0">
                <a:solidFill>
                  <a:schemeClr val="tx1"/>
                </a:solidFill>
                <a:latin typeface="Times New Roman" panose="02020603050405020304" pitchFamily="18" charset="0"/>
                <a:cs typeface="Times New Roman" panose="02020603050405020304" pitchFamily="18" charset="0"/>
              </a:rPr>
              <a:t>Java supports many powerful features for managing input and output of data using files</a:t>
            </a:r>
          </a:p>
        </p:txBody>
      </p:sp>
      <p:sp>
        <p:nvSpPr>
          <p:cNvPr id="7172" name="Slide Number Placeholder 3">
            <a:extLst>
              <a:ext uri="{FF2B5EF4-FFF2-40B4-BE49-F238E27FC236}">
                <a16:creationId xmlns:a16="http://schemas.microsoft.com/office/drawing/2014/main" xmlns="" id="{E3BA45F2-A155-C3DB-3013-02171DBA7A7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2544B685-C73C-4882-A5E1-62CD7F491441}" type="slidenum">
              <a:rPr lang="en-US" altLang="en-US" sz="1400">
                <a:latin typeface="Times New Roman" panose="02020603050405020304" pitchFamily="18" charset="0"/>
              </a:rPr>
              <a:pPr/>
              <a:t>11</a:t>
            </a:fld>
            <a:endParaRPr lang="en-US"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arn(inVertical)">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arn(inVertical)">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fade">
                                      <p:cBhvr>
                                        <p:cTn id="17" dur="1000"/>
                                        <p:tgtEl>
                                          <p:spTgt spid="10243">
                                            <p:txEl>
                                              <p:pRg st="2" end="2"/>
                                            </p:txEl>
                                          </p:spTgt>
                                        </p:tgtEl>
                                      </p:cBhvr>
                                    </p:animEffect>
                                    <p:anim calcmode="lin" valueType="num">
                                      <p:cBhvr>
                                        <p:cTn id="18"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2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10243">
                                            <p:txEl>
                                              <p:pRg st="3" end="3"/>
                                            </p:txEl>
                                          </p:spTgt>
                                        </p:tgtEl>
                                        <p:attrNameLst>
                                          <p:attrName>style.visibility</p:attrName>
                                        </p:attrNameLst>
                                      </p:cBhvr>
                                      <p:to>
                                        <p:strVal val="visible"/>
                                      </p:to>
                                    </p:set>
                                    <p:animEffect transition="in" filter="fade">
                                      <p:cBhvr>
                                        <p:cTn id="24" dur="1000"/>
                                        <p:tgtEl>
                                          <p:spTgt spid="10243">
                                            <p:txEl>
                                              <p:pRg st="3" end="3"/>
                                            </p:txEl>
                                          </p:spTgt>
                                        </p:tgtEl>
                                      </p:cBhvr>
                                    </p:animEffect>
                                    <p:anim calcmode="lin" valueType="num">
                                      <p:cBhvr>
                                        <p:cTn id="25"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024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Effect transition="in" filter="fade">
                                      <p:cBhvr>
                                        <p:cTn id="31" dur="1000"/>
                                        <p:tgtEl>
                                          <p:spTgt spid="10243">
                                            <p:txEl>
                                              <p:pRg st="4" end="4"/>
                                            </p:txEl>
                                          </p:spTgt>
                                        </p:tgtEl>
                                      </p:cBhvr>
                                    </p:animEffect>
                                    <p:anim calcmode="lin" valueType="num">
                                      <p:cBhvr>
                                        <p:cTn id="32" dur="10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024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21" fill="hold" nodeType="clickEffect">
                                  <p:stCondLst>
                                    <p:cond delay="0"/>
                                  </p:stCondLst>
                                  <p:childTnLst>
                                    <p:set>
                                      <p:cBhvr>
                                        <p:cTn id="37" dur="1" fill="hold">
                                          <p:stCondLst>
                                            <p:cond delay="0"/>
                                          </p:stCondLst>
                                        </p:cTn>
                                        <p:tgtEl>
                                          <p:spTgt spid="10243">
                                            <p:txEl>
                                              <p:pRg st="5" end="5"/>
                                            </p:txEl>
                                          </p:spTgt>
                                        </p:tgtEl>
                                        <p:attrNameLst>
                                          <p:attrName>style.visibility</p:attrName>
                                        </p:attrNameLst>
                                      </p:cBhvr>
                                      <p:to>
                                        <p:strVal val="visible"/>
                                      </p:to>
                                    </p:set>
                                    <p:animEffect transition="in" filter="barn(inVertical)">
                                      <p:cBhvr>
                                        <p:cTn id="38" dur="500"/>
                                        <p:tgtEl>
                                          <p:spTgt spid="102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xmlns="" id="{1E4FAB7A-73D2-BB46-ECF4-820AC5FA4CEE}"/>
              </a:ext>
            </a:extLst>
          </p:cNvPr>
          <p:cNvSpPr>
            <a:spLocks noGrp="1"/>
          </p:cNvSpPr>
          <p:nvPr>
            <p:ph type="title"/>
          </p:nvPr>
        </p:nvSpPr>
        <p:spPr/>
        <p:txBody>
          <a:bodyPr/>
          <a:lstStyle/>
          <a:p>
            <a:r>
              <a:rPr lang="en-US" altLang="en-US" dirty="0">
                <a:solidFill>
                  <a:srgbClr val="C00000"/>
                </a:solidFill>
                <a:latin typeface="Times New Roman" panose="02020603050405020304" pitchFamily="18" charset="0"/>
                <a:cs typeface="Times New Roman" panose="02020603050405020304" pitchFamily="18" charset="0"/>
              </a:rPr>
              <a:t>Introduction </a:t>
            </a:r>
            <a:endParaRPr lang="en-US" altLang="en-US" dirty="0"/>
          </a:p>
        </p:txBody>
      </p:sp>
      <p:sp>
        <p:nvSpPr>
          <p:cNvPr id="11267" name="Content Placeholder 2">
            <a:extLst>
              <a:ext uri="{FF2B5EF4-FFF2-40B4-BE49-F238E27FC236}">
                <a16:creationId xmlns:a16="http://schemas.microsoft.com/office/drawing/2014/main" xmlns="" id="{DF8F5BBD-C673-25DC-3EE5-FC0CCFD19B6F}"/>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Reading and writing of data in a file can be done-</a:t>
            </a:r>
          </a:p>
          <a:p>
            <a:pPr lvl="1" algn="just"/>
            <a:r>
              <a:rPr lang="en-US" altLang="en-US" dirty="0">
                <a:solidFill>
                  <a:srgbClr val="0000FF"/>
                </a:solidFill>
                <a:latin typeface="Times New Roman" panose="02020603050405020304" pitchFamily="18" charset="0"/>
                <a:cs typeface="Times New Roman" panose="02020603050405020304" pitchFamily="18" charset="0"/>
              </a:rPr>
              <a:t>At the level of bytes or characters or fields depending on the requirement of a particular applications </a:t>
            </a:r>
          </a:p>
          <a:p>
            <a:pPr algn="just"/>
            <a:r>
              <a:rPr lang="en-US" altLang="en-US" dirty="0">
                <a:solidFill>
                  <a:schemeClr val="tx1"/>
                </a:solidFill>
                <a:latin typeface="Times New Roman" panose="02020603050405020304" pitchFamily="18" charset="0"/>
                <a:cs typeface="Times New Roman" panose="02020603050405020304" pitchFamily="18" charset="0"/>
              </a:rPr>
              <a:t>Java also provides capabilities to read and write class object directly</a:t>
            </a:r>
          </a:p>
          <a:p>
            <a:pPr algn="just"/>
            <a:r>
              <a:rPr lang="en-US" altLang="en-US" dirty="0">
                <a:solidFill>
                  <a:schemeClr val="tx1"/>
                </a:solidFill>
                <a:latin typeface="Times New Roman" panose="02020603050405020304" pitchFamily="18" charset="0"/>
                <a:cs typeface="Times New Roman" panose="02020603050405020304" pitchFamily="18" charset="0"/>
              </a:rPr>
              <a:t>The process of reading and writing object is called </a:t>
            </a:r>
            <a:r>
              <a:rPr lang="en-US" altLang="en-US" u="sng" dirty="0">
                <a:solidFill>
                  <a:srgbClr val="C00000"/>
                </a:solidFill>
                <a:latin typeface="Times New Roman" panose="02020603050405020304" pitchFamily="18" charset="0"/>
                <a:cs typeface="Times New Roman" panose="02020603050405020304" pitchFamily="18" charset="0"/>
              </a:rPr>
              <a:t>object serialization</a:t>
            </a:r>
          </a:p>
        </p:txBody>
      </p:sp>
      <p:sp>
        <p:nvSpPr>
          <p:cNvPr id="8196" name="Slide Number Placeholder 3">
            <a:extLst>
              <a:ext uri="{FF2B5EF4-FFF2-40B4-BE49-F238E27FC236}">
                <a16:creationId xmlns:a16="http://schemas.microsoft.com/office/drawing/2014/main" xmlns="" id="{1A784A46-2E5F-A947-1518-0B30E1DE588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7B7BDB3D-4726-4DFD-B110-78DFACF93805}" type="slidenum">
              <a:rPr lang="en-US" altLang="en-US" sz="1400">
                <a:latin typeface="Times New Roman" panose="02020603050405020304" pitchFamily="18" charset="0"/>
              </a:rPr>
              <a:pPr/>
              <a:t>12</a:t>
            </a:fld>
            <a:endParaRPr lang="en-US"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arn(inVertical)">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fade">
                                      <p:cBhvr>
                                        <p:cTn id="12" dur="1000"/>
                                        <p:tgtEl>
                                          <p:spTgt spid="11267">
                                            <p:txEl>
                                              <p:pRg st="1" end="1"/>
                                            </p:txEl>
                                          </p:spTgt>
                                        </p:tgtEl>
                                      </p:cBhvr>
                                    </p:animEffect>
                                    <p:anim calcmode="lin" valueType="num">
                                      <p:cBhvr>
                                        <p:cTn id="13" dur="10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12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Effect transition="in" filter="barn(inVertical)">
                                      <p:cBhvr>
                                        <p:cTn id="19" dur="500"/>
                                        <p:tgtEl>
                                          <p:spTgt spid="11267">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nodeType="clickEffect">
                                  <p:stCondLst>
                                    <p:cond delay="0"/>
                                  </p:stCondLst>
                                  <p:childTnLst>
                                    <p:set>
                                      <p:cBhvr>
                                        <p:cTn id="23" dur="1" fill="hold">
                                          <p:stCondLst>
                                            <p:cond delay="0"/>
                                          </p:stCondLst>
                                        </p:cTn>
                                        <p:tgtEl>
                                          <p:spTgt spid="11267">
                                            <p:txEl>
                                              <p:pRg st="3" end="3"/>
                                            </p:txEl>
                                          </p:spTgt>
                                        </p:tgtEl>
                                        <p:attrNameLst>
                                          <p:attrName>style.visibility</p:attrName>
                                        </p:attrNameLst>
                                      </p:cBhvr>
                                      <p:to>
                                        <p:strVal val="visible"/>
                                      </p:to>
                                    </p:set>
                                    <p:animEffect transition="in" filter="barn(inVertical)">
                                      <p:cBhvr>
                                        <p:cTn id="24" dur="500"/>
                                        <p:tgtEl>
                                          <p:spTgt spid="11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a:extLst>
              <a:ext uri="{FF2B5EF4-FFF2-40B4-BE49-F238E27FC236}">
                <a16:creationId xmlns:a16="http://schemas.microsoft.com/office/drawing/2014/main" xmlns="" id="{A0C281E9-1CF6-F1A5-392B-455C624E3561}"/>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In file processing.</a:t>
            </a:r>
          </a:p>
          <a:p>
            <a:pPr lvl="1" algn="just"/>
            <a:r>
              <a:rPr lang="en-US" altLang="en-US" sz="2200" u="sng" dirty="0">
                <a:solidFill>
                  <a:srgbClr val="C00000"/>
                </a:solidFill>
                <a:latin typeface="Times New Roman" panose="02020603050405020304" pitchFamily="18" charset="0"/>
                <a:cs typeface="Times New Roman" panose="02020603050405020304" pitchFamily="18" charset="0"/>
              </a:rPr>
              <a:t>Input</a:t>
            </a:r>
            <a:r>
              <a:rPr lang="en-US" altLang="en-US" sz="2200" dirty="0">
                <a:solidFill>
                  <a:srgbClr val="0000FF"/>
                </a:solidFill>
                <a:latin typeface="Times New Roman" panose="02020603050405020304" pitchFamily="18" charset="0"/>
                <a:cs typeface="Times New Roman" panose="02020603050405020304" pitchFamily="18" charset="0"/>
              </a:rPr>
              <a:t> refers to the flow of data into a program and </a:t>
            </a:r>
          </a:p>
          <a:p>
            <a:pPr lvl="1" algn="just"/>
            <a:r>
              <a:rPr lang="en-US" altLang="en-US" sz="2200" u="sng" dirty="0">
                <a:solidFill>
                  <a:srgbClr val="C00000"/>
                </a:solidFill>
                <a:latin typeface="Times New Roman" panose="02020603050405020304" pitchFamily="18" charset="0"/>
                <a:cs typeface="Times New Roman" panose="02020603050405020304" pitchFamily="18" charset="0"/>
              </a:rPr>
              <a:t>Output</a:t>
            </a:r>
            <a:r>
              <a:rPr lang="en-US" altLang="en-US" sz="2200" dirty="0">
                <a:solidFill>
                  <a:srgbClr val="0000FF"/>
                </a:solidFill>
                <a:latin typeface="Times New Roman" panose="02020603050405020304" pitchFamily="18" charset="0"/>
                <a:cs typeface="Times New Roman" panose="02020603050405020304" pitchFamily="18" charset="0"/>
              </a:rPr>
              <a:t> means the flow of data out of a program</a:t>
            </a:r>
          </a:p>
          <a:p>
            <a:pPr algn="just"/>
            <a:r>
              <a:rPr lang="en-US" altLang="en-US" dirty="0">
                <a:solidFill>
                  <a:schemeClr val="tx1"/>
                </a:solidFill>
                <a:latin typeface="Times New Roman" panose="02020603050405020304" pitchFamily="18" charset="0"/>
                <a:cs typeface="Times New Roman" panose="02020603050405020304" pitchFamily="18" charset="0"/>
              </a:rPr>
              <a:t>Input to a program may come form the key board, the mouse, the memory, the disk, a network or another program</a:t>
            </a:r>
          </a:p>
          <a:p>
            <a:pPr algn="just"/>
            <a:r>
              <a:rPr lang="en-US" altLang="en-US" dirty="0">
                <a:solidFill>
                  <a:schemeClr val="tx1"/>
                </a:solidFill>
                <a:latin typeface="Times New Roman" panose="02020603050405020304" pitchFamily="18" charset="0"/>
                <a:cs typeface="Times New Roman" panose="02020603050405020304" pitchFamily="18" charset="0"/>
              </a:rPr>
              <a:t>Similarly output from a program may go to the screen, the printer, the memory, the disk, a network, or another program</a:t>
            </a:r>
          </a:p>
        </p:txBody>
      </p:sp>
      <p:sp>
        <p:nvSpPr>
          <p:cNvPr id="9220" name="Slide Number Placeholder 3">
            <a:extLst>
              <a:ext uri="{FF2B5EF4-FFF2-40B4-BE49-F238E27FC236}">
                <a16:creationId xmlns:a16="http://schemas.microsoft.com/office/drawing/2014/main" xmlns="" id="{16712716-F718-21DE-CE8F-28AAA4F3F3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606408C7-AFDC-4592-AED2-52723A22EBBC}" type="slidenum">
              <a:rPr lang="en-US" altLang="en-US" sz="1400">
                <a:latin typeface="Times New Roman" panose="02020603050405020304" pitchFamily="18" charset="0"/>
              </a:rPr>
              <a:pPr/>
              <a:t>13</a:t>
            </a:fld>
            <a:endParaRPr lang="en-US" altLang="en-US" sz="1400">
              <a:latin typeface="Times New Roman" panose="02020603050405020304" pitchFamily="18" charset="0"/>
            </a:endParaRPr>
          </a:p>
        </p:txBody>
      </p:sp>
      <p:pic>
        <p:nvPicPr>
          <p:cNvPr id="12293" name="Picture 5">
            <a:extLst>
              <a:ext uri="{FF2B5EF4-FFF2-40B4-BE49-F238E27FC236}">
                <a16:creationId xmlns:a16="http://schemas.microsoft.com/office/drawing/2014/main" xmlns="" id="{46A0D11D-C294-9868-4C3F-A64245FA6B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144963"/>
            <a:ext cx="5562600" cy="248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a:extLst>
              <a:ext uri="{FF2B5EF4-FFF2-40B4-BE49-F238E27FC236}">
                <a16:creationId xmlns:a16="http://schemas.microsoft.com/office/drawing/2014/main" xmlns="" id="{093AEC3E-3570-D776-0939-964E1C22612E}"/>
              </a:ext>
            </a:extLst>
          </p:cNvPr>
          <p:cNvSpPr>
            <a:spLocks noGrp="1"/>
          </p:cNvSpPr>
          <p:nvPr>
            <p:ph type="title"/>
          </p:nvPr>
        </p:nvSpPr>
        <p:spPr>
          <a:xfrm>
            <a:off x="228600" y="-19050"/>
            <a:ext cx="8686800" cy="838200"/>
          </a:xfrm>
        </p:spPr>
        <p:txBody>
          <a:bodyPr/>
          <a:lstStyle/>
          <a:p>
            <a:r>
              <a:rPr lang="en-US" altLang="en-US" dirty="0">
                <a:solidFill>
                  <a:srgbClr val="C00000"/>
                </a:solidFill>
                <a:latin typeface="Times New Roman" panose="02020603050405020304" pitchFamily="18" charset="0"/>
                <a:cs typeface="Times New Roman" panose="02020603050405020304" pitchFamily="18" charset="0"/>
              </a:rPr>
              <a:t>Introduction </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arn(inVertical)">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1000"/>
                                        <p:tgtEl>
                                          <p:spTgt spid="12291">
                                            <p:txEl>
                                              <p:pRg st="1" end="1"/>
                                            </p:txEl>
                                          </p:spTgt>
                                        </p:tgtEl>
                                      </p:cBhvr>
                                    </p:animEffect>
                                    <p:anim calcmode="lin" valueType="num">
                                      <p:cBhvr>
                                        <p:cTn id="13"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Effect transition="in" filter="fade">
                                      <p:cBhvr>
                                        <p:cTn id="19" dur="1000"/>
                                        <p:tgtEl>
                                          <p:spTgt spid="12291">
                                            <p:txEl>
                                              <p:pRg st="2" end="2"/>
                                            </p:txEl>
                                          </p:spTgt>
                                        </p:tgtEl>
                                      </p:cBhvr>
                                    </p:animEffect>
                                    <p:anim calcmode="lin" valueType="num">
                                      <p:cBhvr>
                                        <p:cTn id="20" dur="10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229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21" fill="hold" nodeType="clickEffect">
                                  <p:stCondLst>
                                    <p:cond delay="0"/>
                                  </p:stCondLst>
                                  <p:childTnLst>
                                    <p:set>
                                      <p:cBhvr>
                                        <p:cTn id="25" dur="1" fill="hold">
                                          <p:stCondLst>
                                            <p:cond delay="0"/>
                                          </p:stCondLst>
                                        </p:cTn>
                                        <p:tgtEl>
                                          <p:spTgt spid="12291">
                                            <p:txEl>
                                              <p:pRg st="3" end="3"/>
                                            </p:txEl>
                                          </p:spTgt>
                                        </p:tgtEl>
                                        <p:attrNameLst>
                                          <p:attrName>style.visibility</p:attrName>
                                        </p:attrNameLst>
                                      </p:cBhvr>
                                      <p:to>
                                        <p:strVal val="visible"/>
                                      </p:to>
                                    </p:set>
                                    <p:animEffect transition="in" filter="barn(inVertical)">
                                      <p:cBhvr>
                                        <p:cTn id="26" dur="500"/>
                                        <p:tgtEl>
                                          <p:spTgt spid="12291">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nodeType="clickEffect">
                                  <p:stCondLst>
                                    <p:cond delay="0"/>
                                  </p:stCondLst>
                                  <p:childTnLst>
                                    <p:set>
                                      <p:cBhvr>
                                        <p:cTn id="30" dur="1" fill="hold">
                                          <p:stCondLst>
                                            <p:cond delay="0"/>
                                          </p:stCondLst>
                                        </p:cTn>
                                        <p:tgtEl>
                                          <p:spTgt spid="12291">
                                            <p:txEl>
                                              <p:pRg st="4" end="4"/>
                                            </p:txEl>
                                          </p:spTgt>
                                        </p:tgtEl>
                                        <p:attrNameLst>
                                          <p:attrName>style.visibility</p:attrName>
                                        </p:attrNameLst>
                                      </p:cBhvr>
                                      <p:to>
                                        <p:strVal val="visible"/>
                                      </p:to>
                                    </p:set>
                                    <p:animEffect transition="in" filter="barn(inVertical)">
                                      <p:cBhvr>
                                        <p:cTn id="31" dur="500"/>
                                        <p:tgtEl>
                                          <p:spTgt spid="12291">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nodeType="clickEffect">
                                  <p:stCondLst>
                                    <p:cond delay="0"/>
                                  </p:stCondLst>
                                  <p:childTnLst>
                                    <p:set>
                                      <p:cBhvr>
                                        <p:cTn id="35" dur="1" fill="hold">
                                          <p:stCondLst>
                                            <p:cond delay="0"/>
                                          </p:stCondLst>
                                        </p:cTn>
                                        <p:tgtEl>
                                          <p:spTgt spid="12293"/>
                                        </p:tgtEl>
                                        <p:attrNameLst>
                                          <p:attrName>style.visibility</p:attrName>
                                        </p:attrNameLst>
                                      </p:cBhvr>
                                      <p:to>
                                        <p:strVal val="visible"/>
                                      </p:to>
                                    </p:set>
                                    <p:animEffect transition="in" filter="fade">
                                      <p:cBhvr>
                                        <p:cTn id="36" dur="1000"/>
                                        <p:tgtEl>
                                          <p:spTgt spid="12293"/>
                                        </p:tgtEl>
                                      </p:cBhvr>
                                    </p:animEffect>
                                    <p:anim calcmode="lin" valueType="num">
                                      <p:cBhvr>
                                        <p:cTn id="37" dur="1000" fill="hold"/>
                                        <p:tgtEl>
                                          <p:spTgt spid="12293"/>
                                        </p:tgtEl>
                                        <p:attrNameLst>
                                          <p:attrName>ppt_x</p:attrName>
                                        </p:attrNameLst>
                                      </p:cBhvr>
                                      <p:tavLst>
                                        <p:tav tm="0">
                                          <p:val>
                                            <p:strVal val="#ppt_x"/>
                                          </p:val>
                                        </p:tav>
                                        <p:tav tm="100000">
                                          <p:val>
                                            <p:strVal val="#ppt_x"/>
                                          </p:val>
                                        </p:tav>
                                      </p:tavLst>
                                    </p:anim>
                                    <p:anim calcmode="lin" valueType="num">
                                      <p:cBhvr>
                                        <p:cTn id="38" dur="1000" fill="hold"/>
                                        <p:tgtEl>
                                          <p:spTgt spid="1229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xmlns="" id="{C014305A-EBF0-8093-07DB-75C5FDCFBC00}"/>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Concept of Streams</a:t>
            </a:r>
          </a:p>
        </p:txBody>
      </p:sp>
      <p:sp>
        <p:nvSpPr>
          <p:cNvPr id="14339" name="Content Placeholder 2">
            <a:extLst>
              <a:ext uri="{FF2B5EF4-FFF2-40B4-BE49-F238E27FC236}">
                <a16:creationId xmlns:a16="http://schemas.microsoft.com/office/drawing/2014/main" xmlns="" id="{3A83BFF9-4A2B-5711-C2EA-89D64EC480FC}"/>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A streams presents a uniform, easy-to-use, object oriented interface between the program and the input/output device</a:t>
            </a:r>
          </a:p>
          <a:p>
            <a:pPr algn="just"/>
            <a:r>
              <a:rPr lang="en-US" altLang="en-US" dirty="0">
                <a:solidFill>
                  <a:schemeClr val="tx1"/>
                </a:solidFill>
                <a:latin typeface="Times New Roman" panose="02020603050405020304" pitchFamily="18" charset="0"/>
                <a:cs typeface="Times New Roman" panose="02020603050405020304" pitchFamily="18" charset="0"/>
              </a:rPr>
              <a:t>A stream in Java is a path along which data flows (like a river or a pipe along which water flows)</a:t>
            </a:r>
          </a:p>
          <a:p>
            <a:pPr algn="just"/>
            <a:r>
              <a:rPr lang="en-US" altLang="en-US" dirty="0">
                <a:solidFill>
                  <a:schemeClr val="tx1"/>
                </a:solidFill>
                <a:latin typeface="Times New Roman" panose="02020603050405020304" pitchFamily="18" charset="0"/>
                <a:cs typeface="Times New Roman" panose="02020603050405020304" pitchFamily="18" charset="0"/>
              </a:rPr>
              <a:t>It has a source (of data) and destination (for that data)</a:t>
            </a:r>
          </a:p>
          <a:p>
            <a:pPr algn="just"/>
            <a:r>
              <a:rPr lang="en-US" altLang="en-US" dirty="0">
                <a:solidFill>
                  <a:schemeClr val="tx1"/>
                </a:solidFill>
                <a:latin typeface="Times New Roman" panose="02020603050405020304" pitchFamily="18" charset="0"/>
                <a:cs typeface="Times New Roman" panose="02020603050405020304" pitchFamily="18" charset="0"/>
              </a:rPr>
              <a:t>Both the source and destination may be physical devices or programs or other steams in the same program</a:t>
            </a:r>
          </a:p>
          <a:p>
            <a:pPr algn="just"/>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11268" name="Slide Number Placeholder 3">
            <a:extLst>
              <a:ext uri="{FF2B5EF4-FFF2-40B4-BE49-F238E27FC236}">
                <a16:creationId xmlns:a16="http://schemas.microsoft.com/office/drawing/2014/main" xmlns="" id="{2103F5B5-D538-7141-4E15-3199404D8B9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76DF1FCF-B558-464A-8206-CF705468EC9A}" type="slidenum">
              <a:rPr lang="en-US" altLang="en-US" sz="1400">
                <a:latin typeface="Times New Roman" panose="02020603050405020304" pitchFamily="18" charset="0"/>
              </a:rPr>
              <a:pPr/>
              <a:t>14</a:t>
            </a:fld>
            <a:endParaRPr lang="en-US" altLang="en-US" sz="1400">
              <a:latin typeface="Times New Roman" panose="02020603050405020304" pitchFamily="18" charset="0"/>
            </a:endParaRPr>
          </a:p>
        </p:txBody>
      </p:sp>
      <p:pic>
        <p:nvPicPr>
          <p:cNvPr id="2" name="Picture 4">
            <a:extLst>
              <a:ext uri="{FF2B5EF4-FFF2-40B4-BE49-F238E27FC236}">
                <a16:creationId xmlns:a16="http://schemas.microsoft.com/office/drawing/2014/main" xmlns="" id="{1F96F78D-95DF-20B7-474C-853BCA5E5A3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4185536"/>
            <a:ext cx="3886200" cy="2520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arn(inVertical)">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arn(inVertical)">
                                      <p:cBhvr>
                                        <p:cTn id="12" dur="500"/>
                                        <p:tgtEl>
                                          <p:spTgt spid="1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barn(inVertical)">
                                      <p:cBhvr>
                                        <p:cTn id="17" dur="500"/>
                                        <p:tgtEl>
                                          <p:spTgt spid="14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barn(inVertical)">
                                      <p:cBhvr>
                                        <p:cTn id="22" dur="500"/>
                                        <p:tgtEl>
                                          <p:spTgt spid="14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xmlns="" id="{C5CCD04A-72B1-DE4F-5FDC-8AC039611F7C}"/>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Concept of Streams</a:t>
            </a:r>
            <a:endParaRPr lang="en-US" altLang="en-US"/>
          </a:p>
        </p:txBody>
      </p:sp>
      <p:sp>
        <p:nvSpPr>
          <p:cNvPr id="15363" name="Content Placeholder 2">
            <a:extLst>
              <a:ext uri="{FF2B5EF4-FFF2-40B4-BE49-F238E27FC236}">
                <a16:creationId xmlns:a16="http://schemas.microsoft.com/office/drawing/2014/main" xmlns="" id="{CE63981C-E6D2-6D6E-2039-18B0810E08A2}"/>
              </a:ext>
            </a:extLst>
          </p:cNvPr>
          <p:cNvSpPr>
            <a:spLocks noGrp="1"/>
          </p:cNvSpPr>
          <p:nvPr>
            <p:ph idx="1"/>
          </p:nvPr>
        </p:nvSpPr>
        <p:spPr/>
        <p:txBody>
          <a:bodyPr/>
          <a:lstStyle/>
          <a:p>
            <a:pPr algn="just"/>
            <a:r>
              <a:rPr lang="en-US" altLang="en-US" sz="2400" b="1" i="1" dirty="0">
                <a:latin typeface="Times New Roman" panose="02020603050405020304" pitchFamily="18" charset="0"/>
                <a:cs typeface="Times New Roman" panose="02020603050405020304" pitchFamily="18" charset="0"/>
              </a:rPr>
              <a:t>Stream</a:t>
            </a:r>
            <a:r>
              <a:rPr lang="en-US" altLang="en-US" sz="2400" dirty="0">
                <a:solidFill>
                  <a:schemeClr val="tx1"/>
                </a:solidFill>
                <a:latin typeface="Times New Roman" panose="02020603050405020304" pitchFamily="18" charset="0"/>
                <a:cs typeface="Times New Roman" panose="02020603050405020304" pitchFamily="18" charset="0"/>
              </a:rPr>
              <a:t> is</a:t>
            </a:r>
            <a:r>
              <a:rPr lang="en-US" altLang="en-US" sz="2400" dirty="0">
                <a:solidFill>
                  <a:srgbClr val="CC3300"/>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rPr>
              <a:t>an object that either delivers data to its destination (ex: screen, file) or that takes data from a source (ex: keyboard, file)</a:t>
            </a:r>
          </a:p>
          <a:p>
            <a:pPr lvl="1" algn="just"/>
            <a:r>
              <a:rPr lang="en-US" altLang="en-US" sz="2000" dirty="0">
                <a:solidFill>
                  <a:srgbClr val="0000FF"/>
                </a:solidFill>
                <a:latin typeface="Times New Roman" panose="02020603050405020304" pitchFamily="18" charset="0"/>
                <a:cs typeface="Times New Roman" panose="02020603050405020304" pitchFamily="18" charset="0"/>
              </a:rPr>
              <a:t>It acts as a buffer between the data source and destination</a:t>
            </a:r>
            <a:endParaRPr lang="en-US" altLang="en-US" sz="2000" dirty="0">
              <a:latin typeface="Times New Roman" panose="02020603050405020304" pitchFamily="18" charset="0"/>
              <a:cs typeface="Times New Roman" panose="02020603050405020304" pitchFamily="18" charset="0"/>
            </a:endParaRPr>
          </a:p>
          <a:p>
            <a:pPr algn="just"/>
            <a:r>
              <a:rPr lang="en-US" altLang="en-US" sz="2400" dirty="0">
                <a:solidFill>
                  <a:schemeClr val="tx1"/>
                </a:solidFill>
                <a:latin typeface="Times New Roman" panose="02020603050405020304" pitchFamily="18" charset="0"/>
                <a:cs typeface="Times New Roman" panose="02020603050405020304" pitchFamily="18" charset="0"/>
              </a:rPr>
              <a:t>Streams are channel for sending and receiving information in java program</a:t>
            </a:r>
          </a:p>
          <a:p>
            <a:pPr lvl="1" algn="just"/>
            <a:r>
              <a:rPr lang="en-US" altLang="en-US" sz="2100" dirty="0">
                <a:solidFill>
                  <a:srgbClr val="0000FF"/>
                </a:solidFill>
                <a:latin typeface="Times New Roman" panose="02020603050405020304" pitchFamily="18" charset="0"/>
                <a:cs typeface="Times New Roman" panose="02020603050405020304" pitchFamily="18" charset="0"/>
              </a:rPr>
              <a:t>When sending a stream of data, it  is said that it is writing a stream</a:t>
            </a:r>
          </a:p>
          <a:p>
            <a:pPr lvl="1" algn="just"/>
            <a:r>
              <a:rPr lang="en-US" altLang="en-US" sz="2100" dirty="0">
                <a:solidFill>
                  <a:srgbClr val="0000FF"/>
                </a:solidFill>
                <a:latin typeface="Times New Roman" panose="02020603050405020304" pitchFamily="18" charset="0"/>
                <a:cs typeface="Times New Roman" panose="02020603050405020304" pitchFamily="18" charset="0"/>
              </a:rPr>
              <a:t>When receiving a stream of data, it  is said that it is reading a stream</a:t>
            </a:r>
            <a:endParaRPr lang="en-US" altLang="en-US" sz="2400" dirty="0">
              <a:latin typeface="Times New Roman" panose="02020603050405020304" pitchFamily="18" charset="0"/>
              <a:cs typeface="Times New Roman" panose="02020603050405020304" pitchFamily="18" charset="0"/>
            </a:endParaRPr>
          </a:p>
          <a:p>
            <a:pPr algn="just"/>
            <a:endParaRPr lang="en-US" altLang="en-US" sz="2400" dirty="0">
              <a:latin typeface="Times New Roman" panose="02020603050405020304" pitchFamily="18" charset="0"/>
              <a:cs typeface="Times New Roman" panose="02020603050405020304" pitchFamily="18" charset="0"/>
            </a:endParaRPr>
          </a:p>
          <a:p>
            <a:pPr algn="just"/>
            <a:endParaRPr lang="en-US" altLang="en-US" sz="2400" dirty="0">
              <a:latin typeface="Times New Roman" panose="02020603050405020304" pitchFamily="18" charset="0"/>
              <a:cs typeface="Times New Roman" panose="02020603050405020304" pitchFamily="18" charset="0"/>
            </a:endParaRPr>
          </a:p>
          <a:p>
            <a:pPr algn="just"/>
            <a:endParaRPr lang="en-US" altLang="en-US" sz="2400" dirty="0">
              <a:latin typeface="Times New Roman" panose="02020603050405020304" pitchFamily="18" charset="0"/>
              <a:cs typeface="Times New Roman" panose="02020603050405020304" pitchFamily="18" charset="0"/>
            </a:endParaRPr>
          </a:p>
          <a:p>
            <a:pPr algn="just"/>
            <a:endParaRPr lang="en-US" altLang="en-US" sz="2400" dirty="0">
              <a:latin typeface="Times New Roman" panose="02020603050405020304" pitchFamily="18" charset="0"/>
              <a:cs typeface="Times New Roman" panose="02020603050405020304" pitchFamily="18" charset="0"/>
            </a:endParaRPr>
          </a:p>
          <a:p>
            <a:endParaRPr lang="en-US" altLang="en-US" dirty="0"/>
          </a:p>
        </p:txBody>
      </p:sp>
      <p:sp>
        <p:nvSpPr>
          <p:cNvPr id="12292" name="Slide Number Placeholder 3">
            <a:extLst>
              <a:ext uri="{FF2B5EF4-FFF2-40B4-BE49-F238E27FC236}">
                <a16:creationId xmlns:a16="http://schemas.microsoft.com/office/drawing/2014/main" xmlns="" id="{956B15F5-FAF3-199E-AF8B-6A7852FAC9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3F1C14FC-722A-4438-8B21-EEA5C3794E54}" type="slidenum">
              <a:rPr lang="en-US" altLang="en-US" sz="1400">
                <a:latin typeface="Times New Roman" panose="02020603050405020304" pitchFamily="18" charset="0"/>
              </a:rPr>
              <a:pPr/>
              <a:t>15</a:t>
            </a:fld>
            <a:endParaRPr lang="en-US" altLang="en-US" sz="1400">
              <a:latin typeface="Times New Roman" panose="02020603050405020304" pitchFamily="18" charset="0"/>
            </a:endParaRPr>
          </a:p>
        </p:txBody>
      </p:sp>
      <p:pic>
        <p:nvPicPr>
          <p:cNvPr id="5" name="Picture 8">
            <a:extLst>
              <a:ext uri="{FF2B5EF4-FFF2-40B4-BE49-F238E27FC236}">
                <a16:creationId xmlns:a16="http://schemas.microsoft.com/office/drawing/2014/main" xmlns="" id="{C77FF340-9C94-DD2B-7878-AF694B1878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325" y="4219575"/>
            <a:ext cx="60864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barn(inVertical)">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fade">
                                      <p:cBhvr>
                                        <p:cTn id="12" dur="1000"/>
                                        <p:tgtEl>
                                          <p:spTgt spid="15363">
                                            <p:txEl>
                                              <p:pRg st="1" end="1"/>
                                            </p:txEl>
                                          </p:spTgt>
                                        </p:tgtEl>
                                      </p:cBhvr>
                                    </p:animEffect>
                                    <p:anim calcmode="lin" valueType="num">
                                      <p:cBhvr>
                                        <p:cTn id="13" dur="10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53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Effect transition="in" filter="barn(inVertical)">
                                      <p:cBhvr>
                                        <p:cTn id="19" dur="500"/>
                                        <p:tgtEl>
                                          <p:spTgt spid="15363">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15363">
                                            <p:txEl>
                                              <p:pRg st="3" end="3"/>
                                            </p:txEl>
                                          </p:spTgt>
                                        </p:tgtEl>
                                        <p:attrNameLst>
                                          <p:attrName>style.visibility</p:attrName>
                                        </p:attrNameLst>
                                      </p:cBhvr>
                                      <p:to>
                                        <p:strVal val="visible"/>
                                      </p:to>
                                    </p:set>
                                    <p:animEffect transition="in" filter="fade">
                                      <p:cBhvr>
                                        <p:cTn id="24" dur="1000"/>
                                        <p:tgtEl>
                                          <p:spTgt spid="15363">
                                            <p:txEl>
                                              <p:pRg st="3" end="3"/>
                                            </p:txEl>
                                          </p:spTgt>
                                        </p:tgtEl>
                                      </p:cBhvr>
                                    </p:animEffect>
                                    <p:anim calcmode="lin" valueType="num">
                                      <p:cBhvr>
                                        <p:cTn id="25" dur="10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53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15363">
                                            <p:txEl>
                                              <p:pRg st="4" end="4"/>
                                            </p:txEl>
                                          </p:spTgt>
                                        </p:tgtEl>
                                        <p:attrNameLst>
                                          <p:attrName>style.visibility</p:attrName>
                                        </p:attrNameLst>
                                      </p:cBhvr>
                                      <p:to>
                                        <p:strVal val="visible"/>
                                      </p:to>
                                    </p:set>
                                    <p:animEffect transition="in" filter="fade">
                                      <p:cBhvr>
                                        <p:cTn id="31" dur="1000"/>
                                        <p:tgtEl>
                                          <p:spTgt spid="15363">
                                            <p:txEl>
                                              <p:pRg st="4" end="4"/>
                                            </p:txEl>
                                          </p:spTgt>
                                        </p:tgtEl>
                                      </p:cBhvr>
                                    </p:animEffect>
                                    <p:anim calcmode="lin" valueType="num">
                                      <p:cBhvr>
                                        <p:cTn id="32" dur="10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536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1000"/>
                                        <p:tgtEl>
                                          <p:spTgt spid="5"/>
                                        </p:tgtEl>
                                      </p:cBhvr>
                                    </p:animEffect>
                                    <p:anim calcmode="lin" valueType="num">
                                      <p:cBhvr>
                                        <p:cTn id="39" dur="1000" fill="hold"/>
                                        <p:tgtEl>
                                          <p:spTgt spid="5"/>
                                        </p:tgtEl>
                                        <p:attrNameLst>
                                          <p:attrName>ppt_x</p:attrName>
                                        </p:attrNameLst>
                                      </p:cBhvr>
                                      <p:tavLst>
                                        <p:tav tm="0">
                                          <p:val>
                                            <p:strVal val="#ppt_x"/>
                                          </p:val>
                                        </p:tav>
                                        <p:tav tm="100000">
                                          <p:val>
                                            <p:strVal val="#ppt_x"/>
                                          </p:val>
                                        </p:tav>
                                      </p:tavLst>
                                    </p:anim>
                                    <p:anim calcmode="lin" valueType="num">
                                      <p:cBhvr>
                                        <p:cTn id="4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xmlns="" id="{75892E59-D6E1-FDA4-2B2C-7262917D3F03}"/>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Concept of Streams</a:t>
            </a:r>
            <a:endParaRPr lang="en-US" altLang="en-US"/>
          </a:p>
        </p:txBody>
      </p:sp>
      <p:sp>
        <p:nvSpPr>
          <p:cNvPr id="16387" name="Content Placeholder 2">
            <a:extLst>
              <a:ext uri="{FF2B5EF4-FFF2-40B4-BE49-F238E27FC236}">
                <a16:creationId xmlns:a16="http://schemas.microsoft.com/office/drawing/2014/main" xmlns="" id="{3E2638E2-639F-C617-0D38-9263E97B95B0}"/>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Java streams are classified into two basic types</a:t>
            </a:r>
          </a:p>
          <a:p>
            <a:pPr lvl="1" algn="just"/>
            <a:r>
              <a:rPr lang="en-US" altLang="en-US" dirty="0">
                <a:solidFill>
                  <a:srgbClr val="0000FF"/>
                </a:solidFill>
                <a:latin typeface="Times New Roman" panose="02020603050405020304" pitchFamily="18" charset="0"/>
                <a:cs typeface="Times New Roman" panose="02020603050405020304" pitchFamily="18" charset="0"/>
              </a:rPr>
              <a:t>Input stream</a:t>
            </a:r>
          </a:p>
          <a:p>
            <a:pPr lvl="2" algn="just"/>
            <a:r>
              <a:rPr lang="en-US" altLang="en-US" dirty="0">
                <a:solidFill>
                  <a:srgbClr val="C00000"/>
                </a:solidFill>
                <a:latin typeface="Times New Roman" panose="02020603050405020304" pitchFamily="18" charset="0"/>
                <a:cs typeface="Times New Roman" panose="02020603050405020304" pitchFamily="18" charset="0"/>
              </a:rPr>
              <a:t>An input stream extracts (</a:t>
            </a:r>
            <a:r>
              <a:rPr lang="en-US" altLang="en-US" dirty="0" err="1">
                <a:solidFill>
                  <a:srgbClr val="C00000"/>
                </a:solidFill>
                <a:latin typeface="Times New Roman" panose="02020603050405020304" pitchFamily="18" charset="0"/>
                <a:cs typeface="Times New Roman" panose="02020603050405020304" pitchFamily="18" charset="0"/>
              </a:rPr>
              <a:t>i.e</a:t>
            </a:r>
            <a:r>
              <a:rPr lang="en-US" altLang="en-US" dirty="0">
                <a:solidFill>
                  <a:srgbClr val="C00000"/>
                </a:solidFill>
                <a:latin typeface="Times New Roman" panose="02020603050405020304" pitchFamily="18" charset="0"/>
                <a:cs typeface="Times New Roman" panose="02020603050405020304" pitchFamily="18" charset="0"/>
              </a:rPr>
              <a:t> reads) data from the source (file) and sends it to the program</a:t>
            </a:r>
          </a:p>
          <a:p>
            <a:pPr lvl="1" algn="just"/>
            <a:r>
              <a:rPr lang="en-US" altLang="en-US" dirty="0">
                <a:solidFill>
                  <a:srgbClr val="0000FF"/>
                </a:solidFill>
                <a:latin typeface="Times New Roman" panose="02020603050405020304" pitchFamily="18" charset="0"/>
                <a:cs typeface="Times New Roman" panose="02020603050405020304" pitchFamily="18" charset="0"/>
              </a:rPr>
              <a:t>Output stream</a:t>
            </a:r>
            <a:r>
              <a:rPr lang="en-US" altLang="en-US" dirty="0">
                <a:latin typeface="Times New Roman" panose="02020603050405020304" pitchFamily="18" charset="0"/>
                <a:cs typeface="Times New Roman" panose="02020603050405020304" pitchFamily="18" charset="0"/>
              </a:rPr>
              <a:t> </a:t>
            </a:r>
          </a:p>
          <a:p>
            <a:pPr lvl="2" algn="just"/>
            <a:r>
              <a:rPr lang="en-US" altLang="en-US" dirty="0">
                <a:solidFill>
                  <a:srgbClr val="C00000"/>
                </a:solidFill>
                <a:latin typeface="Times New Roman" panose="02020603050405020304" pitchFamily="18" charset="0"/>
                <a:cs typeface="Times New Roman" panose="02020603050405020304" pitchFamily="18" charset="0"/>
              </a:rPr>
              <a:t>Similarly, an output stream takes data from the program and sends (</a:t>
            </a:r>
            <a:r>
              <a:rPr lang="en-US" altLang="en-US" dirty="0" err="1">
                <a:solidFill>
                  <a:srgbClr val="C00000"/>
                </a:solidFill>
                <a:latin typeface="Times New Roman" panose="02020603050405020304" pitchFamily="18" charset="0"/>
                <a:cs typeface="Times New Roman" panose="02020603050405020304" pitchFamily="18" charset="0"/>
              </a:rPr>
              <a:t>i.e</a:t>
            </a:r>
            <a:r>
              <a:rPr lang="en-US" altLang="en-US" dirty="0">
                <a:solidFill>
                  <a:srgbClr val="C00000"/>
                </a:solidFill>
                <a:latin typeface="Times New Roman" panose="02020603050405020304" pitchFamily="18" charset="0"/>
                <a:cs typeface="Times New Roman" panose="02020603050405020304" pitchFamily="18" charset="0"/>
              </a:rPr>
              <a:t> write) it to the destination file</a:t>
            </a:r>
          </a:p>
        </p:txBody>
      </p:sp>
      <p:sp>
        <p:nvSpPr>
          <p:cNvPr id="13316" name="Slide Number Placeholder 3">
            <a:extLst>
              <a:ext uri="{FF2B5EF4-FFF2-40B4-BE49-F238E27FC236}">
                <a16:creationId xmlns:a16="http://schemas.microsoft.com/office/drawing/2014/main" xmlns="" id="{350F9022-F333-BB45-DB73-DDE70DA8BFD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D7BE925F-43AA-4915-8A00-C9565C77E513}" type="slidenum">
              <a:rPr lang="en-US" altLang="en-US" sz="1400">
                <a:latin typeface="Times New Roman" panose="02020603050405020304" pitchFamily="18" charset="0"/>
              </a:rPr>
              <a:pPr/>
              <a:t>16</a:t>
            </a:fld>
            <a:endParaRPr lang="en-US" altLang="en-US" sz="1400">
              <a:latin typeface="Times New Roman" panose="02020603050405020304" pitchFamily="18" charset="0"/>
            </a:endParaRPr>
          </a:p>
        </p:txBody>
      </p:sp>
      <p:pic>
        <p:nvPicPr>
          <p:cNvPr id="16389" name="Picture 4">
            <a:extLst>
              <a:ext uri="{FF2B5EF4-FFF2-40B4-BE49-F238E27FC236}">
                <a16:creationId xmlns:a16="http://schemas.microsoft.com/office/drawing/2014/main" xmlns="" id="{BFA6A3A1-6191-1844-E245-76F9C2A3EA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876675"/>
            <a:ext cx="5457825"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arn(inVertical)">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fade">
                                      <p:cBhvr>
                                        <p:cTn id="12" dur="1000"/>
                                        <p:tgtEl>
                                          <p:spTgt spid="16387">
                                            <p:txEl>
                                              <p:pRg st="1" end="1"/>
                                            </p:txEl>
                                          </p:spTgt>
                                        </p:tgtEl>
                                      </p:cBhvr>
                                    </p:animEffect>
                                    <p:anim calcmode="lin" valueType="num">
                                      <p:cBhvr>
                                        <p:cTn id="13" dur="10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3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Effect transition="in" filter="barn(inVertical)">
                                      <p:cBhvr>
                                        <p:cTn id="19" dur="500"/>
                                        <p:tgtEl>
                                          <p:spTgt spid="16387">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16387">
                                            <p:txEl>
                                              <p:pRg st="3" end="3"/>
                                            </p:txEl>
                                          </p:spTgt>
                                        </p:tgtEl>
                                        <p:attrNameLst>
                                          <p:attrName>style.visibility</p:attrName>
                                        </p:attrNameLst>
                                      </p:cBhvr>
                                      <p:to>
                                        <p:strVal val="visible"/>
                                      </p:to>
                                    </p:set>
                                    <p:animEffect transition="in" filter="fade">
                                      <p:cBhvr>
                                        <p:cTn id="24" dur="1000"/>
                                        <p:tgtEl>
                                          <p:spTgt spid="16387">
                                            <p:txEl>
                                              <p:pRg st="3" end="3"/>
                                            </p:txEl>
                                          </p:spTgt>
                                        </p:tgtEl>
                                      </p:cBhvr>
                                    </p:animEffect>
                                    <p:anim calcmode="lin" valueType="num">
                                      <p:cBhvr>
                                        <p:cTn id="25" dur="10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63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nodeType="clickEffect">
                                  <p:stCondLst>
                                    <p:cond delay="0"/>
                                  </p:stCondLst>
                                  <p:childTnLst>
                                    <p:set>
                                      <p:cBhvr>
                                        <p:cTn id="30" dur="1" fill="hold">
                                          <p:stCondLst>
                                            <p:cond delay="0"/>
                                          </p:stCondLst>
                                        </p:cTn>
                                        <p:tgtEl>
                                          <p:spTgt spid="16387">
                                            <p:txEl>
                                              <p:pRg st="4" end="4"/>
                                            </p:txEl>
                                          </p:spTgt>
                                        </p:tgtEl>
                                        <p:attrNameLst>
                                          <p:attrName>style.visibility</p:attrName>
                                        </p:attrNameLst>
                                      </p:cBhvr>
                                      <p:to>
                                        <p:strVal val="visible"/>
                                      </p:to>
                                    </p:set>
                                    <p:animEffect transition="in" filter="barn(inVertical)">
                                      <p:cBhvr>
                                        <p:cTn id="31" dur="500"/>
                                        <p:tgtEl>
                                          <p:spTgt spid="16387">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nodeType="clickEffect">
                                  <p:stCondLst>
                                    <p:cond delay="0"/>
                                  </p:stCondLst>
                                  <p:childTnLst>
                                    <p:set>
                                      <p:cBhvr>
                                        <p:cTn id="35" dur="1" fill="hold">
                                          <p:stCondLst>
                                            <p:cond delay="0"/>
                                          </p:stCondLst>
                                        </p:cTn>
                                        <p:tgtEl>
                                          <p:spTgt spid="16389"/>
                                        </p:tgtEl>
                                        <p:attrNameLst>
                                          <p:attrName>style.visibility</p:attrName>
                                        </p:attrNameLst>
                                      </p:cBhvr>
                                      <p:to>
                                        <p:strVal val="visible"/>
                                      </p:to>
                                    </p:set>
                                    <p:animEffect transition="in" filter="fade">
                                      <p:cBhvr>
                                        <p:cTn id="36" dur="1000"/>
                                        <p:tgtEl>
                                          <p:spTgt spid="16389"/>
                                        </p:tgtEl>
                                      </p:cBhvr>
                                    </p:animEffect>
                                    <p:anim calcmode="lin" valueType="num">
                                      <p:cBhvr>
                                        <p:cTn id="37" dur="1000" fill="hold"/>
                                        <p:tgtEl>
                                          <p:spTgt spid="16389"/>
                                        </p:tgtEl>
                                        <p:attrNameLst>
                                          <p:attrName>ppt_x</p:attrName>
                                        </p:attrNameLst>
                                      </p:cBhvr>
                                      <p:tavLst>
                                        <p:tav tm="0">
                                          <p:val>
                                            <p:strVal val="#ppt_x"/>
                                          </p:val>
                                        </p:tav>
                                        <p:tav tm="100000">
                                          <p:val>
                                            <p:strVal val="#ppt_x"/>
                                          </p:val>
                                        </p:tav>
                                      </p:tavLst>
                                    </p:anim>
                                    <p:anim calcmode="lin" valueType="num">
                                      <p:cBhvr>
                                        <p:cTn id="38" dur="1000" fill="hold"/>
                                        <p:tgtEl>
                                          <p:spTgt spid="163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xmlns="" id="{AC626476-05D5-D713-48F6-F1BBEA3A93E0}"/>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Stream Classes</a:t>
            </a:r>
            <a:endParaRPr lang="en-US" altLang="en-US">
              <a:solidFill>
                <a:srgbClr val="C00000"/>
              </a:solidFill>
            </a:endParaRPr>
          </a:p>
        </p:txBody>
      </p:sp>
      <p:sp>
        <p:nvSpPr>
          <p:cNvPr id="17411" name="Content Placeholder 2">
            <a:extLst>
              <a:ext uri="{FF2B5EF4-FFF2-40B4-BE49-F238E27FC236}">
                <a16:creationId xmlns:a16="http://schemas.microsoft.com/office/drawing/2014/main" xmlns="" id="{8AE78FD9-6F37-8AA1-37B2-5A37E962F9F6}"/>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The </a:t>
            </a:r>
            <a:r>
              <a:rPr lang="en-US" altLang="en-US" b="1" dirty="0">
                <a:solidFill>
                  <a:schemeClr val="tx1"/>
                </a:solidFill>
                <a:latin typeface="Times New Roman" panose="02020603050405020304" pitchFamily="18" charset="0"/>
                <a:cs typeface="Times New Roman" panose="02020603050405020304" pitchFamily="18" charset="0"/>
              </a:rPr>
              <a:t>Java.io</a:t>
            </a:r>
            <a:r>
              <a:rPr lang="en-US" altLang="en-US" dirty="0">
                <a:solidFill>
                  <a:schemeClr val="tx1"/>
                </a:solidFill>
                <a:latin typeface="Times New Roman" panose="02020603050405020304" pitchFamily="18" charset="0"/>
                <a:cs typeface="Times New Roman" panose="02020603050405020304" pitchFamily="18" charset="0"/>
              </a:rPr>
              <a:t> package contains a large number of stream classes </a:t>
            </a:r>
          </a:p>
          <a:p>
            <a:pPr lvl="1" algn="just"/>
            <a:r>
              <a:rPr lang="en-US" altLang="en-US" dirty="0">
                <a:solidFill>
                  <a:srgbClr val="0000FF"/>
                </a:solidFill>
                <a:latin typeface="Times New Roman" panose="02020603050405020304" pitchFamily="18" charset="0"/>
                <a:cs typeface="Times New Roman" panose="02020603050405020304" pitchFamily="18" charset="0"/>
              </a:rPr>
              <a:t>It provides capabilities for processing all types of data</a:t>
            </a:r>
          </a:p>
          <a:p>
            <a:pPr algn="just"/>
            <a:r>
              <a:rPr lang="en-US" altLang="en-US" dirty="0">
                <a:solidFill>
                  <a:schemeClr val="tx1"/>
                </a:solidFill>
                <a:latin typeface="Times New Roman" panose="02020603050405020304" pitchFamily="18" charset="0"/>
                <a:cs typeface="Times New Roman" panose="02020603050405020304" pitchFamily="18" charset="0"/>
              </a:rPr>
              <a:t>These classes may be categorized into two groups based on the data types on which they operate</a:t>
            </a:r>
          </a:p>
          <a:p>
            <a:pPr lvl="1" algn="just"/>
            <a:r>
              <a:rPr lang="en-US" altLang="en-US" u="sng" dirty="0">
                <a:solidFill>
                  <a:srgbClr val="C00000"/>
                </a:solidFill>
                <a:latin typeface="Times New Roman" panose="02020603050405020304" pitchFamily="18" charset="0"/>
                <a:cs typeface="Times New Roman" panose="02020603050405020304" pitchFamily="18" charset="0"/>
              </a:rPr>
              <a:t>Byte stream</a:t>
            </a:r>
            <a:r>
              <a:rPr lang="en-US" altLang="en-US" dirty="0">
                <a:solidFill>
                  <a:srgbClr val="0000FF"/>
                </a:solidFill>
                <a:latin typeface="Times New Roman" panose="02020603050405020304" pitchFamily="18" charset="0"/>
                <a:cs typeface="Times New Roman" panose="02020603050405020304" pitchFamily="18" charset="0"/>
              </a:rPr>
              <a:t> class that provide support for handling I/O operation on bytes</a:t>
            </a:r>
          </a:p>
          <a:p>
            <a:pPr lvl="1" algn="just"/>
            <a:r>
              <a:rPr lang="en-US" altLang="en-US" u="sng" dirty="0">
                <a:solidFill>
                  <a:srgbClr val="C00000"/>
                </a:solidFill>
                <a:latin typeface="Times New Roman" panose="02020603050405020304" pitchFamily="18" charset="0"/>
                <a:cs typeface="Times New Roman" panose="02020603050405020304" pitchFamily="18" charset="0"/>
              </a:rPr>
              <a:t>Character stream</a:t>
            </a:r>
            <a:r>
              <a:rPr lang="en-US" altLang="en-US" dirty="0">
                <a:solidFill>
                  <a:srgbClr val="0000FF"/>
                </a:solidFill>
                <a:latin typeface="Times New Roman" panose="02020603050405020304" pitchFamily="18" charset="0"/>
                <a:cs typeface="Times New Roman" panose="02020603050405020304" pitchFamily="18" charset="0"/>
              </a:rPr>
              <a:t> classes that provide support for managing I/O operation on character</a:t>
            </a:r>
          </a:p>
          <a:p>
            <a:pPr algn="just"/>
            <a:r>
              <a:rPr lang="en-US" altLang="en-US" dirty="0">
                <a:solidFill>
                  <a:schemeClr val="tx1"/>
                </a:solidFill>
                <a:latin typeface="Times New Roman" panose="02020603050405020304" pitchFamily="18" charset="0"/>
                <a:cs typeface="Times New Roman" panose="02020603050405020304" pitchFamily="18" charset="0"/>
              </a:rPr>
              <a:t>These two groups may further be classified based on their purpose</a:t>
            </a:r>
          </a:p>
        </p:txBody>
      </p:sp>
      <p:sp>
        <p:nvSpPr>
          <p:cNvPr id="14340" name="Slide Number Placeholder 3">
            <a:extLst>
              <a:ext uri="{FF2B5EF4-FFF2-40B4-BE49-F238E27FC236}">
                <a16:creationId xmlns:a16="http://schemas.microsoft.com/office/drawing/2014/main" xmlns="" id="{BD65D152-F7B8-C98F-3267-4DCCF26CEC2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6AD0ABB6-E19D-4D84-AC8A-5634607C3AB5}" type="slidenum">
              <a:rPr lang="en-US" altLang="en-US" sz="1400">
                <a:latin typeface="Times New Roman" panose="02020603050405020304" pitchFamily="18" charset="0"/>
              </a:rPr>
              <a:pPr/>
              <a:t>17</a:t>
            </a:fld>
            <a:endParaRPr lang="en-US"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arn(inVertical)">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fade">
                                      <p:cBhvr>
                                        <p:cTn id="12" dur="1000"/>
                                        <p:tgtEl>
                                          <p:spTgt spid="17411">
                                            <p:txEl>
                                              <p:pRg st="1" end="1"/>
                                            </p:txEl>
                                          </p:spTgt>
                                        </p:tgtEl>
                                      </p:cBhvr>
                                    </p:animEffect>
                                    <p:anim calcmode="lin" valueType="num">
                                      <p:cBhvr>
                                        <p:cTn id="13" dur="10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74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Effect transition="in" filter="barn(inVertical)">
                                      <p:cBhvr>
                                        <p:cTn id="19" dur="500"/>
                                        <p:tgtEl>
                                          <p:spTgt spid="17411">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17411">
                                            <p:txEl>
                                              <p:pRg st="3" end="3"/>
                                            </p:txEl>
                                          </p:spTgt>
                                        </p:tgtEl>
                                        <p:attrNameLst>
                                          <p:attrName>style.visibility</p:attrName>
                                        </p:attrNameLst>
                                      </p:cBhvr>
                                      <p:to>
                                        <p:strVal val="visible"/>
                                      </p:to>
                                    </p:set>
                                    <p:animEffect transition="in" filter="fade">
                                      <p:cBhvr>
                                        <p:cTn id="24" dur="1000"/>
                                        <p:tgtEl>
                                          <p:spTgt spid="17411">
                                            <p:txEl>
                                              <p:pRg st="3" end="3"/>
                                            </p:txEl>
                                          </p:spTgt>
                                        </p:tgtEl>
                                      </p:cBhvr>
                                    </p:animEffect>
                                    <p:anim calcmode="lin" valueType="num">
                                      <p:cBhvr>
                                        <p:cTn id="25" dur="10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74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17411">
                                            <p:txEl>
                                              <p:pRg st="4" end="4"/>
                                            </p:txEl>
                                          </p:spTgt>
                                        </p:tgtEl>
                                        <p:attrNameLst>
                                          <p:attrName>style.visibility</p:attrName>
                                        </p:attrNameLst>
                                      </p:cBhvr>
                                      <p:to>
                                        <p:strVal val="visible"/>
                                      </p:to>
                                    </p:set>
                                    <p:animEffect transition="in" filter="fade">
                                      <p:cBhvr>
                                        <p:cTn id="31" dur="1000"/>
                                        <p:tgtEl>
                                          <p:spTgt spid="17411">
                                            <p:txEl>
                                              <p:pRg st="4" end="4"/>
                                            </p:txEl>
                                          </p:spTgt>
                                        </p:tgtEl>
                                      </p:cBhvr>
                                    </p:animEffect>
                                    <p:anim calcmode="lin" valueType="num">
                                      <p:cBhvr>
                                        <p:cTn id="32" dur="10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74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21" fill="hold" nodeType="clickEffect">
                                  <p:stCondLst>
                                    <p:cond delay="0"/>
                                  </p:stCondLst>
                                  <p:childTnLst>
                                    <p:set>
                                      <p:cBhvr>
                                        <p:cTn id="37" dur="1" fill="hold">
                                          <p:stCondLst>
                                            <p:cond delay="0"/>
                                          </p:stCondLst>
                                        </p:cTn>
                                        <p:tgtEl>
                                          <p:spTgt spid="17411">
                                            <p:txEl>
                                              <p:pRg st="5" end="5"/>
                                            </p:txEl>
                                          </p:spTgt>
                                        </p:tgtEl>
                                        <p:attrNameLst>
                                          <p:attrName>style.visibility</p:attrName>
                                        </p:attrNameLst>
                                      </p:cBhvr>
                                      <p:to>
                                        <p:strVal val="visible"/>
                                      </p:to>
                                    </p:set>
                                    <p:animEffect transition="in" filter="barn(inVertical)">
                                      <p:cBhvr>
                                        <p:cTn id="38" dur="500"/>
                                        <p:tgtEl>
                                          <p:spTgt spid="174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xmlns="" id="{7D277C2E-1CCF-81A8-5CAD-DE83A152BFBD}"/>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Byte Stream Classes</a:t>
            </a:r>
            <a:endParaRPr lang="en-US" altLang="en-US"/>
          </a:p>
        </p:txBody>
      </p:sp>
      <p:sp>
        <p:nvSpPr>
          <p:cNvPr id="19459" name="Content Placeholder 2">
            <a:extLst>
              <a:ext uri="{FF2B5EF4-FFF2-40B4-BE49-F238E27FC236}">
                <a16:creationId xmlns:a16="http://schemas.microsoft.com/office/drawing/2014/main" xmlns="" id="{D1F9F972-E1F0-C75D-F358-393DC1CB80F5}"/>
              </a:ext>
            </a:extLst>
          </p:cNvPr>
          <p:cNvSpPr>
            <a:spLocks noGrp="1"/>
          </p:cNvSpPr>
          <p:nvPr>
            <p:ph idx="1"/>
          </p:nvPr>
        </p:nvSpPr>
        <p:spPr/>
        <p:txBody>
          <a:bodyPr/>
          <a:lstStyle/>
          <a:p>
            <a:pPr algn="just"/>
            <a:r>
              <a:rPr lang="en-US" altLang="en-US" dirty="0">
                <a:solidFill>
                  <a:schemeClr val="tx1"/>
                </a:solidFill>
                <a:latin typeface="Times New Roman" panose="02020603050405020304" pitchFamily="18" charset="0"/>
                <a:cs typeface="Times New Roman" panose="02020603050405020304" pitchFamily="18" charset="0"/>
              </a:rPr>
              <a:t>Byte stream classes have been designed</a:t>
            </a:r>
          </a:p>
          <a:p>
            <a:pPr lvl="1" algn="just"/>
            <a:r>
              <a:rPr lang="en-US" altLang="en-US" dirty="0">
                <a:solidFill>
                  <a:srgbClr val="0000FF"/>
                </a:solidFill>
                <a:latin typeface="Times New Roman" panose="02020603050405020304" pitchFamily="18" charset="0"/>
                <a:cs typeface="Times New Roman" panose="02020603050405020304" pitchFamily="18" charset="0"/>
              </a:rPr>
              <a:t>To provide functional features for creating and manipulating streams and files for reading and writing bytes</a:t>
            </a:r>
          </a:p>
          <a:p>
            <a:pPr algn="just"/>
            <a:r>
              <a:rPr lang="en-US" altLang="en-US" dirty="0">
                <a:solidFill>
                  <a:schemeClr val="tx1"/>
                </a:solidFill>
                <a:latin typeface="Times New Roman" panose="02020603050405020304" pitchFamily="18" charset="0"/>
                <a:cs typeface="Times New Roman" panose="02020603050405020304" pitchFamily="18" charset="0"/>
              </a:rPr>
              <a:t>Since the streams are unidirectional, they can transmit bytes in only one direction </a:t>
            </a:r>
          </a:p>
          <a:p>
            <a:pPr algn="just"/>
            <a:r>
              <a:rPr lang="en-US" altLang="en-US" dirty="0">
                <a:solidFill>
                  <a:schemeClr val="tx1"/>
                </a:solidFill>
                <a:latin typeface="Times New Roman" panose="02020603050405020304" pitchFamily="18" charset="0"/>
                <a:cs typeface="Times New Roman" panose="02020603050405020304" pitchFamily="18" charset="0"/>
              </a:rPr>
              <a:t>Therefore Java provides two kind of byte stream classes</a:t>
            </a:r>
          </a:p>
          <a:p>
            <a:pPr lvl="1" algn="just"/>
            <a:r>
              <a:rPr lang="en-US" altLang="en-US" dirty="0">
                <a:solidFill>
                  <a:srgbClr val="0000FF"/>
                </a:solidFill>
                <a:latin typeface="Times New Roman" panose="02020603050405020304" pitchFamily="18" charset="0"/>
                <a:cs typeface="Times New Roman" panose="02020603050405020304" pitchFamily="18" charset="0"/>
              </a:rPr>
              <a:t>Input stream classes and</a:t>
            </a:r>
          </a:p>
          <a:p>
            <a:pPr lvl="1" algn="just"/>
            <a:r>
              <a:rPr lang="en-US" altLang="en-US" dirty="0">
                <a:solidFill>
                  <a:srgbClr val="0000FF"/>
                </a:solidFill>
                <a:latin typeface="Times New Roman" panose="02020603050405020304" pitchFamily="18" charset="0"/>
                <a:cs typeface="Times New Roman" panose="02020603050405020304" pitchFamily="18" charset="0"/>
              </a:rPr>
              <a:t>Output stream classes</a:t>
            </a:r>
          </a:p>
          <a:p>
            <a:pPr algn="just"/>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16388" name="Slide Number Placeholder 3">
            <a:extLst>
              <a:ext uri="{FF2B5EF4-FFF2-40B4-BE49-F238E27FC236}">
                <a16:creationId xmlns:a16="http://schemas.microsoft.com/office/drawing/2014/main" xmlns="" id="{F1714E74-B8FA-358C-48E6-33CB5CE551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6FFB5791-FB93-4672-9AC1-243581117859}" type="slidenum">
              <a:rPr lang="en-US" altLang="en-US" sz="1400">
                <a:latin typeface="Times New Roman" panose="02020603050405020304" pitchFamily="18" charset="0"/>
              </a:rPr>
              <a:pPr/>
              <a:t>18</a:t>
            </a:fld>
            <a:endParaRPr lang="en-US"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arn(inVertical)">
                                      <p:cBhvr>
                                        <p:cTn id="7" dur="500"/>
                                        <p:tgtEl>
                                          <p:spTgt spid="19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1000"/>
                                        <p:tgtEl>
                                          <p:spTgt spid="19459">
                                            <p:txEl>
                                              <p:pRg st="1" end="1"/>
                                            </p:txEl>
                                          </p:spTgt>
                                        </p:tgtEl>
                                      </p:cBhvr>
                                    </p:animEffect>
                                    <p:anim calcmode="lin" valueType="num">
                                      <p:cBhvr>
                                        <p:cTn id="13" dur="10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945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Effect transition="in" filter="barn(inVertical)">
                                      <p:cBhvr>
                                        <p:cTn id="19" dur="500"/>
                                        <p:tgtEl>
                                          <p:spTgt spid="19459">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nodeType="clickEffect">
                                  <p:stCondLst>
                                    <p:cond delay="0"/>
                                  </p:stCondLst>
                                  <p:childTnLst>
                                    <p:set>
                                      <p:cBhvr>
                                        <p:cTn id="23" dur="1" fill="hold">
                                          <p:stCondLst>
                                            <p:cond delay="0"/>
                                          </p:stCondLst>
                                        </p:cTn>
                                        <p:tgtEl>
                                          <p:spTgt spid="19459">
                                            <p:txEl>
                                              <p:pRg st="3" end="3"/>
                                            </p:txEl>
                                          </p:spTgt>
                                        </p:tgtEl>
                                        <p:attrNameLst>
                                          <p:attrName>style.visibility</p:attrName>
                                        </p:attrNameLst>
                                      </p:cBhvr>
                                      <p:to>
                                        <p:strVal val="visible"/>
                                      </p:to>
                                    </p:set>
                                    <p:animEffect transition="in" filter="barn(inVertical)">
                                      <p:cBhvr>
                                        <p:cTn id="24" dur="500"/>
                                        <p:tgtEl>
                                          <p:spTgt spid="19459">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nodeType="clickEffect">
                                  <p:stCondLst>
                                    <p:cond delay="0"/>
                                  </p:stCondLst>
                                  <p:childTnLst>
                                    <p:set>
                                      <p:cBhvr>
                                        <p:cTn id="28" dur="1" fill="hold">
                                          <p:stCondLst>
                                            <p:cond delay="0"/>
                                          </p:stCondLst>
                                        </p:cTn>
                                        <p:tgtEl>
                                          <p:spTgt spid="19459">
                                            <p:txEl>
                                              <p:pRg st="4" end="4"/>
                                            </p:txEl>
                                          </p:spTgt>
                                        </p:tgtEl>
                                        <p:attrNameLst>
                                          <p:attrName>style.visibility</p:attrName>
                                        </p:attrNameLst>
                                      </p:cBhvr>
                                      <p:to>
                                        <p:strVal val="visible"/>
                                      </p:to>
                                    </p:set>
                                    <p:animEffect transition="in" filter="fade">
                                      <p:cBhvr>
                                        <p:cTn id="29" dur="1000"/>
                                        <p:tgtEl>
                                          <p:spTgt spid="19459">
                                            <p:txEl>
                                              <p:pRg st="4" end="4"/>
                                            </p:txEl>
                                          </p:spTgt>
                                        </p:tgtEl>
                                      </p:cBhvr>
                                    </p:animEffect>
                                    <p:anim calcmode="lin" valueType="num">
                                      <p:cBhvr>
                                        <p:cTn id="30" dur="10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945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nodeType="clickEffect">
                                  <p:stCondLst>
                                    <p:cond delay="0"/>
                                  </p:stCondLst>
                                  <p:childTnLst>
                                    <p:set>
                                      <p:cBhvr>
                                        <p:cTn id="35" dur="1" fill="hold">
                                          <p:stCondLst>
                                            <p:cond delay="0"/>
                                          </p:stCondLst>
                                        </p:cTn>
                                        <p:tgtEl>
                                          <p:spTgt spid="19459">
                                            <p:txEl>
                                              <p:pRg st="5" end="5"/>
                                            </p:txEl>
                                          </p:spTgt>
                                        </p:tgtEl>
                                        <p:attrNameLst>
                                          <p:attrName>style.visibility</p:attrName>
                                        </p:attrNameLst>
                                      </p:cBhvr>
                                      <p:to>
                                        <p:strVal val="visible"/>
                                      </p:to>
                                    </p:set>
                                    <p:animEffect transition="in" filter="fade">
                                      <p:cBhvr>
                                        <p:cTn id="36" dur="1000"/>
                                        <p:tgtEl>
                                          <p:spTgt spid="19459">
                                            <p:txEl>
                                              <p:pRg st="5" end="5"/>
                                            </p:txEl>
                                          </p:spTgt>
                                        </p:tgtEl>
                                      </p:cBhvr>
                                    </p:animEffect>
                                    <p:anim calcmode="lin" valueType="num">
                                      <p:cBhvr>
                                        <p:cTn id="37" dur="10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945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Input Stream Classes</a:t>
            </a:r>
            <a:endParaRPr lang="en-US" altLang="en-US"/>
          </a:p>
        </p:txBody>
      </p:sp>
      <p:sp>
        <p:nvSpPr>
          <p:cNvPr id="20483" name="Content Placeholder 2">
            <a:extLst>
              <a:ext uri="{FF2B5EF4-FFF2-40B4-BE49-F238E27FC236}">
                <a16:creationId xmlns:a16="http://schemas.microsoft.com/office/drawing/2014/main" xmlns="" id="{2F73174F-557B-2273-C25F-1B8484E038FC}"/>
              </a:ext>
            </a:extLst>
          </p:cNvPr>
          <p:cNvSpPr>
            <a:spLocks noGrp="1"/>
          </p:cNvSpPr>
          <p:nvPr>
            <p:ph idx="1"/>
          </p:nvPr>
        </p:nvSpPr>
        <p:spPr/>
        <p:txBody>
          <a:bodyPr/>
          <a:lstStyle/>
          <a:p>
            <a:pPr algn="just"/>
            <a:r>
              <a:rPr lang="en-US" altLang="en-US">
                <a:solidFill>
                  <a:schemeClr val="tx1"/>
                </a:solidFill>
                <a:latin typeface="Times New Roman" panose="02020603050405020304" pitchFamily="18" charset="0"/>
                <a:cs typeface="Times New Roman" panose="02020603050405020304" pitchFamily="18" charset="0"/>
              </a:rPr>
              <a:t>Input stream classes are used to read 8-bit bytes include a super class known as </a:t>
            </a:r>
            <a:r>
              <a:rPr lang="en-US" altLang="en-US" i="1">
                <a:latin typeface="Times New Roman" panose="02020603050405020304" pitchFamily="18" charset="0"/>
                <a:cs typeface="Times New Roman" panose="02020603050405020304" pitchFamily="18" charset="0"/>
              </a:rPr>
              <a:t>InputStream</a:t>
            </a:r>
            <a:endParaRPr lang="en-US" altLang="en-US">
              <a:latin typeface="Times New Roman" panose="02020603050405020304" pitchFamily="18" charset="0"/>
              <a:cs typeface="Times New Roman" panose="02020603050405020304" pitchFamily="18" charset="0"/>
            </a:endParaRPr>
          </a:p>
          <a:p>
            <a:pPr algn="just"/>
            <a:r>
              <a:rPr lang="en-US" altLang="en-US">
                <a:solidFill>
                  <a:schemeClr val="tx1"/>
                </a:solidFill>
                <a:latin typeface="Times New Roman" panose="02020603050405020304" pitchFamily="18" charset="0"/>
                <a:cs typeface="Times New Roman" panose="02020603050405020304" pitchFamily="18" charset="0"/>
              </a:rPr>
              <a:t>It is also used to read 8-bit bytes include a number of subclasses for supporting various input related functions</a:t>
            </a:r>
          </a:p>
          <a:p>
            <a:pPr algn="just"/>
            <a:r>
              <a:rPr lang="en-US" altLang="en-US">
                <a:solidFill>
                  <a:schemeClr val="tx1"/>
                </a:solidFill>
                <a:latin typeface="Times New Roman" panose="02020603050405020304" pitchFamily="18" charset="0"/>
                <a:cs typeface="Times New Roman" panose="02020603050405020304" pitchFamily="18" charset="0"/>
              </a:rPr>
              <a:t>The super class </a:t>
            </a:r>
            <a:r>
              <a:rPr lang="en-US" altLang="en-US" i="1">
                <a:latin typeface="Times New Roman" panose="02020603050405020304" pitchFamily="18" charset="0"/>
                <a:cs typeface="Times New Roman" panose="02020603050405020304" pitchFamily="18" charset="0"/>
              </a:rPr>
              <a:t>InputStram</a:t>
            </a:r>
            <a:r>
              <a:rPr lang="en-US" altLang="en-US">
                <a:solidFill>
                  <a:schemeClr val="tx1"/>
                </a:solidFill>
                <a:latin typeface="Times New Roman" panose="02020603050405020304" pitchFamily="18" charset="0"/>
                <a:cs typeface="Times New Roman" panose="02020603050405020304" pitchFamily="18" charset="0"/>
              </a:rPr>
              <a:t> is abstract class, and therefore, we cannot create instances of this class </a:t>
            </a:r>
          </a:p>
          <a:p>
            <a:pPr algn="just"/>
            <a:r>
              <a:rPr lang="en-US" altLang="en-US">
                <a:solidFill>
                  <a:schemeClr val="tx1"/>
                </a:solidFill>
                <a:latin typeface="Times New Roman" panose="02020603050405020304" pitchFamily="18" charset="0"/>
                <a:cs typeface="Times New Roman" panose="02020603050405020304" pitchFamily="18" charset="0"/>
              </a:rPr>
              <a:t>Rather, we must use the subclasses that inherit from this class</a:t>
            </a: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19</a:t>
            </a:fld>
            <a:endParaRPr lang="en-US"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arn(inVertical)">
                                      <p:cBhvr>
                                        <p:cTn id="7" dur="500"/>
                                        <p:tgtEl>
                                          <p:spTgt spid="20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barn(inVertical)">
                                      <p:cBhvr>
                                        <p:cTn id="12" dur="500"/>
                                        <p:tgtEl>
                                          <p:spTgt spid="204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Effect transition="in" filter="barn(inVertical)">
                                      <p:cBhvr>
                                        <p:cTn id="17" dur="500"/>
                                        <p:tgtEl>
                                          <p:spTgt spid="204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20483">
                                            <p:txEl>
                                              <p:pRg st="3" end="3"/>
                                            </p:txEl>
                                          </p:spTgt>
                                        </p:tgtEl>
                                        <p:attrNameLst>
                                          <p:attrName>style.visibility</p:attrName>
                                        </p:attrNameLst>
                                      </p:cBhvr>
                                      <p:to>
                                        <p:strVal val="visible"/>
                                      </p:to>
                                    </p:set>
                                    <p:animEffect transition="in" filter="barn(inVertical)">
                                      <p:cBhvr>
                                        <p:cTn id="22" dur="500"/>
                                        <p:tgtEl>
                                          <p:spTgt spid="204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Input Stream Classes</a:t>
            </a:r>
            <a:endParaRPr lang="en-US" altLang="en-US"/>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20</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39031501-3299-28E7-561F-F0E8467986CD}"/>
              </a:ext>
            </a:extLst>
          </p:cNvPr>
          <p:cNvSpPr txBox="1"/>
          <p:nvPr/>
        </p:nvSpPr>
        <p:spPr>
          <a:xfrm>
            <a:off x="304800" y="1013313"/>
            <a:ext cx="8153400" cy="1569660"/>
          </a:xfrm>
          <a:prstGeom prst="rect">
            <a:avLst/>
          </a:prstGeom>
          <a:noFill/>
        </p:spPr>
        <p:txBody>
          <a:bodyPr wrap="square">
            <a:spAutoFit/>
          </a:bodyPr>
          <a:lstStyle/>
          <a:p>
            <a:pPr algn="l"/>
            <a:r>
              <a:rPr lang="en-US" sz="2400" b="1" i="0" u="none" strike="noStrike" baseline="0" dirty="0" err="1">
                <a:solidFill>
                  <a:srgbClr val="1D1D1E"/>
                </a:solidFill>
                <a:latin typeface="Palatino-Bold"/>
              </a:rPr>
              <a:t>InputStream</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is an abstract class that defines Java’s model of streaming byte input. All of the methods in this class will throw an </a:t>
            </a:r>
            <a:r>
              <a:rPr lang="en-US" sz="2400" b="1" i="0" u="none" strike="noStrike" baseline="0" dirty="0" err="1">
                <a:solidFill>
                  <a:srgbClr val="1D1D1E"/>
                </a:solidFill>
                <a:latin typeface="Palatino-Bold"/>
              </a:rPr>
              <a:t>IOException</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on error conditions. Table 17-1</a:t>
            </a:r>
          </a:p>
          <a:p>
            <a:pPr algn="l"/>
            <a:r>
              <a:rPr lang="en-US" sz="2400" b="0" i="0" u="none" strike="noStrike" baseline="0" dirty="0">
                <a:solidFill>
                  <a:srgbClr val="1D1D1E"/>
                </a:solidFill>
                <a:latin typeface="Palatino-Roman"/>
              </a:rPr>
              <a:t>shows the methods in </a:t>
            </a:r>
            <a:r>
              <a:rPr lang="en-US" sz="2400" b="1" i="0" u="none" strike="noStrike" baseline="0" dirty="0" err="1">
                <a:solidFill>
                  <a:srgbClr val="1D1D1E"/>
                </a:solidFill>
                <a:latin typeface="Palatino-Bold"/>
              </a:rPr>
              <a:t>InputStream</a:t>
            </a:r>
            <a:r>
              <a:rPr lang="en-US" sz="2400" b="0" i="0" u="none" strike="noStrike" baseline="0" dirty="0">
                <a:solidFill>
                  <a:srgbClr val="1D1D1E"/>
                </a:solidFill>
                <a:latin typeface="Palatino-Roman"/>
              </a:rPr>
              <a:t>.</a:t>
            </a:r>
            <a:endParaRPr lang="en-US" sz="2400" dirty="0"/>
          </a:p>
        </p:txBody>
      </p:sp>
      <p:pic>
        <p:nvPicPr>
          <p:cNvPr id="7" name="Picture 6">
            <a:extLst>
              <a:ext uri="{FF2B5EF4-FFF2-40B4-BE49-F238E27FC236}">
                <a16:creationId xmlns:a16="http://schemas.microsoft.com/office/drawing/2014/main" xmlns="" id="{74B32F16-D691-AA09-48A1-AB4E2E6FCDFF}"/>
              </a:ext>
            </a:extLst>
          </p:cNvPr>
          <p:cNvPicPr>
            <a:picLocks noChangeAspect="1"/>
          </p:cNvPicPr>
          <p:nvPr/>
        </p:nvPicPr>
        <p:blipFill>
          <a:blip r:embed="rId2"/>
          <a:stretch>
            <a:fillRect/>
          </a:stretch>
        </p:blipFill>
        <p:spPr>
          <a:xfrm>
            <a:off x="457199" y="2629749"/>
            <a:ext cx="7565939" cy="3923451"/>
          </a:xfrm>
          <a:prstGeom prst="rect">
            <a:avLst/>
          </a:prstGeom>
        </p:spPr>
      </p:pic>
    </p:spTree>
    <p:extLst>
      <p:ext uri="{BB962C8B-B14F-4D97-AF65-F5344CB8AC3E}">
        <p14:creationId xmlns:p14="http://schemas.microsoft.com/office/powerpoint/2010/main" val="1648649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a:solidFill>
                  <a:srgbClr val="C00000"/>
                </a:solidFill>
                <a:latin typeface="Times New Roman" panose="02020603050405020304" pitchFamily="18" charset="0"/>
                <a:cs typeface="Times New Roman" panose="02020603050405020304" pitchFamily="18" charset="0"/>
              </a:rPr>
              <a:t>Input Stream Classes</a:t>
            </a:r>
            <a:endParaRPr lang="en-US" altLang="en-US"/>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21</a:t>
            </a:fld>
            <a:endParaRPr lang="en-US" altLang="en-US" sz="1400">
              <a:latin typeface="Times New Roman" panose="02020603050405020304" pitchFamily="18" charset="0"/>
            </a:endParaRPr>
          </a:p>
        </p:txBody>
      </p:sp>
      <p:pic>
        <p:nvPicPr>
          <p:cNvPr id="4" name="Picture 3">
            <a:extLst>
              <a:ext uri="{FF2B5EF4-FFF2-40B4-BE49-F238E27FC236}">
                <a16:creationId xmlns:a16="http://schemas.microsoft.com/office/drawing/2014/main" xmlns="" id="{C1608349-15AE-A1EA-703D-FECBD2D2B4FD}"/>
              </a:ext>
            </a:extLst>
          </p:cNvPr>
          <p:cNvPicPr>
            <a:picLocks noChangeAspect="1"/>
          </p:cNvPicPr>
          <p:nvPr/>
        </p:nvPicPr>
        <p:blipFill>
          <a:blip r:embed="rId2"/>
          <a:stretch>
            <a:fillRect/>
          </a:stretch>
        </p:blipFill>
        <p:spPr>
          <a:xfrm>
            <a:off x="554525" y="1838325"/>
            <a:ext cx="6972300" cy="2324100"/>
          </a:xfrm>
          <a:prstGeom prst="rect">
            <a:avLst/>
          </a:prstGeom>
        </p:spPr>
      </p:pic>
      <p:pic>
        <p:nvPicPr>
          <p:cNvPr id="6" name="Picture 5">
            <a:extLst>
              <a:ext uri="{FF2B5EF4-FFF2-40B4-BE49-F238E27FC236}">
                <a16:creationId xmlns:a16="http://schemas.microsoft.com/office/drawing/2014/main" xmlns="" id="{A99B96D3-079D-90A3-6CF4-327A46BF5053}"/>
              </a:ext>
            </a:extLst>
          </p:cNvPr>
          <p:cNvPicPr>
            <a:picLocks noChangeAspect="1"/>
          </p:cNvPicPr>
          <p:nvPr/>
        </p:nvPicPr>
        <p:blipFill>
          <a:blip r:embed="rId3"/>
          <a:stretch>
            <a:fillRect/>
          </a:stretch>
        </p:blipFill>
        <p:spPr>
          <a:xfrm>
            <a:off x="554525" y="4343400"/>
            <a:ext cx="7191375" cy="1190625"/>
          </a:xfrm>
          <a:prstGeom prst="rect">
            <a:avLst/>
          </a:prstGeom>
        </p:spPr>
      </p:pic>
      <p:sp>
        <p:nvSpPr>
          <p:cNvPr id="8" name="TextBox 7">
            <a:extLst>
              <a:ext uri="{FF2B5EF4-FFF2-40B4-BE49-F238E27FC236}">
                <a16:creationId xmlns:a16="http://schemas.microsoft.com/office/drawing/2014/main" xmlns="" id="{47D5C06A-2152-4A84-0020-2300E61D0CED}"/>
              </a:ext>
            </a:extLst>
          </p:cNvPr>
          <p:cNvSpPr txBox="1"/>
          <p:nvPr/>
        </p:nvSpPr>
        <p:spPr>
          <a:xfrm>
            <a:off x="595312" y="1288018"/>
            <a:ext cx="7191375" cy="369332"/>
          </a:xfrm>
          <a:prstGeom prst="rect">
            <a:avLst/>
          </a:prstGeom>
          <a:noFill/>
        </p:spPr>
        <p:txBody>
          <a:bodyPr wrap="square" rtlCol="0">
            <a:spAutoFit/>
          </a:bodyPr>
          <a:lstStyle/>
          <a:p>
            <a:r>
              <a:rPr lang="en-US" sz="1800" b="1" dirty="0"/>
              <a:t>Method			    Description</a:t>
            </a:r>
          </a:p>
        </p:txBody>
      </p:sp>
    </p:spTree>
    <p:extLst>
      <p:ext uri="{BB962C8B-B14F-4D97-AF65-F5344CB8AC3E}">
        <p14:creationId xmlns:p14="http://schemas.microsoft.com/office/powerpoint/2010/main" val="3320921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a:solidFill>
                  <a:srgbClr val="C00000"/>
                </a:solidFill>
                <a:latin typeface="Times New Roman" panose="02020603050405020304" pitchFamily="18" charset="0"/>
                <a:cs typeface="Times New Roman" panose="02020603050405020304" pitchFamily="18" charset="0"/>
              </a:rPr>
              <a:t>Output Stream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22</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8541F23C-B9CF-54C6-B0CB-AC676F24F73E}"/>
              </a:ext>
            </a:extLst>
          </p:cNvPr>
          <p:cNvSpPr txBox="1"/>
          <p:nvPr/>
        </p:nvSpPr>
        <p:spPr>
          <a:xfrm>
            <a:off x="381000" y="819150"/>
            <a:ext cx="8077200" cy="1569660"/>
          </a:xfrm>
          <a:prstGeom prst="rect">
            <a:avLst/>
          </a:prstGeom>
          <a:noFill/>
        </p:spPr>
        <p:txBody>
          <a:bodyPr wrap="square">
            <a:spAutoFit/>
          </a:bodyPr>
          <a:lstStyle/>
          <a:p>
            <a:pPr algn="l"/>
            <a:r>
              <a:rPr lang="en-US" sz="2400" b="1" i="0" u="none" strike="noStrike" baseline="0" dirty="0" err="1">
                <a:solidFill>
                  <a:srgbClr val="1D1D1E"/>
                </a:solidFill>
                <a:latin typeface="Palatino-Bold"/>
              </a:rPr>
              <a:t>OutputStream</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is an abstract class that defines streaming byte output. All of the methods in this class return a </a:t>
            </a:r>
            <a:r>
              <a:rPr lang="en-US" sz="2400" b="1" i="0" u="none" strike="noStrike" baseline="0" dirty="0">
                <a:solidFill>
                  <a:srgbClr val="1D1D1E"/>
                </a:solidFill>
                <a:latin typeface="Palatino-Bold"/>
              </a:rPr>
              <a:t>void </a:t>
            </a:r>
            <a:r>
              <a:rPr lang="en-US" sz="2400" b="0" i="0" u="none" strike="noStrike" baseline="0" dirty="0">
                <a:solidFill>
                  <a:srgbClr val="1D1D1E"/>
                </a:solidFill>
                <a:latin typeface="Palatino-Roman"/>
              </a:rPr>
              <a:t>value and throw an </a:t>
            </a:r>
            <a:r>
              <a:rPr lang="en-US" sz="2400" b="1" i="0" u="none" strike="noStrike" baseline="0" dirty="0" err="1">
                <a:solidFill>
                  <a:srgbClr val="1D1D1E"/>
                </a:solidFill>
                <a:latin typeface="Palatino-Bold"/>
              </a:rPr>
              <a:t>IOException</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in the case of errors. Table 17-2 shows the methods in </a:t>
            </a:r>
            <a:r>
              <a:rPr lang="en-US" sz="2400" b="1" i="0" u="none" strike="noStrike" baseline="0" dirty="0" err="1">
                <a:solidFill>
                  <a:srgbClr val="1D1D1E"/>
                </a:solidFill>
                <a:latin typeface="Palatino-Bold"/>
              </a:rPr>
              <a:t>OutputStream</a:t>
            </a:r>
            <a:r>
              <a:rPr lang="en-US" sz="2400" b="0" i="0" u="none" strike="noStrike" baseline="0" dirty="0">
                <a:solidFill>
                  <a:srgbClr val="1D1D1E"/>
                </a:solidFill>
                <a:latin typeface="Palatino-Roman"/>
              </a:rPr>
              <a:t>.</a:t>
            </a:r>
            <a:endParaRPr lang="en-US" sz="2400" dirty="0"/>
          </a:p>
        </p:txBody>
      </p:sp>
      <p:pic>
        <p:nvPicPr>
          <p:cNvPr id="5" name="Picture 4">
            <a:extLst>
              <a:ext uri="{FF2B5EF4-FFF2-40B4-BE49-F238E27FC236}">
                <a16:creationId xmlns:a16="http://schemas.microsoft.com/office/drawing/2014/main" xmlns="" id="{C0A94C94-525D-0F34-901A-E68490CB3386}"/>
              </a:ext>
            </a:extLst>
          </p:cNvPr>
          <p:cNvPicPr>
            <a:picLocks noChangeAspect="1"/>
          </p:cNvPicPr>
          <p:nvPr/>
        </p:nvPicPr>
        <p:blipFill>
          <a:blip r:embed="rId2"/>
          <a:stretch>
            <a:fillRect/>
          </a:stretch>
        </p:blipFill>
        <p:spPr>
          <a:xfrm>
            <a:off x="657225" y="2286000"/>
            <a:ext cx="7343775" cy="4571999"/>
          </a:xfrm>
          <a:prstGeom prst="rect">
            <a:avLst/>
          </a:prstGeom>
        </p:spPr>
      </p:pic>
    </p:spTree>
    <p:extLst>
      <p:ext uri="{BB962C8B-B14F-4D97-AF65-F5344CB8AC3E}">
        <p14:creationId xmlns:p14="http://schemas.microsoft.com/office/powerpoint/2010/main" val="1747704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FileInputStream</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23</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8541F23C-B9CF-54C6-B0CB-AC676F24F73E}"/>
              </a:ext>
            </a:extLst>
          </p:cNvPr>
          <p:cNvSpPr txBox="1"/>
          <p:nvPr/>
        </p:nvSpPr>
        <p:spPr>
          <a:xfrm>
            <a:off x="381000" y="819150"/>
            <a:ext cx="8077200" cy="3816429"/>
          </a:xfrm>
          <a:prstGeom prst="rect">
            <a:avLst/>
          </a:prstGeom>
          <a:noFill/>
        </p:spPr>
        <p:txBody>
          <a:bodyPr wrap="square">
            <a:spAutoFit/>
          </a:bodyPr>
          <a:lstStyle/>
          <a:p>
            <a:pPr algn="l"/>
            <a:r>
              <a:rPr lang="en-US" sz="2400" b="0" i="0" u="none" strike="noStrike" baseline="0" dirty="0">
                <a:solidFill>
                  <a:srgbClr val="1D1D1E"/>
                </a:solidFill>
                <a:latin typeface="Palatino-Roman"/>
              </a:rPr>
              <a:t>The </a:t>
            </a:r>
            <a:r>
              <a:rPr lang="en-US" sz="2400" b="1" i="0" u="none" strike="noStrike" baseline="0" dirty="0" err="1">
                <a:solidFill>
                  <a:srgbClr val="1D1D1E"/>
                </a:solidFill>
                <a:latin typeface="Palatino-Bold"/>
              </a:rPr>
              <a:t>FileInputStream</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class creates an </a:t>
            </a:r>
            <a:r>
              <a:rPr lang="en-US" sz="2400" b="1" i="0" u="none" strike="noStrike" baseline="0" dirty="0" err="1">
                <a:solidFill>
                  <a:srgbClr val="1D1D1E"/>
                </a:solidFill>
                <a:latin typeface="Palatino-Bold"/>
              </a:rPr>
              <a:t>InputStream</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that you can use to read bytes from a file. Its two most common constructors are shown here:</a:t>
            </a:r>
          </a:p>
          <a:p>
            <a:pPr algn="l"/>
            <a:endParaRPr lang="en-US" sz="1200" b="0" i="0" u="none" strike="noStrike" baseline="0" dirty="0">
              <a:solidFill>
                <a:srgbClr val="1D1D1E"/>
              </a:solidFill>
              <a:latin typeface="Palatino-Roman"/>
            </a:endParaRPr>
          </a:p>
          <a:p>
            <a:pPr algn="l"/>
            <a:r>
              <a:rPr lang="en-US" sz="2400" b="0" i="0" u="none" strike="noStrike" baseline="0" dirty="0" err="1">
                <a:solidFill>
                  <a:srgbClr val="1D1D1E"/>
                </a:solidFill>
                <a:latin typeface="Palatino-Roman"/>
              </a:rPr>
              <a:t>FileInputStream</a:t>
            </a:r>
            <a:r>
              <a:rPr lang="en-US" sz="2400" b="0" i="0" u="none" strike="noStrike" baseline="0" dirty="0">
                <a:solidFill>
                  <a:srgbClr val="1D1D1E"/>
                </a:solidFill>
                <a:latin typeface="Palatino-Roman"/>
              </a:rPr>
              <a:t>(String </a:t>
            </a:r>
            <a:r>
              <a:rPr lang="en-US" sz="2400" b="0" i="1" u="none" strike="noStrike" baseline="0" dirty="0" err="1">
                <a:solidFill>
                  <a:srgbClr val="1D1D1E"/>
                </a:solidFill>
                <a:latin typeface="Palatino-Italic"/>
              </a:rPr>
              <a:t>filepath</a:t>
            </a:r>
            <a:r>
              <a:rPr lang="en-US" sz="2400" b="0" i="0" u="none" strike="noStrike" baseline="0" dirty="0">
                <a:solidFill>
                  <a:srgbClr val="1D1D1E"/>
                </a:solidFill>
                <a:latin typeface="Palatino-Roman"/>
              </a:rPr>
              <a:t>)</a:t>
            </a:r>
          </a:p>
          <a:p>
            <a:pPr algn="l"/>
            <a:r>
              <a:rPr lang="en-US" sz="2400" b="0" i="0" u="none" strike="noStrike" baseline="0" dirty="0" err="1">
                <a:solidFill>
                  <a:srgbClr val="1D1D1E"/>
                </a:solidFill>
                <a:latin typeface="Palatino-Roman"/>
              </a:rPr>
              <a:t>FileInputStream</a:t>
            </a:r>
            <a:r>
              <a:rPr lang="en-US" sz="2400" b="0" i="0" u="none" strike="noStrike" baseline="0" dirty="0">
                <a:solidFill>
                  <a:srgbClr val="1D1D1E"/>
                </a:solidFill>
                <a:latin typeface="Palatino-Roman"/>
              </a:rPr>
              <a:t>(File </a:t>
            </a:r>
            <a:r>
              <a:rPr lang="en-US" sz="2400" b="0" i="1" u="none" strike="noStrike" baseline="0" dirty="0" err="1">
                <a:solidFill>
                  <a:srgbClr val="1D1D1E"/>
                </a:solidFill>
                <a:latin typeface="Palatino-Italic"/>
              </a:rPr>
              <a:t>fileObj</a:t>
            </a:r>
            <a:r>
              <a:rPr lang="en-US" sz="2400" b="0" i="0" u="none" strike="noStrike" baseline="0" dirty="0">
                <a:solidFill>
                  <a:srgbClr val="1D1D1E"/>
                </a:solidFill>
                <a:latin typeface="Palatino-Roman"/>
              </a:rPr>
              <a:t>)</a:t>
            </a:r>
          </a:p>
          <a:p>
            <a:pPr algn="l"/>
            <a:endParaRPr lang="en-US" sz="1400" b="0" i="0" u="none" strike="noStrike" baseline="0" dirty="0">
              <a:solidFill>
                <a:srgbClr val="1D1D1E"/>
              </a:solidFill>
              <a:latin typeface="Palatino-Roman"/>
            </a:endParaRPr>
          </a:p>
          <a:p>
            <a:pPr algn="l"/>
            <a:r>
              <a:rPr lang="en-US" sz="2400" b="0" i="0" u="none" strike="noStrike" baseline="0" dirty="0">
                <a:solidFill>
                  <a:srgbClr val="1D1D1E"/>
                </a:solidFill>
                <a:latin typeface="Palatino-Roman"/>
              </a:rPr>
              <a:t>Either can throw a </a:t>
            </a:r>
            <a:r>
              <a:rPr lang="en-US" sz="2400" b="1" i="0" u="none" strike="noStrike" baseline="0" dirty="0" err="1">
                <a:solidFill>
                  <a:srgbClr val="1D1D1E"/>
                </a:solidFill>
                <a:latin typeface="Palatino-Bold"/>
              </a:rPr>
              <a:t>FileNotFoundException</a:t>
            </a:r>
            <a:r>
              <a:rPr lang="en-US" sz="2400" b="0" i="0" u="none" strike="noStrike" baseline="0" dirty="0">
                <a:solidFill>
                  <a:srgbClr val="1D1D1E"/>
                </a:solidFill>
                <a:latin typeface="Palatino-Roman"/>
              </a:rPr>
              <a:t>. </a:t>
            </a:r>
          </a:p>
          <a:p>
            <a:pPr algn="l"/>
            <a:endParaRPr lang="en-US" sz="2400" dirty="0">
              <a:solidFill>
                <a:srgbClr val="1D1D1E"/>
              </a:solidFill>
              <a:latin typeface="Palatino-Roman"/>
            </a:endParaRPr>
          </a:p>
          <a:p>
            <a:pPr algn="l"/>
            <a:r>
              <a:rPr lang="en-US" sz="2400" b="0" i="0" u="none" strike="noStrike" baseline="0" dirty="0">
                <a:solidFill>
                  <a:srgbClr val="1D1D1E"/>
                </a:solidFill>
                <a:latin typeface="Palatino-Roman"/>
              </a:rPr>
              <a:t>Here, </a:t>
            </a:r>
            <a:r>
              <a:rPr lang="en-US" sz="2400" b="0" i="1" u="none" strike="noStrike" baseline="0" dirty="0" err="1">
                <a:solidFill>
                  <a:srgbClr val="1D1D1E"/>
                </a:solidFill>
                <a:latin typeface="Palatino-Italic"/>
              </a:rPr>
              <a:t>filepath</a:t>
            </a:r>
            <a:r>
              <a:rPr lang="en-US" sz="2400" b="0" i="1" u="none" strike="noStrike" baseline="0" dirty="0">
                <a:solidFill>
                  <a:srgbClr val="1D1D1E"/>
                </a:solidFill>
                <a:latin typeface="Palatino-Italic"/>
              </a:rPr>
              <a:t> </a:t>
            </a:r>
            <a:r>
              <a:rPr lang="en-US" sz="2400" b="0" i="0" u="none" strike="noStrike" baseline="0" dirty="0">
                <a:solidFill>
                  <a:srgbClr val="1D1D1E"/>
                </a:solidFill>
                <a:latin typeface="Palatino-Roman"/>
              </a:rPr>
              <a:t>is the full path name of a file, and </a:t>
            </a:r>
            <a:r>
              <a:rPr lang="en-US" sz="2400" b="0" i="1" u="none" strike="noStrike" baseline="0" dirty="0" err="1">
                <a:solidFill>
                  <a:srgbClr val="1D1D1E"/>
                </a:solidFill>
                <a:latin typeface="Palatino-Italic"/>
              </a:rPr>
              <a:t>fileObj</a:t>
            </a:r>
            <a:r>
              <a:rPr lang="en-US" sz="2400" b="0" i="1" u="none" strike="noStrike" baseline="0" dirty="0">
                <a:solidFill>
                  <a:srgbClr val="1D1D1E"/>
                </a:solidFill>
                <a:latin typeface="Palatino-Italic"/>
              </a:rPr>
              <a:t> </a:t>
            </a:r>
            <a:r>
              <a:rPr lang="en-US" sz="2400" b="0" i="0" u="none" strike="noStrike" baseline="0" dirty="0">
                <a:solidFill>
                  <a:srgbClr val="1D1D1E"/>
                </a:solidFill>
                <a:latin typeface="Palatino-Roman"/>
              </a:rPr>
              <a:t>is a </a:t>
            </a:r>
            <a:r>
              <a:rPr lang="en-US" sz="2400" b="1" i="0" u="none" strike="noStrike" baseline="0" dirty="0">
                <a:solidFill>
                  <a:srgbClr val="1D1D1E"/>
                </a:solidFill>
                <a:latin typeface="Palatino-Bold"/>
              </a:rPr>
              <a:t>File </a:t>
            </a:r>
            <a:r>
              <a:rPr lang="en-US" sz="2400" b="0" i="0" u="none" strike="noStrike" baseline="0" dirty="0">
                <a:solidFill>
                  <a:srgbClr val="1D1D1E"/>
                </a:solidFill>
                <a:latin typeface="Palatino-Roman"/>
              </a:rPr>
              <a:t>object that describes the file.</a:t>
            </a:r>
          </a:p>
        </p:txBody>
      </p:sp>
    </p:spTree>
    <p:extLst>
      <p:ext uri="{BB962C8B-B14F-4D97-AF65-F5344CB8AC3E}">
        <p14:creationId xmlns:p14="http://schemas.microsoft.com/office/powerpoint/2010/main" val="2378071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FileInputStream</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24</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8541F23C-B9CF-54C6-B0CB-AC676F24F73E}"/>
              </a:ext>
            </a:extLst>
          </p:cNvPr>
          <p:cNvSpPr txBox="1"/>
          <p:nvPr/>
        </p:nvSpPr>
        <p:spPr>
          <a:xfrm>
            <a:off x="457200" y="1600200"/>
            <a:ext cx="8077200" cy="1569660"/>
          </a:xfrm>
          <a:prstGeom prst="rect">
            <a:avLst/>
          </a:prstGeom>
          <a:noFill/>
        </p:spPr>
        <p:txBody>
          <a:bodyPr wrap="square">
            <a:spAutoFit/>
          </a:bodyPr>
          <a:lstStyle/>
          <a:p>
            <a:pPr algn="l"/>
            <a:r>
              <a:rPr lang="en-US" sz="2400" b="0" i="0" u="none" strike="noStrike" baseline="0" dirty="0">
                <a:solidFill>
                  <a:srgbClr val="1D1D1E"/>
                </a:solidFill>
                <a:latin typeface="Palatino-Roman"/>
              </a:rPr>
              <a:t>The next example shows how to read a single byte, an array of bytes, and a subrange array of bytes. The program reads its own source file, which must be in the current directory.</a:t>
            </a:r>
            <a:endParaRPr lang="en-US" sz="2400" dirty="0"/>
          </a:p>
        </p:txBody>
      </p:sp>
    </p:spTree>
    <p:extLst>
      <p:ext uri="{BB962C8B-B14F-4D97-AF65-F5344CB8AC3E}">
        <p14:creationId xmlns:p14="http://schemas.microsoft.com/office/powerpoint/2010/main" val="3607297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FileInputStream</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25</a:t>
            </a:fld>
            <a:endParaRPr lang="en-US" altLang="en-US" sz="1400">
              <a:latin typeface="Times New Roman" panose="02020603050405020304" pitchFamily="18" charset="0"/>
            </a:endParaRPr>
          </a:p>
        </p:txBody>
      </p:sp>
      <p:sp>
        <p:nvSpPr>
          <p:cNvPr id="2" name="TextBox 1">
            <a:extLst>
              <a:ext uri="{FF2B5EF4-FFF2-40B4-BE49-F238E27FC236}">
                <a16:creationId xmlns:a16="http://schemas.microsoft.com/office/drawing/2014/main" xmlns="" id="{F811FED5-5812-DAE7-ED45-E21BFD85BAA7}"/>
              </a:ext>
            </a:extLst>
          </p:cNvPr>
          <p:cNvSpPr txBox="1"/>
          <p:nvPr/>
        </p:nvSpPr>
        <p:spPr>
          <a:xfrm>
            <a:off x="152400" y="914400"/>
            <a:ext cx="4585957" cy="5262979"/>
          </a:xfrm>
          <a:prstGeom prst="rect">
            <a:avLst/>
          </a:prstGeom>
          <a:noFill/>
          <a:ln>
            <a:solidFill>
              <a:schemeClr val="accent6">
                <a:lumMod val="75000"/>
              </a:schemeClr>
            </a:solidFill>
          </a:ln>
        </p:spPr>
        <p:txBody>
          <a:bodyPr wrap="square" rtlCol="0">
            <a:spAutoFit/>
          </a:bodyPr>
          <a:lstStyle/>
          <a:p>
            <a:pPr algn="l"/>
            <a:r>
              <a:rPr lang="en-US" b="0" i="0" u="none" strike="noStrike" baseline="0" dirty="0">
                <a:solidFill>
                  <a:srgbClr val="1D1D1E"/>
                </a:solidFill>
                <a:latin typeface="Palatino-Roman"/>
              </a:rPr>
              <a:t>// Demonstrate </a:t>
            </a:r>
            <a:r>
              <a:rPr lang="en-US" b="0" i="0" u="none" strike="noStrike" baseline="0" dirty="0" err="1">
                <a:solidFill>
                  <a:srgbClr val="1D1D1E"/>
                </a:solidFill>
                <a:latin typeface="Palatino-Roman"/>
              </a:rPr>
              <a:t>FileInputStream</a:t>
            </a:r>
            <a:r>
              <a:rPr lang="en-US" b="0" i="0" u="none" strike="noStrike" baseline="0" dirty="0">
                <a:solidFill>
                  <a:srgbClr val="1D1D1E"/>
                </a:solidFill>
                <a:latin typeface="Palatino-Roman"/>
              </a:rPr>
              <a:t>.</a:t>
            </a:r>
          </a:p>
          <a:p>
            <a:pPr algn="l"/>
            <a:r>
              <a:rPr lang="en-US" b="0" i="0" u="none" strike="noStrike" baseline="0" dirty="0">
                <a:solidFill>
                  <a:srgbClr val="1D1D1E"/>
                </a:solidFill>
                <a:latin typeface="Palatino-Roman"/>
              </a:rPr>
              <a:t>import java.io.*;</a:t>
            </a:r>
          </a:p>
          <a:p>
            <a:pPr algn="l"/>
            <a:r>
              <a:rPr lang="en-US" b="0" i="0" u="none" strike="noStrike" baseline="0" dirty="0">
                <a:solidFill>
                  <a:srgbClr val="1D1D1E"/>
                </a:solidFill>
                <a:latin typeface="Palatino-Roman"/>
              </a:rPr>
              <a:t>class </a:t>
            </a:r>
            <a:r>
              <a:rPr lang="en-US" b="0" i="0" u="none" strike="noStrike" baseline="0" dirty="0" err="1">
                <a:solidFill>
                  <a:srgbClr val="1D1D1E"/>
                </a:solidFill>
                <a:latin typeface="Palatino-Roman"/>
              </a:rPr>
              <a:t>FileInputStreamDemo</a:t>
            </a:r>
            <a:r>
              <a:rPr lang="en-US" b="0" i="0" u="none" strike="noStrike" baseline="0" dirty="0">
                <a:solidFill>
                  <a:srgbClr val="1D1D1E"/>
                </a:solidFill>
                <a:latin typeface="Palatino-Roman"/>
              </a:rPr>
              <a:t> {</a:t>
            </a:r>
          </a:p>
          <a:p>
            <a:pPr algn="l"/>
            <a:r>
              <a:rPr lang="en-US" b="0" i="0" u="none" strike="noStrike" baseline="0" dirty="0">
                <a:solidFill>
                  <a:srgbClr val="1D1D1E"/>
                </a:solidFill>
                <a:latin typeface="Palatino-Roman"/>
              </a:rPr>
              <a:t>public static void main(String </a:t>
            </a:r>
            <a:r>
              <a:rPr lang="en-US" b="0" i="0" u="none" strike="noStrike" baseline="0" dirty="0" err="1">
                <a:solidFill>
                  <a:srgbClr val="1D1D1E"/>
                </a:solidFill>
                <a:latin typeface="Palatino-Roman"/>
              </a:rPr>
              <a:t>args</a:t>
            </a:r>
            <a:r>
              <a:rPr lang="en-US" b="0" i="0" u="none" strike="noStrike" baseline="0" dirty="0">
                <a:solidFill>
                  <a:srgbClr val="1D1D1E"/>
                </a:solidFill>
                <a:latin typeface="Palatino-Roman"/>
              </a:rPr>
              <a:t>[]) throws Exception {</a:t>
            </a:r>
          </a:p>
          <a:p>
            <a:pPr algn="l"/>
            <a:r>
              <a:rPr lang="en-US" b="0" i="0" u="none" strike="noStrike" baseline="0" dirty="0">
                <a:solidFill>
                  <a:srgbClr val="1D1D1E"/>
                </a:solidFill>
                <a:latin typeface="Palatino-Roman"/>
              </a:rPr>
              <a:t>int size;</a:t>
            </a:r>
          </a:p>
          <a:p>
            <a:pPr algn="l"/>
            <a:r>
              <a:rPr lang="en-US" b="0" i="0" u="none" strike="noStrike" baseline="0" dirty="0" err="1">
                <a:solidFill>
                  <a:srgbClr val="1D1D1E"/>
                </a:solidFill>
                <a:latin typeface="Palatino-Roman"/>
              </a:rPr>
              <a:t>InputStream</a:t>
            </a:r>
            <a:r>
              <a:rPr lang="en-US" b="0" i="0" u="none" strike="noStrike" baseline="0" dirty="0">
                <a:solidFill>
                  <a:srgbClr val="1D1D1E"/>
                </a:solidFill>
                <a:latin typeface="Palatino-Roman"/>
              </a:rPr>
              <a:t> f = new </a:t>
            </a:r>
            <a:r>
              <a:rPr lang="en-US" b="0" i="0" u="none" strike="noStrike" baseline="0" dirty="0" err="1">
                <a:solidFill>
                  <a:srgbClr val="1D1D1E"/>
                </a:solidFill>
                <a:latin typeface="Palatino-Roman"/>
              </a:rPr>
              <a:t>FileInputStream</a:t>
            </a:r>
            <a:r>
              <a:rPr lang="en-US" b="0" i="0" u="none" strike="noStrike" baseline="0" dirty="0">
                <a:solidFill>
                  <a:srgbClr val="1D1D1E"/>
                </a:solidFill>
                <a:latin typeface="Palatino-Roman"/>
              </a:rPr>
              <a:t>("FileInputStreamDemo.java");</a:t>
            </a:r>
          </a:p>
          <a:p>
            <a:pPr algn="l"/>
            <a:r>
              <a:rPr lang="en-US" b="0" i="0" u="none" strike="noStrike" baseline="0" dirty="0" err="1">
                <a:solidFill>
                  <a:srgbClr val="1D1D1E"/>
                </a:solidFill>
                <a:latin typeface="Palatino-Roman"/>
              </a:rPr>
              <a:t>System.out.println</a:t>
            </a:r>
            <a:r>
              <a:rPr lang="en-US" b="0" i="0" u="none" strike="noStrike" baseline="0" dirty="0">
                <a:solidFill>
                  <a:srgbClr val="1D1D1E"/>
                </a:solidFill>
                <a:latin typeface="Palatino-Roman"/>
              </a:rPr>
              <a:t>("Total Available Bytes: " +</a:t>
            </a:r>
          </a:p>
          <a:p>
            <a:pPr algn="l"/>
            <a:r>
              <a:rPr lang="en-US" b="0" i="0" u="none" strike="noStrike" baseline="0" dirty="0">
                <a:solidFill>
                  <a:srgbClr val="1D1D1E"/>
                </a:solidFill>
                <a:latin typeface="Palatino-Roman"/>
              </a:rPr>
              <a:t>(size = </a:t>
            </a:r>
            <a:r>
              <a:rPr lang="en-US" b="0" i="0" u="none" strike="noStrike" baseline="0" dirty="0" err="1">
                <a:solidFill>
                  <a:srgbClr val="1D1D1E"/>
                </a:solidFill>
                <a:latin typeface="Palatino-Roman"/>
              </a:rPr>
              <a:t>f.available</a:t>
            </a:r>
            <a:r>
              <a:rPr lang="en-US" b="0" i="0" u="none" strike="noStrike" baseline="0" dirty="0">
                <a:solidFill>
                  <a:srgbClr val="1D1D1E"/>
                </a:solidFill>
                <a:latin typeface="Palatino-Roman"/>
              </a:rPr>
              <a:t>()));</a:t>
            </a:r>
          </a:p>
          <a:p>
            <a:pPr algn="l"/>
            <a:r>
              <a:rPr lang="en-US" b="0" i="0" u="none" strike="noStrike" baseline="0" dirty="0">
                <a:solidFill>
                  <a:srgbClr val="1D1D1E"/>
                </a:solidFill>
                <a:latin typeface="Palatino-Roman"/>
              </a:rPr>
              <a:t>int n = size/40;</a:t>
            </a:r>
          </a:p>
          <a:p>
            <a:pPr algn="l"/>
            <a:r>
              <a:rPr lang="en-US" b="0" i="0" u="none" strike="noStrike" baseline="0" dirty="0" err="1">
                <a:solidFill>
                  <a:srgbClr val="1D1D1E"/>
                </a:solidFill>
                <a:latin typeface="Palatino-Roman"/>
              </a:rPr>
              <a:t>System.out.println</a:t>
            </a:r>
            <a:r>
              <a:rPr lang="en-US" b="0" i="0" u="none" strike="noStrike" baseline="0" dirty="0">
                <a:solidFill>
                  <a:srgbClr val="1D1D1E"/>
                </a:solidFill>
                <a:latin typeface="Palatino-Roman"/>
              </a:rPr>
              <a:t>("First " + n +</a:t>
            </a:r>
          </a:p>
          <a:p>
            <a:pPr algn="l"/>
            <a:r>
              <a:rPr lang="en-US" b="0" i="0" u="none" strike="noStrike" baseline="0" dirty="0">
                <a:solidFill>
                  <a:srgbClr val="1D1D1E"/>
                </a:solidFill>
                <a:latin typeface="Palatino-Roman"/>
              </a:rPr>
              <a:t>" bytes of the file one read() at a time");</a:t>
            </a:r>
          </a:p>
          <a:p>
            <a:pPr algn="l"/>
            <a:r>
              <a:rPr lang="nn-NO" b="0" i="0" u="none" strike="noStrike" baseline="0" dirty="0">
                <a:solidFill>
                  <a:srgbClr val="1D1D1E"/>
                </a:solidFill>
                <a:latin typeface="Palatino-Roman"/>
              </a:rPr>
              <a:t>for (int i=0; i &lt; n; i++) {</a:t>
            </a:r>
          </a:p>
          <a:p>
            <a:pPr algn="l"/>
            <a:r>
              <a:rPr lang="en-US" b="0" i="0" u="none" strike="noStrike" baseline="0" dirty="0" err="1">
                <a:solidFill>
                  <a:srgbClr val="1D1D1E"/>
                </a:solidFill>
                <a:latin typeface="Palatino-Roman"/>
              </a:rPr>
              <a:t>System.out.print</a:t>
            </a:r>
            <a:r>
              <a:rPr lang="en-US" b="0" i="0" u="none" strike="noStrike" baseline="0" dirty="0">
                <a:solidFill>
                  <a:srgbClr val="1D1D1E"/>
                </a:solidFill>
                <a:latin typeface="Palatino-Roman"/>
              </a:rPr>
              <a:t>((char) </a:t>
            </a:r>
            <a:r>
              <a:rPr lang="en-US" b="0" i="0" u="none" strike="noStrike" baseline="0" dirty="0" err="1">
                <a:solidFill>
                  <a:srgbClr val="1D1D1E"/>
                </a:solidFill>
                <a:latin typeface="Palatino-Roman"/>
              </a:rPr>
              <a:t>f.read</a:t>
            </a:r>
            <a:r>
              <a:rPr lang="en-US" b="0" i="0" u="none" strike="noStrike" baseline="0" dirty="0">
                <a:solidFill>
                  <a:srgbClr val="1D1D1E"/>
                </a:solidFill>
                <a:latin typeface="Palatino-Roman"/>
              </a:rPr>
              <a:t>());</a:t>
            </a:r>
          </a:p>
          <a:p>
            <a:pPr algn="l"/>
            <a:r>
              <a:rPr lang="en-US" b="0" i="0" u="none" strike="noStrike" baseline="0" dirty="0">
                <a:solidFill>
                  <a:srgbClr val="1D1D1E"/>
                </a:solidFill>
                <a:latin typeface="Palatino-Roman"/>
              </a:rPr>
              <a:t>}</a:t>
            </a:r>
          </a:p>
          <a:p>
            <a:pPr algn="l"/>
            <a:r>
              <a:rPr lang="en-US" b="0" i="0" u="none" strike="noStrike" baseline="0" dirty="0" err="1">
                <a:solidFill>
                  <a:srgbClr val="1D1D1E"/>
                </a:solidFill>
                <a:latin typeface="Palatino-Roman"/>
              </a:rPr>
              <a:t>System.out.println</a:t>
            </a:r>
            <a:r>
              <a:rPr lang="en-US" b="0" i="0" u="none" strike="noStrike" baseline="0" dirty="0">
                <a:solidFill>
                  <a:srgbClr val="1D1D1E"/>
                </a:solidFill>
                <a:latin typeface="Palatino-Roman"/>
              </a:rPr>
              <a:t>("\</a:t>
            </a:r>
            <a:r>
              <a:rPr lang="en-US" b="0" i="0" u="none" strike="noStrike" baseline="0" dirty="0" err="1">
                <a:solidFill>
                  <a:srgbClr val="1D1D1E"/>
                </a:solidFill>
                <a:latin typeface="Palatino-Roman"/>
              </a:rPr>
              <a:t>nStill</a:t>
            </a:r>
            <a:r>
              <a:rPr lang="en-US" b="0" i="0" u="none" strike="noStrike" baseline="0" dirty="0">
                <a:solidFill>
                  <a:srgbClr val="1D1D1E"/>
                </a:solidFill>
                <a:latin typeface="Palatino-Roman"/>
              </a:rPr>
              <a:t> Available: " + </a:t>
            </a:r>
            <a:r>
              <a:rPr lang="en-US" b="0" i="0" u="none" strike="noStrike" baseline="0" dirty="0" err="1">
                <a:solidFill>
                  <a:srgbClr val="1D1D1E"/>
                </a:solidFill>
                <a:latin typeface="Palatino-Roman"/>
              </a:rPr>
              <a:t>f.available</a:t>
            </a:r>
            <a:r>
              <a:rPr lang="en-US" b="0" i="0" u="none" strike="noStrike" baseline="0" dirty="0">
                <a:solidFill>
                  <a:srgbClr val="1D1D1E"/>
                </a:solidFill>
                <a:latin typeface="Palatino-Roman"/>
              </a:rPr>
              <a:t>());</a:t>
            </a:r>
          </a:p>
          <a:p>
            <a:pPr algn="l"/>
            <a:r>
              <a:rPr lang="en-US" b="0" i="0" u="none" strike="noStrike" baseline="0" dirty="0" err="1">
                <a:solidFill>
                  <a:srgbClr val="1D1D1E"/>
                </a:solidFill>
                <a:latin typeface="Palatino-Roman"/>
              </a:rPr>
              <a:t>System.out.println</a:t>
            </a:r>
            <a:r>
              <a:rPr lang="en-US" b="0" i="0" u="none" strike="noStrike" baseline="0" dirty="0">
                <a:solidFill>
                  <a:srgbClr val="1D1D1E"/>
                </a:solidFill>
                <a:latin typeface="Palatino-Roman"/>
              </a:rPr>
              <a:t>("Reading the next " + n +</a:t>
            </a:r>
          </a:p>
          <a:p>
            <a:pPr algn="l"/>
            <a:r>
              <a:rPr lang="en-US" b="0" i="0" u="none" strike="noStrike" baseline="0" dirty="0">
                <a:solidFill>
                  <a:srgbClr val="1D1D1E"/>
                </a:solidFill>
                <a:latin typeface="Palatino-Roman"/>
              </a:rPr>
              <a:t>" with one read(b[])");</a:t>
            </a:r>
          </a:p>
          <a:p>
            <a:pPr algn="l"/>
            <a:r>
              <a:rPr lang="en-US" b="0" i="0" u="none" strike="noStrike" baseline="0" dirty="0">
                <a:solidFill>
                  <a:srgbClr val="1D1D1E"/>
                </a:solidFill>
                <a:latin typeface="Palatino-Roman"/>
              </a:rPr>
              <a:t>byte b[] = new byte[n];</a:t>
            </a:r>
          </a:p>
        </p:txBody>
      </p:sp>
      <p:sp>
        <p:nvSpPr>
          <p:cNvPr id="5" name="TextBox 4">
            <a:extLst>
              <a:ext uri="{FF2B5EF4-FFF2-40B4-BE49-F238E27FC236}">
                <a16:creationId xmlns:a16="http://schemas.microsoft.com/office/drawing/2014/main" xmlns="" id="{9CAF290D-34D3-AEC5-5868-E8539C6157E7}"/>
              </a:ext>
            </a:extLst>
          </p:cNvPr>
          <p:cNvSpPr txBox="1"/>
          <p:nvPr/>
        </p:nvSpPr>
        <p:spPr>
          <a:xfrm>
            <a:off x="4738357" y="791289"/>
            <a:ext cx="4343400" cy="6001643"/>
          </a:xfrm>
          <a:prstGeom prst="rect">
            <a:avLst/>
          </a:prstGeom>
          <a:noFill/>
          <a:ln>
            <a:solidFill>
              <a:schemeClr val="accent6">
                <a:lumMod val="75000"/>
              </a:schemeClr>
            </a:solidFill>
          </a:ln>
        </p:spPr>
        <p:txBody>
          <a:bodyPr wrap="square">
            <a:spAutoFit/>
          </a:bodyPr>
          <a:lstStyle/>
          <a:p>
            <a:pPr algn="l"/>
            <a:r>
              <a:rPr lang="en-US" sz="1600" b="0" i="0" u="none" strike="noStrike" baseline="0" dirty="0">
                <a:solidFill>
                  <a:srgbClr val="1D1D1E"/>
                </a:solidFill>
                <a:latin typeface="Palatino-Roman"/>
              </a:rPr>
              <a:t>if (</a:t>
            </a:r>
            <a:r>
              <a:rPr lang="en-US" sz="1600" b="0" i="0" u="none" strike="noStrike" baseline="0" dirty="0" err="1">
                <a:solidFill>
                  <a:srgbClr val="1D1D1E"/>
                </a:solidFill>
                <a:latin typeface="Palatino-Roman"/>
              </a:rPr>
              <a:t>f.read</a:t>
            </a:r>
            <a:r>
              <a:rPr lang="en-US" sz="1600" b="0" i="0" u="none" strike="noStrike" baseline="0" dirty="0">
                <a:solidFill>
                  <a:srgbClr val="1D1D1E"/>
                </a:solidFill>
                <a:latin typeface="Palatino-Roman"/>
              </a:rPr>
              <a:t>(b) != n) {</a:t>
            </a:r>
          </a:p>
          <a:p>
            <a:pPr algn="l"/>
            <a:r>
              <a:rPr lang="en-US" sz="1600" b="0" i="0" u="none" strike="noStrike" baseline="0" dirty="0" err="1">
                <a:solidFill>
                  <a:srgbClr val="1D1D1E"/>
                </a:solidFill>
                <a:latin typeface="Palatino-Roman"/>
              </a:rPr>
              <a:t>System.err.println</a:t>
            </a:r>
            <a:r>
              <a:rPr lang="en-US" sz="1600" b="0" i="0" u="none" strike="noStrike" baseline="0" dirty="0">
                <a:solidFill>
                  <a:srgbClr val="1D1D1E"/>
                </a:solidFill>
                <a:latin typeface="Palatino-Roman"/>
              </a:rPr>
              <a:t>("couldn't read " + n + " bytes.");</a:t>
            </a:r>
          </a:p>
          <a:p>
            <a:pPr algn="l"/>
            <a:r>
              <a:rPr lang="en-US" sz="1600" b="0" i="0" u="none" strike="noStrike" baseline="0" dirty="0">
                <a:solidFill>
                  <a:srgbClr val="1D1D1E"/>
                </a:solidFill>
                <a:latin typeface="Palatino-Roman"/>
              </a:rPr>
              <a:t>}</a:t>
            </a:r>
          </a:p>
          <a:p>
            <a:pPr algn="l"/>
            <a:r>
              <a:rPr lang="en-US" sz="1600" b="0" i="0" u="none" strike="noStrike" baseline="0" dirty="0" err="1">
                <a:solidFill>
                  <a:srgbClr val="1D1D1E"/>
                </a:solidFill>
                <a:latin typeface="Palatino-Roman"/>
              </a:rPr>
              <a:t>System.out.println</a:t>
            </a:r>
            <a:r>
              <a:rPr lang="en-US" sz="1600" b="0" i="0" u="none" strike="noStrike" baseline="0" dirty="0">
                <a:solidFill>
                  <a:srgbClr val="1D1D1E"/>
                </a:solidFill>
                <a:latin typeface="Palatino-Roman"/>
              </a:rPr>
              <a:t>(new String(b, 0, n));</a:t>
            </a:r>
          </a:p>
          <a:p>
            <a:pPr algn="l"/>
            <a:r>
              <a:rPr lang="en-US" sz="1600" b="0" i="0" u="none" strike="noStrike" baseline="0" dirty="0" err="1">
                <a:solidFill>
                  <a:srgbClr val="1D1D1E"/>
                </a:solidFill>
                <a:latin typeface="Palatino-Roman"/>
              </a:rPr>
              <a:t>System.out.println</a:t>
            </a:r>
            <a:r>
              <a:rPr lang="en-US" sz="1600" b="0" i="0" u="none" strike="noStrike" baseline="0" dirty="0">
                <a:solidFill>
                  <a:srgbClr val="1D1D1E"/>
                </a:solidFill>
                <a:latin typeface="Palatino-Roman"/>
              </a:rPr>
              <a:t>("\</a:t>
            </a:r>
            <a:r>
              <a:rPr lang="en-US" sz="1600" b="0" i="0" u="none" strike="noStrike" baseline="0" dirty="0" err="1">
                <a:solidFill>
                  <a:srgbClr val="1D1D1E"/>
                </a:solidFill>
                <a:latin typeface="Palatino-Roman"/>
              </a:rPr>
              <a:t>nStill</a:t>
            </a:r>
            <a:r>
              <a:rPr lang="en-US" sz="1600" b="0" i="0" u="none" strike="noStrike" baseline="0" dirty="0">
                <a:solidFill>
                  <a:srgbClr val="1D1D1E"/>
                </a:solidFill>
                <a:latin typeface="Palatino-Roman"/>
              </a:rPr>
              <a:t> Available: " + (size = </a:t>
            </a:r>
            <a:r>
              <a:rPr lang="en-US" sz="1600" b="0" i="0" u="none" strike="noStrike" baseline="0" dirty="0" err="1">
                <a:solidFill>
                  <a:srgbClr val="1D1D1E"/>
                </a:solidFill>
                <a:latin typeface="Palatino-Roman"/>
              </a:rPr>
              <a:t>f.available</a:t>
            </a:r>
            <a:r>
              <a:rPr lang="en-US" sz="1600" b="0" i="0" u="none" strike="noStrike" baseline="0" dirty="0">
                <a:solidFill>
                  <a:srgbClr val="1D1D1E"/>
                </a:solidFill>
                <a:latin typeface="Palatino-Roman"/>
              </a:rPr>
              <a:t>()));</a:t>
            </a:r>
          </a:p>
          <a:p>
            <a:pPr algn="l"/>
            <a:r>
              <a:rPr lang="en-US" sz="1600" b="0" i="0" u="none" strike="noStrike" baseline="0" dirty="0" err="1">
                <a:solidFill>
                  <a:srgbClr val="1D1D1E"/>
                </a:solidFill>
                <a:latin typeface="Palatino-Roman"/>
              </a:rPr>
              <a:t>System.out.println</a:t>
            </a:r>
            <a:r>
              <a:rPr lang="en-US" sz="1600" b="0" i="0" u="none" strike="noStrike" baseline="0" dirty="0">
                <a:solidFill>
                  <a:srgbClr val="1D1D1E"/>
                </a:solidFill>
                <a:latin typeface="Palatino-Roman"/>
              </a:rPr>
              <a:t>("Skipping half of remaining bytes with skip()");</a:t>
            </a:r>
          </a:p>
          <a:p>
            <a:pPr algn="l"/>
            <a:r>
              <a:rPr lang="en-US" sz="1600" b="0" i="0" u="none" strike="noStrike" baseline="0" dirty="0" err="1">
                <a:solidFill>
                  <a:srgbClr val="1D1D1E"/>
                </a:solidFill>
                <a:latin typeface="Palatino-Roman"/>
              </a:rPr>
              <a:t>f.skip</a:t>
            </a:r>
            <a:r>
              <a:rPr lang="en-US" sz="1600" b="0" i="0" u="none" strike="noStrike" baseline="0" dirty="0">
                <a:solidFill>
                  <a:srgbClr val="1D1D1E"/>
                </a:solidFill>
                <a:latin typeface="Palatino-Roman"/>
              </a:rPr>
              <a:t>(size/2);</a:t>
            </a:r>
          </a:p>
          <a:p>
            <a:pPr algn="l"/>
            <a:r>
              <a:rPr lang="en-US" sz="1600" b="0" i="0" u="none" strike="noStrike" baseline="0" dirty="0" err="1">
                <a:solidFill>
                  <a:srgbClr val="1D1D1E"/>
                </a:solidFill>
                <a:latin typeface="Palatino-Roman"/>
              </a:rPr>
              <a:t>System.out.println</a:t>
            </a:r>
            <a:r>
              <a:rPr lang="en-US" sz="1600" b="0" i="0" u="none" strike="noStrike" baseline="0" dirty="0">
                <a:solidFill>
                  <a:srgbClr val="1D1D1E"/>
                </a:solidFill>
                <a:latin typeface="Palatino-Roman"/>
              </a:rPr>
              <a:t>("Still Available: " + </a:t>
            </a:r>
            <a:r>
              <a:rPr lang="en-US" sz="1600" b="0" i="0" u="none" strike="noStrike" baseline="0" dirty="0" err="1">
                <a:solidFill>
                  <a:srgbClr val="1D1D1E"/>
                </a:solidFill>
                <a:latin typeface="Palatino-Roman"/>
              </a:rPr>
              <a:t>f.available</a:t>
            </a:r>
            <a:r>
              <a:rPr lang="en-US" sz="1600" b="0" i="0" u="none" strike="noStrike" baseline="0" dirty="0">
                <a:solidFill>
                  <a:srgbClr val="1D1D1E"/>
                </a:solidFill>
                <a:latin typeface="Palatino-Roman"/>
              </a:rPr>
              <a:t>());</a:t>
            </a:r>
          </a:p>
          <a:p>
            <a:pPr algn="l"/>
            <a:r>
              <a:rPr lang="en-US" sz="1600" b="0" i="0" u="none" strike="noStrike" baseline="0" dirty="0" err="1">
                <a:solidFill>
                  <a:srgbClr val="1D1D1E"/>
                </a:solidFill>
                <a:latin typeface="Palatino-Roman"/>
              </a:rPr>
              <a:t>System.out.println</a:t>
            </a:r>
            <a:r>
              <a:rPr lang="en-US" sz="1600" b="0" i="0" u="none" strike="noStrike" baseline="0" dirty="0">
                <a:solidFill>
                  <a:srgbClr val="1D1D1E"/>
                </a:solidFill>
                <a:latin typeface="Palatino-Roman"/>
              </a:rPr>
              <a:t>("Reading " + n/2 + " into the end of array");</a:t>
            </a:r>
          </a:p>
          <a:p>
            <a:pPr algn="l"/>
            <a:r>
              <a:rPr lang="pt-BR" sz="1600" b="0" i="0" u="none" strike="noStrike" baseline="0" dirty="0">
                <a:solidFill>
                  <a:srgbClr val="1D1D1E"/>
                </a:solidFill>
                <a:latin typeface="Palatino-Roman"/>
              </a:rPr>
              <a:t>if (f.read(b, n/2, n/2) != n/2) {</a:t>
            </a:r>
          </a:p>
          <a:p>
            <a:pPr algn="l"/>
            <a:r>
              <a:rPr lang="en-US" sz="1600" b="0" i="0" u="none" strike="noStrike" baseline="0" dirty="0" err="1">
                <a:solidFill>
                  <a:srgbClr val="1D1D1E"/>
                </a:solidFill>
                <a:latin typeface="Palatino-Roman"/>
              </a:rPr>
              <a:t>System.err.println</a:t>
            </a:r>
            <a:r>
              <a:rPr lang="en-US" sz="1600" b="0" i="0" u="none" strike="noStrike" baseline="0" dirty="0">
                <a:solidFill>
                  <a:srgbClr val="1D1D1E"/>
                </a:solidFill>
                <a:latin typeface="Palatino-Roman"/>
              </a:rPr>
              <a:t>("couldn't read " + n/2 + " bytes.");</a:t>
            </a:r>
          </a:p>
          <a:p>
            <a:pPr algn="l"/>
            <a:r>
              <a:rPr lang="en-US" sz="1600" b="0" i="0" u="none" strike="noStrike" baseline="0" dirty="0">
                <a:solidFill>
                  <a:srgbClr val="1D1D1E"/>
                </a:solidFill>
                <a:latin typeface="Palatino-Roman"/>
              </a:rPr>
              <a:t>}</a:t>
            </a:r>
          </a:p>
          <a:p>
            <a:pPr algn="l"/>
            <a:r>
              <a:rPr lang="en-US" sz="1600" b="0" i="0" u="none" strike="noStrike" baseline="0" dirty="0" err="1">
                <a:solidFill>
                  <a:srgbClr val="1D1D1E"/>
                </a:solidFill>
                <a:latin typeface="Palatino-Roman"/>
              </a:rPr>
              <a:t>System.out.println</a:t>
            </a:r>
            <a:r>
              <a:rPr lang="en-US" sz="1600" b="0" i="0" u="none" strike="noStrike" baseline="0" dirty="0">
                <a:solidFill>
                  <a:srgbClr val="1D1D1E"/>
                </a:solidFill>
                <a:latin typeface="Palatino-Roman"/>
              </a:rPr>
              <a:t>(new String(b, 0, </a:t>
            </a:r>
            <a:r>
              <a:rPr lang="en-US" sz="1600" b="0" i="0" u="none" strike="noStrike" baseline="0" dirty="0" err="1">
                <a:solidFill>
                  <a:srgbClr val="1D1D1E"/>
                </a:solidFill>
                <a:latin typeface="Palatino-Roman"/>
              </a:rPr>
              <a:t>b.length</a:t>
            </a:r>
            <a:r>
              <a:rPr lang="en-US" sz="1600" b="0" i="0" u="none" strike="noStrike" baseline="0" dirty="0">
                <a:solidFill>
                  <a:srgbClr val="1D1D1E"/>
                </a:solidFill>
                <a:latin typeface="Palatino-Roman"/>
              </a:rPr>
              <a:t>));</a:t>
            </a:r>
          </a:p>
          <a:p>
            <a:pPr algn="l"/>
            <a:r>
              <a:rPr lang="en-US" sz="1600" b="0" i="0" u="none" strike="noStrike" baseline="0" dirty="0" err="1">
                <a:solidFill>
                  <a:srgbClr val="1D1D1E"/>
                </a:solidFill>
                <a:latin typeface="Palatino-Roman"/>
              </a:rPr>
              <a:t>System.out.println</a:t>
            </a:r>
            <a:r>
              <a:rPr lang="en-US" sz="1600" b="0" i="0" u="none" strike="noStrike" baseline="0" dirty="0">
                <a:solidFill>
                  <a:srgbClr val="1D1D1E"/>
                </a:solidFill>
                <a:latin typeface="Palatino-Roman"/>
              </a:rPr>
              <a:t>("\</a:t>
            </a:r>
            <a:r>
              <a:rPr lang="en-US" sz="1600" b="0" i="0" u="none" strike="noStrike" baseline="0" dirty="0" err="1">
                <a:solidFill>
                  <a:srgbClr val="1D1D1E"/>
                </a:solidFill>
                <a:latin typeface="Palatino-Roman"/>
              </a:rPr>
              <a:t>nStill</a:t>
            </a:r>
            <a:r>
              <a:rPr lang="en-US" sz="1600" b="0" i="0" u="none" strike="noStrike" baseline="0" dirty="0">
                <a:solidFill>
                  <a:srgbClr val="1D1D1E"/>
                </a:solidFill>
                <a:latin typeface="Palatino-Roman"/>
              </a:rPr>
              <a:t> Available: " + </a:t>
            </a:r>
            <a:r>
              <a:rPr lang="en-US" sz="1600" b="0" i="0" u="none" strike="noStrike" baseline="0" dirty="0" err="1">
                <a:solidFill>
                  <a:srgbClr val="1D1D1E"/>
                </a:solidFill>
                <a:latin typeface="Palatino-Roman"/>
              </a:rPr>
              <a:t>f.available</a:t>
            </a:r>
            <a:r>
              <a:rPr lang="en-US" sz="1600" b="0" i="0" u="none" strike="noStrike" baseline="0" dirty="0">
                <a:solidFill>
                  <a:srgbClr val="1D1D1E"/>
                </a:solidFill>
                <a:latin typeface="Palatino-Roman"/>
              </a:rPr>
              <a:t>());</a:t>
            </a:r>
          </a:p>
          <a:p>
            <a:pPr algn="l"/>
            <a:r>
              <a:rPr lang="en-US" sz="1600" b="0" i="0" u="none" strike="noStrike" baseline="0" dirty="0" err="1">
                <a:solidFill>
                  <a:srgbClr val="1D1D1E"/>
                </a:solidFill>
                <a:latin typeface="Palatino-Roman"/>
              </a:rPr>
              <a:t>f.close</a:t>
            </a:r>
            <a:r>
              <a:rPr lang="en-US" sz="1600" b="0" i="0" u="none" strike="noStrike" baseline="0" dirty="0">
                <a:solidFill>
                  <a:srgbClr val="1D1D1E"/>
                </a:solidFill>
                <a:latin typeface="Palatino-Roman"/>
              </a:rPr>
              <a:t>();</a:t>
            </a:r>
          </a:p>
          <a:p>
            <a:pPr algn="l"/>
            <a:r>
              <a:rPr lang="en-US" sz="1600" b="0" i="0" u="none" strike="noStrike" baseline="0" dirty="0">
                <a:solidFill>
                  <a:srgbClr val="1D1D1E"/>
                </a:solidFill>
                <a:latin typeface="Palatino-Roman"/>
              </a:rPr>
              <a:t>}</a:t>
            </a:r>
            <a:endParaRPr lang="en-US" sz="1600" dirty="0">
              <a:solidFill>
                <a:srgbClr val="1D1D1E"/>
              </a:solidFill>
              <a:latin typeface="Palatino-Roman"/>
            </a:endParaRPr>
          </a:p>
          <a:p>
            <a:pPr algn="l"/>
            <a:r>
              <a:rPr lang="en-US" sz="1600" dirty="0">
                <a:solidFill>
                  <a:srgbClr val="1D1D1E"/>
                </a:solidFill>
                <a:latin typeface="Palatino-Roman"/>
              </a:rPr>
              <a:t>}</a:t>
            </a:r>
            <a:endParaRPr lang="en-US" dirty="0"/>
          </a:p>
        </p:txBody>
      </p:sp>
    </p:spTree>
    <p:extLst>
      <p:ext uri="{BB962C8B-B14F-4D97-AF65-F5344CB8AC3E}">
        <p14:creationId xmlns:p14="http://schemas.microsoft.com/office/powerpoint/2010/main" val="4125332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FileInputStream</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26</a:t>
            </a:fld>
            <a:endParaRPr lang="en-US" altLang="en-US" sz="1400">
              <a:latin typeface="Times New Roman" panose="02020603050405020304" pitchFamily="18" charset="0"/>
            </a:endParaRPr>
          </a:p>
        </p:txBody>
      </p:sp>
      <p:sp>
        <p:nvSpPr>
          <p:cNvPr id="2" name="TextBox 1">
            <a:extLst>
              <a:ext uri="{FF2B5EF4-FFF2-40B4-BE49-F238E27FC236}">
                <a16:creationId xmlns:a16="http://schemas.microsoft.com/office/drawing/2014/main" xmlns="" id="{F811FED5-5812-DAE7-ED45-E21BFD85BAA7}"/>
              </a:ext>
            </a:extLst>
          </p:cNvPr>
          <p:cNvSpPr txBox="1"/>
          <p:nvPr/>
        </p:nvSpPr>
        <p:spPr>
          <a:xfrm>
            <a:off x="152400" y="914400"/>
            <a:ext cx="7543800" cy="5878532"/>
          </a:xfrm>
          <a:prstGeom prst="rect">
            <a:avLst/>
          </a:prstGeom>
          <a:noFill/>
          <a:ln>
            <a:solidFill>
              <a:schemeClr val="accent6">
                <a:lumMod val="75000"/>
              </a:schemeClr>
            </a:solidFill>
          </a:ln>
        </p:spPr>
        <p:txBody>
          <a:bodyPr wrap="square" rtlCol="0">
            <a:spAutoFit/>
          </a:bodyPr>
          <a:lstStyle/>
          <a:p>
            <a:pPr algn="l"/>
            <a:r>
              <a:rPr lang="en-US" sz="2400" b="1" i="0" u="sng" strike="noStrike" baseline="0" dirty="0">
                <a:solidFill>
                  <a:srgbClr val="1D1D1E"/>
                </a:solidFill>
                <a:latin typeface="Palatino-Roman"/>
              </a:rPr>
              <a:t>Output:</a:t>
            </a:r>
          </a:p>
          <a:p>
            <a:pPr algn="l"/>
            <a:r>
              <a:rPr lang="en-US" sz="2200" b="0" i="0" u="none" strike="noStrike" baseline="0" dirty="0">
                <a:solidFill>
                  <a:srgbClr val="1D1D1E"/>
                </a:solidFill>
                <a:latin typeface="Palatino-Roman"/>
              </a:rPr>
              <a:t>Total Available Bytes: 1433</a:t>
            </a:r>
          </a:p>
          <a:p>
            <a:pPr algn="l"/>
            <a:r>
              <a:rPr lang="en-US" sz="2200" b="0" i="0" u="none" strike="noStrike" baseline="0" dirty="0">
                <a:solidFill>
                  <a:srgbClr val="1D1D1E"/>
                </a:solidFill>
                <a:latin typeface="Palatino-Roman"/>
              </a:rPr>
              <a:t>First 35 bytes of the file one read() at a time</a:t>
            </a:r>
          </a:p>
          <a:p>
            <a:pPr algn="l"/>
            <a:r>
              <a:rPr lang="en-US" sz="2200" b="0" i="0" u="none" strike="noStrike" baseline="0" dirty="0">
                <a:solidFill>
                  <a:srgbClr val="1D1D1E"/>
                </a:solidFill>
                <a:latin typeface="Palatino-Roman"/>
              </a:rPr>
              <a:t>// Demonstrate </a:t>
            </a:r>
            <a:r>
              <a:rPr lang="en-US" sz="2200" b="0" i="0" u="none" strike="noStrike" baseline="0" dirty="0" err="1">
                <a:solidFill>
                  <a:srgbClr val="1D1D1E"/>
                </a:solidFill>
                <a:latin typeface="Palatino-Roman"/>
              </a:rPr>
              <a:t>FileInputStream</a:t>
            </a:r>
            <a:r>
              <a:rPr lang="en-US" sz="2200" b="0" i="0" u="none" strike="noStrike" baseline="0" dirty="0">
                <a:solidFill>
                  <a:srgbClr val="1D1D1E"/>
                </a:solidFill>
                <a:latin typeface="Palatino-Roman"/>
              </a:rPr>
              <a:t>.</a:t>
            </a:r>
          </a:p>
          <a:p>
            <a:pPr algn="l"/>
            <a:r>
              <a:rPr lang="en-US" sz="2200" b="0" i="0" u="none" strike="noStrike" baseline="0" dirty="0" err="1">
                <a:solidFill>
                  <a:srgbClr val="1D1D1E"/>
                </a:solidFill>
                <a:latin typeface="Palatino-Roman"/>
              </a:rPr>
              <a:t>im</a:t>
            </a:r>
            <a:endParaRPr lang="en-US" sz="2200" b="0" i="0" u="none" strike="noStrike" baseline="0" dirty="0">
              <a:solidFill>
                <a:srgbClr val="1D1D1E"/>
              </a:solidFill>
              <a:latin typeface="Palatino-Roman"/>
            </a:endParaRPr>
          </a:p>
          <a:p>
            <a:pPr algn="l"/>
            <a:r>
              <a:rPr lang="en-US" sz="2200" b="0" i="0" u="none" strike="noStrike" baseline="0" dirty="0">
                <a:solidFill>
                  <a:srgbClr val="1D1D1E"/>
                </a:solidFill>
                <a:latin typeface="Palatino-Roman"/>
              </a:rPr>
              <a:t>Still Available: 1398</a:t>
            </a:r>
          </a:p>
          <a:p>
            <a:pPr algn="l"/>
            <a:r>
              <a:rPr lang="en-US" sz="2200" b="0" i="0" u="none" strike="noStrike" baseline="0" dirty="0">
                <a:solidFill>
                  <a:srgbClr val="1D1D1E"/>
                </a:solidFill>
                <a:latin typeface="Palatino-Roman"/>
              </a:rPr>
              <a:t>Reading the next 35 with one read(b[])</a:t>
            </a:r>
          </a:p>
          <a:p>
            <a:pPr algn="l"/>
            <a:r>
              <a:rPr lang="en-US" sz="2200" b="0" i="0" u="none" strike="noStrike" baseline="0" dirty="0">
                <a:solidFill>
                  <a:srgbClr val="1D1D1E"/>
                </a:solidFill>
                <a:latin typeface="Palatino-Roman"/>
              </a:rPr>
              <a:t>port java.io.*;</a:t>
            </a:r>
          </a:p>
          <a:p>
            <a:pPr algn="l"/>
            <a:r>
              <a:rPr lang="en-US" sz="2200" b="0" i="0" u="none" strike="noStrike" baseline="0" dirty="0">
                <a:solidFill>
                  <a:srgbClr val="1D1D1E"/>
                </a:solidFill>
                <a:latin typeface="Palatino-Roman"/>
              </a:rPr>
              <a:t>class </a:t>
            </a:r>
            <a:r>
              <a:rPr lang="en-US" sz="2200" b="0" i="0" u="none" strike="noStrike" baseline="0" dirty="0" err="1">
                <a:solidFill>
                  <a:srgbClr val="1D1D1E"/>
                </a:solidFill>
                <a:latin typeface="Palatino-Roman"/>
              </a:rPr>
              <a:t>FileInputS</a:t>
            </a:r>
            <a:endParaRPr lang="en-US" sz="2200" b="0" i="0" u="none" strike="noStrike" baseline="0" dirty="0">
              <a:solidFill>
                <a:srgbClr val="1D1D1E"/>
              </a:solidFill>
              <a:latin typeface="Palatino-Roman"/>
            </a:endParaRPr>
          </a:p>
          <a:p>
            <a:pPr algn="l"/>
            <a:r>
              <a:rPr lang="en-US" sz="2200" b="0" i="0" u="none" strike="noStrike" baseline="0" dirty="0">
                <a:solidFill>
                  <a:srgbClr val="1D1D1E"/>
                </a:solidFill>
                <a:latin typeface="Palatino-Roman"/>
              </a:rPr>
              <a:t>Still Available: 1363</a:t>
            </a:r>
          </a:p>
          <a:p>
            <a:pPr algn="l"/>
            <a:r>
              <a:rPr lang="en-US" sz="2200" b="0" i="0" u="none" strike="noStrike" baseline="0" dirty="0">
                <a:solidFill>
                  <a:srgbClr val="1D1D1E"/>
                </a:solidFill>
                <a:latin typeface="Palatino-Roman"/>
              </a:rPr>
              <a:t>Skipping half of remaining bytes with skip()</a:t>
            </a:r>
          </a:p>
          <a:p>
            <a:pPr algn="l"/>
            <a:r>
              <a:rPr lang="en-US" sz="2200" b="0" i="0" u="none" strike="noStrike" baseline="0" dirty="0">
                <a:solidFill>
                  <a:srgbClr val="1D1D1E"/>
                </a:solidFill>
                <a:latin typeface="Palatino-Roman"/>
              </a:rPr>
              <a:t>Still Available: 682</a:t>
            </a:r>
          </a:p>
          <a:p>
            <a:pPr algn="l"/>
            <a:r>
              <a:rPr lang="en-US" sz="2200" b="0" i="0" u="none" strike="noStrike" baseline="0" dirty="0">
                <a:solidFill>
                  <a:srgbClr val="1D1D1E"/>
                </a:solidFill>
                <a:latin typeface="Palatino-Roman"/>
              </a:rPr>
              <a:t>Reading 17 into the end of array</a:t>
            </a:r>
          </a:p>
          <a:p>
            <a:pPr algn="l"/>
            <a:r>
              <a:rPr lang="en-US" sz="2200" b="0" i="0" u="none" strike="noStrike" baseline="0" dirty="0">
                <a:solidFill>
                  <a:srgbClr val="1D1D1E"/>
                </a:solidFill>
                <a:latin typeface="Palatino-Roman"/>
              </a:rPr>
              <a:t>port java.io.*;</a:t>
            </a:r>
          </a:p>
          <a:p>
            <a:pPr algn="l"/>
            <a:r>
              <a:rPr lang="en-US" sz="2200" b="0" i="0" u="none" strike="noStrike" baseline="0" dirty="0">
                <a:solidFill>
                  <a:srgbClr val="1D1D1E"/>
                </a:solidFill>
                <a:latin typeface="Palatino-Roman"/>
              </a:rPr>
              <a:t>read(b) != n) {</a:t>
            </a:r>
          </a:p>
          <a:p>
            <a:pPr algn="l"/>
            <a:r>
              <a:rPr lang="en-US" sz="2200" b="0" i="0" u="none" strike="noStrike" baseline="0" dirty="0">
                <a:solidFill>
                  <a:srgbClr val="1D1D1E"/>
                </a:solidFill>
                <a:latin typeface="Palatino-Roman"/>
              </a:rPr>
              <a:t>S</a:t>
            </a:r>
          </a:p>
          <a:p>
            <a:pPr algn="l"/>
            <a:r>
              <a:rPr lang="en-US" sz="2200" b="0" i="0" u="none" strike="noStrike" baseline="0" dirty="0">
                <a:solidFill>
                  <a:srgbClr val="1D1D1E"/>
                </a:solidFill>
                <a:latin typeface="Palatino-Roman"/>
              </a:rPr>
              <a:t>Still Available: 665</a:t>
            </a:r>
          </a:p>
        </p:txBody>
      </p:sp>
    </p:spTree>
    <p:extLst>
      <p:ext uri="{BB962C8B-B14F-4D97-AF65-F5344CB8AC3E}">
        <p14:creationId xmlns:p14="http://schemas.microsoft.com/office/powerpoint/2010/main" val="1303406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FileOutputStream</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27</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725331F7-9068-F8EE-E41D-E4FBB3E1B098}"/>
              </a:ext>
            </a:extLst>
          </p:cNvPr>
          <p:cNvSpPr txBox="1"/>
          <p:nvPr/>
        </p:nvSpPr>
        <p:spPr>
          <a:xfrm>
            <a:off x="304800" y="1066800"/>
            <a:ext cx="8153400" cy="4909036"/>
          </a:xfrm>
          <a:prstGeom prst="rect">
            <a:avLst/>
          </a:prstGeom>
          <a:noFill/>
        </p:spPr>
        <p:txBody>
          <a:bodyPr wrap="square">
            <a:spAutoFit/>
          </a:bodyPr>
          <a:lstStyle/>
          <a:p>
            <a:pPr algn="l"/>
            <a:r>
              <a:rPr lang="en-US" sz="2400" b="1" i="0" u="none" strike="noStrike" baseline="0" dirty="0" err="1">
                <a:solidFill>
                  <a:srgbClr val="1D1D1E"/>
                </a:solidFill>
                <a:latin typeface="Palatino-Bold"/>
              </a:rPr>
              <a:t>FileOutputStream</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creates an </a:t>
            </a:r>
            <a:r>
              <a:rPr lang="en-US" sz="2400" b="1" i="0" u="none" strike="noStrike" baseline="0" dirty="0" err="1">
                <a:solidFill>
                  <a:srgbClr val="1D1D1E"/>
                </a:solidFill>
                <a:latin typeface="Palatino-Bold"/>
              </a:rPr>
              <a:t>OutputStream</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that you can use to write bytes to a file. Its most commonly used constructors are shown here:</a:t>
            </a:r>
          </a:p>
          <a:p>
            <a:pPr algn="l"/>
            <a:endParaRPr lang="en-US" sz="1100" b="0" i="0" u="none" strike="noStrike" dirty="0">
              <a:solidFill>
                <a:srgbClr val="1D1D1E"/>
              </a:solidFill>
              <a:latin typeface="Palatino-Roman"/>
            </a:endParaRPr>
          </a:p>
          <a:p>
            <a:pPr algn="l"/>
            <a:r>
              <a:rPr lang="en-US" sz="2400" b="0" i="0" u="none" strike="noStrike" baseline="0" dirty="0" err="1">
                <a:solidFill>
                  <a:srgbClr val="1D1D1E"/>
                </a:solidFill>
                <a:latin typeface="Palatino-Roman"/>
              </a:rPr>
              <a:t>FileOutputStream</a:t>
            </a:r>
            <a:r>
              <a:rPr lang="en-US" sz="2400" b="0" i="0" u="none" strike="noStrike" baseline="0" dirty="0">
                <a:solidFill>
                  <a:srgbClr val="1D1D1E"/>
                </a:solidFill>
                <a:latin typeface="Palatino-Roman"/>
              </a:rPr>
              <a:t>(String </a:t>
            </a:r>
            <a:r>
              <a:rPr lang="en-US" sz="2400" b="0" i="1" u="none" strike="noStrike" baseline="0" dirty="0" err="1">
                <a:solidFill>
                  <a:srgbClr val="1D1D1E"/>
                </a:solidFill>
                <a:latin typeface="Palatino-Italic"/>
              </a:rPr>
              <a:t>filePath</a:t>
            </a:r>
            <a:r>
              <a:rPr lang="en-US" sz="2400" b="0" i="0" u="none" strike="noStrike" baseline="0" dirty="0">
                <a:solidFill>
                  <a:srgbClr val="1D1D1E"/>
                </a:solidFill>
                <a:latin typeface="Palatino-Roman"/>
              </a:rPr>
              <a:t>)</a:t>
            </a:r>
          </a:p>
          <a:p>
            <a:pPr algn="l"/>
            <a:r>
              <a:rPr lang="en-US" sz="2400" b="0" i="0" u="none" strike="noStrike" baseline="0" dirty="0" err="1">
                <a:solidFill>
                  <a:srgbClr val="1D1D1E"/>
                </a:solidFill>
                <a:latin typeface="Palatino-Roman"/>
              </a:rPr>
              <a:t>FileOutputStream</a:t>
            </a:r>
            <a:r>
              <a:rPr lang="en-US" sz="2400" b="0" i="0" u="none" strike="noStrike" baseline="0" dirty="0">
                <a:solidFill>
                  <a:srgbClr val="1D1D1E"/>
                </a:solidFill>
                <a:latin typeface="Palatino-Roman"/>
              </a:rPr>
              <a:t>(File </a:t>
            </a:r>
            <a:r>
              <a:rPr lang="en-US" sz="2400" b="0" i="1" u="none" strike="noStrike" baseline="0" dirty="0" err="1">
                <a:solidFill>
                  <a:srgbClr val="1D1D1E"/>
                </a:solidFill>
                <a:latin typeface="Palatino-Italic"/>
              </a:rPr>
              <a:t>fileObj</a:t>
            </a:r>
            <a:r>
              <a:rPr lang="en-US" sz="2400" b="0" i="0" u="none" strike="noStrike" baseline="0" dirty="0">
                <a:solidFill>
                  <a:srgbClr val="1D1D1E"/>
                </a:solidFill>
                <a:latin typeface="Palatino-Roman"/>
              </a:rPr>
              <a:t>)</a:t>
            </a:r>
          </a:p>
          <a:p>
            <a:pPr algn="l"/>
            <a:r>
              <a:rPr lang="en-US" sz="2400" b="0" i="0" u="none" strike="noStrike" baseline="0" dirty="0" err="1">
                <a:solidFill>
                  <a:srgbClr val="1D1D1E"/>
                </a:solidFill>
                <a:latin typeface="Palatino-Roman"/>
              </a:rPr>
              <a:t>FileOutputStream</a:t>
            </a:r>
            <a:r>
              <a:rPr lang="en-US" sz="2400" b="0" i="0" u="none" strike="noStrike" baseline="0" dirty="0">
                <a:solidFill>
                  <a:srgbClr val="1D1D1E"/>
                </a:solidFill>
                <a:latin typeface="Palatino-Roman"/>
              </a:rPr>
              <a:t>(String </a:t>
            </a:r>
            <a:r>
              <a:rPr lang="en-US" sz="2400" b="0" i="1" u="none" strike="noStrike" baseline="0" dirty="0" err="1">
                <a:solidFill>
                  <a:srgbClr val="1D1D1E"/>
                </a:solidFill>
                <a:latin typeface="Palatino-Italic"/>
              </a:rPr>
              <a:t>filePath</a:t>
            </a:r>
            <a:r>
              <a:rPr lang="en-US" sz="2400" b="0" i="0" u="none" strike="noStrike" baseline="0" dirty="0">
                <a:solidFill>
                  <a:srgbClr val="1D1D1E"/>
                </a:solidFill>
                <a:latin typeface="Palatino-Roman"/>
              </a:rPr>
              <a:t>, </a:t>
            </a:r>
            <a:r>
              <a:rPr lang="en-US" sz="2400" b="0" i="0" u="none" strike="noStrike" baseline="0" dirty="0" err="1">
                <a:solidFill>
                  <a:srgbClr val="1D1D1E"/>
                </a:solidFill>
                <a:latin typeface="Palatino-Roman"/>
              </a:rPr>
              <a:t>boolean</a:t>
            </a:r>
            <a:r>
              <a:rPr lang="en-US" sz="2400" b="0" i="0" u="none" strike="noStrike" baseline="0" dirty="0">
                <a:solidFill>
                  <a:srgbClr val="1D1D1E"/>
                </a:solidFill>
                <a:latin typeface="Palatino-Roman"/>
              </a:rPr>
              <a:t> </a:t>
            </a:r>
            <a:r>
              <a:rPr lang="en-US" sz="2400" b="0" i="1" u="none" strike="noStrike" baseline="0" dirty="0">
                <a:solidFill>
                  <a:srgbClr val="1D1D1E"/>
                </a:solidFill>
                <a:latin typeface="Palatino-Italic"/>
              </a:rPr>
              <a:t>append</a:t>
            </a:r>
            <a:r>
              <a:rPr lang="en-US" sz="2400" b="0" i="0" u="none" strike="noStrike" baseline="0" dirty="0">
                <a:solidFill>
                  <a:srgbClr val="1D1D1E"/>
                </a:solidFill>
                <a:latin typeface="Palatino-Roman"/>
              </a:rPr>
              <a:t>)</a:t>
            </a:r>
          </a:p>
          <a:p>
            <a:pPr algn="l"/>
            <a:r>
              <a:rPr lang="en-US" sz="2400" b="0" i="0" u="none" strike="noStrike" baseline="0" dirty="0" err="1">
                <a:solidFill>
                  <a:srgbClr val="1D1D1E"/>
                </a:solidFill>
                <a:latin typeface="Palatino-Roman"/>
              </a:rPr>
              <a:t>FileOutputStream</a:t>
            </a:r>
            <a:r>
              <a:rPr lang="en-US" sz="2400" b="0" i="0" u="none" strike="noStrike" baseline="0" dirty="0">
                <a:solidFill>
                  <a:srgbClr val="1D1D1E"/>
                </a:solidFill>
                <a:latin typeface="Palatino-Roman"/>
              </a:rPr>
              <a:t>(File </a:t>
            </a:r>
            <a:r>
              <a:rPr lang="en-US" sz="2400" b="0" i="1" u="none" strike="noStrike" baseline="0" dirty="0" err="1">
                <a:solidFill>
                  <a:srgbClr val="1D1D1E"/>
                </a:solidFill>
                <a:latin typeface="Palatino-Italic"/>
              </a:rPr>
              <a:t>fileObj</a:t>
            </a:r>
            <a:r>
              <a:rPr lang="en-US" sz="2400" b="0" i="0" u="none" strike="noStrike" baseline="0" dirty="0">
                <a:solidFill>
                  <a:srgbClr val="1D1D1E"/>
                </a:solidFill>
                <a:latin typeface="Palatino-Roman"/>
              </a:rPr>
              <a:t>, </a:t>
            </a:r>
            <a:r>
              <a:rPr lang="en-US" sz="2400" b="0" i="0" u="none" strike="noStrike" baseline="0" dirty="0" err="1">
                <a:solidFill>
                  <a:srgbClr val="1D1D1E"/>
                </a:solidFill>
                <a:latin typeface="Palatino-Roman"/>
              </a:rPr>
              <a:t>boolean</a:t>
            </a:r>
            <a:r>
              <a:rPr lang="en-US" sz="2400" b="0" i="0" u="none" strike="noStrike" baseline="0" dirty="0">
                <a:solidFill>
                  <a:srgbClr val="1D1D1E"/>
                </a:solidFill>
                <a:latin typeface="Palatino-Roman"/>
              </a:rPr>
              <a:t> </a:t>
            </a:r>
            <a:r>
              <a:rPr lang="en-US" sz="2400" b="0" i="1" u="none" strike="noStrike" baseline="0" dirty="0">
                <a:solidFill>
                  <a:srgbClr val="1D1D1E"/>
                </a:solidFill>
                <a:latin typeface="Palatino-Italic"/>
              </a:rPr>
              <a:t>append</a:t>
            </a:r>
            <a:r>
              <a:rPr lang="en-US" sz="2400" b="0" i="0" u="none" strike="noStrike" baseline="0" dirty="0">
                <a:solidFill>
                  <a:srgbClr val="1D1D1E"/>
                </a:solidFill>
                <a:latin typeface="Palatino-Roman"/>
              </a:rPr>
              <a:t>)</a:t>
            </a:r>
          </a:p>
          <a:p>
            <a:pPr algn="l"/>
            <a:endParaRPr lang="en-US" sz="1200" b="0" i="0" u="none" strike="noStrike" baseline="0" dirty="0">
              <a:solidFill>
                <a:srgbClr val="1D1D1E"/>
              </a:solidFill>
              <a:latin typeface="Palatino-Roman"/>
            </a:endParaRPr>
          </a:p>
          <a:p>
            <a:pPr algn="l"/>
            <a:r>
              <a:rPr lang="en-US" sz="2400" b="0" i="0" u="none" strike="noStrike" baseline="0" dirty="0">
                <a:solidFill>
                  <a:srgbClr val="1D1D1E"/>
                </a:solidFill>
                <a:latin typeface="Palatino-Roman"/>
              </a:rPr>
              <a:t>They can throw a </a:t>
            </a:r>
            <a:r>
              <a:rPr lang="en-US" sz="2400" b="1" i="0" u="none" strike="noStrike" baseline="0" dirty="0" err="1">
                <a:solidFill>
                  <a:srgbClr val="1D1D1E"/>
                </a:solidFill>
                <a:latin typeface="Palatino-Bold"/>
              </a:rPr>
              <a:t>FileNotFoundException</a:t>
            </a:r>
            <a:r>
              <a:rPr lang="en-US" sz="2400" b="1" i="0" u="none" strike="noStrike" baseline="0" dirty="0">
                <a:solidFill>
                  <a:srgbClr val="1D1D1E"/>
                </a:solidFill>
                <a:latin typeface="Palatino-Bold"/>
              </a:rPr>
              <a:t> </a:t>
            </a:r>
            <a:r>
              <a:rPr lang="en-US" sz="2400" b="0" i="0" u="none" strike="noStrike" baseline="0" dirty="0">
                <a:solidFill>
                  <a:srgbClr val="1D1D1E"/>
                </a:solidFill>
                <a:latin typeface="Palatino-Roman"/>
              </a:rPr>
              <a:t>or a </a:t>
            </a:r>
            <a:r>
              <a:rPr lang="en-US" sz="2400" b="1" i="0" u="none" strike="noStrike" baseline="0" dirty="0" err="1">
                <a:solidFill>
                  <a:srgbClr val="1D1D1E"/>
                </a:solidFill>
                <a:latin typeface="Palatino-Bold"/>
              </a:rPr>
              <a:t>SecurityException</a:t>
            </a:r>
            <a:r>
              <a:rPr lang="en-US" sz="2400" b="0" i="0" u="none" strike="noStrike" baseline="0" dirty="0">
                <a:solidFill>
                  <a:srgbClr val="1D1D1E"/>
                </a:solidFill>
                <a:latin typeface="Palatino-Roman"/>
              </a:rPr>
              <a:t>. Here, </a:t>
            </a:r>
            <a:r>
              <a:rPr lang="en-US" sz="2400" b="0" i="1" u="none" strike="noStrike" baseline="0" dirty="0" err="1">
                <a:solidFill>
                  <a:srgbClr val="1D1D1E"/>
                </a:solidFill>
                <a:latin typeface="Palatino-Italic"/>
              </a:rPr>
              <a:t>filePath</a:t>
            </a:r>
            <a:r>
              <a:rPr lang="en-US" sz="2400" b="0" i="1" u="none" strike="noStrike" baseline="0" dirty="0">
                <a:solidFill>
                  <a:srgbClr val="1D1D1E"/>
                </a:solidFill>
                <a:latin typeface="Palatino-Italic"/>
              </a:rPr>
              <a:t> </a:t>
            </a:r>
            <a:r>
              <a:rPr lang="en-US" sz="2400" b="0" i="0" u="none" strike="noStrike" baseline="0" dirty="0">
                <a:solidFill>
                  <a:srgbClr val="1D1D1E"/>
                </a:solidFill>
                <a:latin typeface="Palatino-Roman"/>
              </a:rPr>
              <a:t>is the full path name of a file, and </a:t>
            </a:r>
            <a:r>
              <a:rPr lang="en-US" sz="2400" b="0" i="1" u="none" strike="noStrike" baseline="0" dirty="0" err="1">
                <a:solidFill>
                  <a:srgbClr val="1D1D1E"/>
                </a:solidFill>
                <a:latin typeface="Palatino-Italic"/>
              </a:rPr>
              <a:t>fileObj</a:t>
            </a:r>
            <a:r>
              <a:rPr lang="en-US" sz="2400" b="0" i="1" u="none" strike="noStrike" baseline="0" dirty="0">
                <a:solidFill>
                  <a:srgbClr val="1D1D1E"/>
                </a:solidFill>
                <a:latin typeface="Palatino-Italic"/>
              </a:rPr>
              <a:t> </a:t>
            </a:r>
            <a:r>
              <a:rPr lang="en-US" sz="2400" b="0" i="0" u="none" strike="noStrike" baseline="0" dirty="0">
                <a:solidFill>
                  <a:srgbClr val="1D1D1E"/>
                </a:solidFill>
                <a:latin typeface="Palatino-Roman"/>
              </a:rPr>
              <a:t>is a </a:t>
            </a:r>
            <a:r>
              <a:rPr lang="en-US" sz="2400" b="1" i="0" u="none" strike="noStrike" baseline="0" dirty="0">
                <a:solidFill>
                  <a:srgbClr val="1D1D1E"/>
                </a:solidFill>
                <a:latin typeface="Palatino-Bold"/>
              </a:rPr>
              <a:t>File </a:t>
            </a:r>
            <a:r>
              <a:rPr lang="en-US" sz="2400" b="0" i="0" u="none" strike="noStrike" baseline="0" dirty="0">
                <a:solidFill>
                  <a:srgbClr val="1D1D1E"/>
                </a:solidFill>
                <a:latin typeface="Palatino-Roman"/>
              </a:rPr>
              <a:t>object that describes the file. If </a:t>
            </a:r>
            <a:r>
              <a:rPr lang="en-US" sz="2400" b="0" i="1" u="none" strike="noStrike" baseline="0" dirty="0">
                <a:solidFill>
                  <a:srgbClr val="1D1D1E"/>
                </a:solidFill>
                <a:latin typeface="Palatino-Italic"/>
              </a:rPr>
              <a:t>append </a:t>
            </a:r>
            <a:r>
              <a:rPr lang="en-US" sz="2400" b="0" i="0" u="none" strike="noStrike" baseline="0" dirty="0">
                <a:solidFill>
                  <a:srgbClr val="1D1D1E"/>
                </a:solidFill>
                <a:latin typeface="Palatino-Roman"/>
              </a:rPr>
              <a:t>is </a:t>
            </a:r>
            <a:r>
              <a:rPr lang="en-US" sz="2400" b="1" i="0" u="none" strike="noStrike" baseline="0" dirty="0">
                <a:solidFill>
                  <a:srgbClr val="1D1D1E"/>
                </a:solidFill>
                <a:latin typeface="Palatino-Bold"/>
              </a:rPr>
              <a:t>true</a:t>
            </a:r>
            <a:r>
              <a:rPr lang="en-US" sz="2400" b="0" i="0" u="none" strike="noStrike" baseline="0" dirty="0">
                <a:solidFill>
                  <a:srgbClr val="1D1D1E"/>
                </a:solidFill>
                <a:latin typeface="Palatino-Roman"/>
              </a:rPr>
              <a:t>, the file is opened in append mode. The fourth constructor was added by Java 2, version 1.4.</a:t>
            </a:r>
            <a:endParaRPr lang="en-US" sz="2400" dirty="0"/>
          </a:p>
        </p:txBody>
      </p:sp>
    </p:spTree>
    <p:extLst>
      <p:ext uri="{BB962C8B-B14F-4D97-AF65-F5344CB8AC3E}">
        <p14:creationId xmlns:p14="http://schemas.microsoft.com/office/powerpoint/2010/main" val="1191689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FileOutputStream</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28</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xmlns="" id="{3539A26F-B1BC-75E8-61C8-77BC8706E274}"/>
              </a:ext>
            </a:extLst>
          </p:cNvPr>
          <p:cNvSpPr txBox="1"/>
          <p:nvPr/>
        </p:nvSpPr>
        <p:spPr>
          <a:xfrm>
            <a:off x="76200" y="948690"/>
            <a:ext cx="8382000" cy="5909310"/>
          </a:xfrm>
          <a:prstGeom prst="rect">
            <a:avLst/>
          </a:prstGeom>
          <a:noFill/>
        </p:spPr>
        <p:txBody>
          <a:bodyPr wrap="square">
            <a:spAutoFit/>
          </a:bodyPr>
          <a:lstStyle/>
          <a:p>
            <a:pPr algn="l"/>
            <a:r>
              <a:rPr lang="en-US" sz="1800" b="1" i="0" u="none" strike="noStrike" baseline="0" dirty="0">
                <a:solidFill>
                  <a:srgbClr val="1D1D1E"/>
                </a:solidFill>
                <a:latin typeface="Courier"/>
              </a:rPr>
              <a:t>// Demonstrate </a:t>
            </a:r>
            <a:r>
              <a:rPr lang="en-US" sz="1800" b="1" i="0" u="none" strike="noStrike" baseline="0" dirty="0" err="1">
                <a:solidFill>
                  <a:srgbClr val="1D1D1E"/>
                </a:solidFill>
                <a:latin typeface="Courier"/>
              </a:rPr>
              <a:t>FileOutputStream</a:t>
            </a:r>
            <a:r>
              <a:rPr lang="en-US" sz="1800" b="1" i="0" u="none" strike="noStrike" baseline="0" dirty="0">
                <a:solidFill>
                  <a:srgbClr val="1D1D1E"/>
                </a:solidFill>
                <a:latin typeface="Courier"/>
              </a:rPr>
              <a:t>.</a:t>
            </a:r>
          </a:p>
          <a:p>
            <a:pPr algn="l"/>
            <a:r>
              <a:rPr lang="en-US" sz="1800" b="1" i="0" u="none" strike="noStrike" baseline="0" dirty="0">
                <a:solidFill>
                  <a:srgbClr val="1D1D1E"/>
                </a:solidFill>
                <a:latin typeface="Courier"/>
              </a:rPr>
              <a:t>import java.io.*;</a:t>
            </a:r>
          </a:p>
          <a:p>
            <a:pPr algn="l"/>
            <a:r>
              <a:rPr lang="en-US" sz="1800" b="1" i="0" u="none" strike="noStrike" baseline="0" dirty="0">
                <a:solidFill>
                  <a:srgbClr val="1D1D1E"/>
                </a:solidFill>
                <a:latin typeface="Courier"/>
              </a:rPr>
              <a:t>class </a:t>
            </a:r>
            <a:r>
              <a:rPr lang="en-US" sz="1800" b="1" i="0" u="none" strike="noStrike" baseline="0" dirty="0" err="1">
                <a:solidFill>
                  <a:srgbClr val="1D1D1E"/>
                </a:solidFill>
                <a:latin typeface="Courier"/>
              </a:rPr>
              <a:t>FileOutputStreamDemo</a:t>
            </a:r>
            <a:r>
              <a:rPr lang="en-US" sz="1800" b="1" i="0" u="none" strike="noStrike" baseline="0" dirty="0">
                <a:solidFill>
                  <a:srgbClr val="1D1D1E"/>
                </a:solidFill>
                <a:latin typeface="Courier"/>
              </a:rPr>
              <a:t> {</a:t>
            </a:r>
          </a:p>
          <a:p>
            <a:pPr algn="l"/>
            <a:r>
              <a:rPr lang="en-US" sz="1800" b="1" i="0" u="none" strike="noStrike" baseline="0" dirty="0">
                <a:solidFill>
                  <a:srgbClr val="1D1D1E"/>
                </a:solidFill>
                <a:latin typeface="Courier"/>
              </a:rPr>
              <a:t>public static void main(String </a:t>
            </a:r>
            <a:r>
              <a:rPr lang="en-US" sz="1800" b="1" i="0" u="none" strike="noStrike" baseline="0" dirty="0" err="1">
                <a:solidFill>
                  <a:srgbClr val="1D1D1E"/>
                </a:solidFill>
                <a:latin typeface="Courier"/>
              </a:rPr>
              <a:t>args</a:t>
            </a:r>
            <a:r>
              <a:rPr lang="en-US" sz="1800" b="1" i="0" u="none" strike="noStrike" baseline="0" dirty="0">
                <a:solidFill>
                  <a:srgbClr val="1D1D1E"/>
                </a:solidFill>
                <a:latin typeface="Courier"/>
              </a:rPr>
              <a:t>[]) throws Exception {</a:t>
            </a:r>
          </a:p>
          <a:p>
            <a:pPr algn="l"/>
            <a:r>
              <a:rPr lang="en-US" sz="1800" b="1" i="0" u="none" strike="noStrike" baseline="0" dirty="0">
                <a:solidFill>
                  <a:srgbClr val="1D1D1E"/>
                </a:solidFill>
                <a:latin typeface="Courier"/>
              </a:rPr>
              <a:t>String source = "Now is the time for all good men\n"</a:t>
            </a:r>
          </a:p>
          <a:p>
            <a:pPr algn="l"/>
            <a:r>
              <a:rPr lang="en-US" sz="1800" b="1" i="0" u="none" strike="noStrike" baseline="0" dirty="0">
                <a:solidFill>
                  <a:srgbClr val="1D1D1E"/>
                </a:solidFill>
                <a:latin typeface="Courier"/>
              </a:rPr>
              <a:t>+ " to come to the aid of their country\n"</a:t>
            </a:r>
          </a:p>
          <a:p>
            <a:pPr algn="l"/>
            <a:r>
              <a:rPr lang="en-US" sz="1800" b="1" i="0" u="none" strike="noStrike" baseline="0" dirty="0">
                <a:solidFill>
                  <a:srgbClr val="1D1D1E"/>
                </a:solidFill>
                <a:latin typeface="Courier"/>
              </a:rPr>
              <a:t>+ " and pay their due taxes.";</a:t>
            </a:r>
          </a:p>
          <a:p>
            <a:pPr algn="l"/>
            <a:r>
              <a:rPr lang="en-US" sz="1800" b="1" i="0" u="none" strike="noStrike" baseline="0" dirty="0">
                <a:solidFill>
                  <a:srgbClr val="1D1D1E"/>
                </a:solidFill>
                <a:latin typeface="Courier"/>
              </a:rPr>
              <a:t>byte </a:t>
            </a:r>
            <a:r>
              <a:rPr lang="en-US" sz="1800" b="1" i="0" u="none" strike="noStrike" baseline="0" dirty="0" err="1">
                <a:solidFill>
                  <a:srgbClr val="1D1D1E"/>
                </a:solidFill>
                <a:latin typeface="Courier"/>
              </a:rPr>
              <a:t>buf</a:t>
            </a:r>
            <a:r>
              <a:rPr lang="en-US" sz="1800" b="1" i="0" u="none" strike="noStrike" baseline="0" dirty="0">
                <a:solidFill>
                  <a:srgbClr val="1D1D1E"/>
                </a:solidFill>
                <a:latin typeface="Courier"/>
              </a:rPr>
              <a:t>[] = </a:t>
            </a:r>
            <a:r>
              <a:rPr lang="en-US" sz="1800" b="1" i="0" u="none" strike="noStrike" baseline="0" dirty="0" err="1">
                <a:solidFill>
                  <a:srgbClr val="1D1D1E"/>
                </a:solidFill>
                <a:latin typeface="Courier"/>
              </a:rPr>
              <a:t>source.getBytes</a:t>
            </a:r>
            <a:r>
              <a:rPr lang="en-US" sz="1800" b="1" i="0" u="none" strike="noStrike" baseline="0" dirty="0">
                <a:solidFill>
                  <a:srgbClr val="1D1D1E"/>
                </a:solidFill>
                <a:latin typeface="Courier"/>
              </a:rPr>
              <a:t>();</a:t>
            </a:r>
          </a:p>
          <a:p>
            <a:pPr algn="l"/>
            <a:r>
              <a:rPr lang="en-US" sz="1800" b="1" i="0" u="none" strike="noStrike" baseline="0" dirty="0" err="1">
                <a:solidFill>
                  <a:srgbClr val="1D1D1E"/>
                </a:solidFill>
                <a:latin typeface="Courier"/>
              </a:rPr>
              <a:t>OutputStream</a:t>
            </a:r>
            <a:r>
              <a:rPr lang="en-US" sz="1800" b="1" i="0" u="none" strike="noStrike" baseline="0" dirty="0">
                <a:solidFill>
                  <a:srgbClr val="1D1D1E"/>
                </a:solidFill>
                <a:latin typeface="Courier"/>
              </a:rPr>
              <a:t> f0 = new </a:t>
            </a:r>
            <a:r>
              <a:rPr lang="en-US" sz="1800" b="1" i="0" u="none" strike="noStrike" baseline="0" dirty="0" err="1">
                <a:solidFill>
                  <a:srgbClr val="1D1D1E"/>
                </a:solidFill>
                <a:latin typeface="Courier"/>
              </a:rPr>
              <a:t>FileOutputStream</a:t>
            </a:r>
            <a:r>
              <a:rPr lang="en-US" sz="1800" b="1" i="0" u="none" strike="noStrike" baseline="0" dirty="0">
                <a:solidFill>
                  <a:srgbClr val="1D1D1E"/>
                </a:solidFill>
                <a:latin typeface="Courier"/>
              </a:rPr>
              <a:t>("file1.txt");</a:t>
            </a:r>
          </a:p>
          <a:p>
            <a:pPr algn="l"/>
            <a:r>
              <a:rPr lang="en-US" sz="1800" b="1" i="0" u="none" strike="noStrike" baseline="0" dirty="0">
                <a:solidFill>
                  <a:srgbClr val="1D1D1E"/>
                </a:solidFill>
                <a:latin typeface="Courier"/>
              </a:rPr>
              <a:t>for (int </a:t>
            </a:r>
            <a:r>
              <a:rPr lang="en-US" sz="1800" b="1" i="0" u="none" strike="noStrike" baseline="0" dirty="0" err="1">
                <a:solidFill>
                  <a:srgbClr val="1D1D1E"/>
                </a:solidFill>
                <a:latin typeface="Courier"/>
              </a:rPr>
              <a:t>i</a:t>
            </a:r>
            <a:r>
              <a:rPr lang="en-US" sz="1800" b="1" i="0" u="none" strike="noStrike" baseline="0" dirty="0">
                <a:solidFill>
                  <a:srgbClr val="1D1D1E"/>
                </a:solidFill>
                <a:latin typeface="Courier"/>
              </a:rPr>
              <a:t>=0; </a:t>
            </a:r>
            <a:r>
              <a:rPr lang="en-US" sz="1800" b="1" i="0" u="none" strike="noStrike" baseline="0" dirty="0" err="1">
                <a:solidFill>
                  <a:srgbClr val="1D1D1E"/>
                </a:solidFill>
                <a:latin typeface="Courier"/>
              </a:rPr>
              <a:t>i</a:t>
            </a:r>
            <a:r>
              <a:rPr lang="en-US" sz="1800" b="1" i="0" u="none" strike="noStrike" baseline="0" dirty="0">
                <a:solidFill>
                  <a:srgbClr val="1D1D1E"/>
                </a:solidFill>
                <a:latin typeface="Courier"/>
              </a:rPr>
              <a:t> &lt; </a:t>
            </a:r>
            <a:r>
              <a:rPr lang="en-US" sz="1800" b="1" i="0" u="none" strike="noStrike" baseline="0" dirty="0" err="1">
                <a:solidFill>
                  <a:srgbClr val="1D1D1E"/>
                </a:solidFill>
                <a:latin typeface="Courier"/>
              </a:rPr>
              <a:t>buf.length</a:t>
            </a:r>
            <a:r>
              <a:rPr lang="en-US" sz="1800" b="1" i="0" u="none" strike="noStrike" baseline="0" dirty="0">
                <a:solidFill>
                  <a:srgbClr val="1D1D1E"/>
                </a:solidFill>
                <a:latin typeface="Courier"/>
              </a:rPr>
              <a:t>; </a:t>
            </a:r>
            <a:r>
              <a:rPr lang="en-US" sz="1800" b="1" i="0" u="none" strike="noStrike" baseline="0" dirty="0" err="1">
                <a:solidFill>
                  <a:srgbClr val="1D1D1E"/>
                </a:solidFill>
                <a:latin typeface="Courier"/>
              </a:rPr>
              <a:t>i</a:t>
            </a:r>
            <a:r>
              <a:rPr lang="en-US" sz="1800" b="1" i="0" u="none" strike="noStrike" baseline="0" dirty="0">
                <a:solidFill>
                  <a:srgbClr val="1D1D1E"/>
                </a:solidFill>
                <a:latin typeface="Courier"/>
              </a:rPr>
              <a:t> += 2) {</a:t>
            </a:r>
          </a:p>
          <a:p>
            <a:pPr algn="l"/>
            <a:r>
              <a:rPr lang="en-US" sz="1800" b="1" i="0" u="none" strike="noStrike" baseline="0" dirty="0">
                <a:solidFill>
                  <a:srgbClr val="1D1D1E"/>
                </a:solidFill>
                <a:latin typeface="Courier"/>
              </a:rPr>
              <a:t>f0.write(</a:t>
            </a:r>
            <a:r>
              <a:rPr lang="en-US" sz="1800" b="1" i="0" u="none" strike="noStrike" baseline="0" dirty="0" err="1">
                <a:solidFill>
                  <a:srgbClr val="1D1D1E"/>
                </a:solidFill>
                <a:latin typeface="Courier"/>
              </a:rPr>
              <a:t>buf</a:t>
            </a:r>
            <a:r>
              <a:rPr lang="en-US" sz="1800" b="1" i="0" u="none" strike="noStrike" baseline="0" dirty="0">
                <a:solidFill>
                  <a:srgbClr val="1D1D1E"/>
                </a:solidFill>
                <a:latin typeface="Courier"/>
              </a:rPr>
              <a:t>[</a:t>
            </a:r>
            <a:r>
              <a:rPr lang="en-US" sz="1800" b="1" i="0" u="none" strike="noStrike" baseline="0" dirty="0" err="1">
                <a:solidFill>
                  <a:srgbClr val="1D1D1E"/>
                </a:solidFill>
                <a:latin typeface="Courier"/>
              </a:rPr>
              <a:t>i</a:t>
            </a:r>
            <a:r>
              <a:rPr lang="en-US" sz="1800" b="1" i="0" u="none" strike="noStrike" baseline="0" dirty="0">
                <a:solidFill>
                  <a:srgbClr val="1D1D1E"/>
                </a:solidFill>
                <a:latin typeface="Courier"/>
              </a:rPr>
              <a:t>]);</a:t>
            </a:r>
          </a:p>
          <a:p>
            <a:pPr algn="l"/>
            <a:r>
              <a:rPr lang="en-US" sz="1800" b="1" i="0" u="none" strike="noStrike" baseline="0" dirty="0">
                <a:solidFill>
                  <a:srgbClr val="1D1D1E"/>
                </a:solidFill>
                <a:latin typeface="Courier"/>
              </a:rPr>
              <a:t>}</a:t>
            </a:r>
          </a:p>
          <a:p>
            <a:pPr algn="l"/>
            <a:r>
              <a:rPr lang="en-US" sz="1800" b="1" i="0" u="none" strike="noStrike" baseline="0" dirty="0">
                <a:solidFill>
                  <a:srgbClr val="1D1D1E"/>
                </a:solidFill>
                <a:latin typeface="Courier"/>
              </a:rPr>
              <a:t>f0.close();</a:t>
            </a:r>
          </a:p>
          <a:p>
            <a:pPr algn="l"/>
            <a:r>
              <a:rPr lang="en-US" sz="1800" b="1" i="0" u="none" strike="noStrike" baseline="0" dirty="0" err="1">
                <a:solidFill>
                  <a:srgbClr val="1D1D1E"/>
                </a:solidFill>
                <a:latin typeface="Courier"/>
              </a:rPr>
              <a:t>OutputStream</a:t>
            </a:r>
            <a:r>
              <a:rPr lang="en-US" sz="1800" b="1" i="0" u="none" strike="noStrike" baseline="0" dirty="0">
                <a:solidFill>
                  <a:srgbClr val="1D1D1E"/>
                </a:solidFill>
                <a:latin typeface="Courier"/>
              </a:rPr>
              <a:t> f1 = new </a:t>
            </a:r>
            <a:r>
              <a:rPr lang="en-US" sz="1800" b="1" i="0" u="none" strike="noStrike" baseline="0" dirty="0" err="1">
                <a:solidFill>
                  <a:srgbClr val="1D1D1E"/>
                </a:solidFill>
                <a:latin typeface="Courier"/>
              </a:rPr>
              <a:t>FileOutputStream</a:t>
            </a:r>
            <a:r>
              <a:rPr lang="en-US" sz="1800" b="1" i="0" u="none" strike="noStrike" baseline="0" dirty="0">
                <a:solidFill>
                  <a:srgbClr val="1D1D1E"/>
                </a:solidFill>
                <a:latin typeface="Courier"/>
              </a:rPr>
              <a:t>("file2.txt");</a:t>
            </a:r>
          </a:p>
          <a:p>
            <a:pPr algn="l"/>
            <a:r>
              <a:rPr lang="en-US" sz="1800" b="1" i="0" u="none" strike="noStrike" baseline="0" dirty="0">
                <a:solidFill>
                  <a:srgbClr val="1D1D1E"/>
                </a:solidFill>
                <a:latin typeface="Courier"/>
              </a:rPr>
              <a:t>f1.write(</a:t>
            </a:r>
            <a:r>
              <a:rPr lang="en-US" sz="1800" b="1" i="0" u="none" strike="noStrike" baseline="0" dirty="0" err="1">
                <a:solidFill>
                  <a:srgbClr val="1D1D1E"/>
                </a:solidFill>
                <a:latin typeface="Courier"/>
              </a:rPr>
              <a:t>buf</a:t>
            </a:r>
            <a:r>
              <a:rPr lang="en-US" sz="1800" b="1" i="0" u="none" strike="noStrike" baseline="0" dirty="0">
                <a:solidFill>
                  <a:srgbClr val="1D1D1E"/>
                </a:solidFill>
                <a:latin typeface="Courier"/>
              </a:rPr>
              <a:t>);</a:t>
            </a:r>
          </a:p>
          <a:p>
            <a:pPr algn="l"/>
            <a:r>
              <a:rPr lang="en-US" sz="1800" b="1" i="0" u="none" strike="noStrike" baseline="0" dirty="0">
                <a:solidFill>
                  <a:srgbClr val="1D1D1E"/>
                </a:solidFill>
                <a:latin typeface="Courier"/>
              </a:rPr>
              <a:t>f1.close();</a:t>
            </a:r>
          </a:p>
          <a:p>
            <a:pPr algn="l"/>
            <a:r>
              <a:rPr lang="en-US" sz="1800" b="1" i="0" u="none" strike="noStrike" baseline="0" dirty="0" err="1">
                <a:solidFill>
                  <a:srgbClr val="1D1D1E"/>
                </a:solidFill>
                <a:latin typeface="Courier"/>
              </a:rPr>
              <a:t>OutputStream</a:t>
            </a:r>
            <a:r>
              <a:rPr lang="en-US" sz="1800" b="1" i="0" u="none" strike="noStrike" baseline="0" dirty="0">
                <a:solidFill>
                  <a:srgbClr val="1D1D1E"/>
                </a:solidFill>
                <a:latin typeface="Courier"/>
              </a:rPr>
              <a:t> f2 = new </a:t>
            </a:r>
            <a:r>
              <a:rPr lang="en-US" sz="1800" b="1" i="0" u="none" strike="noStrike" baseline="0" dirty="0" err="1">
                <a:solidFill>
                  <a:srgbClr val="1D1D1E"/>
                </a:solidFill>
                <a:latin typeface="Courier"/>
              </a:rPr>
              <a:t>FileOutputStream</a:t>
            </a:r>
            <a:r>
              <a:rPr lang="en-US" sz="1800" b="1" i="0" u="none" strike="noStrike" baseline="0" dirty="0">
                <a:solidFill>
                  <a:srgbClr val="1D1D1E"/>
                </a:solidFill>
                <a:latin typeface="Courier"/>
              </a:rPr>
              <a:t>("file3.txt");</a:t>
            </a:r>
          </a:p>
          <a:p>
            <a:pPr algn="l"/>
            <a:r>
              <a:rPr lang="en-US" sz="1800" b="1" i="0" u="none" strike="noStrike" baseline="0" dirty="0">
                <a:solidFill>
                  <a:srgbClr val="1D1D1E"/>
                </a:solidFill>
                <a:latin typeface="Courier"/>
              </a:rPr>
              <a:t>f2.write(</a:t>
            </a:r>
            <a:r>
              <a:rPr lang="en-US" sz="1800" b="1" i="0" u="none" strike="noStrike" baseline="0" dirty="0" err="1">
                <a:solidFill>
                  <a:srgbClr val="1D1D1E"/>
                </a:solidFill>
                <a:latin typeface="Courier"/>
              </a:rPr>
              <a:t>buf,buf.length-buf.length</a:t>
            </a:r>
            <a:r>
              <a:rPr lang="en-US" sz="1800" b="1" i="0" u="none" strike="noStrike" baseline="0" dirty="0">
                <a:solidFill>
                  <a:srgbClr val="1D1D1E"/>
                </a:solidFill>
                <a:latin typeface="Courier"/>
              </a:rPr>
              <a:t>/4,buf.length/4);</a:t>
            </a:r>
          </a:p>
          <a:p>
            <a:pPr algn="l"/>
            <a:r>
              <a:rPr lang="en-US" sz="1800" b="1" i="0" u="none" strike="noStrike" baseline="0" dirty="0">
                <a:solidFill>
                  <a:srgbClr val="1D1D1E"/>
                </a:solidFill>
                <a:latin typeface="Courier"/>
              </a:rPr>
              <a:t>f2.close();</a:t>
            </a:r>
          </a:p>
          <a:p>
            <a:pPr algn="l"/>
            <a:r>
              <a:rPr lang="en-US" sz="1800" b="1" i="0" u="none" strike="noStrike" baseline="0" dirty="0">
                <a:solidFill>
                  <a:srgbClr val="1D1D1E"/>
                </a:solidFill>
                <a:latin typeface="Courier"/>
              </a:rPr>
              <a:t>}</a:t>
            </a:r>
          </a:p>
          <a:p>
            <a:pPr algn="l"/>
            <a:r>
              <a:rPr lang="en-US" sz="1800" b="1" i="0" u="none" strike="noStrike" baseline="0" dirty="0">
                <a:solidFill>
                  <a:srgbClr val="1D1D1E"/>
                </a:solidFill>
                <a:latin typeface="Courier"/>
              </a:rPr>
              <a:t>}</a:t>
            </a:r>
            <a:endParaRPr lang="en-US" sz="1800" b="1" dirty="0"/>
          </a:p>
        </p:txBody>
      </p:sp>
    </p:spTree>
    <p:extLst>
      <p:ext uri="{BB962C8B-B14F-4D97-AF65-F5344CB8AC3E}">
        <p14:creationId xmlns:p14="http://schemas.microsoft.com/office/powerpoint/2010/main" val="4141061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FileOutputStream</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29</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D9402EFD-F22D-4291-2811-9C4648B909B7}"/>
              </a:ext>
            </a:extLst>
          </p:cNvPr>
          <p:cNvSpPr txBox="1"/>
          <p:nvPr/>
        </p:nvSpPr>
        <p:spPr>
          <a:xfrm>
            <a:off x="609600" y="1600201"/>
            <a:ext cx="7239000" cy="3785652"/>
          </a:xfrm>
          <a:prstGeom prst="rect">
            <a:avLst/>
          </a:prstGeom>
          <a:noFill/>
        </p:spPr>
        <p:txBody>
          <a:bodyPr wrap="square">
            <a:spAutoFit/>
          </a:bodyPr>
          <a:lstStyle/>
          <a:p>
            <a:pPr algn="l"/>
            <a:r>
              <a:rPr lang="en-US" sz="2400" b="1" i="0" u="none" strike="noStrike" baseline="0" dirty="0">
                <a:solidFill>
                  <a:srgbClr val="1D1D1E"/>
                </a:solidFill>
                <a:latin typeface="Palatino-Roman"/>
              </a:rPr>
              <a:t>Here are the contents of each file after running this program. First, </a:t>
            </a:r>
            <a:r>
              <a:rPr lang="en-US" sz="2400" b="1" i="0" u="none" strike="noStrike" baseline="0" dirty="0">
                <a:solidFill>
                  <a:srgbClr val="0066FF"/>
                </a:solidFill>
                <a:latin typeface="Palatino-Bold"/>
              </a:rPr>
              <a:t>file1.txt</a:t>
            </a:r>
            <a:r>
              <a:rPr lang="en-US" sz="2400" b="1" i="0" u="none" strike="noStrike" baseline="0" dirty="0">
                <a:solidFill>
                  <a:srgbClr val="1D1D1E"/>
                </a:solidFill>
                <a:latin typeface="Palatino-Roman"/>
              </a:rPr>
              <a:t>:</a:t>
            </a:r>
          </a:p>
          <a:p>
            <a:pPr algn="l"/>
            <a:r>
              <a:rPr lang="en-US" sz="2400" b="1" i="0" u="none" strike="noStrike" baseline="0" dirty="0" err="1">
                <a:solidFill>
                  <a:srgbClr val="1D1D1E"/>
                </a:solidFill>
                <a:latin typeface="Courier"/>
              </a:rPr>
              <a:t>Nwi</a:t>
            </a:r>
            <a:r>
              <a:rPr lang="en-US" sz="2400" b="1" i="0" u="none" strike="noStrike" baseline="0" dirty="0">
                <a:solidFill>
                  <a:srgbClr val="1D1D1E"/>
                </a:solidFill>
                <a:latin typeface="Courier"/>
              </a:rPr>
              <a:t> h </a:t>
            </a:r>
            <a:r>
              <a:rPr lang="en-US" sz="2400" b="1" i="0" u="none" strike="noStrike" baseline="0" dirty="0" err="1">
                <a:solidFill>
                  <a:srgbClr val="1D1D1E"/>
                </a:solidFill>
                <a:latin typeface="Courier"/>
              </a:rPr>
              <a:t>iefralgo</a:t>
            </a:r>
            <a:r>
              <a:rPr lang="en-US" sz="2400" b="1" i="0" u="none" strike="noStrike" baseline="0" dirty="0">
                <a:solidFill>
                  <a:srgbClr val="1D1D1E"/>
                </a:solidFill>
                <a:latin typeface="Courier"/>
              </a:rPr>
              <a:t> e</a:t>
            </a:r>
          </a:p>
          <a:p>
            <a:pPr algn="l"/>
            <a:r>
              <a:rPr lang="pt-BR" sz="2400" b="1" i="0" u="none" strike="noStrike" baseline="0" dirty="0">
                <a:solidFill>
                  <a:srgbClr val="1D1D1E"/>
                </a:solidFill>
                <a:latin typeface="Courier"/>
              </a:rPr>
              <a:t>t oet h i ftercuty n a hi u ae.</a:t>
            </a:r>
          </a:p>
          <a:p>
            <a:pPr algn="l"/>
            <a:r>
              <a:rPr lang="en-US" sz="2400" b="1" i="0" u="none" strike="noStrike" baseline="0" dirty="0">
                <a:solidFill>
                  <a:srgbClr val="1D1D1E"/>
                </a:solidFill>
                <a:latin typeface="Palatino-Roman"/>
              </a:rPr>
              <a:t>Next, </a:t>
            </a:r>
            <a:r>
              <a:rPr lang="en-US" sz="2400" b="1" i="0" u="none" strike="noStrike" baseline="0" dirty="0">
                <a:solidFill>
                  <a:srgbClr val="0066FF"/>
                </a:solidFill>
                <a:latin typeface="Palatino-Bold"/>
              </a:rPr>
              <a:t>file2.txt</a:t>
            </a:r>
            <a:r>
              <a:rPr lang="en-US" sz="2400" b="1" i="0" u="none" strike="noStrike" baseline="0" dirty="0">
                <a:solidFill>
                  <a:srgbClr val="1D1D1E"/>
                </a:solidFill>
                <a:latin typeface="Palatino-Roman"/>
              </a:rPr>
              <a:t>:</a:t>
            </a:r>
          </a:p>
          <a:p>
            <a:pPr algn="l"/>
            <a:r>
              <a:rPr lang="en-US" sz="2400" b="1" i="0" u="none" strike="noStrike" baseline="0" dirty="0">
                <a:solidFill>
                  <a:srgbClr val="1D1D1E"/>
                </a:solidFill>
                <a:latin typeface="Courier"/>
              </a:rPr>
              <a:t>Now is the time for all good men</a:t>
            </a:r>
          </a:p>
          <a:p>
            <a:pPr algn="l"/>
            <a:r>
              <a:rPr lang="en-US" sz="2400" b="1" i="0" u="none" strike="noStrike" baseline="0" dirty="0">
                <a:solidFill>
                  <a:srgbClr val="1D1D1E"/>
                </a:solidFill>
                <a:latin typeface="Courier"/>
              </a:rPr>
              <a:t>to come to the aid of their country</a:t>
            </a:r>
          </a:p>
          <a:p>
            <a:pPr algn="l"/>
            <a:r>
              <a:rPr lang="en-US" sz="2400" b="1" i="0" u="none" strike="noStrike" baseline="0" dirty="0">
                <a:solidFill>
                  <a:srgbClr val="1D1D1E"/>
                </a:solidFill>
                <a:latin typeface="Courier"/>
              </a:rPr>
              <a:t>and pay their due taxes.</a:t>
            </a:r>
          </a:p>
          <a:p>
            <a:pPr algn="l"/>
            <a:r>
              <a:rPr lang="en-US" sz="2400" b="1" i="0" u="none" strike="noStrike" baseline="0" dirty="0">
                <a:solidFill>
                  <a:srgbClr val="1D1D1E"/>
                </a:solidFill>
                <a:latin typeface="Palatino-Roman"/>
              </a:rPr>
              <a:t>Finally, </a:t>
            </a:r>
            <a:r>
              <a:rPr lang="en-US" sz="2400" b="1" i="0" u="none" strike="noStrike" baseline="0" dirty="0">
                <a:solidFill>
                  <a:srgbClr val="0066FF"/>
                </a:solidFill>
                <a:latin typeface="Palatino-Bold"/>
              </a:rPr>
              <a:t>file3.txt</a:t>
            </a:r>
            <a:r>
              <a:rPr lang="en-US" sz="2400" b="1" i="0" u="none" strike="noStrike" baseline="0" dirty="0">
                <a:solidFill>
                  <a:srgbClr val="1D1D1E"/>
                </a:solidFill>
                <a:latin typeface="Palatino-Roman"/>
              </a:rPr>
              <a:t>:</a:t>
            </a:r>
          </a:p>
          <a:p>
            <a:pPr algn="l"/>
            <a:r>
              <a:rPr lang="en-US" sz="2400" b="1" i="0" u="none" strike="noStrike" baseline="0" dirty="0" err="1">
                <a:solidFill>
                  <a:srgbClr val="1D1D1E"/>
                </a:solidFill>
                <a:latin typeface="Courier"/>
              </a:rPr>
              <a:t>nd</a:t>
            </a:r>
            <a:r>
              <a:rPr lang="en-US" sz="2400" b="1" i="0" u="none" strike="noStrike" baseline="0" dirty="0">
                <a:solidFill>
                  <a:srgbClr val="1D1D1E"/>
                </a:solidFill>
                <a:latin typeface="Courier"/>
              </a:rPr>
              <a:t> pay their due taxes.</a:t>
            </a:r>
            <a:endParaRPr lang="en-US" sz="2400" b="1" dirty="0"/>
          </a:p>
        </p:txBody>
      </p:sp>
    </p:spTree>
    <p:extLst>
      <p:ext uri="{BB962C8B-B14F-4D97-AF65-F5344CB8AC3E}">
        <p14:creationId xmlns:p14="http://schemas.microsoft.com/office/powerpoint/2010/main" val="366262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a:solidFill>
                  <a:srgbClr val="C00000"/>
                </a:solidFill>
                <a:latin typeface="Times New Roman" panose="02020603050405020304" pitchFamily="18" charset="0"/>
                <a:cs typeface="Times New Roman" panose="02020603050405020304" pitchFamily="18" charset="0"/>
              </a:rPr>
              <a:t>Byte Stream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30</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334CD0A1-D260-B7D0-8011-39043A1CAE19}"/>
              </a:ext>
            </a:extLst>
          </p:cNvPr>
          <p:cNvSpPr txBox="1"/>
          <p:nvPr/>
        </p:nvSpPr>
        <p:spPr>
          <a:xfrm>
            <a:off x="457200" y="1143000"/>
            <a:ext cx="7772400" cy="4893647"/>
          </a:xfrm>
          <a:prstGeom prst="rect">
            <a:avLst/>
          </a:prstGeom>
          <a:noFill/>
        </p:spPr>
        <p:txBody>
          <a:bodyPr wrap="square">
            <a:spAutoFit/>
          </a:bodyPr>
          <a:lstStyle/>
          <a:p>
            <a:pPr algn="l"/>
            <a:r>
              <a:rPr lang="en-US" sz="3200" b="1" i="0" u="none" strike="noStrike" baseline="0" dirty="0" err="1">
                <a:solidFill>
                  <a:srgbClr val="1D1D1E"/>
                </a:solidFill>
                <a:latin typeface="Times New Roman" panose="02020603050405020304" pitchFamily="18" charset="0"/>
                <a:cs typeface="Times New Roman" panose="02020603050405020304" pitchFamily="18" charset="0"/>
              </a:rPr>
              <a:t>ByteArrayInputStream</a:t>
            </a:r>
            <a:endParaRPr lang="en-US" sz="3200" b="1" i="0" u="none" strike="noStrike" baseline="0" dirty="0">
              <a:solidFill>
                <a:srgbClr val="1D1D1E"/>
              </a:solidFill>
              <a:latin typeface="Times New Roman" panose="02020603050405020304" pitchFamily="18" charset="0"/>
              <a:cs typeface="Times New Roman" panose="02020603050405020304" pitchFamily="18" charset="0"/>
            </a:endParaRPr>
          </a:p>
          <a:p>
            <a:pPr algn="l"/>
            <a:endParaRPr lang="en-US" sz="1400" b="1"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ByteArrayInputStream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an implementation of an input stream that uses a byte array as the source. This class has two constructors, each of which requires a byte array to provide the data source:</a:t>
            </a:r>
          </a:p>
          <a:p>
            <a:pPr algn="l"/>
            <a:endParaRPr lang="en-US" sz="1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ByteArrayInputStream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(byte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ByteArrayInputStream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(byte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int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start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int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numBytes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Here,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input source. The second constructor creates an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InputStream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from a subset of your byte array that begins with the character at the index specified by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start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and is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numBytes</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long.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5143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a:solidFill>
                  <a:srgbClr val="C00000"/>
                </a:solidFill>
                <a:latin typeface="Times New Roman" panose="02020603050405020304" pitchFamily="18" charset="0"/>
                <a:cs typeface="Times New Roman" panose="02020603050405020304" pitchFamily="18" charset="0"/>
              </a:rPr>
              <a:t>Byte Stream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31</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334CD0A1-D260-B7D0-8011-39043A1CAE19}"/>
              </a:ext>
            </a:extLst>
          </p:cNvPr>
          <p:cNvSpPr txBox="1"/>
          <p:nvPr/>
        </p:nvSpPr>
        <p:spPr>
          <a:xfrm>
            <a:off x="457200" y="1143000"/>
            <a:ext cx="7772400" cy="4893647"/>
          </a:xfrm>
          <a:prstGeom prst="rect">
            <a:avLst/>
          </a:prstGeom>
          <a:noFill/>
        </p:spPr>
        <p:txBody>
          <a:bodyPr wrap="square">
            <a:spAutoFit/>
          </a:bodyPr>
          <a:lstStyle/>
          <a:p>
            <a:pPr algn="l"/>
            <a:r>
              <a:rPr lang="en-US" sz="3200" b="1" i="0" u="none" strike="noStrike" baseline="0" dirty="0" err="1">
                <a:solidFill>
                  <a:srgbClr val="1D1D1E"/>
                </a:solidFill>
                <a:latin typeface="Times New Roman" panose="02020603050405020304" pitchFamily="18" charset="0"/>
                <a:cs typeface="Times New Roman" panose="02020603050405020304" pitchFamily="18" charset="0"/>
              </a:rPr>
              <a:t>ByteArrayInputStream</a:t>
            </a:r>
            <a:endParaRPr lang="en-US" sz="3200" b="1" i="0" u="none" strike="noStrike" baseline="0" dirty="0">
              <a:solidFill>
                <a:srgbClr val="1D1D1E"/>
              </a:solidFill>
              <a:latin typeface="Times New Roman" panose="02020603050405020304" pitchFamily="18" charset="0"/>
              <a:cs typeface="Times New Roman" panose="02020603050405020304" pitchFamily="18" charset="0"/>
            </a:endParaRPr>
          </a:p>
          <a:p>
            <a:pPr algn="l"/>
            <a:endParaRPr lang="en-US" sz="1400" b="1"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ByteArrayInputStream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an implementation of an input stream that uses a byte array as the source. This class has two constructors, each of which requires a byte array to provide the data source:</a:t>
            </a:r>
          </a:p>
          <a:p>
            <a:pPr algn="l"/>
            <a:endParaRPr lang="en-US" sz="1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ByteArrayInputStream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(byte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ByteArrayInputStream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(byte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int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start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int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numBytes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Here,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input source. The second constructor creates an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InputStream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from a subset of your byte array that begins with the character at the index specified by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start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and is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numBytes</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long.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45750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a:solidFill>
                  <a:srgbClr val="C00000"/>
                </a:solidFill>
                <a:latin typeface="Times New Roman" panose="02020603050405020304" pitchFamily="18" charset="0"/>
                <a:cs typeface="Times New Roman" panose="02020603050405020304" pitchFamily="18" charset="0"/>
              </a:rPr>
              <a:t>Byte Stream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32</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83AA8788-7923-2D68-FF99-8D0454B1B853}"/>
              </a:ext>
            </a:extLst>
          </p:cNvPr>
          <p:cNvSpPr txBox="1"/>
          <p:nvPr/>
        </p:nvSpPr>
        <p:spPr>
          <a:xfrm>
            <a:off x="247460" y="990600"/>
            <a:ext cx="8591740" cy="5232202"/>
          </a:xfrm>
          <a:prstGeom prst="rect">
            <a:avLst/>
          </a:prstGeom>
          <a:noFill/>
        </p:spPr>
        <p:txBody>
          <a:bodyPr wrap="square">
            <a:spAutoFit/>
          </a:bodyPr>
          <a:lstStyle/>
          <a:p>
            <a:pPr algn="l"/>
            <a:r>
              <a:rPr lang="en-US" sz="3200" b="1" i="0" u="none" strike="noStrike" baseline="0" dirty="0" err="1">
                <a:solidFill>
                  <a:srgbClr val="1D1D1E"/>
                </a:solidFill>
                <a:latin typeface="Times New Roman" panose="02020603050405020304" pitchFamily="18" charset="0"/>
                <a:cs typeface="Times New Roman" panose="02020603050405020304" pitchFamily="18" charset="0"/>
              </a:rPr>
              <a:t>ByteArrayOutputStream</a:t>
            </a:r>
            <a:endParaRPr lang="en-US" sz="3200" b="1" i="0" u="none" strike="noStrike" baseline="0" dirty="0">
              <a:solidFill>
                <a:srgbClr val="1D1D1E"/>
              </a:solidFill>
              <a:latin typeface="Times New Roman" panose="02020603050405020304" pitchFamily="18" charset="0"/>
              <a:cs typeface="Times New Roman" panose="02020603050405020304" pitchFamily="18" charset="0"/>
            </a:endParaRPr>
          </a:p>
          <a:p>
            <a:pPr algn="l"/>
            <a:endParaRPr lang="en-US" sz="120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ByteArrayOutputStream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an implementation of an output stream that uses a byte array as the destination.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ByteArrayOutputStream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has two constructors, shown here:</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ByteArrayOutputStream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ByteArrayOutputStream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numBytes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1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In the first form, a buffer of 32 bytes is created. In the second, a buffer is created with a size equal to that specified by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numBytes</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buffer is held in the protected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buf</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field of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ByteArrayOutputStream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The buffer size will be increased automatically, if needed. The number of bytes held by the buffer is contained in the protected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count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field of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ByteArrayOutputStream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2247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RandomAccessFile</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33</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FFBD5B8B-17D6-B865-F2C9-B833F5B9A0A1}"/>
              </a:ext>
            </a:extLst>
          </p:cNvPr>
          <p:cNvSpPr txBox="1"/>
          <p:nvPr/>
        </p:nvSpPr>
        <p:spPr>
          <a:xfrm>
            <a:off x="381000" y="1219200"/>
            <a:ext cx="7848600" cy="5262979"/>
          </a:xfrm>
          <a:prstGeom prst="rect">
            <a:avLst/>
          </a:prstGeom>
          <a:noFill/>
        </p:spPr>
        <p:txBody>
          <a:bodyPr wrap="square">
            <a:spAutoFit/>
          </a:bodyPr>
          <a:lstStyle/>
          <a:p>
            <a:pPr algn="l"/>
            <a:r>
              <a:rPr lang="en-US" sz="2400" b="0" i="0" u="none" strike="noStrike" baseline="0" dirty="0">
                <a:solidFill>
                  <a:srgbClr val="000000"/>
                </a:solidFill>
                <a:latin typeface="TimesLTStd-Roman"/>
              </a:rPr>
              <a:t>All of the streams you have used so far are known as </a:t>
            </a:r>
            <a:r>
              <a:rPr lang="en-US" sz="2400" b="0" i="1" u="none" strike="noStrike" baseline="0" dirty="0">
                <a:solidFill>
                  <a:srgbClr val="000000"/>
                </a:solidFill>
                <a:latin typeface="TimesLTStd-Italic"/>
              </a:rPr>
              <a:t>read-only </a:t>
            </a:r>
            <a:r>
              <a:rPr lang="en-US" sz="2400" b="0" i="0" u="none" strike="noStrike" baseline="0" dirty="0">
                <a:solidFill>
                  <a:srgbClr val="000000"/>
                </a:solidFill>
                <a:latin typeface="TimesLTStd-Roman"/>
              </a:rPr>
              <a:t>or </a:t>
            </a:r>
            <a:r>
              <a:rPr lang="en-US" sz="2400" b="0" i="1" u="none" strike="noStrike" baseline="0" dirty="0">
                <a:solidFill>
                  <a:srgbClr val="000000"/>
                </a:solidFill>
                <a:latin typeface="TimesLTStd-Italic"/>
              </a:rPr>
              <a:t>write-only </a:t>
            </a:r>
            <a:r>
              <a:rPr lang="en-US" sz="2400" b="0" i="0" u="none" strike="noStrike" baseline="0" dirty="0">
                <a:solidFill>
                  <a:srgbClr val="000000"/>
                </a:solidFill>
                <a:latin typeface="TimesLTStd-Roman"/>
              </a:rPr>
              <a:t>streams. These streams are called </a:t>
            </a:r>
            <a:r>
              <a:rPr lang="en-US" sz="2400" b="0" i="1" u="none" strike="noStrike" baseline="0" dirty="0">
                <a:solidFill>
                  <a:srgbClr val="000000"/>
                </a:solidFill>
                <a:latin typeface="TimesLTStd-Italic"/>
              </a:rPr>
              <a:t>sequential streams</a:t>
            </a:r>
            <a:r>
              <a:rPr lang="en-US" sz="2400" b="0" i="0" u="none" strike="noStrike" baseline="0" dirty="0">
                <a:solidFill>
                  <a:srgbClr val="000000"/>
                </a:solidFill>
                <a:latin typeface="TimesLTStd-Roman"/>
              </a:rPr>
              <a:t>. </a:t>
            </a:r>
          </a:p>
          <a:p>
            <a:pPr algn="l"/>
            <a:endParaRPr lang="en-US" sz="2400" dirty="0">
              <a:solidFill>
                <a:srgbClr val="000000"/>
              </a:solidFill>
              <a:latin typeface="TimesLTStd-Roman"/>
            </a:endParaRPr>
          </a:p>
          <a:p>
            <a:pPr algn="l"/>
            <a:r>
              <a:rPr lang="en-US" sz="2400" b="0" i="0" u="none" strike="noStrike" baseline="0" dirty="0">
                <a:solidFill>
                  <a:srgbClr val="000000"/>
                </a:solidFill>
                <a:latin typeface="TimesLTStd-Roman"/>
              </a:rPr>
              <a:t>A file that is opened using a sequential stream is called</a:t>
            </a:r>
          </a:p>
          <a:p>
            <a:pPr algn="l"/>
            <a:r>
              <a:rPr lang="en-US" sz="2400" b="0" i="0" u="none" strike="noStrike" baseline="0" dirty="0">
                <a:solidFill>
                  <a:srgbClr val="000000"/>
                </a:solidFill>
                <a:latin typeface="TimesLTStd-Roman"/>
              </a:rPr>
              <a:t>a </a:t>
            </a:r>
            <a:r>
              <a:rPr lang="en-US" sz="2400" b="0" i="1" u="none" strike="noStrike" baseline="0" dirty="0">
                <a:solidFill>
                  <a:srgbClr val="000000"/>
                </a:solidFill>
                <a:latin typeface="TimesLTStd-Italic"/>
              </a:rPr>
              <a:t>sequential-access file</a:t>
            </a:r>
            <a:r>
              <a:rPr lang="en-US" sz="2400" b="0" i="0" u="none" strike="noStrike" baseline="0" dirty="0">
                <a:solidFill>
                  <a:srgbClr val="000000"/>
                </a:solidFill>
                <a:latin typeface="TimesLTStd-Roman"/>
              </a:rPr>
              <a:t>. </a:t>
            </a:r>
          </a:p>
          <a:p>
            <a:pPr algn="l"/>
            <a:endParaRPr lang="en-US" sz="2400" dirty="0">
              <a:solidFill>
                <a:srgbClr val="000000"/>
              </a:solidFill>
              <a:latin typeface="TimesLTStd-Roman"/>
            </a:endParaRPr>
          </a:p>
          <a:p>
            <a:pPr algn="l"/>
            <a:r>
              <a:rPr lang="en-US" sz="2400" b="0" i="0" u="none" strike="noStrike" baseline="0" dirty="0">
                <a:solidFill>
                  <a:srgbClr val="000000"/>
                </a:solidFill>
                <a:latin typeface="TimesLTStd-Roman"/>
              </a:rPr>
              <a:t>The contents of a sequential-access file cannot be updated. However, it is often necessary to modify files. </a:t>
            </a:r>
          </a:p>
          <a:p>
            <a:pPr algn="l"/>
            <a:endParaRPr lang="en-US" sz="2400" dirty="0">
              <a:solidFill>
                <a:srgbClr val="000000"/>
              </a:solidFill>
              <a:latin typeface="TimesLTStd-Roman"/>
            </a:endParaRPr>
          </a:p>
          <a:p>
            <a:pPr algn="l"/>
            <a:r>
              <a:rPr lang="en-US" sz="2400" b="0" i="0" u="none" strike="noStrike" baseline="0" dirty="0">
                <a:solidFill>
                  <a:srgbClr val="000000"/>
                </a:solidFill>
                <a:latin typeface="TimesLTStd-Roman"/>
              </a:rPr>
              <a:t>Java provides the </a:t>
            </a:r>
            <a:r>
              <a:rPr lang="en-US" sz="2400" b="1" i="0" u="none" strike="noStrike" baseline="0" dirty="0" err="1">
                <a:solidFill>
                  <a:srgbClr val="00AFF0"/>
                </a:solidFill>
                <a:latin typeface="LucidaSansTypewriterStd-Bd"/>
              </a:rPr>
              <a:t>RandomAccessFile</a:t>
            </a:r>
            <a:r>
              <a:rPr lang="en-US" sz="2400" b="1" i="0" u="none" strike="noStrike" baseline="0" dirty="0">
                <a:solidFill>
                  <a:srgbClr val="00AFF0"/>
                </a:solidFill>
                <a:latin typeface="LucidaSansTypewriterStd-Bd"/>
              </a:rPr>
              <a:t> </a:t>
            </a:r>
            <a:r>
              <a:rPr lang="en-US" sz="2400" b="0" i="0" u="none" strike="noStrike" baseline="0" dirty="0">
                <a:solidFill>
                  <a:srgbClr val="000000"/>
                </a:solidFill>
                <a:latin typeface="TimesLTStd-Roman"/>
              </a:rPr>
              <a:t>class to allow data to be read from and written to at any locations in a file. A file that is opened using the </a:t>
            </a:r>
            <a:r>
              <a:rPr lang="en-US" sz="2400" b="1" i="0" u="none" strike="noStrike" baseline="0" dirty="0" err="1">
                <a:solidFill>
                  <a:srgbClr val="00AFF0"/>
                </a:solidFill>
                <a:latin typeface="LucidaSansTypewriterStd-Bd"/>
              </a:rPr>
              <a:t>RandomAccessFile</a:t>
            </a:r>
            <a:r>
              <a:rPr lang="en-US" sz="2400" b="1" i="0" u="none" strike="noStrike" baseline="0" dirty="0">
                <a:solidFill>
                  <a:srgbClr val="00AFF0"/>
                </a:solidFill>
                <a:latin typeface="LucidaSansTypewriterStd-Bd"/>
              </a:rPr>
              <a:t> </a:t>
            </a:r>
            <a:r>
              <a:rPr lang="en-US" sz="2400" b="0" i="0" u="none" strike="noStrike" baseline="0" dirty="0">
                <a:solidFill>
                  <a:srgbClr val="000000"/>
                </a:solidFill>
                <a:latin typeface="TimesLTStd-Roman"/>
              </a:rPr>
              <a:t>class is known as a </a:t>
            </a:r>
            <a:r>
              <a:rPr lang="en-US" sz="2400" b="0" i="1" u="none" strike="noStrike" baseline="0" dirty="0">
                <a:solidFill>
                  <a:srgbClr val="000000"/>
                </a:solidFill>
                <a:latin typeface="TimesLTStd-Italic"/>
              </a:rPr>
              <a:t>random-access file</a:t>
            </a:r>
            <a:r>
              <a:rPr lang="en-US" sz="2400" b="0" i="0" u="none" strike="noStrike" baseline="0" dirty="0">
                <a:solidFill>
                  <a:srgbClr val="000000"/>
                </a:solidFill>
                <a:latin typeface="TimesLTStd-Roman"/>
              </a:rPr>
              <a:t>.</a:t>
            </a:r>
            <a:endParaRPr lang="en-US" sz="2400" dirty="0"/>
          </a:p>
        </p:txBody>
      </p:sp>
    </p:spTree>
    <p:extLst>
      <p:ext uri="{BB962C8B-B14F-4D97-AF65-F5344CB8AC3E}">
        <p14:creationId xmlns:p14="http://schemas.microsoft.com/office/powerpoint/2010/main" val="18750956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RandomAccessFile</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34</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FFBD5B8B-17D6-B865-F2C9-B833F5B9A0A1}"/>
              </a:ext>
            </a:extLst>
          </p:cNvPr>
          <p:cNvSpPr txBox="1"/>
          <p:nvPr/>
        </p:nvSpPr>
        <p:spPr>
          <a:xfrm>
            <a:off x="381000" y="1219200"/>
            <a:ext cx="7848600" cy="5262979"/>
          </a:xfrm>
          <a:prstGeom prst="rect">
            <a:avLst/>
          </a:prstGeom>
          <a:noFill/>
        </p:spPr>
        <p:txBody>
          <a:bodyPr wrap="square">
            <a:spAutoFit/>
          </a:bodyPr>
          <a:lstStyle/>
          <a:p>
            <a:pPr algn="l"/>
            <a:r>
              <a:rPr lang="en-US" sz="2400" b="0" i="0" u="none" strike="noStrike" baseline="0" dirty="0">
                <a:solidFill>
                  <a:srgbClr val="000000"/>
                </a:solidFill>
                <a:latin typeface="TimesLTStd-Roman"/>
              </a:rPr>
              <a:t>All of the streams you have used so far are known as </a:t>
            </a:r>
            <a:r>
              <a:rPr lang="en-US" sz="2400" b="0" i="1" u="none" strike="noStrike" baseline="0" dirty="0">
                <a:solidFill>
                  <a:srgbClr val="000000"/>
                </a:solidFill>
                <a:latin typeface="TimesLTStd-Italic"/>
              </a:rPr>
              <a:t>read-only </a:t>
            </a:r>
            <a:r>
              <a:rPr lang="en-US" sz="2400" b="0" i="0" u="none" strike="noStrike" baseline="0" dirty="0">
                <a:solidFill>
                  <a:srgbClr val="000000"/>
                </a:solidFill>
                <a:latin typeface="TimesLTStd-Roman"/>
              </a:rPr>
              <a:t>or </a:t>
            </a:r>
            <a:r>
              <a:rPr lang="en-US" sz="2400" b="0" i="1" u="none" strike="noStrike" baseline="0" dirty="0">
                <a:solidFill>
                  <a:srgbClr val="000000"/>
                </a:solidFill>
                <a:latin typeface="TimesLTStd-Italic"/>
              </a:rPr>
              <a:t>write-only </a:t>
            </a:r>
            <a:r>
              <a:rPr lang="en-US" sz="2400" b="0" i="0" u="none" strike="noStrike" baseline="0" dirty="0">
                <a:solidFill>
                  <a:srgbClr val="000000"/>
                </a:solidFill>
                <a:latin typeface="TimesLTStd-Roman"/>
              </a:rPr>
              <a:t>streams. These streams are called </a:t>
            </a:r>
            <a:r>
              <a:rPr lang="en-US" sz="2400" b="0" i="1" u="none" strike="noStrike" baseline="0" dirty="0">
                <a:solidFill>
                  <a:srgbClr val="000000"/>
                </a:solidFill>
                <a:latin typeface="TimesLTStd-Italic"/>
              </a:rPr>
              <a:t>sequential streams</a:t>
            </a:r>
            <a:r>
              <a:rPr lang="en-US" sz="2400" b="0" i="0" u="none" strike="noStrike" baseline="0" dirty="0">
                <a:solidFill>
                  <a:srgbClr val="000000"/>
                </a:solidFill>
                <a:latin typeface="TimesLTStd-Roman"/>
              </a:rPr>
              <a:t>. </a:t>
            </a:r>
          </a:p>
          <a:p>
            <a:pPr algn="l"/>
            <a:endParaRPr lang="en-US" sz="2400" dirty="0">
              <a:solidFill>
                <a:srgbClr val="000000"/>
              </a:solidFill>
              <a:latin typeface="TimesLTStd-Roman"/>
            </a:endParaRPr>
          </a:p>
          <a:p>
            <a:pPr algn="l"/>
            <a:r>
              <a:rPr lang="en-US" sz="2400" b="0" i="0" u="none" strike="noStrike" baseline="0" dirty="0">
                <a:solidFill>
                  <a:srgbClr val="000000"/>
                </a:solidFill>
                <a:latin typeface="TimesLTStd-Roman"/>
              </a:rPr>
              <a:t>A file that is opened using a sequential stream is called</a:t>
            </a:r>
          </a:p>
          <a:p>
            <a:pPr algn="l"/>
            <a:r>
              <a:rPr lang="en-US" sz="2400" b="0" i="0" u="none" strike="noStrike" baseline="0" dirty="0">
                <a:solidFill>
                  <a:srgbClr val="000000"/>
                </a:solidFill>
                <a:latin typeface="TimesLTStd-Roman"/>
              </a:rPr>
              <a:t>a </a:t>
            </a:r>
            <a:r>
              <a:rPr lang="en-US" sz="2400" b="0" i="1" u="none" strike="noStrike" baseline="0" dirty="0">
                <a:solidFill>
                  <a:srgbClr val="000000"/>
                </a:solidFill>
                <a:latin typeface="TimesLTStd-Italic"/>
              </a:rPr>
              <a:t>sequential-access file</a:t>
            </a:r>
            <a:r>
              <a:rPr lang="en-US" sz="2400" b="0" i="0" u="none" strike="noStrike" baseline="0" dirty="0">
                <a:solidFill>
                  <a:srgbClr val="000000"/>
                </a:solidFill>
                <a:latin typeface="TimesLTStd-Roman"/>
              </a:rPr>
              <a:t>. </a:t>
            </a:r>
          </a:p>
          <a:p>
            <a:pPr algn="l"/>
            <a:endParaRPr lang="en-US" sz="2400" dirty="0">
              <a:solidFill>
                <a:srgbClr val="000000"/>
              </a:solidFill>
              <a:latin typeface="TimesLTStd-Roman"/>
            </a:endParaRPr>
          </a:p>
          <a:p>
            <a:pPr algn="l"/>
            <a:r>
              <a:rPr lang="en-US" sz="2400" b="0" i="0" u="none" strike="noStrike" baseline="0" dirty="0">
                <a:solidFill>
                  <a:srgbClr val="000000"/>
                </a:solidFill>
                <a:latin typeface="TimesLTStd-Roman"/>
              </a:rPr>
              <a:t>The contents of a sequential-access file cannot be updated. However, it is often necessary to modify files. </a:t>
            </a:r>
          </a:p>
          <a:p>
            <a:pPr algn="l"/>
            <a:endParaRPr lang="en-US" sz="2400" dirty="0">
              <a:solidFill>
                <a:srgbClr val="000000"/>
              </a:solidFill>
              <a:latin typeface="TimesLTStd-Roman"/>
            </a:endParaRPr>
          </a:p>
          <a:p>
            <a:pPr algn="l"/>
            <a:r>
              <a:rPr lang="en-US" sz="2400" b="0" i="0" u="none" strike="noStrike" baseline="0" dirty="0">
                <a:solidFill>
                  <a:srgbClr val="000000"/>
                </a:solidFill>
                <a:latin typeface="TimesLTStd-Roman"/>
              </a:rPr>
              <a:t>Java provides the </a:t>
            </a:r>
            <a:r>
              <a:rPr lang="en-US" sz="2400" b="1" i="0" u="none" strike="noStrike" baseline="0" dirty="0" err="1">
                <a:solidFill>
                  <a:srgbClr val="00AFF0"/>
                </a:solidFill>
                <a:latin typeface="LucidaSansTypewriterStd-Bd"/>
              </a:rPr>
              <a:t>RandomAccessFile</a:t>
            </a:r>
            <a:r>
              <a:rPr lang="en-US" sz="2400" b="1" i="0" u="none" strike="noStrike" baseline="0" dirty="0">
                <a:solidFill>
                  <a:srgbClr val="00AFF0"/>
                </a:solidFill>
                <a:latin typeface="LucidaSansTypewriterStd-Bd"/>
              </a:rPr>
              <a:t> </a:t>
            </a:r>
            <a:r>
              <a:rPr lang="en-US" sz="2400" b="0" i="0" u="none" strike="noStrike" baseline="0" dirty="0">
                <a:solidFill>
                  <a:srgbClr val="000000"/>
                </a:solidFill>
                <a:latin typeface="TimesLTStd-Roman"/>
              </a:rPr>
              <a:t>class to allow data to be read from and written to at any locations in a file. A file that is opened using the </a:t>
            </a:r>
            <a:r>
              <a:rPr lang="en-US" sz="2400" b="1" i="0" u="none" strike="noStrike" baseline="0" dirty="0" err="1">
                <a:solidFill>
                  <a:srgbClr val="00AFF0"/>
                </a:solidFill>
                <a:latin typeface="LucidaSansTypewriterStd-Bd"/>
              </a:rPr>
              <a:t>RandomAccessFile</a:t>
            </a:r>
            <a:r>
              <a:rPr lang="en-US" sz="2400" b="1" i="0" u="none" strike="noStrike" baseline="0" dirty="0">
                <a:solidFill>
                  <a:srgbClr val="00AFF0"/>
                </a:solidFill>
                <a:latin typeface="LucidaSansTypewriterStd-Bd"/>
              </a:rPr>
              <a:t> </a:t>
            </a:r>
            <a:r>
              <a:rPr lang="en-US" sz="2400" b="0" i="0" u="none" strike="noStrike" baseline="0" dirty="0">
                <a:solidFill>
                  <a:srgbClr val="000000"/>
                </a:solidFill>
                <a:latin typeface="TimesLTStd-Roman"/>
              </a:rPr>
              <a:t>class is known as a </a:t>
            </a:r>
            <a:r>
              <a:rPr lang="en-US" sz="2400" b="0" i="1" u="none" strike="noStrike" baseline="0" dirty="0">
                <a:solidFill>
                  <a:srgbClr val="000000"/>
                </a:solidFill>
                <a:latin typeface="TimesLTStd-Italic"/>
              </a:rPr>
              <a:t>random-access file</a:t>
            </a:r>
            <a:r>
              <a:rPr lang="en-US" sz="2400" b="0" i="0" u="none" strike="noStrike" baseline="0" dirty="0">
                <a:solidFill>
                  <a:srgbClr val="000000"/>
                </a:solidFill>
                <a:latin typeface="TimesLTStd-Roman"/>
              </a:rPr>
              <a:t>.</a:t>
            </a:r>
            <a:endParaRPr lang="en-US" sz="2400" dirty="0"/>
          </a:p>
        </p:txBody>
      </p:sp>
    </p:spTree>
    <p:extLst>
      <p:ext uri="{BB962C8B-B14F-4D97-AF65-F5344CB8AC3E}">
        <p14:creationId xmlns:p14="http://schemas.microsoft.com/office/powerpoint/2010/main" val="1715889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RandomAccessFile</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35</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CA07751D-63AD-B759-FFD4-2A50E301DF68}"/>
              </a:ext>
            </a:extLst>
          </p:cNvPr>
          <p:cNvSpPr txBox="1"/>
          <p:nvPr/>
        </p:nvSpPr>
        <p:spPr>
          <a:xfrm>
            <a:off x="304800" y="1400537"/>
            <a:ext cx="8305800" cy="2893100"/>
          </a:xfrm>
          <a:prstGeom prst="rect">
            <a:avLst/>
          </a:prstGeom>
          <a:noFill/>
        </p:spPr>
        <p:txBody>
          <a:bodyPr wrap="square">
            <a:spAutoFit/>
          </a:bodyPr>
          <a:lstStyle/>
          <a:p>
            <a:pPr algn="l"/>
            <a:r>
              <a:rPr lang="en-US" sz="2400" b="0" i="0" u="none" strike="noStrike" baseline="0" dirty="0">
                <a:solidFill>
                  <a:srgbClr val="000000"/>
                </a:solidFill>
                <a:latin typeface="TimesLTStd-Roman"/>
              </a:rPr>
              <a:t>When creating a </a:t>
            </a:r>
            <a:r>
              <a:rPr lang="en-US" sz="2400" b="1" i="0" u="none" strike="noStrike" baseline="0" dirty="0" err="1">
                <a:solidFill>
                  <a:srgbClr val="00AFF0"/>
                </a:solidFill>
                <a:latin typeface="LucidaSansTypewriterStd-Bd"/>
              </a:rPr>
              <a:t>RandomAccessFile</a:t>
            </a:r>
            <a:r>
              <a:rPr lang="en-US" sz="2400" b="0" i="0" u="none" strike="noStrike" baseline="0" dirty="0">
                <a:solidFill>
                  <a:srgbClr val="000000"/>
                </a:solidFill>
                <a:latin typeface="TimesLTStd-Roman"/>
              </a:rPr>
              <a:t>, you can specify one of two modes: </a:t>
            </a:r>
            <a:r>
              <a:rPr lang="en-US" sz="2400" b="1" i="0" u="none" strike="noStrike" baseline="0" dirty="0">
                <a:solidFill>
                  <a:srgbClr val="00AFF0"/>
                </a:solidFill>
                <a:latin typeface="LucidaSansTypewriterStd-Bd"/>
              </a:rPr>
              <a:t>r </a:t>
            </a:r>
            <a:r>
              <a:rPr lang="en-US" sz="2400" b="0" i="0" u="none" strike="noStrike" baseline="0" dirty="0">
                <a:solidFill>
                  <a:srgbClr val="000000"/>
                </a:solidFill>
                <a:latin typeface="TimesLTStd-Roman"/>
              </a:rPr>
              <a:t>or </a:t>
            </a:r>
            <a:r>
              <a:rPr lang="en-US" sz="2400" b="1" i="0" u="none" strike="noStrike" baseline="0" dirty="0" err="1">
                <a:solidFill>
                  <a:srgbClr val="00AFF0"/>
                </a:solidFill>
                <a:latin typeface="LucidaSansTypewriterStd-Bd"/>
              </a:rPr>
              <a:t>rw</a:t>
            </a:r>
            <a:r>
              <a:rPr lang="en-US" sz="2400" b="0" i="0" u="none" strike="noStrike" baseline="0" dirty="0">
                <a:solidFill>
                  <a:srgbClr val="000000"/>
                </a:solidFill>
                <a:latin typeface="TimesLTStd-Roman"/>
              </a:rPr>
              <a:t>. Mode </a:t>
            </a:r>
            <a:r>
              <a:rPr lang="en-US" sz="2400" b="1" i="0" u="none" strike="noStrike" baseline="0" dirty="0">
                <a:solidFill>
                  <a:srgbClr val="00AFF0"/>
                </a:solidFill>
                <a:latin typeface="LucidaSansTypewriterStd-Bd"/>
              </a:rPr>
              <a:t>r </a:t>
            </a:r>
            <a:r>
              <a:rPr lang="en-US" sz="2400" b="0" i="0" u="none" strike="noStrike" baseline="0" dirty="0">
                <a:solidFill>
                  <a:srgbClr val="000000"/>
                </a:solidFill>
                <a:latin typeface="TimesLTStd-Roman"/>
              </a:rPr>
              <a:t>means that the stream is read-only, and mode </a:t>
            </a:r>
            <a:r>
              <a:rPr lang="en-US" sz="2400" b="1" i="0" u="none" strike="noStrike" baseline="0" dirty="0" err="1">
                <a:solidFill>
                  <a:srgbClr val="00AFF0"/>
                </a:solidFill>
                <a:latin typeface="LucidaSansTypewriterStd-Bd"/>
              </a:rPr>
              <a:t>rw</a:t>
            </a:r>
            <a:r>
              <a:rPr lang="en-US" sz="2400" b="1" i="0" u="none" strike="noStrike" baseline="0" dirty="0">
                <a:solidFill>
                  <a:srgbClr val="00AFF0"/>
                </a:solidFill>
                <a:latin typeface="LucidaSansTypewriterStd-Bd"/>
              </a:rPr>
              <a:t> </a:t>
            </a:r>
            <a:r>
              <a:rPr lang="en-US" sz="2400" b="0" i="0" u="none" strike="noStrike" baseline="0" dirty="0">
                <a:solidFill>
                  <a:srgbClr val="000000"/>
                </a:solidFill>
                <a:latin typeface="TimesLTStd-Roman"/>
              </a:rPr>
              <a:t>indicates that the stream allows both read</a:t>
            </a:r>
          </a:p>
          <a:p>
            <a:pPr algn="l"/>
            <a:r>
              <a:rPr lang="en-US" sz="2400" b="0" i="0" u="none" strike="noStrike" baseline="0" dirty="0">
                <a:solidFill>
                  <a:srgbClr val="000000"/>
                </a:solidFill>
                <a:latin typeface="TimesLTStd-Roman"/>
              </a:rPr>
              <a:t>and write. For example, the following statement creates a new stream, </a:t>
            </a:r>
            <a:r>
              <a:rPr lang="en-US" sz="2400" b="1" i="0" u="none" strike="noStrike" baseline="0" dirty="0" err="1">
                <a:solidFill>
                  <a:srgbClr val="00AFF0"/>
                </a:solidFill>
                <a:latin typeface="LucidaSansTypewriterStd-Bd"/>
              </a:rPr>
              <a:t>raf</a:t>
            </a:r>
            <a:r>
              <a:rPr lang="en-US" sz="2400" b="0" i="0" u="none" strike="noStrike" baseline="0" dirty="0">
                <a:solidFill>
                  <a:srgbClr val="000000"/>
                </a:solidFill>
                <a:latin typeface="TimesLTStd-Roman"/>
              </a:rPr>
              <a:t>, that allows the program to read from and write to the file </a:t>
            </a:r>
            <a:r>
              <a:rPr lang="en-US" sz="2400" b="1" i="0" u="none" strike="noStrike" baseline="0" dirty="0">
                <a:solidFill>
                  <a:srgbClr val="000000"/>
                </a:solidFill>
                <a:latin typeface="TimesLTStd-Bold"/>
              </a:rPr>
              <a:t>test.dat</a:t>
            </a:r>
            <a:r>
              <a:rPr lang="en-US" sz="2400" b="0" i="0" u="none" strike="noStrike" baseline="0" dirty="0">
                <a:solidFill>
                  <a:srgbClr val="000000"/>
                </a:solidFill>
                <a:latin typeface="TimesLTStd-Roman"/>
              </a:rPr>
              <a:t>:</a:t>
            </a:r>
          </a:p>
          <a:p>
            <a:pPr algn="l"/>
            <a:endParaRPr lang="en-US" sz="1400" b="0" i="0" u="none" strike="noStrike" baseline="0" dirty="0">
              <a:solidFill>
                <a:srgbClr val="000000"/>
              </a:solidFill>
              <a:latin typeface="TimesLTStd-Roman"/>
            </a:endParaRPr>
          </a:p>
          <a:p>
            <a:pPr algn="l"/>
            <a:r>
              <a:rPr lang="en-US" sz="2400" b="0" i="0" u="none" strike="noStrike" baseline="0" dirty="0" err="1">
                <a:solidFill>
                  <a:srgbClr val="000000"/>
                </a:solidFill>
                <a:latin typeface="LucidaSansTypewriterStd"/>
              </a:rPr>
              <a:t>RandomAccessFile</a:t>
            </a:r>
            <a:r>
              <a:rPr lang="en-US" sz="2400" b="0" i="0" u="none" strike="noStrike" baseline="0" dirty="0">
                <a:solidFill>
                  <a:srgbClr val="000000"/>
                </a:solidFill>
                <a:latin typeface="LucidaSansTypewriterStd"/>
              </a:rPr>
              <a:t> </a:t>
            </a:r>
            <a:r>
              <a:rPr lang="en-US" sz="2400" b="0" i="0" u="none" strike="noStrike" baseline="0" dirty="0" err="1">
                <a:solidFill>
                  <a:srgbClr val="000000"/>
                </a:solidFill>
                <a:latin typeface="LucidaSansTypewriterStd"/>
              </a:rPr>
              <a:t>raf</a:t>
            </a:r>
            <a:r>
              <a:rPr lang="en-US" sz="2400" b="0" i="0" u="none" strike="noStrike" baseline="0" dirty="0">
                <a:solidFill>
                  <a:srgbClr val="000000"/>
                </a:solidFill>
                <a:latin typeface="LucidaSansTypewriterStd"/>
              </a:rPr>
              <a:t> = </a:t>
            </a:r>
            <a:r>
              <a:rPr lang="en-US" sz="2400" b="1" i="0" u="none" strike="noStrike" baseline="0" dirty="0">
                <a:solidFill>
                  <a:srgbClr val="005B80"/>
                </a:solidFill>
                <a:latin typeface="LucidaSansTypewriterStd-Bd"/>
              </a:rPr>
              <a:t>new </a:t>
            </a:r>
            <a:r>
              <a:rPr lang="en-US" sz="2400" b="0" i="0" u="none" strike="noStrike" baseline="0" dirty="0" err="1">
                <a:solidFill>
                  <a:srgbClr val="000000"/>
                </a:solidFill>
                <a:latin typeface="LucidaSansTypewriterStd"/>
              </a:rPr>
              <a:t>RandomAccessFile</a:t>
            </a:r>
            <a:r>
              <a:rPr lang="en-US" sz="2400" b="0" i="0" u="none" strike="noStrike" baseline="0" dirty="0">
                <a:solidFill>
                  <a:srgbClr val="000000"/>
                </a:solidFill>
                <a:latin typeface="LucidaSansTypewriterStd"/>
              </a:rPr>
              <a:t>(</a:t>
            </a:r>
            <a:r>
              <a:rPr lang="en-US" sz="2400" b="1" i="0" u="none" strike="noStrike" baseline="0" dirty="0">
                <a:solidFill>
                  <a:srgbClr val="00AFF0"/>
                </a:solidFill>
                <a:latin typeface="LucidaSansTypewriterStd-Bd"/>
              </a:rPr>
              <a:t>"test.</a:t>
            </a:r>
            <a:r>
              <a:rPr lang="en-US" sz="2400" b="1" i="0" u="none" strike="noStrike" baseline="0" dirty="0" err="1">
                <a:solidFill>
                  <a:srgbClr val="00AFF0"/>
                </a:solidFill>
                <a:latin typeface="LucidaSansTypewriterStd-Bd"/>
              </a:rPr>
              <a:t>dat</a:t>
            </a:r>
            <a:r>
              <a:rPr lang="en-US" sz="2400" b="1" i="0" u="none" strike="noStrike" baseline="0" dirty="0">
                <a:solidFill>
                  <a:srgbClr val="00AFF0"/>
                </a:solidFill>
                <a:latin typeface="LucidaSansTypewriterStd-Bd"/>
              </a:rPr>
              <a:t>"</a:t>
            </a:r>
            <a:r>
              <a:rPr lang="en-US" sz="2400" b="0" i="0" u="none" strike="noStrike" baseline="0" dirty="0">
                <a:solidFill>
                  <a:srgbClr val="000000"/>
                </a:solidFill>
                <a:latin typeface="LucidaSansTypewriterStd"/>
              </a:rPr>
              <a:t>,</a:t>
            </a:r>
            <a:r>
              <a:rPr lang="en-US" sz="2400" b="1" i="0" u="none" strike="noStrike" baseline="0" dirty="0">
                <a:solidFill>
                  <a:srgbClr val="00AFF0"/>
                </a:solidFill>
                <a:latin typeface="LucidaSansTypewriterStd-Bd"/>
              </a:rPr>
              <a:t>"</a:t>
            </a:r>
            <a:r>
              <a:rPr lang="en-US" sz="2400" b="1" i="0" u="none" strike="noStrike" baseline="0" dirty="0" err="1">
                <a:solidFill>
                  <a:srgbClr val="00AFF0"/>
                </a:solidFill>
                <a:latin typeface="LucidaSansTypewriterStd-Bd"/>
              </a:rPr>
              <a:t>rw</a:t>
            </a:r>
            <a:r>
              <a:rPr lang="en-US" sz="2400" b="1" i="0" u="none" strike="noStrike" baseline="0" dirty="0">
                <a:solidFill>
                  <a:srgbClr val="00AFF0"/>
                </a:solidFill>
                <a:latin typeface="LucidaSansTypewriterStd-Bd"/>
              </a:rPr>
              <a:t>"</a:t>
            </a:r>
            <a:r>
              <a:rPr lang="en-US" sz="2400" b="0" i="0" u="none" strike="noStrike" baseline="0" dirty="0">
                <a:solidFill>
                  <a:srgbClr val="000000"/>
                </a:solidFill>
                <a:latin typeface="LucidaSansTypewriterStd"/>
              </a:rPr>
              <a:t>);</a:t>
            </a:r>
            <a:endParaRPr lang="en-US" sz="2400" dirty="0"/>
          </a:p>
        </p:txBody>
      </p:sp>
    </p:spTree>
    <p:extLst>
      <p:ext uri="{BB962C8B-B14F-4D97-AF65-F5344CB8AC3E}">
        <p14:creationId xmlns:p14="http://schemas.microsoft.com/office/powerpoint/2010/main" val="1036696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RandomAccessFile</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36</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xmlns="" id="{5866A34D-EE54-0158-05FC-0A11F5FD7703}"/>
              </a:ext>
            </a:extLst>
          </p:cNvPr>
          <p:cNvSpPr txBox="1"/>
          <p:nvPr/>
        </p:nvSpPr>
        <p:spPr>
          <a:xfrm>
            <a:off x="342900" y="1101815"/>
            <a:ext cx="8458200" cy="2308324"/>
          </a:xfrm>
          <a:prstGeom prst="rect">
            <a:avLst/>
          </a:prstGeom>
          <a:noFill/>
        </p:spPr>
        <p:txBody>
          <a:bodyPr wrap="square">
            <a:spAutoFit/>
          </a:bodyPr>
          <a:lstStyle/>
          <a:p>
            <a:pPr algn="l"/>
            <a:r>
              <a:rPr lang="en-US" sz="2400" b="0" i="0" u="none" strike="noStrike" baseline="0" dirty="0">
                <a:latin typeface="TimesLTStd-Roman"/>
              </a:rPr>
              <a:t>A random-access file consists of a sequence of bytes. A special marker called a </a:t>
            </a:r>
            <a:r>
              <a:rPr lang="en-US" sz="2400" b="0" i="1" u="none" strike="noStrike" baseline="0" dirty="0">
                <a:latin typeface="TimesLTStd-Italic"/>
              </a:rPr>
              <a:t>file pointer </a:t>
            </a:r>
            <a:r>
              <a:rPr lang="en-US" sz="2400" b="0" i="0" u="none" strike="noStrike" baseline="0" dirty="0">
                <a:latin typeface="TimesLTStd-Roman"/>
              </a:rPr>
              <a:t>is positioned at one of these bytes. A read or write operation takes place at the location of the file pointer. When a file is opened, the file pointer is set at the beginning of the file. When you read or write data to the file, the file pointer moves forward to the next data item.</a:t>
            </a:r>
            <a:endParaRPr lang="en-US" sz="2400" dirty="0"/>
          </a:p>
        </p:txBody>
      </p:sp>
      <p:pic>
        <p:nvPicPr>
          <p:cNvPr id="4" name="Picture 3">
            <a:extLst>
              <a:ext uri="{FF2B5EF4-FFF2-40B4-BE49-F238E27FC236}">
                <a16:creationId xmlns:a16="http://schemas.microsoft.com/office/drawing/2014/main" xmlns="" id="{3EB5216C-EA57-DC64-47D4-7A6211F925DB}"/>
              </a:ext>
            </a:extLst>
          </p:cNvPr>
          <p:cNvPicPr>
            <a:picLocks noChangeAspect="1"/>
          </p:cNvPicPr>
          <p:nvPr/>
        </p:nvPicPr>
        <p:blipFill>
          <a:blip r:embed="rId2"/>
          <a:stretch>
            <a:fillRect/>
          </a:stretch>
        </p:blipFill>
        <p:spPr>
          <a:xfrm>
            <a:off x="342900" y="3655081"/>
            <a:ext cx="7229475" cy="2400300"/>
          </a:xfrm>
          <a:prstGeom prst="rect">
            <a:avLst/>
          </a:prstGeom>
        </p:spPr>
      </p:pic>
      <p:sp>
        <p:nvSpPr>
          <p:cNvPr id="6" name="TextBox 5">
            <a:extLst>
              <a:ext uri="{FF2B5EF4-FFF2-40B4-BE49-F238E27FC236}">
                <a16:creationId xmlns:a16="http://schemas.microsoft.com/office/drawing/2014/main" xmlns="" id="{55CF7DD4-B1CF-89A5-1918-56353A85E642}"/>
              </a:ext>
            </a:extLst>
          </p:cNvPr>
          <p:cNvSpPr txBox="1"/>
          <p:nvPr/>
        </p:nvSpPr>
        <p:spPr>
          <a:xfrm>
            <a:off x="381000" y="3429000"/>
            <a:ext cx="1295400" cy="338554"/>
          </a:xfrm>
          <a:prstGeom prst="rect">
            <a:avLst/>
          </a:prstGeom>
          <a:noFill/>
        </p:spPr>
        <p:txBody>
          <a:bodyPr wrap="square" rtlCol="0">
            <a:spAutoFit/>
          </a:bodyPr>
          <a:lstStyle/>
          <a:p>
            <a:r>
              <a:rPr lang="en-US" dirty="0">
                <a:solidFill>
                  <a:srgbClr val="0066FF"/>
                </a:solidFill>
              </a:rPr>
              <a:t>Example: </a:t>
            </a:r>
          </a:p>
        </p:txBody>
      </p:sp>
      <p:sp>
        <p:nvSpPr>
          <p:cNvPr id="7" name="TextBox 6">
            <a:extLst>
              <a:ext uri="{FF2B5EF4-FFF2-40B4-BE49-F238E27FC236}">
                <a16:creationId xmlns:a16="http://schemas.microsoft.com/office/drawing/2014/main" xmlns="" id="{29D94F7E-75C5-08A5-9376-CE07799A101A}"/>
              </a:ext>
            </a:extLst>
          </p:cNvPr>
          <p:cNvSpPr txBox="1"/>
          <p:nvPr/>
        </p:nvSpPr>
        <p:spPr>
          <a:xfrm>
            <a:off x="6172200" y="4800600"/>
            <a:ext cx="2362200" cy="369332"/>
          </a:xfrm>
          <a:prstGeom prst="rect">
            <a:avLst/>
          </a:prstGeom>
          <a:noFill/>
        </p:spPr>
        <p:txBody>
          <a:bodyPr wrap="square" rtlCol="0">
            <a:spAutoFit/>
          </a:bodyPr>
          <a:lstStyle/>
          <a:p>
            <a:r>
              <a:rPr lang="en-US" sz="1800" b="0" i="0" u="none" strike="noStrike" baseline="0" dirty="0">
                <a:latin typeface="TimesTen-Roman"/>
              </a:rPr>
              <a:t>(a) Before </a:t>
            </a:r>
            <a:r>
              <a:rPr lang="en-US" sz="1800" b="0" i="0" u="none" strike="noStrike" baseline="0" dirty="0" err="1">
                <a:latin typeface="LucidaSansTypewriter"/>
              </a:rPr>
              <a:t>readInt</a:t>
            </a:r>
            <a:r>
              <a:rPr lang="en-US" sz="1800" b="0" i="0" u="none" strike="noStrike" baseline="0" dirty="0">
                <a:latin typeface="LucidaSansTypewriter"/>
              </a:rPr>
              <a:t>()</a:t>
            </a:r>
            <a:r>
              <a:rPr lang="en-US" dirty="0">
                <a:solidFill>
                  <a:srgbClr val="0066FF"/>
                </a:solidFill>
              </a:rPr>
              <a:t>: </a:t>
            </a:r>
          </a:p>
        </p:txBody>
      </p:sp>
      <p:sp>
        <p:nvSpPr>
          <p:cNvPr id="8" name="TextBox 7">
            <a:extLst>
              <a:ext uri="{FF2B5EF4-FFF2-40B4-BE49-F238E27FC236}">
                <a16:creationId xmlns:a16="http://schemas.microsoft.com/office/drawing/2014/main" xmlns="" id="{56E12577-9B2E-6C38-6769-55719A1849E7}"/>
              </a:ext>
            </a:extLst>
          </p:cNvPr>
          <p:cNvSpPr txBox="1"/>
          <p:nvPr/>
        </p:nvSpPr>
        <p:spPr>
          <a:xfrm>
            <a:off x="6096000" y="6115657"/>
            <a:ext cx="2362200" cy="369332"/>
          </a:xfrm>
          <a:prstGeom prst="rect">
            <a:avLst/>
          </a:prstGeom>
          <a:noFill/>
        </p:spPr>
        <p:txBody>
          <a:bodyPr wrap="square" rtlCol="0">
            <a:spAutoFit/>
          </a:bodyPr>
          <a:lstStyle/>
          <a:p>
            <a:r>
              <a:rPr lang="en-US" sz="1800" b="0" i="0" u="none" strike="noStrike" baseline="0" dirty="0">
                <a:latin typeface="TimesTen-Roman"/>
              </a:rPr>
              <a:t>(b) After </a:t>
            </a:r>
            <a:r>
              <a:rPr lang="en-US" sz="1800" b="0" i="0" u="none" strike="noStrike" baseline="0" dirty="0" err="1">
                <a:latin typeface="LucidaSansTypewriter"/>
              </a:rPr>
              <a:t>readInt</a:t>
            </a:r>
            <a:r>
              <a:rPr lang="en-US" sz="1800" b="0" i="0" u="none" strike="noStrike" baseline="0" dirty="0">
                <a:latin typeface="LucidaSansTypewriter"/>
              </a:rPr>
              <a:t>()</a:t>
            </a:r>
            <a:r>
              <a:rPr lang="en-US" dirty="0">
                <a:solidFill>
                  <a:srgbClr val="0066FF"/>
                </a:solidFill>
              </a:rPr>
              <a:t>: </a:t>
            </a:r>
          </a:p>
        </p:txBody>
      </p:sp>
    </p:spTree>
    <p:extLst>
      <p:ext uri="{BB962C8B-B14F-4D97-AF65-F5344CB8AC3E}">
        <p14:creationId xmlns:p14="http://schemas.microsoft.com/office/powerpoint/2010/main" val="463054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RandomAccessFile</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37</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58EE3672-D812-0871-7701-6EA603556AB7}"/>
              </a:ext>
            </a:extLst>
          </p:cNvPr>
          <p:cNvSpPr txBox="1"/>
          <p:nvPr/>
        </p:nvSpPr>
        <p:spPr>
          <a:xfrm>
            <a:off x="457200" y="1701016"/>
            <a:ext cx="8153400" cy="1569660"/>
          </a:xfrm>
          <a:prstGeom prst="rect">
            <a:avLst/>
          </a:prstGeom>
          <a:noFill/>
        </p:spPr>
        <p:txBody>
          <a:bodyPr wrap="square">
            <a:spAutoFit/>
          </a:bodyPr>
          <a:lstStyle/>
          <a:p>
            <a:pPr algn="l"/>
            <a:r>
              <a:rPr lang="en-US" sz="2400" b="0" i="0" u="none" strike="noStrike" baseline="0" dirty="0">
                <a:solidFill>
                  <a:srgbClr val="000000"/>
                </a:solidFill>
                <a:latin typeface="TimesLTStd-Roman"/>
              </a:rPr>
              <a:t>For a </a:t>
            </a:r>
            <a:r>
              <a:rPr lang="en-US" sz="2400" b="1" i="0" u="none" strike="noStrike" baseline="0" dirty="0" err="1">
                <a:solidFill>
                  <a:srgbClr val="00AFF0"/>
                </a:solidFill>
                <a:latin typeface="LucidaSansTypewriterStd-Bd"/>
              </a:rPr>
              <a:t>RandomAccessFile</a:t>
            </a:r>
            <a:r>
              <a:rPr lang="en-US" sz="2400" b="1" i="0" u="none" strike="noStrike" baseline="0" dirty="0">
                <a:solidFill>
                  <a:srgbClr val="00AFF0"/>
                </a:solidFill>
                <a:latin typeface="LucidaSansTypewriterStd-Bd"/>
              </a:rPr>
              <a:t> </a:t>
            </a:r>
            <a:r>
              <a:rPr lang="en-US" sz="2400" b="1" i="0" u="none" strike="noStrike" baseline="0" dirty="0" err="1">
                <a:solidFill>
                  <a:srgbClr val="00AFF0"/>
                </a:solidFill>
                <a:latin typeface="LucidaSansTypewriterStd-Bd"/>
              </a:rPr>
              <a:t>raf</a:t>
            </a:r>
            <a:r>
              <a:rPr lang="en-US" sz="2400" b="0" i="0" u="none" strike="noStrike" baseline="0" dirty="0">
                <a:solidFill>
                  <a:srgbClr val="000000"/>
                </a:solidFill>
                <a:latin typeface="TimesLTStd-Roman"/>
              </a:rPr>
              <a:t>, you can use the </a:t>
            </a:r>
            <a:r>
              <a:rPr lang="en-US" sz="2400" b="1" i="0" u="none" strike="noStrike" baseline="0" dirty="0" err="1">
                <a:solidFill>
                  <a:srgbClr val="00AFF0"/>
                </a:solidFill>
                <a:latin typeface="LucidaSansTypewriterStd-Bd"/>
              </a:rPr>
              <a:t>raf.seek</a:t>
            </a:r>
            <a:r>
              <a:rPr lang="en-US" sz="2400" b="1" i="0" u="none" strike="noStrike" baseline="0" dirty="0">
                <a:solidFill>
                  <a:srgbClr val="00AFF0"/>
                </a:solidFill>
                <a:latin typeface="LucidaSansTypewriterStd-Bd"/>
              </a:rPr>
              <a:t>(position) </a:t>
            </a:r>
            <a:r>
              <a:rPr lang="en-US" sz="2400" b="0" i="0" u="none" strike="noStrike" baseline="0" dirty="0">
                <a:solidFill>
                  <a:srgbClr val="000000"/>
                </a:solidFill>
                <a:latin typeface="TimesLTStd-Roman"/>
              </a:rPr>
              <a:t>method to move the file pointer to a specified position. </a:t>
            </a:r>
            <a:r>
              <a:rPr lang="en-US" sz="2400" b="1" i="0" u="none" strike="noStrike" baseline="0" dirty="0" err="1">
                <a:solidFill>
                  <a:srgbClr val="00AFF0"/>
                </a:solidFill>
                <a:latin typeface="LucidaSansTypewriterStd-Bd"/>
              </a:rPr>
              <a:t>raf.seek</a:t>
            </a:r>
            <a:r>
              <a:rPr lang="en-US" sz="2400" b="1" i="0" u="none" strike="noStrike" baseline="0" dirty="0">
                <a:solidFill>
                  <a:srgbClr val="00AFF0"/>
                </a:solidFill>
                <a:latin typeface="LucidaSansTypewriterStd-Bd"/>
              </a:rPr>
              <a:t>(0) </a:t>
            </a:r>
            <a:r>
              <a:rPr lang="en-US" sz="2400" b="0" i="0" u="none" strike="noStrike" baseline="0" dirty="0">
                <a:solidFill>
                  <a:srgbClr val="000000"/>
                </a:solidFill>
                <a:latin typeface="TimesLTStd-Roman"/>
              </a:rPr>
              <a:t>moves it to the beginning of the file, and </a:t>
            </a:r>
            <a:r>
              <a:rPr lang="en-US" sz="2400" b="1" i="0" u="none" strike="noStrike" baseline="0" dirty="0" err="1">
                <a:solidFill>
                  <a:srgbClr val="00AFF0"/>
                </a:solidFill>
                <a:latin typeface="LucidaSansTypewriterStd-Bd"/>
              </a:rPr>
              <a:t>raf.seek</a:t>
            </a:r>
            <a:r>
              <a:rPr lang="en-US" sz="2400" b="1" i="0" u="none" strike="noStrike" baseline="0" dirty="0">
                <a:solidFill>
                  <a:srgbClr val="00AFF0"/>
                </a:solidFill>
                <a:latin typeface="LucidaSansTypewriterStd-Bd"/>
              </a:rPr>
              <a:t>(</a:t>
            </a:r>
            <a:r>
              <a:rPr lang="en-US" sz="2400" b="1" i="0" u="none" strike="noStrike" baseline="0" dirty="0" err="1">
                <a:solidFill>
                  <a:srgbClr val="00AFF0"/>
                </a:solidFill>
                <a:latin typeface="LucidaSansTypewriterStd-Bd"/>
              </a:rPr>
              <a:t>raf.length</a:t>
            </a:r>
            <a:r>
              <a:rPr lang="en-US" sz="2400" b="1" i="0" u="none" strike="noStrike" baseline="0" dirty="0">
                <a:solidFill>
                  <a:srgbClr val="00AFF0"/>
                </a:solidFill>
                <a:latin typeface="LucidaSansTypewriterStd-Bd"/>
              </a:rPr>
              <a:t>()) </a:t>
            </a:r>
            <a:r>
              <a:rPr lang="en-US" sz="2400" b="0" i="0" u="none" strike="noStrike" baseline="0" dirty="0">
                <a:solidFill>
                  <a:srgbClr val="000000"/>
                </a:solidFill>
                <a:latin typeface="TimesLTStd-Roman"/>
              </a:rPr>
              <a:t>moves it to the end of the file.</a:t>
            </a:r>
            <a:endParaRPr lang="en-US" sz="2400" dirty="0"/>
          </a:p>
        </p:txBody>
      </p:sp>
    </p:spTree>
    <p:extLst>
      <p:ext uri="{BB962C8B-B14F-4D97-AF65-F5344CB8AC3E}">
        <p14:creationId xmlns:p14="http://schemas.microsoft.com/office/powerpoint/2010/main" val="7430503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RandomAccessFile</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38</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822F2C23-4F6A-F98C-CEA0-F4C79691FD5C}"/>
              </a:ext>
            </a:extLst>
          </p:cNvPr>
          <p:cNvSpPr txBox="1"/>
          <p:nvPr/>
        </p:nvSpPr>
        <p:spPr>
          <a:xfrm>
            <a:off x="762000" y="990600"/>
            <a:ext cx="6629400" cy="5663089"/>
          </a:xfrm>
          <a:prstGeom prst="rect">
            <a:avLst/>
          </a:prstGeom>
          <a:noFill/>
        </p:spPr>
        <p:txBody>
          <a:bodyPr wrap="square">
            <a:spAutoFit/>
          </a:bodyPr>
          <a:lstStyle/>
          <a:p>
            <a:pPr algn="l"/>
            <a:r>
              <a:rPr lang="en-US" sz="1600" b="1" i="0" u="none" strike="noStrike" baseline="0" dirty="0">
                <a:solidFill>
                  <a:srgbClr val="005B80"/>
                </a:solidFill>
                <a:latin typeface="LucidaSansTypewriterStd-Bd"/>
              </a:rPr>
              <a:t>import </a:t>
            </a:r>
            <a:r>
              <a:rPr lang="en-US" sz="1600" b="0" i="0" u="none" strike="noStrike" baseline="0" dirty="0">
                <a:solidFill>
                  <a:srgbClr val="000000"/>
                </a:solidFill>
                <a:latin typeface="LucidaSansTypewriterStd"/>
              </a:rPr>
              <a:t>java.io.*;</a:t>
            </a:r>
          </a:p>
          <a:p>
            <a:pPr algn="l"/>
            <a:endParaRPr lang="en-US" sz="105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a:t>
            </a:r>
            <a:r>
              <a:rPr lang="en-US" sz="1600" b="1" i="0" u="none" strike="noStrike" baseline="0" dirty="0">
                <a:solidFill>
                  <a:srgbClr val="005B80"/>
                </a:solidFill>
                <a:latin typeface="LucidaSansTypewriterStd-Bd"/>
              </a:rPr>
              <a:t>public class </a:t>
            </a:r>
            <a:r>
              <a:rPr lang="en-US" sz="1600" b="0" i="0" u="none" strike="noStrike" baseline="0" dirty="0" err="1">
                <a:solidFill>
                  <a:srgbClr val="000000"/>
                </a:solidFill>
                <a:latin typeface="LucidaSansTypewriterStd"/>
              </a:rPr>
              <a:t>TestRandomAccessFile</a:t>
            </a:r>
            <a:r>
              <a:rPr lang="en-US" sz="1600" b="0" i="0" u="none" strike="noStrike" baseline="0" dirty="0">
                <a:solidFill>
                  <a:srgbClr val="000000"/>
                </a:solidFill>
                <a:latin typeface="LucidaSansTypewriterStd"/>
              </a:rPr>
              <a:t> {</a:t>
            </a:r>
          </a:p>
          <a:p>
            <a:pPr algn="l"/>
            <a:r>
              <a:rPr lang="en-US" sz="1600" b="0" i="0" u="none" strike="noStrike" baseline="0" dirty="0">
                <a:solidFill>
                  <a:srgbClr val="000000"/>
                </a:solidFill>
                <a:latin typeface="LucidaSansTypewriterStd"/>
              </a:rPr>
              <a:t> </a:t>
            </a:r>
            <a:r>
              <a:rPr lang="en-US" sz="1600" b="1" i="0" u="none" strike="noStrike" baseline="0" dirty="0">
                <a:solidFill>
                  <a:srgbClr val="005B80"/>
                </a:solidFill>
                <a:latin typeface="LucidaSansTypewriterStd-Bd"/>
              </a:rPr>
              <a:t>public static void </a:t>
            </a:r>
            <a:r>
              <a:rPr lang="en-US" sz="1600" b="0" i="0" u="none" strike="noStrike" baseline="0" dirty="0">
                <a:solidFill>
                  <a:srgbClr val="000000"/>
                </a:solidFill>
                <a:latin typeface="LucidaSansTypewriterStd"/>
              </a:rPr>
              <a:t>main(String[] </a:t>
            </a:r>
            <a:r>
              <a:rPr lang="en-US" sz="1600" b="0" i="0" u="none" strike="noStrike" baseline="0" dirty="0" err="1">
                <a:solidFill>
                  <a:srgbClr val="000000"/>
                </a:solidFill>
                <a:latin typeface="LucidaSansTypewriterStd"/>
              </a:rPr>
              <a:t>args</a:t>
            </a:r>
            <a:r>
              <a:rPr lang="en-US" sz="1600" b="0" i="0" u="none" strike="noStrike" baseline="0" dirty="0">
                <a:solidFill>
                  <a:srgbClr val="000000"/>
                </a:solidFill>
                <a:latin typeface="LucidaSansTypewriterStd"/>
              </a:rPr>
              <a:t>) </a:t>
            </a:r>
            <a:r>
              <a:rPr lang="en-US" sz="1600" b="1" i="0" u="none" strike="noStrike" baseline="0" dirty="0">
                <a:solidFill>
                  <a:srgbClr val="005B80"/>
                </a:solidFill>
                <a:latin typeface="LucidaSansTypewriterStd-Bd"/>
              </a:rPr>
              <a:t>throws </a:t>
            </a:r>
            <a:r>
              <a:rPr lang="en-US" sz="1600" b="0" i="0" u="none" strike="noStrike" baseline="0" dirty="0" err="1">
                <a:solidFill>
                  <a:srgbClr val="000000"/>
                </a:solidFill>
                <a:latin typeface="LucidaSansTypewriterStd"/>
              </a:rPr>
              <a:t>IOException</a:t>
            </a:r>
            <a:r>
              <a:rPr lang="en-US" sz="1600" b="0" i="0" u="none" strike="noStrike" baseline="0" dirty="0">
                <a:solidFill>
                  <a:srgbClr val="000000"/>
                </a:solidFill>
                <a:latin typeface="LucidaSansTypewriterStd"/>
              </a:rPr>
              <a:t> {</a:t>
            </a:r>
          </a:p>
          <a:p>
            <a:pPr algn="l"/>
            <a:r>
              <a:rPr lang="en-US" sz="1600" b="0" i="0" u="none" strike="noStrike" baseline="0" dirty="0">
                <a:solidFill>
                  <a:srgbClr val="000000"/>
                </a:solidFill>
                <a:latin typeface="LucidaSansTypewriterStd"/>
              </a:rPr>
              <a:t> </a:t>
            </a:r>
            <a:r>
              <a:rPr lang="en-US" sz="1600" b="1" i="0" u="none" strike="noStrike" baseline="0" dirty="0">
                <a:solidFill>
                  <a:srgbClr val="005B80"/>
                </a:solidFill>
                <a:latin typeface="LucidaSansTypewriterStd-Bd"/>
              </a:rPr>
              <a:t>try </a:t>
            </a:r>
            <a:r>
              <a:rPr lang="en-US" sz="1600" b="0" i="0" u="none" strike="noStrike" baseline="0" dirty="0">
                <a:solidFill>
                  <a:srgbClr val="000000"/>
                </a:solidFill>
                <a:latin typeface="LucidaSansTypewriterStd"/>
              </a:rPr>
              <a:t>( // Create a random access file</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RandomAccessFile</a:t>
            </a:r>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a:t>
            </a:r>
            <a:r>
              <a:rPr lang="en-US" sz="1600" b="0" i="0" u="none" strike="noStrike" baseline="0" dirty="0">
                <a:solidFill>
                  <a:srgbClr val="000000"/>
                </a:solidFill>
                <a:latin typeface="LucidaSansTypewriterStd"/>
              </a:rPr>
              <a:t> = </a:t>
            </a:r>
            <a:r>
              <a:rPr lang="en-US" sz="1600" b="1" i="0" u="none" strike="noStrike" baseline="0" dirty="0">
                <a:solidFill>
                  <a:srgbClr val="005B80"/>
                </a:solidFill>
                <a:latin typeface="LucidaSansTypewriterStd-Bd"/>
              </a:rPr>
              <a:t>new </a:t>
            </a:r>
            <a:r>
              <a:rPr lang="en-US" sz="1600" b="0" i="0" u="none" strike="noStrike" baseline="0" dirty="0" err="1">
                <a:solidFill>
                  <a:srgbClr val="000000"/>
                </a:solidFill>
                <a:latin typeface="LucidaSansTypewriterStd"/>
              </a:rPr>
              <a:t>RandomAccessFile</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"inout.dat"</a:t>
            </a:r>
            <a:r>
              <a:rPr lang="en-US" sz="1600" b="0" i="0" u="none" strike="noStrike" baseline="0" dirty="0">
                <a:solidFill>
                  <a:srgbClr val="000000"/>
                </a:solidFill>
                <a:latin typeface="LucidaSansTypewriterStd"/>
              </a:rPr>
              <a:t>, </a:t>
            </a:r>
            <a:r>
              <a:rPr lang="en-US" sz="1600" b="1" i="0" u="none" strike="noStrike" baseline="0" dirty="0">
                <a:solidFill>
                  <a:srgbClr val="00AFF0"/>
                </a:solidFill>
                <a:latin typeface="LucidaSansTypewriterStd-Bd"/>
              </a:rPr>
              <a:t>"</a:t>
            </a:r>
            <a:r>
              <a:rPr lang="en-US" sz="1600" b="1" i="0" u="none" strike="noStrike" baseline="0" dirty="0" err="1">
                <a:solidFill>
                  <a:srgbClr val="00AFF0"/>
                </a:solidFill>
                <a:latin typeface="LucidaSansTypewriterStd-Bd"/>
              </a:rPr>
              <a:t>rw</a:t>
            </a:r>
            <a:r>
              <a:rPr lang="en-US" sz="1600" b="1" i="0" u="none" strike="noStrike" baseline="0" dirty="0">
                <a:solidFill>
                  <a:srgbClr val="00AFF0"/>
                </a:solidFill>
                <a:latin typeface="LucidaSansTypewriterStd-Bd"/>
              </a:rPr>
              <a:t>"</a:t>
            </a:r>
            <a:r>
              <a:rPr lang="en-US" sz="1600" b="0" i="0" u="none" strike="noStrike" baseline="0" dirty="0">
                <a:solidFill>
                  <a:srgbClr val="000000"/>
                </a:solidFill>
                <a:latin typeface="LucidaSansTypewriterStd"/>
              </a:rPr>
              <a:t>);</a:t>
            </a:r>
          </a:p>
          <a:p>
            <a:pPr algn="l"/>
            <a:r>
              <a:rPr lang="en-US" sz="1600" b="0" i="0" u="none" strike="noStrike" baseline="0" dirty="0">
                <a:solidFill>
                  <a:srgbClr val="000000"/>
                </a:solidFill>
                <a:latin typeface="LucidaSansTypewriterStd"/>
              </a:rPr>
              <a:t> ) {</a:t>
            </a:r>
          </a:p>
          <a:p>
            <a:pPr algn="l"/>
            <a:r>
              <a:rPr lang="en-US" sz="1600" b="0" i="0" u="none" strike="noStrike" baseline="0" dirty="0">
                <a:solidFill>
                  <a:srgbClr val="000000"/>
                </a:solidFill>
                <a:latin typeface="LucidaSansTypewriterStd"/>
              </a:rPr>
              <a:t> // Clear the file to destroy the old contents if exists</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inout.setLength</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0</a:t>
            </a:r>
            <a:r>
              <a:rPr lang="en-US" sz="1600" b="0" i="0" u="none" strike="noStrike" baseline="0" dirty="0">
                <a:solidFill>
                  <a:srgbClr val="000000"/>
                </a:solidFill>
                <a:latin typeface="LucidaSansTypewriterStd"/>
              </a:rPr>
              <a:t>);</a:t>
            </a:r>
          </a:p>
          <a:p>
            <a:pPr algn="l"/>
            <a:endParaRPr lang="en-US" sz="105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 Write new integers to the file</a:t>
            </a:r>
          </a:p>
          <a:p>
            <a:pPr algn="l"/>
            <a:r>
              <a:rPr lang="nn-NO" sz="1600" b="0" i="0" u="none" strike="noStrike" baseline="0" dirty="0">
                <a:solidFill>
                  <a:srgbClr val="000000"/>
                </a:solidFill>
                <a:latin typeface="LucidaSansTypewriterStd"/>
              </a:rPr>
              <a:t> </a:t>
            </a:r>
            <a:r>
              <a:rPr lang="nn-NO" sz="1600" b="1" i="0" u="none" strike="noStrike" baseline="0" dirty="0">
                <a:solidFill>
                  <a:srgbClr val="005B80"/>
                </a:solidFill>
                <a:latin typeface="LucidaSansTypewriterStd-Bd"/>
              </a:rPr>
              <a:t>for </a:t>
            </a:r>
            <a:r>
              <a:rPr lang="nn-NO" sz="1600" b="0" i="0" u="none" strike="noStrike" baseline="0" dirty="0">
                <a:solidFill>
                  <a:srgbClr val="000000"/>
                </a:solidFill>
                <a:latin typeface="LucidaSansTypewriterStd"/>
              </a:rPr>
              <a:t>(</a:t>
            </a:r>
            <a:r>
              <a:rPr lang="nn-NO" sz="1600" b="1" i="0" u="none" strike="noStrike" baseline="0" dirty="0">
                <a:solidFill>
                  <a:srgbClr val="005B80"/>
                </a:solidFill>
                <a:latin typeface="LucidaSansTypewriterStd-Bd"/>
              </a:rPr>
              <a:t>int </a:t>
            </a:r>
            <a:r>
              <a:rPr lang="nn-NO" sz="1600" b="0" i="0" u="none" strike="noStrike" baseline="0" dirty="0">
                <a:solidFill>
                  <a:srgbClr val="000000"/>
                </a:solidFill>
                <a:latin typeface="LucidaSansTypewriterStd"/>
              </a:rPr>
              <a:t>i = </a:t>
            </a:r>
            <a:r>
              <a:rPr lang="nn-NO" sz="1600" b="1" i="0" u="none" strike="noStrike" baseline="0" dirty="0">
                <a:solidFill>
                  <a:srgbClr val="00AFF0"/>
                </a:solidFill>
                <a:latin typeface="LucidaSansTypewriterStd-Bd"/>
              </a:rPr>
              <a:t>0</a:t>
            </a:r>
            <a:r>
              <a:rPr lang="nn-NO" sz="1600" b="0" i="0" u="none" strike="noStrike" baseline="0" dirty="0">
                <a:solidFill>
                  <a:srgbClr val="000000"/>
                </a:solidFill>
                <a:latin typeface="LucidaSansTypewriterStd"/>
              </a:rPr>
              <a:t>; i &lt; </a:t>
            </a:r>
            <a:r>
              <a:rPr lang="nn-NO" sz="1600" b="1" i="0" u="none" strike="noStrike" baseline="0" dirty="0">
                <a:solidFill>
                  <a:srgbClr val="00AFF0"/>
                </a:solidFill>
                <a:latin typeface="LucidaSansTypewriterStd-Bd"/>
              </a:rPr>
              <a:t>200</a:t>
            </a:r>
            <a:r>
              <a:rPr lang="nn-NO" sz="1600" b="0" i="0" u="none" strike="noStrike" baseline="0" dirty="0">
                <a:solidFill>
                  <a:srgbClr val="000000"/>
                </a:solidFill>
                <a:latin typeface="LucidaSansTypewriterStd"/>
              </a:rPr>
              <a:t>; i++)</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inout.writeInt</a:t>
            </a:r>
            <a:r>
              <a:rPr lang="en-US" sz="1600" b="0" i="0" u="none" strike="noStrike" baseline="0" dirty="0">
                <a:solidFill>
                  <a:srgbClr val="000000"/>
                </a:solidFill>
                <a:latin typeface="LucidaSansTypewriterStd"/>
              </a:rPr>
              <a:t>(</a:t>
            </a:r>
            <a:r>
              <a:rPr lang="en-US" sz="1600" b="0" i="0" u="none" strike="noStrike" baseline="0" dirty="0" err="1">
                <a:solidFill>
                  <a:srgbClr val="000000"/>
                </a:solidFill>
                <a:latin typeface="LucidaSansTypewriterStd"/>
              </a:rPr>
              <a:t>i</a:t>
            </a:r>
            <a:r>
              <a:rPr lang="en-US" sz="1600" b="0" i="0" u="none" strike="noStrike" baseline="0" dirty="0">
                <a:solidFill>
                  <a:srgbClr val="000000"/>
                </a:solidFill>
                <a:latin typeface="LucidaSansTypewriterStd"/>
              </a:rPr>
              <a:t>);</a:t>
            </a:r>
          </a:p>
          <a:p>
            <a:pPr algn="l"/>
            <a:endParaRPr lang="en-US" sz="105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 Display the current length of the file</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System.out.println</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"Current file length is " </a:t>
            </a:r>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inout.length</a:t>
            </a:r>
            <a:r>
              <a:rPr lang="en-US" sz="1600" b="0" i="0" u="none" strike="noStrike" baseline="0" dirty="0">
                <a:solidFill>
                  <a:srgbClr val="000000"/>
                </a:solidFill>
                <a:latin typeface="LucidaSansTypewriterStd"/>
              </a:rPr>
              <a:t>());</a:t>
            </a:r>
          </a:p>
          <a:p>
            <a:pPr algn="l"/>
            <a:endParaRPr lang="en-US" sz="105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 Retrieve the first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inout.seek</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0</a:t>
            </a:r>
            <a:r>
              <a:rPr lang="en-US" sz="1600" b="0" i="0" u="none" strike="noStrike" baseline="0" dirty="0">
                <a:solidFill>
                  <a:srgbClr val="000000"/>
                </a:solidFill>
                <a:latin typeface="LucidaSansTypewriterStd"/>
              </a:rPr>
              <a:t>); // Move the file pointer to the beginning</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System.out.println</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"The first number is " </a:t>
            </a:r>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inout.readInt</a:t>
            </a:r>
            <a:r>
              <a:rPr lang="en-US" sz="1600" b="0" i="0" u="none" strike="noStrike" baseline="0" dirty="0">
                <a:solidFill>
                  <a:srgbClr val="000000"/>
                </a:solidFill>
                <a:latin typeface="LucidaSansTypewriterStd"/>
              </a:rPr>
              <a:t>());</a:t>
            </a:r>
          </a:p>
          <a:p>
            <a:pPr algn="l"/>
            <a:endParaRPr lang="en-US" sz="160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 Retrieve the second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inout.seek</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1 </a:t>
            </a:r>
            <a:r>
              <a:rPr lang="en-US" sz="1600" b="0" i="0" u="none" strike="noStrike" baseline="0" dirty="0">
                <a:solidFill>
                  <a:srgbClr val="000000"/>
                </a:solidFill>
                <a:latin typeface="LucidaSansTypewriterStd"/>
              </a:rPr>
              <a:t>* </a:t>
            </a:r>
            <a:r>
              <a:rPr lang="en-US" sz="1600" b="1" i="0" u="none" strike="noStrike" baseline="0" dirty="0">
                <a:solidFill>
                  <a:srgbClr val="00AFF0"/>
                </a:solidFill>
                <a:latin typeface="LucidaSansTypewriterStd-Bd"/>
              </a:rPr>
              <a:t>4</a:t>
            </a:r>
            <a:r>
              <a:rPr lang="en-US" sz="1600" b="0" i="0" u="none" strike="noStrike" baseline="0" dirty="0">
                <a:solidFill>
                  <a:srgbClr val="000000"/>
                </a:solidFill>
                <a:latin typeface="LucidaSansTypewriterStd"/>
              </a:rPr>
              <a:t>); // Move the file pointer to the second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System.out.println</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"The second number is " </a:t>
            </a:r>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inout.readInt</a:t>
            </a:r>
            <a:r>
              <a:rPr lang="en-US" sz="1600" b="0" i="0" u="none" strike="noStrike" baseline="0" dirty="0">
                <a:solidFill>
                  <a:srgbClr val="000000"/>
                </a:solidFill>
                <a:latin typeface="LucidaSansTypewriterStd"/>
              </a:rPr>
              <a:t>());</a:t>
            </a:r>
          </a:p>
        </p:txBody>
      </p:sp>
    </p:spTree>
    <p:extLst>
      <p:ext uri="{BB962C8B-B14F-4D97-AF65-F5344CB8AC3E}">
        <p14:creationId xmlns:p14="http://schemas.microsoft.com/office/powerpoint/2010/main" val="1401061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RandomAccessFile</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39</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822F2C23-4F6A-F98C-CEA0-F4C79691FD5C}"/>
              </a:ext>
            </a:extLst>
          </p:cNvPr>
          <p:cNvSpPr txBox="1"/>
          <p:nvPr/>
        </p:nvSpPr>
        <p:spPr>
          <a:xfrm>
            <a:off x="533400" y="1143000"/>
            <a:ext cx="6629400" cy="5016758"/>
          </a:xfrm>
          <a:prstGeom prst="rect">
            <a:avLst/>
          </a:prstGeom>
          <a:noFill/>
        </p:spPr>
        <p:txBody>
          <a:bodyPr wrap="square">
            <a:spAutoFit/>
          </a:bodyPr>
          <a:lstStyle/>
          <a:p>
            <a:pPr algn="l"/>
            <a:r>
              <a:rPr lang="en-US" sz="1600" b="0" i="0" u="none" strike="noStrike" baseline="0" dirty="0">
                <a:solidFill>
                  <a:srgbClr val="000000"/>
                </a:solidFill>
                <a:latin typeface="LucidaSansTypewriterStd"/>
              </a:rPr>
              <a:t>// Retrieve the tenth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inout.seek</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9 </a:t>
            </a:r>
            <a:r>
              <a:rPr lang="en-US" sz="1600" b="0" i="0" u="none" strike="noStrike" baseline="0" dirty="0">
                <a:solidFill>
                  <a:srgbClr val="000000"/>
                </a:solidFill>
                <a:latin typeface="LucidaSansTypewriterStd"/>
              </a:rPr>
              <a:t>* </a:t>
            </a:r>
            <a:r>
              <a:rPr lang="en-US" sz="1600" b="1" i="0" u="none" strike="noStrike" baseline="0" dirty="0">
                <a:solidFill>
                  <a:srgbClr val="00AFF0"/>
                </a:solidFill>
                <a:latin typeface="LucidaSansTypewriterStd-Bd"/>
              </a:rPr>
              <a:t>4</a:t>
            </a:r>
            <a:r>
              <a:rPr lang="en-US" sz="1600" b="0" i="0" u="none" strike="noStrike" baseline="0" dirty="0">
                <a:solidFill>
                  <a:srgbClr val="000000"/>
                </a:solidFill>
                <a:latin typeface="LucidaSansTypewriterStd"/>
              </a:rPr>
              <a:t>); // Move the file pointer to the tenth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System.out.println</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"The tenth number is " </a:t>
            </a:r>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inout.readInt</a:t>
            </a:r>
            <a:r>
              <a:rPr lang="en-US" sz="1600" b="0" i="0" u="none" strike="noStrike" baseline="0" dirty="0">
                <a:solidFill>
                  <a:srgbClr val="000000"/>
                </a:solidFill>
                <a:latin typeface="LucidaSansTypewriterStd"/>
              </a:rPr>
              <a:t>());</a:t>
            </a:r>
          </a:p>
          <a:p>
            <a:pPr algn="l"/>
            <a:endParaRPr lang="en-US" sz="160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 Modify the eleventh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inout.writeInt</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555</a:t>
            </a:r>
            <a:r>
              <a:rPr lang="en-US" sz="1600" b="0" i="0" u="none" strike="noStrike" baseline="0" dirty="0">
                <a:solidFill>
                  <a:srgbClr val="000000"/>
                </a:solidFill>
                <a:latin typeface="LucidaSansTypewriterStd"/>
              </a:rPr>
              <a:t>);</a:t>
            </a:r>
          </a:p>
          <a:p>
            <a:pPr algn="l"/>
            <a:endParaRPr lang="en-US" sz="160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 Append a new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inout.seek</a:t>
            </a:r>
            <a:r>
              <a:rPr lang="en-US" sz="1600" b="0" i="0" u="none" strike="noStrike" baseline="0" dirty="0">
                <a:solidFill>
                  <a:srgbClr val="000000"/>
                </a:solidFill>
                <a:latin typeface="LucidaSansTypewriterStd"/>
              </a:rPr>
              <a:t>(</a:t>
            </a:r>
            <a:r>
              <a:rPr lang="en-US" sz="1600" b="0" i="0" u="none" strike="noStrike" baseline="0" dirty="0" err="1">
                <a:solidFill>
                  <a:srgbClr val="000000"/>
                </a:solidFill>
                <a:latin typeface="LucidaSansTypewriterStd"/>
              </a:rPr>
              <a:t>inout.length</a:t>
            </a:r>
            <a:r>
              <a:rPr lang="en-US" sz="1600" b="0" i="0" u="none" strike="noStrike" baseline="0" dirty="0">
                <a:solidFill>
                  <a:srgbClr val="000000"/>
                </a:solidFill>
                <a:latin typeface="LucidaSansTypewriterStd"/>
              </a:rPr>
              <a:t>()); // Move the file pointer to the end</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inout.writeInt</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999</a:t>
            </a:r>
            <a:r>
              <a:rPr lang="en-US" sz="1600" b="0" i="0" u="none" strike="noStrike" baseline="0" dirty="0">
                <a:solidFill>
                  <a:srgbClr val="000000"/>
                </a:solidFill>
                <a:latin typeface="LucidaSansTypewriterStd"/>
              </a:rPr>
              <a:t>);</a:t>
            </a:r>
          </a:p>
          <a:p>
            <a:pPr algn="l"/>
            <a:endParaRPr lang="en-US" sz="160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 Display the new length</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System.out.println</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"The new length is " </a:t>
            </a:r>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inout.length</a:t>
            </a:r>
            <a:r>
              <a:rPr lang="en-US" sz="1600" b="0" i="0" u="none" strike="noStrike" baseline="0" dirty="0">
                <a:solidFill>
                  <a:srgbClr val="000000"/>
                </a:solidFill>
                <a:latin typeface="LucidaSansTypewriterStd"/>
              </a:rPr>
              <a:t>());</a:t>
            </a:r>
          </a:p>
          <a:p>
            <a:pPr algn="l"/>
            <a:endParaRPr lang="en-US" sz="1600" b="0" i="0" u="none" strike="noStrike" baseline="0" dirty="0">
              <a:solidFill>
                <a:srgbClr val="000000"/>
              </a:solidFill>
              <a:latin typeface="LucidaSansTypewriterStd"/>
            </a:endParaRPr>
          </a:p>
          <a:p>
            <a:pPr algn="l"/>
            <a:r>
              <a:rPr lang="en-US" sz="1600" b="0" i="0" u="none" strike="noStrike" baseline="0" dirty="0">
                <a:solidFill>
                  <a:srgbClr val="000000"/>
                </a:solidFill>
                <a:latin typeface="LucidaSansTypewriterStd"/>
              </a:rPr>
              <a:t> // Retrieve the new eleventh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inout.seek</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10 </a:t>
            </a:r>
            <a:r>
              <a:rPr lang="en-US" sz="1600" b="0" i="0" u="none" strike="noStrike" baseline="0" dirty="0">
                <a:solidFill>
                  <a:srgbClr val="000000"/>
                </a:solidFill>
                <a:latin typeface="LucidaSansTypewriterStd"/>
              </a:rPr>
              <a:t>* </a:t>
            </a:r>
            <a:r>
              <a:rPr lang="en-US" sz="1600" b="1" i="0" u="none" strike="noStrike" baseline="0" dirty="0">
                <a:solidFill>
                  <a:srgbClr val="00AFF0"/>
                </a:solidFill>
                <a:latin typeface="LucidaSansTypewriterStd-Bd"/>
              </a:rPr>
              <a:t>4</a:t>
            </a:r>
            <a:r>
              <a:rPr lang="en-US" sz="1600" b="0" i="0" u="none" strike="noStrike" baseline="0" dirty="0">
                <a:solidFill>
                  <a:srgbClr val="000000"/>
                </a:solidFill>
                <a:latin typeface="LucidaSansTypewriterStd"/>
              </a:rPr>
              <a:t>); // Move the file pointer to the eleventh number</a:t>
            </a:r>
          </a:p>
          <a:p>
            <a:pPr algn="l"/>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System.out.println</a:t>
            </a:r>
            <a:r>
              <a:rPr lang="en-US" sz="1600" b="0" i="0" u="none" strike="noStrike" baseline="0" dirty="0">
                <a:solidFill>
                  <a:srgbClr val="000000"/>
                </a:solidFill>
                <a:latin typeface="LucidaSansTypewriterStd"/>
              </a:rPr>
              <a:t>(</a:t>
            </a:r>
            <a:r>
              <a:rPr lang="en-US" sz="1600" b="1" i="0" u="none" strike="noStrike" baseline="0" dirty="0">
                <a:solidFill>
                  <a:srgbClr val="00AFF0"/>
                </a:solidFill>
                <a:latin typeface="LucidaSansTypewriterStd-Bd"/>
              </a:rPr>
              <a:t>"The eleventh number is " </a:t>
            </a:r>
            <a:r>
              <a:rPr lang="en-US" sz="1600" b="0" i="0" u="none" strike="noStrike" baseline="0" dirty="0">
                <a:solidFill>
                  <a:srgbClr val="000000"/>
                </a:solidFill>
                <a:latin typeface="LucidaSansTypewriterStd"/>
              </a:rPr>
              <a:t>+ </a:t>
            </a:r>
            <a:r>
              <a:rPr lang="en-US" sz="1600" b="0" i="0" u="none" strike="noStrike" baseline="0" dirty="0" err="1">
                <a:solidFill>
                  <a:srgbClr val="000000"/>
                </a:solidFill>
                <a:latin typeface="LucidaSansTypewriterStd"/>
              </a:rPr>
              <a:t>inout.readInt</a:t>
            </a:r>
            <a:r>
              <a:rPr lang="en-US" sz="1600" b="0" i="0" u="none" strike="noStrike" baseline="0" dirty="0">
                <a:solidFill>
                  <a:srgbClr val="000000"/>
                </a:solidFill>
                <a:latin typeface="LucidaSansTypewriterStd"/>
              </a:rPr>
              <a:t>());</a:t>
            </a:r>
          </a:p>
          <a:p>
            <a:pPr algn="l"/>
            <a:r>
              <a:rPr lang="en-US" sz="1600" b="0" i="0" u="none" strike="noStrike" baseline="0" dirty="0">
                <a:solidFill>
                  <a:srgbClr val="000000"/>
                </a:solidFill>
                <a:latin typeface="LucidaSansTypewriterStd"/>
              </a:rPr>
              <a:t> }</a:t>
            </a:r>
          </a:p>
          <a:p>
            <a:pPr algn="l"/>
            <a:r>
              <a:rPr lang="en-US" sz="1600" b="0" i="0" u="none" strike="noStrike" baseline="0" dirty="0">
                <a:solidFill>
                  <a:srgbClr val="000000"/>
                </a:solidFill>
                <a:latin typeface="LucidaSansTypewriterStd"/>
              </a:rPr>
              <a:t> }</a:t>
            </a:r>
          </a:p>
          <a:p>
            <a:pPr algn="l"/>
            <a:r>
              <a:rPr lang="en-US" sz="1600" b="0" i="0" u="none" strike="noStrike" baseline="0" dirty="0">
                <a:solidFill>
                  <a:srgbClr val="000000"/>
                </a:solidFill>
                <a:latin typeface="LucidaSansTypewriterStd"/>
              </a:rPr>
              <a:t> }</a:t>
            </a:r>
            <a:endParaRPr lang="en-US" dirty="0"/>
          </a:p>
        </p:txBody>
      </p:sp>
    </p:spTree>
    <p:extLst>
      <p:ext uri="{BB962C8B-B14F-4D97-AF65-F5344CB8AC3E}">
        <p14:creationId xmlns:p14="http://schemas.microsoft.com/office/powerpoint/2010/main" val="965845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altLang="en-US" dirty="0" err="1">
                <a:solidFill>
                  <a:srgbClr val="C00000"/>
                </a:solidFill>
                <a:latin typeface="Times New Roman" panose="02020603050405020304" pitchFamily="18" charset="0"/>
                <a:cs typeface="Times New Roman" panose="02020603050405020304" pitchFamily="18" charset="0"/>
              </a:rPr>
              <a:t>RandomAccessFile</a:t>
            </a:r>
            <a:r>
              <a:rPr lang="en-US" altLang="en-US" dirty="0">
                <a:solidFill>
                  <a:srgbClr val="C00000"/>
                </a:solidFill>
                <a:latin typeface="Times New Roman" panose="02020603050405020304" pitchFamily="18" charset="0"/>
                <a:cs typeface="Times New Roman" panose="02020603050405020304" pitchFamily="18" charset="0"/>
              </a:rPr>
              <a:t> Classes</a:t>
            </a:r>
            <a:endParaRPr lang="en-US" altLang="en-US" dirty="0"/>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40</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8CA73A34-47EB-9EA2-D14D-2115D0BBFFA7}"/>
              </a:ext>
            </a:extLst>
          </p:cNvPr>
          <p:cNvSpPr txBox="1"/>
          <p:nvPr/>
        </p:nvSpPr>
        <p:spPr>
          <a:xfrm>
            <a:off x="685800" y="1600200"/>
            <a:ext cx="4572000" cy="2739211"/>
          </a:xfrm>
          <a:prstGeom prst="rect">
            <a:avLst/>
          </a:prstGeom>
          <a:noFill/>
        </p:spPr>
        <p:txBody>
          <a:bodyPr wrap="square">
            <a:spAutoFit/>
          </a:bodyPr>
          <a:lstStyle/>
          <a:p>
            <a:pPr algn="l"/>
            <a:r>
              <a:rPr lang="en-US" sz="2800" b="1" dirty="0">
                <a:latin typeface="LucidaSansTypewriterStd"/>
              </a:rPr>
              <a:t>Output </a:t>
            </a:r>
            <a:endParaRPr lang="en-US" sz="2800" b="1" i="0" u="none" strike="noStrike" baseline="0" dirty="0">
              <a:latin typeface="LucidaSansTypewriterStd"/>
            </a:endParaRPr>
          </a:p>
          <a:p>
            <a:pPr algn="l"/>
            <a:r>
              <a:rPr lang="en-US" sz="2400" b="0" i="0" u="none" strike="noStrike" baseline="0" dirty="0">
                <a:latin typeface="LucidaSansTypewriterStd"/>
              </a:rPr>
              <a:t>Current file length is 800</a:t>
            </a:r>
          </a:p>
          <a:p>
            <a:pPr algn="l"/>
            <a:r>
              <a:rPr lang="en-US" sz="2400" b="0" i="0" u="none" strike="noStrike" baseline="0" dirty="0">
                <a:latin typeface="LucidaSansTypewriterStd"/>
              </a:rPr>
              <a:t>The first number is 0</a:t>
            </a:r>
          </a:p>
          <a:p>
            <a:pPr algn="l"/>
            <a:r>
              <a:rPr lang="en-US" sz="2400" b="0" i="0" u="none" strike="noStrike" baseline="0" dirty="0">
                <a:latin typeface="LucidaSansTypewriterStd"/>
              </a:rPr>
              <a:t>The second number is 1</a:t>
            </a:r>
          </a:p>
          <a:p>
            <a:pPr algn="l"/>
            <a:r>
              <a:rPr lang="en-US" sz="2400" b="0" i="0" u="none" strike="noStrike" baseline="0" dirty="0">
                <a:latin typeface="LucidaSansTypewriterStd"/>
              </a:rPr>
              <a:t>The tenth number is 9</a:t>
            </a:r>
          </a:p>
          <a:p>
            <a:pPr algn="l"/>
            <a:r>
              <a:rPr lang="en-US" sz="2400" b="0" i="0" u="none" strike="noStrike" baseline="0" dirty="0">
                <a:latin typeface="LucidaSansTypewriterStd"/>
              </a:rPr>
              <a:t>The new length is 804</a:t>
            </a:r>
          </a:p>
          <a:p>
            <a:pPr algn="l"/>
            <a:r>
              <a:rPr lang="en-US" sz="2400" b="0" i="0" u="none" strike="noStrike" baseline="0" dirty="0">
                <a:latin typeface="LucidaSansTypewriterStd"/>
              </a:rPr>
              <a:t>The eleventh number is 555</a:t>
            </a:r>
            <a:endParaRPr lang="en-US" sz="2400" dirty="0"/>
          </a:p>
        </p:txBody>
      </p:sp>
    </p:spTree>
    <p:extLst>
      <p:ext uri="{BB962C8B-B14F-4D97-AF65-F5344CB8AC3E}">
        <p14:creationId xmlns:p14="http://schemas.microsoft.com/office/powerpoint/2010/main" val="1175391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41</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8CFC2E32-46FA-3570-0B63-E5401425642D}"/>
              </a:ext>
            </a:extLst>
          </p:cNvPr>
          <p:cNvSpPr txBox="1"/>
          <p:nvPr/>
        </p:nvSpPr>
        <p:spPr>
          <a:xfrm>
            <a:off x="457200" y="1239351"/>
            <a:ext cx="8153400" cy="3539430"/>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While the byte stream classes provide sufficient functionality to handle any type of I/O operation, they cannot work directly with Unicode characters.</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3200" b="1" i="0" u="none" strike="noStrike" baseline="0" dirty="0">
                <a:solidFill>
                  <a:srgbClr val="0000FF"/>
                </a:solidFill>
                <a:latin typeface="Times New Roman" panose="02020603050405020304" pitchFamily="18" charset="0"/>
                <a:cs typeface="Times New Roman" panose="02020603050405020304" pitchFamily="18" charset="0"/>
              </a:rPr>
              <a:t>Reader</a:t>
            </a:r>
          </a:p>
          <a:p>
            <a:pPr algn="l"/>
            <a:r>
              <a:rPr lang="en-US" sz="2400" b="1" i="0" u="none" strike="noStrike" baseline="0" dirty="0">
                <a:solidFill>
                  <a:srgbClr val="1D1D1E"/>
                </a:solidFill>
                <a:latin typeface="Times New Roman" panose="02020603050405020304" pitchFamily="18" charset="0"/>
                <a:cs typeface="Times New Roman" panose="02020603050405020304" pitchFamily="18" charset="0"/>
              </a:rPr>
              <a:t>Reader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an abstract class that defines Java’s model of streaming character input. All of the methods in this class will throw an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IOException</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on error conditions. Table 17-3</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provides a synopsis of the methods in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Reader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41215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42</a:t>
            </a:fld>
            <a:endParaRPr lang="en-US" altLang="en-US" sz="1400">
              <a:latin typeface="Times New Roman" panose="02020603050405020304" pitchFamily="18" charset="0"/>
            </a:endParaRPr>
          </a:p>
        </p:txBody>
      </p:sp>
      <p:pic>
        <p:nvPicPr>
          <p:cNvPr id="4" name="Picture 3">
            <a:extLst>
              <a:ext uri="{FF2B5EF4-FFF2-40B4-BE49-F238E27FC236}">
                <a16:creationId xmlns:a16="http://schemas.microsoft.com/office/drawing/2014/main" xmlns="" id="{68DAE2B0-401A-502A-7E87-46EDF1E0F041}"/>
              </a:ext>
            </a:extLst>
          </p:cNvPr>
          <p:cNvPicPr>
            <a:picLocks noChangeAspect="1"/>
          </p:cNvPicPr>
          <p:nvPr/>
        </p:nvPicPr>
        <p:blipFill>
          <a:blip r:embed="rId2"/>
          <a:stretch>
            <a:fillRect/>
          </a:stretch>
        </p:blipFill>
        <p:spPr>
          <a:xfrm>
            <a:off x="304800" y="1219200"/>
            <a:ext cx="8077200" cy="5120191"/>
          </a:xfrm>
          <a:prstGeom prst="rect">
            <a:avLst/>
          </a:prstGeom>
        </p:spPr>
      </p:pic>
    </p:spTree>
    <p:extLst>
      <p:ext uri="{BB962C8B-B14F-4D97-AF65-F5344CB8AC3E}">
        <p14:creationId xmlns:p14="http://schemas.microsoft.com/office/powerpoint/2010/main" val="41039915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43</a:t>
            </a:fld>
            <a:endParaRPr lang="en-US" altLang="en-US" sz="1400">
              <a:latin typeface="Times New Roman" panose="02020603050405020304" pitchFamily="18" charset="0"/>
            </a:endParaRPr>
          </a:p>
        </p:txBody>
      </p:sp>
      <p:pic>
        <p:nvPicPr>
          <p:cNvPr id="3" name="Picture 2">
            <a:extLst>
              <a:ext uri="{FF2B5EF4-FFF2-40B4-BE49-F238E27FC236}">
                <a16:creationId xmlns:a16="http://schemas.microsoft.com/office/drawing/2014/main" xmlns="" id="{3B641CC9-6B1F-864C-B4DD-FF637F6DDA9E}"/>
              </a:ext>
            </a:extLst>
          </p:cNvPr>
          <p:cNvPicPr>
            <a:picLocks noChangeAspect="1"/>
          </p:cNvPicPr>
          <p:nvPr/>
        </p:nvPicPr>
        <p:blipFill>
          <a:blip r:embed="rId2"/>
          <a:stretch>
            <a:fillRect/>
          </a:stretch>
        </p:blipFill>
        <p:spPr>
          <a:xfrm>
            <a:off x="633412" y="1409700"/>
            <a:ext cx="7724775" cy="4038600"/>
          </a:xfrm>
          <a:prstGeom prst="rect">
            <a:avLst/>
          </a:prstGeom>
        </p:spPr>
      </p:pic>
    </p:spTree>
    <p:extLst>
      <p:ext uri="{BB962C8B-B14F-4D97-AF65-F5344CB8AC3E}">
        <p14:creationId xmlns:p14="http://schemas.microsoft.com/office/powerpoint/2010/main" val="2148135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44</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524D6BCA-130A-F5F9-87EF-BCB5701F4707}"/>
              </a:ext>
            </a:extLst>
          </p:cNvPr>
          <p:cNvSpPr txBox="1"/>
          <p:nvPr/>
        </p:nvSpPr>
        <p:spPr>
          <a:xfrm>
            <a:off x="381000" y="1066800"/>
            <a:ext cx="7924800" cy="3908762"/>
          </a:xfrm>
          <a:prstGeom prst="rect">
            <a:avLst/>
          </a:prstGeom>
          <a:noFill/>
        </p:spPr>
        <p:txBody>
          <a:bodyPr wrap="square">
            <a:spAutoFit/>
          </a:bodyPr>
          <a:lstStyle/>
          <a:p>
            <a:pPr algn="l"/>
            <a:r>
              <a:rPr lang="en-US" sz="3200" b="1" i="0" u="none" strike="noStrike" baseline="0" dirty="0" err="1">
                <a:solidFill>
                  <a:srgbClr val="0000FF"/>
                </a:solidFill>
                <a:latin typeface="Times New Roman" panose="02020603050405020304" pitchFamily="18" charset="0"/>
                <a:cs typeface="Times New Roman" panose="02020603050405020304" pitchFamily="18" charset="0"/>
              </a:rPr>
              <a:t>FileReader</a:t>
            </a:r>
            <a:endParaRPr lang="en-US" sz="3200" b="1" i="0" u="none" strike="noStrike" baseline="0" dirty="0">
              <a:solidFill>
                <a:srgbClr val="0000FF"/>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FileReader</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creates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Reader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that you can use to read the contents of a file. Its two most commonly used constructors are shown here:</a:t>
            </a:r>
          </a:p>
          <a:p>
            <a:pPr algn="l"/>
            <a:endParaRPr lang="en-US" sz="10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FileReader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filePath</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FileReader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fileObj</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1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Either can throw a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FileNotFoundException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Here,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filePath</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full path name of a file, and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fileObj</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that describes the file.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04649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45</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524D6BCA-130A-F5F9-87EF-BCB5701F4707}"/>
              </a:ext>
            </a:extLst>
          </p:cNvPr>
          <p:cNvSpPr txBox="1"/>
          <p:nvPr/>
        </p:nvSpPr>
        <p:spPr>
          <a:xfrm>
            <a:off x="381000" y="838200"/>
            <a:ext cx="7924800" cy="5878532"/>
          </a:xfrm>
          <a:prstGeom prst="rect">
            <a:avLst/>
          </a:prstGeom>
          <a:noFill/>
        </p:spPr>
        <p:txBody>
          <a:bodyPr wrap="square">
            <a:spAutoFit/>
          </a:bodyPr>
          <a:lstStyle/>
          <a:p>
            <a:pPr algn="l"/>
            <a:r>
              <a:rPr lang="en-US" sz="3200" b="1" i="0" u="none" strike="noStrike" baseline="0" dirty="0" err="1">
                <a:solidFill>
                  <a:srgbClr val="0000FF"/>
                </a:solidFill>
                <a:latin typeface="Times New Roman" panose="02020603050405020304" pitchFamily="18" charset="0"/>
                <a:cs typeface="Times New Roman" panose="02020603050405020304" pitchFamily="18" charset="0"/>
              </a:rPr>
              <a:t>FileReader</a:t>
            </a:r>
            <a:endParaRPr lang="en-US" sz="3200" b="1" i="0" u="none" strike="noStrike" baseline="0" dirty="0">
              <a:solidFill>
                <a:srgbClr val="0000FF"/>
              </a:solidFill>
              <a:latin typeface="Times New Roman" panose="02020603050405020304" pitchFamily="18" charset="0"/>
              <a:cs typeface="Times New Roman" panose="02020603050405020304" pitchFamily="18" charset="0"/>
            </a:endParaRPr>
          </a:p>
          <a:p>
            <a:pPr algn="l"/>
            <a:endParaRPr lang="en-US" sz="140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Example shows how to read lines from a file and print these to the standard output stream:</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 Demonstrate </a:t>
            </a:r>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FileReader</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import java.io.*;</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FileReaderDemo</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public static void main(String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args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throws Exception {</a:t>
            </a:r>
          </a:p>
          <a:p>
            <a:pPr algn="l"/>
            <a:r>
              <a:rPr lang="nn-NO" sz="2400" b="0" i="0" u="none" strike="noStrike" baseline="0" dirty="0">
                <a:solidFill>
                  <a:srgbClr val="1D1D1E"/>
                </a:solidFill>
                <a:latin typeface="Times New Roman" panose="02020603050405020304" pitchFamily="18" charset="0"/>
                <a:cs typeface="Times New Roman" panose="02020603050405020304" pitchFamily="18" charset="0"/>
              </a:rPr>
              <a:t>FileReader fr = new FileReader("FileReaderDemo.java");</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BufferedReader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new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BufferedReader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while((s =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br.readLine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null)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System.out.println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fr.close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254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46</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4FCBFF78-9B58-65AC-2733-D28490C09729}"/>
              </a:ext>
            </a:extLst>
          </p:cNvPr>
          <p:cNvSpPr txBox="1"/>
          <p:nvPr/>
        </p:nvSpPr>
        <p:spPr>
          <a:xfrm>
            <a:off x="247461" y="914400"/>
            <a:ext cx="8229600" cy="2062103"/>
          </a:xfrm>
          <a:prstGeom prst="rect">
            <a:avLst/>
          </a:prstGeom>
          <a:noFill/>
        </p:spPr>
        <p:txBody>
          <a:bodyPr wrap="square">
            <a:spAutoFit/>
          </a:bodyPr>
          <a:lstStyle/>
          <a:p>
            <a:pPr algn="l"/>
            <a:r>
              <a:rPr lang="en-US" sz="3200" b="1" i="0" u="none" strike="noStrike" baseline="0" dirty="0">
                <a:solidFill>
                  <a:srgbClr val="0000FF"/>
                </a:solidFill>
                <a:latin typeface="Times New Roman" panose="02020603050405020304" pitchFamily="18" charset="0"/>
                <a:cs typeface="Times New Roman" panose="02020603050405020304" pitchFamily="18" charset="0"/>
              </a:rPr>
              <a:t>Writer</a:t>
            </a:r>
          </a:p>
          <a:p>
            <a:pPr algn="l"/>
            <a:r>
              <a:rPr lang="en-US" sz="2400" b="1" i="0" u="none" strike="noStrike" baseline="0" dirty="0">
                <a:solidFill>
                  <a:srgbClr val="1D1D1E"/>
                </a:solidFill>
                <a:latin typeface="Times New Roman" panose="02020603050405020304" pitchFamily="18" charset="0"/>
                <a:cs typeface="Times New Roman" panose="02020603050405020304" pitchFamily="18" charset="0"/>
              </a:rPr>
              <a:t>Writer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an abstract class that defines streaming character output. All of the methods in this class return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void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value and throw an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IOException</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 the case of errors. Table 17-4 shows a synopsis of the methods in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6667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47</a:t>
            </a:fld>
            <a:endParaRPr lang="en-US" altLang="en-US" sz="1400">
              <a:latin typeface="Times New Roman" panose="02020603050405020304" pitchFamily="18" charset="0"/>
            </a:endParaRPr>
          </a:p>
        </p:txBody>
      </p:sp>
      <p:pic>
        <p:nvPicPr>
          <p:cNvPr id="6" name="Picture 5">
            <a:extLst>
              <a:ext uri="{FF2B5EF4-FFF2-40B4-BE49-F238E27FC236}">
                <a16:creationId xmlns:a16="http://schemas.microsoft.com/office/drawing/2014/main" xmlns="" id="{2BD543EF-C309-A308-C520-8ECE06AFD9BC}"/>
              </a:ext>
            </a:extLst>
          </p:cNvPr>
          <p:cNvPicPr>
            <a:picLocks noChangeAspect="1"/>
          </p:cNvPicPr>
          <p:nvPr/>
        </p:nvPicPr>
        <p:blipFill>
          <a:blip r:embed="rId2"/>
          <a:stretch>
            <a:fillRect/>
          </a:stretch>
        </p:blipFill>
        <p:spPr>
          <a:xfrm>
            <a:off x="1710803" y="914400"/>
            <a:ext cx="6714059" cy="5900737"/>
          </a:xfrm>
          <a:prstGeom prst="rect">
            <a:avLst/>
          </a:prstGeom>
        </p:spPr>
      </p:pic>
    </p:spTree>
    <p:extLst>
      <p:ext uri="{BB962C8B-B14F-4D97-AF65-F5344CB8AC3E}">
        <p14:creationId xmlns:p14="http://schemas.microsoft.com/office/powerpoint/2010/main" val="6282440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48</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E7CB8CCC-DF6E-F70F-7344-4E7E64256A57}"/>
              </a:ext>
            </a:extLst>
          </p:cNvPr>
          <p:cNvSpPr txBox="1"/>
          <p:nvPr/>
        </p:nvSpPr>
        <p:spPr>
          <a:xfrm>
            <a:off x="247460" y="990600"/>
            <a:ext cx="8210739" cy="4154984"/>
          </a:xfrm>
          <a:prstGeom prst="rect">
            <a:avLst/>
          </a:prstGeom>
          <a:noFill/>
        </p:spPr>
        <p:txBody>
          <a:bodyPr wrap="square">
            <a:spAutoFit/>
          </a:bodyPr>
          <a:lstStyle/>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creates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Writer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that you can use to write to a file. Its most commonly used constructors are shown here:</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filePath</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filePath</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boolean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append)</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fileObj</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fileObj</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boolean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append</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They can throw an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IOException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Here,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filePath</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full path name of a file, and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fileObj</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is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that describes the file. If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append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true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then output is appended to the end of the file. The fourth constructor was added by Java 2, version 1.4.</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83146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49</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E7CB8CCC-DF6E-F70F-7344-4E7E64256A57}"/>
              </a:ext>
            </a:extLst>
          </p:cNvPr>
          <p:cNvSpPr txBox="1"/>
          <p:nvPr/>
        </p:nvSpPr>
        <p:spPr>
          <a:xfrm>
            <a:off x="247460" y="990600"/>
            <a:ext cx="8210739" cy="2492990"/>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following example is a character stream version of an example shown earlier when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FileOutputStream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was discussed. </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This version creates a sample buffer of characters by first making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and then using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getChars</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method to extract the character array equivalent. It then creates three files.</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6731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50</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0566F010-7219-E8DB-0D38-1BAFF4C16D29}"/>
              </a:ext>
            </a:extLst>
          </p:cNvPr>
          <p:cNvSpPr txBox="1"/>
          <p:nvPr/>
        </p:nvSpPr>
        <p:spPr>
          <a:xfrm>
            <a:off x="76200" y="1131600"/>
            <a:ext cx="4343400" cy="4401205"/>
          </a:xfrm>
          <a:prstGeom prst="rect">
            <a:avLst/>
          </a:prstGeom>
          <a:noFill/>
        </p:spPr>
        <p:txBody>
          <a:bodyPr wrap="square">
            <a:spAutoFit/>
          </a:bodyPr>
          <a:lstStyle/>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 Demonstrate </a:t>
            </a:r>
            <a:r>
              <a:rPr lang="en-US"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import java.io.*;</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class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FileWriterDemo</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public static void main(String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args</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throws Exception {</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String source = "Now is the time for all good men\n“ + " to come to the aid of their country\n" + " and pay their due taxes.";</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char buffer[] = new char[</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source.length</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source.getChars</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(0,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source.length</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buffer, 0);</a:t>
            </a:r>
            <a:endParaRPr lang="en-US" sz="2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5A53CA05-DD27-D457-96F8-8A709D0C219D}"/>
              </a:ext>
            </a:extLst>
          </p:cNvPr>
          <p:cNvSpPr txBox="1"/>
          <p:nvPr/>
        </p:nvSpPr>
        <p:spPr>
          <a:xfrm>
            <a:off x="4477692" y="838200"/>
            <a:ext cx="4666307" cy="5847755"/>
          </a:xfrm>
          <a:prstGeom prst="rect">
            <a:avLst/>
          </a:prstGeom>
          <a:noFill/>
        </p:spPr>
        <p:txBody>
          <a:bodyPr wrap="square">
            <a:spAutoFit/>
          </a:bodyPr>
          <a:lstStyle/>
          <a:p>
            <a:pPr algn="l"/>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f0=new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("file1.txt");</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for (int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i</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=0;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i</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&lt;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buffer.length</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i</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 2) {</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f0.write(buffer[</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i</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f0.close();</a:t>
            </a:r>
          </a:p>
          <a:p>
            <a:pPr algn="l"/>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f1 = new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("file2.txt");</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f1.write(buffer);</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f1.close();</a:t>
            </a:r>
          </a:p>
          <a:p>
            <a:pPr algn="l"/>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 f2 = new </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FileWriter</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("file3.txt");</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f2.write(</a:t>
            </a:r>
            <a:r>
              <a:rPr lang="en-US" sz="2200" b="0" i="0" u="none" strike="noStrike" baseline="0" dirty="0" err="1">
                <a:solidFill>
                  <a:srgbClr val="1D1D1E"/>
                </a:solidFill>
                <a:latin typeface="Times New Roman" panose="02020603050405020304" pitchFamily="18" charset="0"/>
                <a:cs typeface="Times New Roman" panose="02020603050405020304" pitchFamily="18" charset="0"/>
              </a:rPr>
              <a:t>buffer,buffer.length-buffer.length</a:t>
            </a:r>
            <a:r>
              <a:rPr lang="en-US" sz="2200" b="0" i="0" u="none" strike="noStrike" baseline="0" dirty="0">
                <a:solidFill>
                  <a:srgbClr val="1D1D1E"/>
                </a:solidFill>
                <a:latin typeface="Times New Roman" panose="02020603050405020304" pitchFamily="18" charset="0"/>
                <a:cs typeface="Times New Roman" panose="02020603050405020304" pitchFamily="18" charset="0"/>
              </a:rPr>
              <a:t>/4,buffer.length/4);</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f2.close();</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200" b="0" i="0" u="none" strike="noStrike" baseline="0" dirty="0">
                <a:solidFill>
                  <a:srgbClr val="1D1D1E"/>
                </a:solidFill>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6395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51</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AECDE06D-AD3C-1A13-7446-470319D6C3A3}"/>
              </a:ext>
            </a:extLst>
          </p:cNvPr>
          <p:cNvSpPr txBox="1"/>
          <p:nvPr/>
        </p:nvSpPr>
        <p:spPr>
          <a:xfrm>
            <a:off x="342900" y="1066800"/>
            <a:ext cx="8305800" cy="4862870"/>
          </a:xfrm>
          <a:prstGeom prst="rect">
            <a:avLst/>
          </a:prstGeom>
          <a:noFill/>
        </p:spPr>
        <p:txBody>
          <a:bodyPr wrap="square">
            <a:spAutoFit/>
          </a:bodyPr>
          <a:lstStyle/>
          <a:p>
            <a:pPr algn="l"/>
            <a:r>
              <a:rPr lang="en-US" sz="3200" b="1" i="0" u="none" strike="noStrike" baseline="0" dirty="0" err="1">
                <a:solidFill>
                  <a:srgbClr val="1D1D1E"/>
                </a:solidFill>
                <a:latin typeface="Times New Roman" panose="02020603050405020304" pitchFamily="18" charset="0"/>
                <a:cs typeface="Times New Roman" panose="02020603050405020304" pitchFamily="18" charset="0"/>
              </a:rPr>
              <a:t>CharArrayReader</a:t>
            </a:r>
            <a:endParaRPr lang="en-US" sz="3200" b="1" i="0" u="none" strike="noStrike" baseline="0" dirty="0">
              <a:solidFill>
                <a:srgbClr val="1D1D1E"/>
              </a:solidFill>
              <a:latin typeface="Times New Roman" panose="02020603050405020304" pitchFamily="18" charset="0"/>
              <a:cs typeface="Times New Roman" panose="02020603050405020304" pitchFamily="18" charset="0"/>
            </a:endParaRPr>
          </a:p>
          <a:p>
            <a:pPr algn="l"/>
            <a:endParaRPr lang="en-US" sz="1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CharArrayReader</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an implementation of an input stream that uses a character array as the source. This class has two constructors, each of which requires a character array</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to provide the data source:</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CharArrayReader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(char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CharArrayReader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(char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int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start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int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numChars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Here,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array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input source. The second constructor creates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Reader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from a subset of your character array that begins with the character at the index specified by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start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and is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numChars</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long.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55411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The Character Streams</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52</a:t>
            </a:fld>
            <a:endParaRPr lang="en-US" altLang="en-US" sz="1400">
              <a:latin typeface="Times New Roman" panose="02020603050405020304" pitchFamily="18" charset="0"/>
            </a:endParaRPr>
          </a:p>
        </p:txBody>
      </p:sp>
      <p:sp>
        <p:nvSpPr>
          <p:cNvPr id="7" name="TextBox 6">
            <a:extLst>
              <a:ext uri="{FF2B5EF4-FFF2-40B4-BE49-F238E27FC236}">
                <a16:creationId xmlns:a16="http://schemas.microsoft.com/office/drawing/2014/main" xmlns="" id="{3CE56349-055A-3865-4687-6991ABE7942A}"/>
              </a:ext>
            </a:extLst>
          </p:cNvPr>
          <p:cNvSpPr txBox="1"/>
          <p:nvPr/>
        </p:nvSpPr>
        <p:spPr>
          <a:xfrm>
            <a:off x="228600" y="914400"/>
            <a:ext cx="8382000" cy="5632311"/>
          </a:xfrm>
          <a:prstGeom prst="rect">
            <a:avLst/>
          </a:prstGeom>
          <a:noFill/>
        </p:spPr>
        <p:txBody>
          <a:bodyPr wrap="square">
            <a:spAutoFit/>
          </a:bodyPr>
          <a:lstStyle/>
          <a:p>
            <a:pPr algn="l"/>
            <a:r>
              <a:rPr lang="en-US" sz="3200" b="1" i="0" u="none" strike="noStrike" baseline="0" dirty="0" err="1">
                <a:solidFill>
                  <a:srgbClr val="1D1D1E"/>
                </a:solidFill>
                <a:latin typeface="Times New Roman" panose="02020603050405020304" pitchFamily="18" charset="0"/>
                <a:cs typeface="Times New Roman" panose="02020603050405020304" pitchFamily="18" charset="0"/>
              </a:rPr>
              <a:t>CharArrayWriter</a:t>
            </a:r>
            <a:endParaRPr lang="en-US" sz="3200" b="1" i="0" u="none" strike="noStrike" baseline="0" dirty="0">
              <a:solidFill>
                <a:srgbClr val="1D1D1E"/>
              </a:solidFill>
              <a:latin typeface="Times New Roman" panose="02020603050405020304" pitchFamily="18" charset="0"/>
              <a:cs typeface="Times New Roman" panose="02020603050405020304" pitchFamily="18" charset="0"/>
            </a:endParaRP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CharArrayWriter</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an implementation of an output stream that uses an array as the destination.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CharArrayWriter</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has two constructors, shown here:</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CharArrayWriter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CharArrayWriter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numChars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1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In the first form, a buffer with a default size is created. In the second, a buffer is created with a size equal to that specified by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numChars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The buffer is held in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buf</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field of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CharArrayWriter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The buffer size will be increased automatically, if needed. The number of characters held by the buffer is contained in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count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field of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CharArrayWriter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Both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buf</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and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count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are protected fields.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36179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53</a:t>
            </a:fld>
            <a:endParaRPr lang="en-US" altLang="en-US" sz="1400">
              <a:latin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81179015"/>
              </p:ext>
            </p:extLst>
          </p:nvPr>
        </p:nvGraphicFramePr>
        <p:xfrm>
          <a:off x="341486" y="1143000"/>
          <a:ext cx="8726314" cy="3810000"/>
        </p:xfrm>
        <a:graphic>
          <a:graphicData uri="http://schemas.openxmlformats.org/drawingml/2006/table">
            <a:tbl>
              <a:tblPr/>
              <a:tblGrid>
                <a:gridCol w="4363157">
                  <a:extLst>
                    <a:ext uri="{9D8B030D-6E8A-4147-A177-3AD203B41FA5}">
                      <a16:colId xmlns:a16="http://schemas.microsoft.com/office/drawing/2014/main" xmlns="" val="20000"/>
                    </a:ext>
                  </a:extLst>
                </a:gridCol>
                <a:gridCol w="4363157">
                  <a:extLst>
                    <a:ext uri="{9D8B030D-6E8A-4147-A177-3AD203B41FA5}">
                      <a16:colId xmlns:a16="http://schemas.microsoft.com/office/drawing/2014/main" xmlns="" val="20001"/>
                    </a:ext>
                  </a:extLst>
                </a:gridCol>
              </a:tblGrid>
              <a:tr h="381000">
                <a:tc>
                  <a:txBody>
                    <a:bodyPr/>
                    <a:lstStyle/>
                    <a:p>
                      <a:pPr algn="l"/>
                      <a:r>
                        <a:rPr lang="en-US" sz="2000" b="1" dirty="0">
                          <a:effectLst/>
                        </a:rPr>
                        <a:t>Byte Stream</a:t>
                      </a:r>
                      <a:endParaRPr lang="en-US" sz="2000" dirty="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algn="l"/>
                      <a:r>
                        <a:rPr lang="en-US" sz="2000" b="1" dirty="0">
                          <a:effectLst/>
                        </a:rPr>
                        <a:t>Character Stream</a:t>
                      </a:r>
                      <a:endParaRPr lang="en-US" sz="2000" dirty="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0">
                <a:tc>
                  <a:txBody>
                    <a:bodyPr/>
                    <a:lstStyle/>
                    <a:p>
                      <a:pPr algn="l"/>
                      <a:r>
                        <a:rPr lang="en-US" sz="2000" dirty="0">
                          <a:effectLst/>
                        </a:rPr>
                        <a:t>They process the data byte by byte.</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algn="l">
                        <a:spcBef>
                          <a:spcPts val="0"/>
                        </a:spcBef>
                      </a:pPr>
                      <a:endParaRPr lang="en-US" sz="2000" dirty="0">
                        <a:effectLst/>
                      </a:endParaRPr>
                    </a:p>
                    <a:p>
                      <a:pPr algn="l">
                        <a:spcBef>
                          <a:spcPts val="0"/>
                        </a:spcBef>
                      </a:pPr>
                      <a:r>
                        <a:rPr lang="en-US" sz="2000" dirty="0">
                          <a:effectLst/>
                        </a:rPr>
                        <a:t>They process the data character by character.</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0">
                <a:tc>
                  <a:txBody>
                    <a:bodyPr/>
                    <a:lstStyle/>
                    <a:p>
                      <a:pPr algn="l"/>
                      <a:r>
                        <a:rPr lang="en-US" sz="2000" dirty="0">
                          <a:effectLst/>
                        </a:rPr>
                        <a:t>They read/write data 8 bits maximum at a time.</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algn="l"/>
                      <a:r>
                        <a:rPr lang="en-US" sz="2000">
                          <a:effectLst/>
                        </a:rPr>
                        <a:t>They read/write data 16 bits maximum at a time.</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0">
                <a:tc>
                  <a:txBody>
                    <a:bodyPr/>
                    <a:lstStyle/>
                    <a:p>
                      <a:pPr algn="l"/>
                      <a:r>
                        <a:rPr lang="en-US" sz="2000" dirty="0">
                          <a:effectLst/>
                        </a:rPr>
                        <a:t>They are most suitable to process binary files.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algn="l"/>
                      <a:r>
                        <a:rPr lang="en-US" sz="2000">
                          <a:effectLst/>
                        </a:rPr>
                        <a:t>They are most suitable to process text files.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0">
                <a:tc>
                  <a:txBody>
                    <a:bodyPr/>
                    <a:lstStyle/>
                    <a:p>
                      <a:pPr algn="l"/>
                      <a:r>
                        <a:rPr lang="en-US" sz="2000" dirty="0">
                          <a:effectLst/>
                        </a:rPr>
                        <a:t>All byte stream classes in Java are descendants of </a:t>
                      </a:r>
                      <a:r>
                        <a:rPr lang="en-US" sz="2000" dirty="0" err="1">
                          <a:effectLst/>
                        </a:rPr>
                        <a:t>InputStream</a:t>
                      </a:r>
                      <a:r>
                        <a:rPr lang="en-US" sz="2000" dirty="0">
                          <a:effectLst/>
                        </a:rPr>
                        <a:t> and </a:t>
                      </a:r>
                      <a:r>
                        <a:rPr lang="en-US" sz="2000" dirty="0" err="1">
                          <a:effectLst/>
                        </a:rPr>
                        <a:t>OutputStream</a:t>
                      </a:r>
                      <a:r>
                        <a:rPr lang="en-US" sz="2000" dirty="0">
                          <a:effectLst/>
                        </a:rPr>
                        <a:t>.</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algn="l"/>
                      <a:r>
                        <a:rPr lang="en-US" sz="2000" dirty="0">
                          <a:effectLst/>
                        </a:rPr>
                        <a:t>All character stream classes in Java are descendants of Reader and Writer.</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bl>
          </a:graphicData>
        </a:graphic>
      </p:graphicFrame>
      <p:sp>
        <p:nvSpPr>
          <p:cNvPr id="8" name="Title 1">
            <a:extLst>
              <a:ext uri="{FF2B5EF4-FFF2-40B4-BE49-F238E27FC236}">
                <a16:creationId xmlns:a16="http://schemas.microsoft.com/office/drawing/2014/main" xmlns="" id="{CC7AF45C-1BFD-A3B7-40AA-F6854A5EFEB1}"/>
              </a:ext>
            </a:extLst>
          </p:cNvPr>
          <p:cNvSpPr>
            <a:spLocks noGrp="1"/>
          </p:cNvSpPr>
          <p:nvPr>
            <p:ph type="title"/>
          </p:nvPr>
        </p:nvSpPr>
        <p:spPr>
          <a:xfrm>
            <a:off x="228600" y="-19050"/>
            <a:ext cx="8686800" cy="838200"/>
          </a:xfrm>
        </p:spPr>
        <p:txBody>
          <a:bodyPr/>
          <a:lstStyle/>
          <a:p>
            <a:r>
              <a:rPr lang="en-US" dirty="0">
                <a:solidFill>
                  <a:srgbClr val="FF0000"/>
                </a:solidFill>
                <a:latin typeface="Times New Roman" panose="02020603050405020304" pitchFamily="18" charset="0"/>
                <a:cs typeface="Times New Roman" panose="02020603050405020304" pitchFamily="18" charset="0"/>
              </a:rPr>
              <a:t>Byte Stream vs. Character </a:t>
            </a:r>
            <a:r>
              <a:rPr lang="en-US" sz="4000" b="0" i="0" u="none" strike="noStrike" baseline="0" dirty="0">
                <a:solidFill>
                  <a:srgbClr val="FF0000"/>
                </a:solidFill>
                <a:latin typeface="Times New Roman" panose="02020603050405020304" pitchFamily="18" charset="0"/>
                <a:cs typeface="Times New Roman" panose="02020603050405020304" pitchFamily="18" charset="0"/>
              </a:rPr>
              <a:t>Stream</a:t>
            </a:r>
            <a:endParaRPr lang="en-US" altLang="en-US" dirty="0">
              <a:solidFill>
                <a:srgbClr val="FF0000"/>
              </a:solidFill>
            </a:endParaRPr>
          </a:p>
        </p:txBody>
      </p:sp>
    </p:spTree>
    <p:extLst>
      <p:ext uri="{BB962C8B-B14F-4D97-AF65-F5344CB8AC3E}">
        <p14:creationId xmlns:p14="http://schemas.microsoft.com/office/powerpoint/2010/main" val="30049345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54</a:t>
            </a:fld>
            <a:endParaRPr lang="en-US" altLang="en-US" sz="1400">
              <a:latin typeface="Times New Roman" panose="02020603050405020304" pitchFamily="18" charset="0"/>
            </a:endParaRPr>
          </a:p>
        </p:txBody>
      </p:sp>
      <p:sp>
        <p:nvSpPr>
          <p:cNvPr id="8" name="Title 1">
            <a:extLst>
              <a:ext uri="{FF2B5EF4-FFF2-40B4-BE49-F238E27FC236}">
                <a16:creationId xmlns:a16="http://schemas.microsoft.com/office/drawing/2014/main" xmlns="" id="{CC7AF45C-1BFD-A3B7-40AA-F6854A5EFEB1}"/>
              </a:ext>
            </a:extLst>
          </p:cNvPr>
          <p:cNvSpPr>
            <a:spLocks noGrp="1"/>
          </p:cNvSpPr>
          <p:nvPr>
            <p:ph type="title"/>
          </p:nvPr>
        </p:nvSpPr>
        <p:spPr>
          <a:xfrm>
            <a:off x="228600" y="-19050"/>
            <a:ext cx="8686800" cy="838200"/>
          </a:xfrm>
        </p:spPr>
        <p:txBody>
          <a:bodyPr/>
          <a:lstStyle/>
          <a:p>
            <a:r>
              <a:rPr lang="en-US" dirty="0">
                <a:solidFill>
                  <a:srgbClr val="FF0000"/>
                </a:solidFill>
                <a:latin typeface="Times New Roman" panose="02020603050405020304" pitchFamily="18" charset="0"/>
                <a:cs typeface="Times New Roman" panose="02020603050405020304" pitchFamily="18" charset="0"/>
              </a:rPr>
              <a:t>Byte Stream vs. Character </a:t>
            </a:r>
            <a:r>
              <a:rPr lang="en-US" sz="4000" b="0" i="0" u="none" strike="noStrike" baseline="0" dirty="0">
                <a:solidFill>
                  <a:srgbClr val="FF0000"/>
                </a:solidFill>
                <a:latin typeface="Times New Roman" panose="02020603050405020304" pitchFamily="18" charset="0"/>
                <a:cs typeface="Times New Roman" panose="02020603050405020304" pitchFamily="18" charset="0"/>
              </a:rPr>
              <a:t>Stream</a:t>
            </a:r>
            <a:endParaRPr lang="en-US" altLang="en-US" dirty="0">
              <a:solidFill>
                <a:srgbClr val="FF0000"/>
              </a:solidFill>
            </a:endParaRPr>
          </a:p>
        </p:txBody>
      </p:sp>
      <p:pic>
        <p:nvPicPr>
          <p:cNvPr id="2050" name="Picture 2" descr="Byte Stream Vs Character Stream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9" y="990600"/>
            <a:ext cx="9156939"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8925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55</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9ADFB5F9-F761-A743-C420-95E124A35D3A}"/>
              </a:ext>
            </a:extLst>
          </p:cNvPr>
          <p:cNvSpPr txBox="1"/>
          <p:nvPr/>
        </p:nvSpPr>
        <p:spPr>
          <a:xfrm>
            <a:off x="457200" y="1219200"/>
            <a:ext cx="8077200" cy="3416320"/>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Although most of the classes defined by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java.io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operate on streams,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does not. It deals directly with files and the file system. That is,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does not specify how information is retrieved from or stored in files; it describes the properties of a file itself. </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is used to obtain or manipulate the information associated with a disk file, such as the permissions, time, date, and directory path, and to navigate subdirectory hierarchies.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8570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56</a:t>
            </a:fld>
            <a:endParaRPr lang="en-US" altLang="en-US" sz="1400">
              <a:latin typeface="Times New Roman" panose="02020603050405020304" pitchFamily="18" charset="0"/>
            </a:endParaRPr>
          </a:p>
        </p:txBody>
      </p:sp>
      <p:sp>
        <p:nvSpPr>
          <p:cNvPr id="6" name="TextBox 5">
            <a:extLst>
              <a:ext uri="{FF2B5EF4-FFF2-40B4-BE49-F238E27FC236}">
                <a16:creationId xmlns:a16="http://schemas.microsoft.com/office/drawing/2014/main" xmlns="" id="{D25CDA93-1426-6FC0-3E7B-76E832A72018}"/>
              </a:ext>
            </a:extLst>
          </p:cNvPr>
          <p:cNvSpPr txBox="1"/>
          <p:nvPr/>
        </p:nvSpPr>
        <p:spPr>
          <a:xfrm>
            <a:off x="381000" y="1295400"/>
            <a:ext cx="8077200" cy="4154984"/>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following constructors can be used to create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objects:</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File(String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directoryPath</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File(String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directoryPath</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filename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nn-NO" sz="2400" b="0" i="0" u="none" strike="noStrike" baseline="0" dirty="0">
                <a:solidFill>
                  <a:srgbClr val="1D1D1E"/>
                </a:solidFill>
                <a:latin typeface="Times New Roman" panose="02020603050405020304" pitchFamily="18" charset="0"/>
                <a:cs typeface="Times New Roman" panose="02020603050405020304" pitchFamily="18" charset="0"/>
              </a:rPr>
              <a:t>File(File </a:t>
            </a:r>
            <a:r>
              <a:rPr lang="nn-NO" sz="2400" b="0" i="1" u="none" strike="noStrike" baseline="0" dirty="0">
                <a:solidFill>
                  <a:srgbClr val="1D1D1E"/>
                </a:solidFill>
                <a:latin typeface="Times New Roman" panose="02020603050405020304" pitchFamily="18" charset="0"/>
                <a:cs typeface="Times New Roman" panose="02020603050405020304" pitchFamily="18" charset="0"/>
              </a:rPr>
              <a:t>dirObj</a:t>
            </a:r>
            <a:r>
              <a:rPr lang="nn-NO" sz="2400" b="0" i="0" u="none" strike="noStrike" baseline="0" dirty="0">
                <a:solidFill>
                  <a:srgbClr val="1D1D1E"/>
                </a:solidFill>
                <a:latin typeface="Times New Roman" panose="02020603050405020304" pitchFamily="18" charset="0"/>
                <a:cs typeface="Times New Roman" panose="02020603050405020304" pitchFamily="18" charset="0"/>
              </a:rPr>
              <a:t>, String </a:t>
            </a:r>
            <a:r>
              <a:rPr lang="nn-NO" sz="2400" b="0" i="1" u="none" strike="noStrike" baseline="0" dirty="0">
                <a:solidFill>
                  <a:srgbClr val="1D1D1E"/>
                </a:solidFill>
                <a:latin typeface="Times New Roman" panose="02020603050405020304" pitchFamily="18" charset="0"/>
                <a:cs typeface="Times New Roman" panose="02020603050405020304" pitchFamily="18" charset="0"/>
              </a:rPr>
              <a:t>filename</a:t>
            </a:r>
            <a:r>
              <a:rPr lang="nn-NO"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File(URI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uriObj</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Here,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directoryPath</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path name of the file,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filename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name of the file,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dirObj</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that specifies a directory, and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uriObj</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URI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that describes a file. The fourth constructor was added by Java 2, version 1.4.</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3929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57</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482A27F3-5786-43C2-2CEA-2B74D0A8FBB4}"/>
              </a:ext>
            </a:extLst>
          </p:cNvPr>
          <p:cNvSpPr txBox="1"/>
          <p:nvPr/>
        </p:nvSpPr>
        <p:spPr>
          <a:xfrm>
            <a:off x="152400" y="1295400"/>
            <a:ext cx="8077200" cy="4893647"/>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following example creates three files: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f1</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f2</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and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f3</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first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is constructed with a directory path as the only argument. </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second includes two arguments—the path and the filename. </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third includes the file path assigned to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f1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and a filename;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f3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refers to the same file as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f2</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f1 = new File("/java");</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f2 = new File("/</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java","autoexec.bat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f3 = new File(f1,"autoexec.bat");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5251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58</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E78C4439-D475-A7C3-483F-FA004857F7A5}"/>
              </a:ext>
            </a:extLst>
          </p:cNvPr>
          <p:cNvSpPr txBox="1"/>
          <p:nvPr/>
        </p:nvSpPr>
        <p:spPr>
          <a:xfrm>
            <a:off x="381000" y="1219200"/>
            <a:ext cx="8305800" cy="5632311"/>
          </a:xfrm>
          <a:prstGeom prst="rect">
            <a:avLst/>
          </a:prstGeom>
          <a:noFill/>
        </p:spPr>
        <p:txBody>
          <a:bodyPr wrap="square">
            <a:spAutoFit/>
          </a:bodyPr>
          <a:lstStyle/>
          <a:p>
            <a:pPr algn="l"/>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defines many methods that obtain the standard properties of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For example,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getName</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returns the name of the file, </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getParent</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returns the name of the parent directory, and </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400" b="1" i="0" u="none" strike="noStrike" baseline="0" dirty="0">
                <a:solidFill>
                  <a:srgbClr val="1D1D1E"/>
                </a:solidFill>
                <a:latin typeface="Times New Roman" panose="02020603050405020304" pitchFamily="18" charset="0"/>
                <a:cs typeface="Times New Roman" panose="02020603050405020304" pitchFamily="18" charset="0"/>
              </a:rPr>
              <a:t>exists(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returns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true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if the file exists,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false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if it does not. </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however, is not symmetrical. By this, we mean that there are many methods that allow you to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examine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properties of a simple file object, but no corresponding function exists to</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change those attributes. </a:t>
            </a:r>
          </a:p>
          <a:p>
            <a:pPr algn="l"/>
            <a:r>
              <a:rPr lang="en-US" sz="1400" dirty="0">
                <a:solidFill>
                  <a:srgbClr val="1D1D1E"/>
                </a:solidFill>
                <a:latin typeface="Times New Roman" panose="02020603050405020304" pitchFamily="18" charset="0"/>
                <a:cs typeface="Times New Roman" panose="02020603050405020304" pitchFamily="18" charset="0"/>
              </a:rPr>
              <a:t>7</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following example demonstrates several of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methods: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2825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59</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E2DD4C35-8514-FFB2-A6BA-C8458BA04002}"/>
              </a:ext>
            </a:extLst>
          </p:cNvPr>
          <p:cNvSpPr txBox="1"/>
          <p:nvPr/>
        </p:nvSpPr>
        <p:spPr>
          <a:xfrm>
            <a:off x="233126" y="914400"/>
            <a:ext cx="6252927" cy="5940088"/>
          </a:xfrm>
          <a:prstGeom prst="rect">
            <a:avLst/>
          </a:prstGeom>
          <a:noFill/>
        </p:spPr>
        <p:txBody>
          <a:bodyPr wrap="square">
            <a:spAutoFit/>
          </a:bodyPr>
          <a:lstStyle/>
          <a:p>
            <a:r>
              <a:rPr lang="en-US" sz="2000" b="0" i="0" u="none" strike="noStrike" baseline="0" dirty="0">
                <a:solidFill>
                  <a:srgbClr val="1D1D1E"/>
                </a:solidFill>
                <a:latin typeface="Times New Roman" panose="02020603050405020304" pitchFamily="18" charset="0"/>
                <a:cs typeface="Times New Roman" panose="02020603050405020304" pitchFamily="18" charset="0"/>
              </a:rPr>
              <a:t>import </a:t>
            </a:r>
            <a:r>
              <a:rPr lang="en-US" sz="2000" b="0" i="0" u="none" strike="noStrike" baseline="0" dirty="0" err="1">
                <a:solidFill>
                  <a:srgbClr val="1D1D1E"/>
                </a:solidFill>
                <a:latin typeface="Times New Roman" panose="02020603050405020304" pitchFamily="18" charset="0"/>
                <a:cs typeface="Times New Roman" panose="02020603050405020304" pitchFamily="18" charset="0"/>
              </a:rPr>
              <a:t>java.io.File</a:t>
            </a:r>
            <a:r>
              <a:rPr lang="en-US" sz="2000" b="0" i="0" u="none" strike="noStrike" baseline="0" dirty="0">
                <a:solidFill>
                  <a:srgbClr val="1D1D1E"/>
                </a:solidFill>
                <a:latin typeface="Times New Roman" panose="02020603050405020304" pitchFamily="18" charset="0"/>
                <a:cs typeface="Times New Roman" panose="02020603050405020304" pitchFamily="18" charset="0"/>
              </a:rPr>
              <a:t>; // Demonstrate File.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class </a:t>
            </a:r>
            <a:r>
              <a:rPr lang="en-US" sz="2000" b="0" i="0" u="none" strike="noStrike" baseline="0" dirty="0" err="1">
                <a:solidFill>
                  <a:srgbClr val="1D1D1E"/>
                </a:solidFill>
                <a:latin typeface="Times New Roman" panose="02020603050405020304" pitchFamily="18" charset="0"/>
                <a:cs typeface="Times New Roman" panose="02020603050405020304" pitchFamily="18" charset="0"/>
              </a:rPr>
              <a:t>FileDemo</a:t>
            </a:r>
            <a:r>
              <a:rPr lang="en-US" sz="20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static void p(String s) {   </a:t>
            </a:r>
            <a:r>
              <a:rPr lang="en-US" sz="2000" b="0" i="0" u="none" strike="noStrike" baseline="0" dirty="0" err="1">
                <a:solidFill>
                  <a:srgbClr val="1D1D1E"/>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1D1D1E"/>
                </a:solidFill>
                <a:latin typeface="Times New Roman" panose="02020603050405020304" pitchFamily="18" charset="0"/>
                <a:cs typeface="Times New Roman" panose="02020603050405020304" pitchFamily="18" charset="0"/>
              </a:rPr>
              <a:t>(s);  }</a:t>
            </a:r>
          </a:p>
          <a:p>
            <a:pPr algn="l"/>
            <a:endParaRPr lang="en-US" sz="20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public static void main(String </a:t>
            </a:r>
            <a:r>
              <a:rPr lang="en-US" sz="2000" b="0" i="0" u="none" strike="noStrike" baseline="0" dirty="0" err="1">
                <a:solidFill>
                  <a:srgbClr val="1D1D1E"/>
                </a:solidFill>
                <a:latin typeface="Times New Roman" panose="02020603050405020304" pitchFamily="18" charset="0"/>
                <a:cs typeface="Times New Roman" panose="02020603050405020304" pitchFamily="18" charset="0"/>
              </a:rPr>
              <a:t>args</a:t>
            </a:r>
            <a:r>
              <a:rPr lang="en-US" sz="20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File f1 = new File("/java/COPYRIGHT");</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p("File Name: " + f1.getName());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p("Path: " + f1.getPath());</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p("Abs Path: " + f1.getAbsolutePath());</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p("Parent: " + f1.getParent());</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p(f1.exists() ? "exists" : "does not exist");</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p(f1.canWrite() ? "is writeable" : "is not writeable");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p(f1.canRead() ? "is readable" : "is not readable");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p("is " + (f1.isDirectory() ? "" : "not" + " a directory"));</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p(f1.isFile() ? "is normal file" : "might be a named pipe");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p(f1.isAbsolute() ? "is absolute" : "is not absolute");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p("File last modified: " + f1.lastModified());</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p("File size: " + f1.length() + " Bytes");</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64665934-726F-A147-342F-4684E21453F2}"/>
              </a:ext>
            </a:extLst>
          </p:cNvPr>
          <p:cNvSpPr txBox="1"/>
          <p:nvPr/>
        </p:nvSpPr>
        <p:spPr>
          <a:xfrm>
            <a:off x="6486053" y="304800"/>
            <a:ext cx="2667000" cy="3816429"/>
          </a:xfrm>
          <a:prstGeom prst="rect">
            <a:avLst/>
          </a:prstGeom>
          <a:noFill/>
        </p:spPr>
        <p:txBody>
          <a:bodyPr wrap="square">
            <a:spAutoFit/>
          </a:bodyPr>
          <a:lstStyle/>
          <a:p>
            <a:pPr algn="l"/>
            <a:r>
              <a:rPr lang="en-US" sz="1800" b="1" i="0" u="none" strike="noStrike" baseline="0" dirty="0">
                <a:solidFill>
                  <a:srgbClr val="1D1D1E"/>
                </a:solidFill>
                <a:latin typeface="Times New Roman" panose="02020603050405020304" pitchFamily="18" charset="0"/>
                <a:cs typeface="Times New Roman" panose="02020603050405020304" pitchFamily="18" charset="0"/>
              </a:rPr>
              <a:t>Output</a:t>
            </a: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File Name: COPYRIGHT</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Path: /java/COPYRIGHT</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Abs Path: /java/COPYRIGHT</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Parent: /java</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exists</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is writeable</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is readable</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is not a directory</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is normal file</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is absolute</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File last modified: 812465204000</a:t>
            </a:r>
          </a:p>
          <a:p>
            <a:pPr algn="l"/>
            <a:r>
              <a:rPr lang="en-US" b="0" i="0" u="none" strike="noStrike" baseline="0" dirty="0">
                <a:solidFill>
                  <a:srgbClr val="1D1D1E"/>
                </a:solidFill>
                <a:latin typeface="Times New Roman" panose="02020603050405020304" pitchFamily="18" charset="0"/>
                <a:cs typeface="Times New Roman" panose="02020603050405020304" pitchFamily="18" charset="0"/>
              </a:rPr>
              <a:t>File size: 695 Bytes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17395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60</a:t>
            </a:fld>
            <a:endParaRPr lang="en-US" altLang="en-US" sz="1400">
              <a:latin typeface="Times New Roman" panose="02020603050405020304" pitchFamily="18" charset="0"/>
            </a:endParaRPr>
          </a:p>
        </p:txBody>
      </p:sp>
      <p:sp>
        <p:nvSpPr>
          <p:cNvPr id="6" name="TextBox 5">
            <a:extLst>
              <a:ext uri="{FF2B5EF4-FFF2-40B4-BE49-F238E27FC236}">
                <a16:creationId xmlns:a16="http://schemas.microsoft.com/office/drawing/2014/main" xmlns="" id="{9C0D8E87-46CB-1483-94EB-11BF000F2878}"/>
              </a:ext>
            </a:extLst>
          </p:cNvPr>
          <p:cNvSpPr txBox="1"/>
          <p:nvPr/>
        </p:nvSpPr>
        <p:spPr>
          <a:xfrm>
            <a:off x="685800" y="1219200"/>
            <a:ext cx="4572000" cy="5324535"/>
          </a:xfrm>
          <a:prstGeom prst="rect">
            <a:avLst/>
          </a:prstGeom>
          <a:noFill/>
        </p:spPr>
        <p:txBody>
          <a:bodyPr wrap="square">
            <a:spAutoFit/>
          </a:bodyPr>
          <a:lstStyle/>
          <a:p>
            <a:pPr algn="l"/>
            <a:r>
              <a:rPr lang="en-US" sz="2800" b="1" i="0" u="none" strike="noStrike" baseline="0" dirty="0">
                <a:solidFill>
                  <a:srgbClr val="1D1D1E"/>
                </a:solidFill>
                <a:latin typeface="Times New Roman" panose="02020603050405020304" pitchFamily="18" charset="0"/>
                <a:cs typeface="Times New Roman" panose="02020603050405020304" pitchFamily="18" charset="0"/>
              </a:rPr>
              <a:t>Output</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Name: COPYRIGHT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Path: /java/COPYRIGHT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Abs Path: /java/COPYRIGHT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Parent: /java</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exists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is writeable</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is readable</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is not a directory</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is normal file</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absolute</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last modified: 812465204000</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size: 695 Bytes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2110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61</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3CD2514A-2C9A-36B2-A2DF-649A08FA3613}"/>
              </a:ext>
            </a:extLst>
          </p:cNvPr>
          <p:cNvSpPr txBox="1"/>
          <p:nvPr/>
        </p:nvSpPr>
        <p:spPr>
          <a:xfrm>
            <a:off x="457200" y="1066800"/>
            <a:ext cx="7467600" cy="5878532"/>
          </a:xfrm>
          <a:prstGeom prst="rect">
            <a:avLst/>
          </a:prstGeom>
          <a:noFill/>
        </p:spPr>
        <p:txBody>
          <a:bodyPr wrap="square">
            <a:spAutoFit/>
          </a:bodyPr>
          <a:lstStyle/>
          <a:p>
            <a:pPr algn="l"/>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also includes two useful utility methods. The first is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renameTo</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shown here:</a:t>
            </a: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boolean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renameTo</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newName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It will return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true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upon success and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false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if the file cannot be renamed.</a:t>
            </a: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second utility method is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delete(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which deletes the disk file represented by the path of the invoking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It is shown here:</a:t>
            </a: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boolean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delete( )</a:t>
            </a: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You can also use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delete(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to delete a directory if the directory is empty.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delete(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returns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true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if it deletes the file and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false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if the file cannot be removed.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65902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62</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BA7416B3-5C56-982D-1EBA-B104D9A4418A}"/>
              </a:ext>
            </a:extLst>
          </p:cNvPr>
          <p:cNvSpPr txBox="1"/>
          <p:nvPr/>
        </p:nvSpPr>
        <p:spPr>
          <a:xfrm>
            <a:off x="381000" y="1219200"/>
            <a:ext cx="7924800" cy="461665"/>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Here are some other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methods that you will find helpful. </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FE4E5572-82E2-7F07-0CFB-0C4A4E5003C6}"/>
              </a:ext>
            </a:extLst>
          </p:cNvPr>
          <p:cNvPicPr>
            <a:picLocks noChangeAspect="1"/>
          </p:cNvPicPr>
          <p:nvPr/>
        </p:nvPicPr>
        <p:blipFill>
          <a:blip r:embed="rId2"/>
          <a:stretch>
            <a:fillRect/>
          </a:stretch>
        </p:blipFill>
        <p:spPr>
          <a:xfrm>
            <a:off x="609600" y="1828800"/>
            <a:ext cx="7924800" cy="1865581"/>
          </a:xfrm>
          <a:prstGeom prst="rect">
            <a:avLst/>
          </a:prstGeom>
        </p:spPr>
      </p:pic>
      <p:pic>
        <p:nvPicPr>
          <p:cNvPr id="8" name="Picture 7">
            <a:extLst>
              <a:ext uri="{FF2B5EF4-FFF2-40B4-BE49-F238E27FC236}">
                <a16:creationId xmlns:a16="http://schemas.microsoft.com/office/drawing/2014/main" xmlns="" id="{138D2D96-72B7-755F-C048-F51B6EB413F4}"/>
              </a:ext>
            </a:extLst>
          </p:cNvPr>
          <p:cNvPicPr>
            <a:picLocks noChangeAspect="1"/>
          </p:cNvPicPr>
          <p:nvPr/>
        </p:nvPicPr>
        <p:blipFill>
          <a:blip r:embed="rId3"/>
          <a:stretch>
            <a:fillRect/>
          </a:stretch>
        </p:blipFill>
        <p:spPr>
          <a:xfrm>
            <a:off x="520997" y="3811744"/>
            <a:ext cx="8050371" cy="1767737"/>
          </a:xfrm>
          <a:prstGeom prst="rect">
            <a:avLst/>
          </a:prstGeom>
        </p:spPr>
      </p:pic>
    </p:spTree>
    <p:extLst>
      <p:ext uri="{BB962C8B-B14F-4D97-AF65-F5344CB8AC3E}">
        <p14:creationId xmlns:p14="http://schemas.microsoft.com/office/powerpoint/2010/main" val="2977878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63</a:t>
            </a:fld>
            <a:endParaRPr lang="en-US" altLang="en-US" sz="1400">
              <a:latin typeface="Times New Roman" panose="02020603050405020304" pitchFamily="18" charset="0"/>
            </a:endParaRPr>
          </a:p>
        </p:txBody>
      </p:sp>
      <p:sp>
        <p:nvSpPr>
          <p:cNvPr id="10" name="TextBox 9">
            <a:extLst>
              <a:ext uri="{FF2B5EF4-FFF2-40B4-BE49-F238E27FC236}">
                <a16:creationId xmlns:a16="http://schemas.microsoft.com/office/drawing/2014/main" xmlns="" id="{90F11C3C-21E7-A384-3389-632E9B2F91EB}"/>
              </a:ext>
            </a:extLst>
          </p:cNvPr>
          <p:cNvSpPr txBox="1"/>
          <p:nvPr/>
        </p:nvSpPr>
        <p:spPr>
          <a:xfrm>
            <a:off x="457200" y="1371600"/>
            <a:ext cx="8077200" cy="3477875"/>
          </a:xfrm>
          <a:prstGeom prst="rect">
            <a:avLst/>
          </a:prstGeom>
          <a:noFill/>
        </p:spPr>
        <p:txBody>
          <a:bodyPr wrap="square">
            <a:spAutoFit/>
          </a:bodyPr>
          <a:lstStyle/>
          <a:p>
            <a:pPr algn="l"/>
            <a:r>
              <a:rPr lang="en-US" sz="2800" b="1" i="0" u="none" strike="noStrike" baseline="0" dirty="0">
                <a:solidFill>
                  <a:srgbClr val="1D1D1E"/>
                </a:solidFill>
                <a:latin typeface="Times New Roman" panose="02020603050405020304" pitchFamily="18" charset="0"/>
                <a:cs typeface="Times New Roman" panose="02020603050405020304" pitchFamily="18" charset="0"/>
              </a:rPr>
              <a:t>Directories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 directory is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that contains a list of other files and directories. When you create a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File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and it is a directory,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isDirectory</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method will return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true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In this case, you can call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list(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on that object to extract the list of other files and directories inside. It has two forms. The first is shown here:</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 list(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list of files is returned in an array of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8740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64</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02DE3517-60E5-1CDD-F78D-FEC06E49DEC1}"/>
              </a:ext>
            </a:extLst>
          </p:cNvPr>
          <p:cNvSpPr txBox="1"/>
          <p:nvPr/>
        </p:nvSpPr>
        <p:spPr>
          <a:xfrm>
            <a:off x="457200" y="1295400"/>
            <a:ext cx="7010400" cy="5262979"/>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Using directories.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import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java.io.File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DirList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public static void main(String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args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"/java";</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f1 = new File(</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if (f1.isDirectory())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System.out.println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("Directory of " +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s[] = f1.list();</a:t>
            </a:r>
          </a:p>
          <a:p>
            <a:pPr algn="l"/>
            <a:r>
              <a:rPr lang="nn-NO" sz="2400" b="0" i="0" u="none" strike="noStrike" baseline="0" dirty="0">
                <a:solidFill>
                  <a:srgbClr val="1D1D1E"/>
                </a:solidFill>
                <a:latin typeface="Times New Roman" panose="02020603050405020304" pitchFamily="18" charset="0"/>
                <a:cs typeface="Times New Roman" panose="02020603050405020304" pitchFamily="18" charset="0"/>
              </a:rPr>
              <a:t>for (int i=0; i &lt; s.length; i++)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f = new File(</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 + s[</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if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f.isDirectory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System.out.println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 is a directory");</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else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3496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65</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02DE3517-60E5-1CDD-F78D-FEC06E49DEC1}"/>
              </a:ext>
            </a:extLst>
          </p:cNvPr>
          <p:cNvSpPr txBox="1"/>
          <p:nvPr/>
        </p:nvSpPr>
        <p:spPr>
          <a:xfrm>
            <a:off x="457200" y="1295400"/>
            <a:ext cx="5029200" cy="3785652"/>
          </a:xfrm>
          <a:prstGeom prst="rect">
            <a:avLst/>
          </a:prstGeom>
          <a:noFill/>
        </p:spPr>
        <p:txBody>
          <a:bodyPr wrap="square">
            <a:spAutoFit/>
          </a:bodyPr>
          <a:lstStyle/>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System.out.println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 is a file");</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else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System.out.println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a:t>
            </a:r>
          </a:p>
          <a:p>
            <a:pPr algn="l"/>
            <a:r>
              <a:rPr lang="en-US" sz="240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is not a directory");</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8EA8BC19-CA80-C4C3-6350-E1FDE2115F82}"/>
              </a:ext>
            </a:extLst>
          </p:cNvPr>
          <p:cNvSpPr txBox="1"/>
          <p:nvPr/>
        </p:nvSpPr>
        <p:spPr>
          <a:xfrm>
            <a:off x="6019800" y="1219200"/>
            <a:ext cx="2895600" cy="3847207"/>
          </a:xfrm>
          <a:prstGeom prst="rect">
            <a:avLst/>
          </a:prstGeom>
          <a:noFill/>
        </p:spPr>
        <p:txBody>
          <a:bodyPr wrap="square">
            <a:spAutoFit/>
          </a:bodyPr>
          <a:lstStyle/>
          <a:p>
            <a:pPr algn="l"/>
            <a:r>
              <a:rPr lang="en-US" sz="2400" b="1" i="0" u="none" strike="noStrike" baseline="0" dirty="0">
                <a:solidFill>
                  <a:srgbClr val="1D1D1E"/>
                </a:solidFill>
                <a:latin typeface="Times New Roman" panose="02020603050405020304" pitchFamily="18" charset="0"/>
                <a:cs typeface="Times New Roman" panose="02020603050405020304" pitchFamily="18" charset="0"/>
              </a:rPr>
              <a:t>Output </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Directory of /java</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bin is a directory</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lib is a directory</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demo is a directory</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COPYRIGHT is a file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README is a file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index.html is a file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include is a directory</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src.zip is a file</a:t>
            </a:r>
          </a:p>
          <a:p>
            <a:pPr algn="l"/>
            <a:r>
              <a:rPr lang="en-US" sz="2000" b="0" i="0" u="none" strike="noStrike" baseline="0" dirty="0">
                <a:solidFill>
                  <a:srgbClr val="1D1D1E"/>
                </a:solidFill>
                <a:latin typeface="Times New Roman" panose="02020603050405020304" pitchFamily="18" charset="0"/>
                <a:cs typeface="Times New Roman" panose="02020603050405020304" pitchFamily="18" charset="0"/>
              </a:rPr>
              <a:t>.</a:t>
            </a:r>
            <a:r>
              <a:rPr lang="en-US" sz="2000" b="0" i="0" u="none" strike="noStrike" baseline="0" dirty="0" err="1">
                <a:solidFill>
                  <a:srgbClr val="1D1D1E"/>
                </a:solidFill>
                <a:latin typeface="Times New Roman" panose="02020603050405020304" pitchFamily="18" charset="0"/>
                <a:cs typeface="Times New Roman" panose="02020603050405020304" pitchFamily="18" charset="0"/>
              </a:rPr>
              <a:t>hotjava</a:t>
            </a:r>
            <a:r>
              <a:rPr lang="en-US" sz="2000" b="0" i="0" u="none" strike="noStrike" baseline="0" dirty="0">
                <a:solidFill>
                  <a:srgbClr val="1D1D1E"/>
                </a:solidFill>
                <a:latin typeface="Times New Roman" panose="02020603050405020304" pitchFamily="18" charset="0"/>
                <a:cs typeface="Times New Roman" panose="02020603050405020304" pitchFamily="18" charset="0"/>
              </a:rPr>
              <a:t> is a directory</a:t>
            </a:r>
          </a:p>
          <a:p>
            <a:pPr algn="l"/>
            <a:r>
              <a:rPr lang="en-US" sz="2000" b="0" i="0" u="none" strike="noStrike" baseline="0" dirty="0" err="1">
                <a:solidFill>
                  <a:srgbClr val="1D1D1E"/>
                </a:solidFill>
                <a:latin typeface="Times New Roman" panose="02020603050405020304" pitchFamily="18" charset="0"/>
                <a:cs typeface="Times New Roman" panose="02020603050405020304" pitchFamily="18" charset="0"/>
              </a:rPr>
              <a:t>src</a:t>
            </a:r>
            <a:r>
              <a:rPr lang="en-US" sz="2000" b="0" i="0" u="none" strike="noStrike" baseline="0" dirty="0">
                <a:solidFill>
                  <a:srgbClr val="1D1D1E"/>
                </a:solidFill>
                <a:latin typeface="Times New Roman" panose="02020603050405020304" pitchFamily="18" charset="0"/>
                <a:cs typeface="Times New Roman" panose="02020603050405020304" pitchFamily="18" charset="0"/>
              </a:rPr>
              <a:t> is a directory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1635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66</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BD28F662-3347-E0F7-79E9-C34EC070F0FE}"/>
              </a:ext>
            </a:extLst>
          </p:cNvPr>
          <p:cNvSpPr txBox="1"/>
          <p:nvPr/>
        </p:nvSpPr>
        <p:spPr>
          <a:xfrm>
            <a:off x="152400" y="920621"/>
            <a:ext cx="8610600" cy="5216813"/>
          </a:xfrm>
          <a:prstGeom prst="rect">
            <a:avLst/>
          </a:prstGeom>
          <a:noFill/>
        </p:spPr>
        <p:txBody>
          <a:bodyPr wrap="square">
            <a:spAutoFit/>
          </a:bodyPr>
          <a:lstStyle/>
          <a:p>
            <a:pPr algn="l"/>
            <a:r>
              <a:rPr lang="en-US" sz="2400" b="1" i="0" u="none" strike="noStrike" baseline="0" dirty="0">
                <a:solidFill>
                  <a:srgbClr val="1D1D1E"/>
                </a:solidFill>
                <a:latin typeface="Times New Roman" panose="02020603050405020304" pitchFamily="18" charset="0"/>
                <a:cs typeface="Times New Roman" panose="02020603050405020304" pitchFamily="18" charset="0"/>
              </a:rPr>
              <a:t>Using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FilenameFilter</a:t>
            </a:r>
            <a:endParaRPr lang="en-US" sz="2400" b="1"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You will often want to limit the number of files returned by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list(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method to include only those files that match a certain filename pattern, or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filter.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To do this, you must use a second form of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list(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shown here:</a:t>
            </a:r>
          </a:p>
          <a:p>
            <a:pPr algn="l"/>
            <a:endParaRPr lang="en-US" sz="10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 list(</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FilenameFilter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FFObj</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11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FilenameFilter</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defines only a single method,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accept(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which is called once for each file in a list. Its general form is given here:</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boolean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accept(File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directory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String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filename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accept(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method returns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true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for files in the directory specified by </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directory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that should be included in the list, and returns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false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for those files that should be excluded.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13809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67</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47134DFE-A734-C97C-CAC6-A46AF5EEBE13}"/>
              </a:ext>
            </a:extLst>
          </p:cNvPr>
          <p:cNvSpPr txBox="1"/>
          <p:nvPr/>
        </p:nvSpPr>
        <p:spPr>
          <a:xfrm>
            <a:off x="609600" y="1143000"/>
            <a:ext cx="7848600" cy="5632311"/>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OnlyExt</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shown next, implements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FilenameFilter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It will be used to modify the preceding program so that it restricts the visibility of the filenames returned by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list(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to files with names that end in the file extension specified when the object is constructed.</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import java.io.*;</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public class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OnlyExt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implements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FilenameFilter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ext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public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OnlyExt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ext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this.ext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 +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ext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public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boolean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accept(File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String name)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return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name.endsWith</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ext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79253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File </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68</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AA943F4B-630D-016A-1F6E-B3469901A356}"/>
              </a:ext>
            </a:extLst>
          </p:cNvPr>
          <p:cNvSpPr txBox="1"/>
          <p:nvPr/>
        </p:nvSpPr>
        <p:spPr>
          <a:xfrm>
            <a:off x="457200" y="1120676"/>
            <a:ext cx="7696200" cy="5632311"/>
          </a:xfrm>
          <a:prstGeom prst="rect">
            <a:avLst/>
          </a:prstGeom>
          <a:noFill/>
        </p:spPr>
        <p:txBody>
          <a:bodyPr wrap="square">
            <a:spAutoFit/>
          </a:bodyPr>
          <a:lstStyle/>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modified directory listing program is shown here. Now it will only display files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that use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.html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extension.</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Directory of .HTML files.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import java.io.*;</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DirListOnly</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public static void main(String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args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 "/java";</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File f1 = new File(</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dirname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FilenameFilter</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only = new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OnlyExt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("html");</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String s[] = f1.list(only);</a:t>
            </a:r>
          </a:p>
          <a:p>
            <a:pPr algn="l"/>
            <a:r>
              <a:rPr lang="nn-NO" sz="2400" b="0" i="0" u="none" strike="noStrike" baseline="0" dirty="0">
                <a:solidFill>
                  <a:srgbClr val="1D1D1E"/>
                </a:solidFill>
                <a:latin typeface="Times New Roman" panose="02020603050405020304" pitchFamily="18" charset="0"/>
                <a:cs typeface="Times New Roman" panose="02020603050405020304" pitchFamily="18" charset="0"/>
              </a:rPr>
              <a:t>for (int i=0; i &lt; s.length; i++) {</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System.out.println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(s[</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a:solidFill>
                  <a:srgbClr val="1D1D1E"/>
                </a:solidFill>
                <a:latin typeface="Times New Roman" panose="02020603050405020304" pitchFamily="18" charset="0"/>
                <a:cs typeface="Times New Roman" panose="02020603050405020304" pitchFamily="18" charset="0"/>
              </a:rPr>
              <a:t>}   }   </a:t>
            </a:r>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56021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69</a:t>
            </a:fld>
            <a:endParaRPr lang="en-US" altLang="en-US" sz="1400">
              <a:latin typeface="Times New Roman" panose="02020603050405020304" pitchFamily="18" charset="0"/>
            </a:endParaRPr>
          </a:p>
        </p:txBody>
      </p:sp>
      <p:sp>
        <p:nvSpPr>
          <p:cNvPr id="2" name="Rectangle 1"/>
          <p:cNvSpPr/>
          <p:nvPr/>
        </p:nvSpPr>
        <p:spPr>
          <a:xfrm>
            <a:off x="228600" y="1295400"/>
            <a:ext cx="8534400" cy="2246769"/>
          </a:xfrm>
          <a:prstGeom prst="rect">
            <a:avLst/>
          </a:prstGeom>
        </p:spPr>
        <p:txBody>
          <a:bodyPr wrap="square">
            <a:spAutoFit/>
          </a:bodyPr>
          <a:lstStyle/>
          <a:p>
            <a:r>
              <a:rPr lang="en-US" sz="2800" dirty="0">
                <a:solidFill>
                  <a:srgbClr val="1D1D1E"/>
                </a:solidFill>
                <a:latin typeface="Times New Roman" panose="02020603050405020304" pitchFamily="18" charset="0"/>
                <a:cs typeface="Times New Roman" panose="02020603050405020304" pitchFamily="18" charset="0"/>
              </a:rPr>
              <a:t>Serialization is the process of writing the state of an object to a byte stream. This is useful when you want to save the state of your program to a persistent storage area, such as a file. At a later time, you may restore these objects by using the process of deserialization.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40627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70</a:t>
            </a:fld>
            <a:endParaRPr lang="en-US" altLang="en-US" sz="1400">
              <a:latin typeface="Times New Roman" panose="02020603050405020304" pitchFamily="18" charset="0"/>
            </a:endParaRPr>
          </a:p>
        </p:txBody>
      </p:sp>
      <p:sp>
        <p:nvSpPr>
          <p:cNvPr id="2" name="Rectangle 1"/>
          <p:cNvSpPr/>
          <p:nvPr/>
        </p:nvSpPr>
        <p:spPr>
          <a:xfrm>
            <a:off x="221673" y="1143000"/>
            <a:ext cx="8534400" cy="3108543"/>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Assume that an object to be serialized has references to other objects, which, in turn, have references to still more objects. This set of objects and the relationships</a:t>
            </a:r>
          </a:p>
          <a:p>
            <a:r>
              <a:rPr lang="en-US" sz="2800" dirty="0">
                <a:latin typeface="Times New Roman" panose="02020603050405020304" pitchFamily="18" charset="0"/>
                <a:cs typeface="Times New Roman" panose="02020603050405020304" pitchFamily="18" charset="0"/>
              </a:rPr>
              <a:t>among them form a directed graph.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object serialization and deserialization facilities have been designed to work correctly in these scenarios. </a:t>
            </a:r>
          </a:p>
        </p:txBody>
      </p:sp>
    </p:spTree>
    <p:extLst>
      <p:ext uri="{BB962C8B-B14F-4D97-AF65-F5344CB8AC3E}">
        <p14:creationId xmlns:p14="http://schemas.microsoft.com/office/powerpoint/2010/main" val="3519655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71</a:t>
            </a:fld>
            <a:endParaRPr lang="en-US" altLang="en-US" sz="1400">
              <a:latin typeface="Times New Roman" panose="02020603050405020304" pitchFamily="18" charset="0"/>
            </a:endParaRPr>
          </a:p>
        </p:txBody>
      </p:sp>
      <p:sp>
        <p:nvSpPr>
          <p:cNvPr id="2" name="Rectangle 1"/>
          <p:cNvSpPr/>
          <p:nvPr/>
        </p:nvSpPr>
        <p:spPr>
          <a:xfrm>
            <a:off x="193964" y="1371600"/>
            <a:ext cx="8534400" cy="2677656"/>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If you attempt to serialize an object at the top of an object</a:t>
            </a:r>
          </a:p>
          <a:p>
            <a:r>
              <a:rPr lang="en-US" sz="2800" dirty="0">
                <a:latin typeface="Times New Roman" panose="02020603050405020304" pitchFamily="18" charset="0"/>
                <a:cs typeface="Times New Roman" panose="02020603050405020304" pitchFamily="18" charset="0"/>
              </a:rPr>
              <a:t>graph, all of the other referenced objects are recursively located and serialized.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Similarly, during the process of deserialization, all of these objects and their references are correctly restored.</a:t>
            </a:r>
          </a:p>
        </p:txBody>
      </p:sp>
    </p:spTree>
    <p:extLst>
      <p:ext uri="{BB962C8B-B14F-4D97-AF65-F5344CB8AC3E}">
        <p14:creationId xmlns:p14="http://schemas.microsoft.com/office/powerpoint/2010/main" val="12825340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72</a:t>
            </a:fld>
            <a:endParaRPr lang="en-US" altLang="en-US" sz="1400">
              <a:latin typeface="Times New Roman" panose="02020603050405020304" pitchFamily="18" charset="0"/>
            </a:endParaRPr>
          </a:p>
        </p:txBody>
      </p:sp>
      <p:sp>
        <p:nvSpPr>
          <p:cNvPr id="2" name="Rectangle 1"/>
          <p:cNvSpPr/>
          <p:nvPr/>
        </p:nvSpPr>
        <p:spPr>
          <a:xfrm>
            <a:off x="193964" y="1371600"/>
            <a:ext cx="8534400" cy="3847207"/>
          </a:xfrm>
          <a:prstGeom prst="rect">
            <a:avLst/>
          </a:prstGeom>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Serializable</a:t>
            </a: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Only an object that implements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Serializable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can be saved and restored by the serialization facilities.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Serializable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defines no members. It is simply used to indicate that a class may be serialized. If a class is serializable, all of its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subclasses are also serializable. </a:t>
            </a: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Variables that are declared as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transient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are not saved by the serialization facilities. Also,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static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variables are not saved.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14833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73</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1884BB22-94D8-EBBF-3DE2-5CFA44D85C90}"/>
              </a:ext>
            </a:extLst>
          </p:cNvPr>
          <p:cNvSpPr txBox="1"/>
          <p:nvPr/>
        </p:nvSpPr>
        <p:spPr>
          <a:xfrm>
            <a:off x="304800" y="914400"/>
            <a:ext cx="8458200" cy="5816977"/>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Externalizable</a:t>
            </a: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dirty="0">
                <a:solidFill>
                  <a:srgbClr val="1D1D1E"/>
                </a:solidFill>
                <a:latin typeface="Times New Roman" panose="02020603050405020304" pitchFamily="18" charset="0"/>
                <a:cs typeface="Times New Roman" panose="02020603050405020304" pitchFamily="18" charset="0"/>
              </a:rPr>
              <a:t>Sometimes the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programmer may need to have control over these processes. For example, it may be desirable to use compression or encryption techniques.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Externalizable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is designed for these situations.</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Externalizable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defines these two methods:</a:t>
            </a: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void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readExternal</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ObjectInput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inStream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throws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IOException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ClassNotFoundException</a:t>
            </a:r>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void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writeExternal</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ObjectOutput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outStream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             throws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IOException</a:t>
            </a:r>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endParaRPr lang="en-US"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In these methods,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inStream</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byte stream from which the object is to be read, and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outStream</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byte stream to which the object is to be written.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06872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74</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1884BB22-94D8-EBBF-3DE2-5CFA44D85C90}"/>
              </a:ext>
            </a:extLst>
          </p:cNvPr>
          <p:cNvSpPr txBox="1"/>
          <p:nvPr/>
        </p:nvSpPr>
        <p:spPr>
          <a:xfrm>
            <a:off x="266700" y="1066800"/>
            <a:ext cx="8458200" cy="3477875"/>
          </a:xfrm>
          <a:prstGeom prst="rect">
            <a:avLst/>
          </a:prstGeom>
          <a:noFill/>
        </p:spPr>
        <p:txBody>
          <a:bodyPr wrap="square">
            <a:spAutoFit/>
          </a:bodyPr>
          <a:lstStyle/>
          <a:p>
            <a:r>
              <a:rPr lang="en-US" sz="2800" b="1" dirty="0" err="1">
                <a:solidFill>
                  <a:srgbClr val="7030A0"/>
                </a:solidFill>
                <a:latin typeface="Times New Roman" panose="02020603050405020304" pitchFamily="18" charset="0"/>
                <a:cs typeface="Times New Roman" panose="02020603050405020304" pitchFamily="18" charset="0"/>
              </a:rPr>
              <a:t>ObjectOutput</a:t>
            </a:r>
            <a:endParaRPr lang="en-US" sz="2800" b="1" dirty="0">
              <a:solidFill>
                <a:srgbClr val="7030A0"/>
              </a:solidFill>
              <a:latin typeface="Times New Roman" panose="02020603050405020304" pitchFamily="18" charset="0"/>
              <a:cs typeface="Times New Roman" panose="02020603050405020304" pitchFamily="18" charset="0"/>
            </a:endParaRPr>
          </a:p>
          <a:p>
            <a:pPr algn="l"/>
            <a:endParaRPr lang="en-US" sz="2400" dirty="0">
              <a:solidFill>
                <a:srgbClr val="1D1D1E"/>
              </a:solidFill>
              <a:latin typeface="Times New Roman" panose="02020603050405020304" pitchFamily="18" charset="0"/>
              <a:cs typeface="Times New Roman" panose="02020603050405020304" pitchFamily="18" charset="0"/>
            </a:endParaRPr>
          </a:p>
          <a:p>
            <a:pPr algn="l"/>
            <a:r>
              <a:rPr lang="en-US" sz="2800" dirty="0">
                <a:solidFill>
                  <a:srgbClr val="1D1D1E"/>
                </a:solidFill>
                <a:latin typeface="Times New Roman" panose="02020603050405020304" pitchFamily="18" charset="0"/>
                <a:cs typeface="Times New Roman" panose="02020603050405020304" pitchFamily="18" charset="0"/>
              </a:rPr>
              <a:t>The </a:t>
            </a:r>
            <a:r>
              <a:rPr lang="en-US" sz="2800" dirty="0" err="1">
                <a:solidFill>
                  <a:srgbClr val="1D1D1E"/>
                </a:solidFill>
                <a:latin typeface="Times New Roman" panose="02020603050405020304" pitchFamily="18" charset="0"/>
                <a:cs typeface="Times New Roman" panose="02020603050405020304" pitchFamily="18" charset="0"/>
              </a:rPr>
              <a:t>ObjectOutput</a:t>
            </a:r>
            <a:r>
              <a:rPr lang="en-US" sz="2800" dirty="0">
                <a:solidFill>
                  <a:srgbClr val="1D1D1E"/>
                </a:solidFill>
                <a:latin typeface="Times New Roman" panose="02020603050405020304" pitchFamily="18" charset="0"/>
                <a:cs typeface="Times New Roman" panose="02020603050405020304" pitchFamily="18" charset="0"/>
              </a:rPr>
              <a:t> interface extends the </a:t>
            </a:r>
            <a:r>
              <a:rPr lang="en-US" sz="2800" dirty="0" err="1">
                <a:solidFill>
                  <a:srgbClr val="1D1D1E"/>
                </a:solidFill>
                <a:latin typeface="Times New Roman" panose="02020603050405020304" pitchFamily="18" charset="0"/>
                <a:cs typeface="Times New Roman" panose="02020603050405020304" pitchFamily="18" charset="0"/>
              </a:rPr>
              <a:t>DataOutput</a:t>
            </a:r>
            <a:r>
              <a:rPr lang="en-US" sz="2800" dirty="0">
                <a:solidFill>
                  <a:srgbClr val="1D1D1E"/>
                </a:solidFill>
                <a:latin typeface="Times New Roman" panose="02020603050405020304" pitchFamily="18" charset="0"/>
                <a:cs typeface="Times New Roman" panose="02020603050405020304" pitchFamily="18" charset="0"/>
              </a:rPr>
              <a:t> interface and supports object serialization. It defines the methods shown in Table 20-6. Note especially the </a:t>
            </a:r>
            <a:r>
              <a:rPr lang="en-US" sz="2800" dirty="0" err="1">
                <a:solidFill>
                  <a:srgbClr val="1D1D1E"/>
                </a:solidFill>
                <a:latin typeface="Times New Roman" panose="02020603050405020304" pitchFamily="18" charset="0"/>
                <a:cs typeface="Times New Roman" panose="02020603050405020304" pitchFamily="18" charset="0"/>
              </a:rPr>
              <a:t>writeObject</a:t>
            </a:r>
            <a:r>
              <a:rPr lang="en-US" sz="2800" dirty="0">
                <a:solidFill>
                  <a:srgbClr val="1D1D1E"/>
                </a:solidFill>
                <a:latin typeface="Times New Roman" panose="02020603050405020304" pitchFamily="18" charset="0"/>
                <a:cs typeface="Times New Roman" panose="02020603050405020304" pitchFamily="18" charset="0"/>
              </a:rPr>
              <a:t>( ) method. This is called to serialize an object. All of these methods will throw an </a:t>
            </a:r>
            <a:r>
              <a:rPr lang="en-US" sz="2800" dirty="0" err="1">
                <a:solidFill>
                  <a:srgbClr val="1D1D1E"/>
                </a:solidFill>
                <a:latin typeface="Times New Roman" panose="02020603050405020304" pitchFamily="18" charset="0"/>
                <a:cs typeface="Times New Roman" panose="02020603050405020304" pitchFamily="18" charset="0"/>
              </a:rPr>
              <a:t>IOException</a:t>
            </a:r>
            <a:r>
              <a:rPr lang="en-US" sz="2800" dirty="0">
                <a:solidFill>
                  <a:srgbClr val="1D1D1E"/>
                </a:solidFill>
                <a:latin typeface="Times New Roman" panose="02020603050405020304" pitchFamily="18" charset="0"/>
                <a:cs typeface="Times New Roman" panose="02020603050405020304" pitchFamily="18" charset="0"/>
              </a:rPr>
              <a:t> on error conditions.</a:t>
            </a:r>
          </a:p>
        </p:txBody>
      </p:sp>
    </p:spTree>
    <p:extLst>
      <p:ext uri="{BB962C8B-B14F-4D97-AF65-F5344CB8AC3E}">
        <p14:creationId xmlns:p14="http://schemas.microsoft.com/office/powerpoint/2010/main" val="4148933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75</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1884BB22-94D8-EBBF-3DE2-5CFA44D85C90}"/>
              </a:ext>
            </a:extLst>
          </p:cNvPr>
          <p:cNvSpPr txBox="1"/>
          <p:nvPr/>
        </p:nvSpPr>
        <p:spPr>
          <a:xfrm>
            <a:off x="266700" y="1066800"/>
            <a:ext cx="8458200" cy="523220"/>
          </a:xfrm>
          <a:prstGeom prst="rect">
            <a:avLst/>
          </a:prstGeom>
          <a:noFill/>
        </p:spPr>
        <p:txBody>
          <a:bodyPr wrap="square">
            <a:spAutoFit/>
          </a:bodyPr>
          <a:lstStyle/>
          <a:p>
            <a:r>
              <a:rPr lang="en-US" sz="2800" b="1" dirty="0" err="1">
                <a:solidFill>
                  <a:srgbClr val="7030A0"/>
                </a:solidFill>
                <a:latin typeface="Times New Roman" panose="02020603050405020304" pitchFamily="18" charset="0"/>
                <a:cs typeface="Times New Roman" panose="02020603050405020304" pitchFamily="18" charset="0"/>
              </a:rPr>
              <a:t>ObjectOutput</a:t>
            </a:r>
            <a:endParaRPr lang="en-US" sz="2800" b="1" dirty="0">
              <a:solidFill>
                <a:srgbClr val="7030A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xmlns="" id="{2C0ED674-81B8-1BAD-61F3-369ACA5DB33A}"/>
              </a:ext>
            </a:extLst>
          </p:cNvPr>
          <p:cNvPicPr>
            <a:picLocks noChangeAspect="1"/>
          </p:cNvPicPr>
          <p:nvPr/>
        </p:nvPicPr>
        <p:blipFill>
          <a:blip r:embed="rId2"/>
          <a:stretch>
            <a:fillRect/>
          </a:stretch>
        </p:blipFill>
        <p:spPr>
          <a:xfrm>
            <a:off x="0" y="2169070"/>
            <a:ext cx="9144000" cy="3767358"/>
          </a:xfrm>
          <a:prstGeom prst="rect">
            <a:avLst/>
          </a:prstGeom>
        </p:spPr>
      </p:pic>
    </p:spTree>
    <p:extLst>
      <p:ext uri="{BB962C8B-B14F-4D97-AF65-F5344CB8AC3E}">
        <p14:creationId xmlns:p14="http://schemas.microsoft.com/office/powerpoint/2010/main" val="31040357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76</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E99C7CFC-C112-000F-4BEC-4A48E4A1CD67}"/>
              </a:ext>
            </a:extLst>
          </p:cNvPr>
          <p:cNvSpPr txBox="1"/>
          <p:nvPr/>
        </p:nvSpPr>
        <p:spPr>
          <a:xfrm>
            <a:off x="381000" y="1066800"/>
            <a:ext cx="7924800" cy="5339923"/>
          </a:xfrm>
          <a:prstGeom prst="rect">
            <a:avLst/>
          </a:prstGeom>
          <a:noFill/>
        </p:spPr>
        <p:txBody>
          <a:bodyPr wrap="square">
            <a:spAutoFit/>
          </a:bodyPr>
          <a:lstStyle/>
          <a:p>
            <a:pPr algn="l"/>
            <a:r>
              <a:rPr lang="en-US" sz="2800" b="1" i="0" u="none" strike="noStrike" baseline="0" dirty="0" err="1">
                <a:solidFill>
                  <a:srgbClr val="7030A0"/>
                </a:solidFill>
                <a:latin typeface="Times New Roman" panose="02020603050405020304" pitchFamily="18" charset="0"/>
                <a:cs typeface="Times New Roman" panose="02020603050405020304" pitchFamily="18" charset="0"/>
              </a:rPr>
              <a:t>ObjectOutputStream</a:t>
            </a:r>
            <a:endParaRPr lang="en-US" sz="2800" b="1" i="0" u="none" strike="noStrike" baseline="0" dirty="0">
              <a:solidFill>
                <a:srgbClr val="7030A0"/>
              </a:solidFill>
              <a:latin typeface="Times New Roman" panose="02020603050405020304" pitchFamily="18" charset="0"/>
              <a:cs typeface="Times New Roman" panose="02020603050405020304" pitchFamily="18" charset="0"/>
            </a:endParaRPr>
          </a:p>
          <a:p>
            <a:pPr algn="l"/>
            <a:endParaRPr lang="en-US" sz="1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ObjectOutputStream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extends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OutputStream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and implements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ObjectOutput</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It is responsible for writing objects to a stream. A constructor</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of this class is </a:t>
            </a:r>
          </a:p>
          <a:p>
            <a:pPr algn="l"/>
            <a:endParaRPr lang="en-US" sz="11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ObjectOutputStream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OutputStream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outStream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throws  </a:t>
            </a:r>
          </a:p>
          <a:p>
            <a:pPr algn="l"/>
            <a:r>
              <a:rPr lang="en-US" sz="240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IOException</a:t>
            </a:r>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argument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outStream</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output stream to which serialized objects will be written.</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most commonly used methods in this class are shown in Table 20-7. They will throw an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IOException</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on error conditions.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7176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77</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E99C7CFC-C112-000F-4BEC-4A48E4A1CD67}"/>
              </a:ext>
            </a:extLst>
          </p:cNvPr>
          <p:cNvSpPr txBox="1"/>
          <p:nvPr/>
        </p:nvSpPr>
        <p:spPr>
          <a:xfrm>
            <a:off x="381000" y="1066800"/>
            <a:ext cx="7924800" cy="523220"/>
          </a:xfrm>
          <a:prstGeom prst="rect">
            <a:avLst/>
          </a:prstGeom>
          <a:noFill/>
        </p:spPr>
        <p:txBody>
          <a:bodyPr wrap="square">
            <a:spAutoFit/>
          </a:bodyPr>
          <a:lstStyle/>
          <a:p>
            <a:pPr algn="l"/>
            <a:r>
              <a:rPr lang="en-US" sz="2800" b="1" i="0" u="none" strike="noStrike" baseline="0" dirty="0" err="1">
                <a:solidFill>
                  <a:srgbClr val="7030A0"/>
                </a:solidFill>
                <a:latin typeface="Times New Roman" panose="02020603050405020304" pitchFamily="18" charset="0"/>
                <a:cs typeface="Times New Roman" panose="02020603050405020304" pitchFamily="18" charset="0"/>
              </a:rPr>
              <a:t>ObjectOutputStream</a:t>
            </a:r>
            <a:endParaRPr lang="en-US" sz="2800" b="1" i="0" u="none" strike="noStrike" baseline="0" dirty="0">
              <a:solidFill>
                <a:srgbClr val="7030A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BF8CBB82-E7B1-5664-3857-23493C99ED2E}"/>
              </a:ext>
            </a:extLst>
          </p:cNvPr>
          <p:cNvPicPr>
            <a:picLocks noChangeAspect="1"/>
          </p:cNvPicPr>
          <p:nvPr/>
        </p:nvPicPr>
        <p:blipFill>
          <a:blip r:embed="rId2"/>
          <a:stretch>
            <a:fillRect/>
          </a:stretch>
        </p:blipFill>
        <p:spPr>
          <a:xfrm>
            <a:off x="915929" y="485114"/>
            <a:ext cx="8228071" cy="6229539"/>
          </a:xfrm>
          <a:prstGeom prst="rect">
            <a:avLst/>
          </a:prstGeom>
        </p:spPr>
      </p:pic>
    </p:spTree>
    <p:extLst>
      <p:ext uri="{BB962C8B-B14F-4D97-AF65-F5344CB8AC3E}">
        <p14:creationId xmlns:p14="http://schemas.microsoft.com/office/powerpoint/2010/main" val="17396558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78</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xmlns="" id="{7D3AF283-C9FD-1964-6048-D49DCA2AFCD2}"/>
              </a:ext>
            </a:extLst>
          </p:cNvPr>
          <p:cNvSpPr txBox="1"/>
          <p:nvPr/>
        </p:nvSpPr>
        <p:spPr>
          <a:xfrm>
            <a:off x="304800" y="1011734"/>
            <a:ext cx="8458200" cy="2739211"/>
          </a:xfrm>
          <a:prstGeom prst="rect">
            <a:avLst/>
          </a:prstGeom>
          <a:noFill/>
        </p:spPr>
        <p:txBody>
          <a:bodyPr wrap="square">
            <a:spAutoFit/>
          </a:bodyPr>
          <a:lstStyle/>
          <a:p>
            <a:pPr algn="l"/>
            <a:r>
              <a:rPr lang="en-US" sz="2800" b="1" i="0" u="none" strike="noStrike" baseline="0" dirty="0" err="1">
                <a:solidFill>
                  <a:srgbClr val="7030A0"/>
                </a:solidFill>
                <a:latin typeface="Times New Roman" panose="02020603050405020304" pitchFamily="18" charset="0"/>
                <a:cs typeface="Times New Roman" panose="02020603050405020304" pitchFamily="18" charset="0"/>
              </a:rPr>
              <a:t>ObjectInput</a:t>
            </a:r>
            <a:endParaRPr lang="en-US" sz="2800" b="1" i="0" u="none" strike="noStrike" baseline="0" dirty="0">
              <a:solidFill>
                <a:srgbClr val="7030A0"/>
              </a:solidFill>
              <a:latin typeface="Times New Roman" panose="02020603050405020304" pitchFamily="18" charset="0"/>
              <a:cs typeface="Times New Roman" panose="02020603050405020304" pitchFamily="18" charset="0"/>
            </a:endParaRP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ObjectInput</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extends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DataInput</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and defines the methods shown in Table 20-8. It supports object serialization. Note especially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readObject</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method. This is called to deserialize an object. All of these methods will throw an</a:t>
            </a:r>
          </a:p>
          <a:p>
            <a:pPr algn="l"/>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IOException</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on error conditions.</a:t>
            </a:r>
          </a:p>
        </p:txBody>
      </p:sp>
    </p:spTree>
    <p:extLst>
      <p:ext uri="{BB962C8B-B14F-4D97-AF65-F5344CB8AC3E}">
        <p14:creationId xmlns:p14="http://schemas.microsoft.com/office/powerpoint/2010/main" val="37358255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79</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xmlns="" id="{7D3AF283-C9FD-1964-6048-D49DCA2AFCD2}"/>
              </a:ext>
            </a:extLst>
          </p:cNvPr>
          <p:cNvSpPr txBox="1"/>
          <p:nvPr/>
        </p:nvSpPr>
        <p:spPr>
          <a:xfrm>
            <a:off x="304800" y="1011734"/>
            <a:ext cx="8458200" cy="523220"/>
          </a:xfrm>
          <a:prstGeom prst="rect">
            <a:avLst/>
          </a:prstGeom>
          <a:noFill/>
        </p:spPr>
        <p:txBody>
          <a:bodyPr wrap="square">
            <a:spAutoFit/>
          </a:bodyPr>
          <a:lstStyle/>
          <a:p>
            <a:pPr algn="l"/>
            <a:r>
              <a:rPr lang="en-US" sz="2800" b="1" i="0" u="none" strike="noStrike" baseline="0" dirty="0" err="1">
                <a:solidFill>
                  <a:srgbClr val="7030A0"/>
                </a:solidFill>
                <a:latin typeface="Times New Roman" panose="02020603050405020304" pitchFamily="18" charset="0"/>
                <a:cs typeface="Times New Roman" panose="02020603050405020304" pitchFamily="18" charset="0"/>
              </a:rPr>
              <a:t>ObjectInput</a:t>
            </a:r>
            <a:endParaRPr lang="en-US" sz="2800" b="1" i="0" u="none" strike="noStrike" baseline="0" dirty="0">
              <a:solidFill>
                <a:srgbClr val="7030A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xmlns="" id="{9E53F824-2272-252D-361E-76F230FE8294}"/>
              </a:ext>
            </a:extLst>
          </p:cNvPr>
          <p:cNvPicPr>
            <a:picLocks noChangeAspect="1"/>
          </p:cNvPicPr>
          <p:nvPr/>
        </p:nvPicPr>
        <p:blipFill>
          <a:blip r:embed="rId2"/>
          <a:stretch>
            <a:fillRect/>
          </a:stretch>
        </p:blipFill>
        <p:spPr>
          <a:xfrm>
            <a:off x="76200" y="1727538"/>
            <a:ext cx="9144000" cy="5073397"/>
          </a:xfrm>
          <a:prstGeom prst="rect">
            <a:avLst/>
          </a:prstGeom>
        </p:spPr>
      </p:pic>
    </p:spTree>
    <p:extLst>
      <p:ext uri="{BB962C8B-B14F-4D97-AF65-F5344CB8AC3E}">
        <p14:creationId xmlns:p14="http://schemas.microsoft.com/office/powerpoint/2010/main" val="38621607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80</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E0051C12-6C7D-284C-4095-B7A3FF9642F4}"/>
              </a:ext>
            </a:extLst>
          </p:cNvPr>
          <p:cNvSpPr txBox="1"/>
          <p:nvPr/>
        </p:nvSpPr>
        <p:spPr>
          <a:xfrm>
            <a:off x="381000" y="990600"/>
            <a:ext cx="8229600" cy="4585871"/>
          </a:xfrm>
          <a:prstGeom prst="rect">
            <a:avLst/>
          </a:prstGeom>
          <a:noFill/>
        </p:spPr>
        <p:txBody>
          <a:bodyPr wrap="square">
            <a:spAutoFit/>
          </a:bodyPr>
          <a:lstStyle/>
          <a:p>
            <a:pPr algn="l"/>
            <a:r>
              <a:rPr lang="en-US" sz="2800" b="1" i="0" u="none" strike="noStrike" baseline="0" dirty="0" err="1">
                <a:solidFill>
                  <a:srgbClr val="7030A0"/>
                </a:solidFill>
                <a:latin typeface="Times New Roman" panose="02020603050405020304" pitchFamily="18" charset="0"/>
                <a:cs typeface="Times New Roman" panose="02020603050405020304" pitchFamily="18" charset="0"/>
              </a:rPr>
              <a:t>ObjectInputStream</a:t>
            </a:r>
            <a:endParaRPr lang="en-US" sz="2800" b="1" i="0" u="none" strike="noStrike" baseline="0" dirty="0">
              <a:solidFill>
                <a:srgbClr val="7030A0"/>
              </a:solidFill>
              <a:latin typeface="Times New Roman" panose="02020603050405020304" pitchFamily="18" charset="0"/>
              <a:cs typeface="Times New Roman" panose="02020603050405020304" pitchFamily="18" charset="0"/>
            </a:endParaRP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ObjectInputStream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extends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InputStream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class and implements the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ObjectInput</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ObjectInputStream</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responsible for reading objects from a stream. A constructor of this class is</a:t>
            </a:r>
          </a:p>
          <a:p>
            <a:pPr algn="l"/>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ObjectInputStream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InputStream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inStream</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throws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IOException</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1D1D1E"/>
                </a:solidFill>
                <a:latin typeface="Times New Roman" panose="02020603050405020304" pitchFamily="18" charset="0"/>
                <a:cs typeface="Times New Roman" panose="02020603050405020304" pitchFamily="18" charset="0"/>
              </a:rPr>
              <a:t>StreamCorruptedException</a:t>
            </a:r>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The argument </a:t>
            </a:r>
            <a:r>
              <a:rPr lang="en-US" sz="2400" b="0" i="1" u="none" strike="noStrike" baseline="0" dirty="0" err="1">
                <a:solidFill>
                  <a:srgbClr val="1D1D1E"/>
                </a:solidFill>
                <a:latin typeface="Times New Roman" panose="02020603050405020304" pitchFamily="18" charset="0"/>
                <a:cs typeface="Times New Roman" panose="02020603050405020304" pitchFamily="18" charset="0"/>
              </a:rPr>
              <a:t>inStream</a:t>
            </a:r>
            <a:r>
              <a:rPr lang="en-US" sz="2400" b="0" i="1"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the input stream from which serialized objects should be read. The most commonly used methods in this class are shown in Table 17-8.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33657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81</a:t>
            </a:fld>
            <a:endParaRPr lang="en-US" altLang="en-US" sz="1400">
              <a:latin typeface="Times New Roman" panose="02020603050405020304" pitchFamily="18" charset="0"/>
            </a:endParaRPr>
          </a:p>
        </p:txBody>
      </p:sp>
      <p:sp>
        <p:nvSpPr>
          <p:cNvPr id="4" name="TextBox 3">
            <a:extLst>
              <a:ext uri="{FF2B5EF4-FFF2-40B4-BE49-F238E27FC236}">
                <a16:creationId xmlns:a16="http://schemas.microsoft.com/office/drawing/2014/main" xmlns="" id="{E0051C12-6C7D-284C-4095-B7A3FF9642F4}"/>
              </a:ext>
            </a:extLst>
          </p:cNvPr>
          <p:cNvSpPr txBox="1"/>
          <p:nvPr/>
        </p:nvSpPr>
        <p:spPr>
          <a:xfrm>
            <a:off x="18861" y="914400"/>
            <a:ext cx="8229600" cy="892552"/>
          </a:xfrm>
          <a:prstGeom prst="rect">
            <a:avLst/>
          </a:prstGeom>
          <a:noFill/>
        </p:spPr>
        <p:txBody>
          <a:bodyPr wrap="square">
            <a:spAutoFit/>
          </a:bodyPr>
          <a:lstStyle/>
          <a:p>
            <a:pPr algn="l"/>
            <a:r>
              <a:rPr lang="en-US" sz="2800" b="1" i="0" u="none" strike="noStrike" baseline="0" dirty="0" err="1">
                <a:solidFill>
                  <a:srgbClr val="7030A0"/>
                </a:solidFill>
                <a:latin typeface="Times New Roman" panose="02020603050405020304" pitchFamily="18" charset="0"/>
                <a:cs typeface="Times New Roman" panose="02020603050405020304" pitchFamily="18" charset="0"/>
              </a:rPr>
              <a:t>ObjectInputStream</a:t>
            </a:r>
            <a:endParaRPr lang="en-US" sz="2800" b="1" i="0" u="none" strike="noStrike" baseline="0" dirty="0">
              <a:solidFill>
                <a:srgbClr val="7030A0"/>
              </a:solidFill>
              <a:latin typeface="Times New Roman" panose="02020603050405020304" pitchFamily="18" charset="0"/>
              <a:cs typeface="Times New Roman" panose="02020603050405020304" pitchFamily="18" charset="0"/>
            </a:endParaRPr>
          </a:p>
          <a:p>
            <a:pPr algn="l"/>
            <a:endParaRPr lang="en-US" sz="2400" b="0" i="0" u="none" strike="noStrike" baseline="0" dirty="0">
              <a:solidFill>
                <a:srgbClr val="1D1D1E"/>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xmlns="" id="{62CF5DE9-D3F0-CB7A-5BF5-BB9AFC64286C}"/>
              </a:ext>
            </a:extLst>
          </p:cNvPr>
          <p:cNvPicPr>
            <a:picLocks noChangeAspect="1"/>
          </p:cNvPicPr>
          <p:nvPr/>
        </p:nvPicPr>
        <p:blipFill>
          <a:blip r:embed="rId2"/>
          <a:stretch>
            <a:fillRect/>
          </a:stretch>
        </p:blipFill>
        <p:spPr>
          <a:xfrm>
            <a:off x="1472977" y="76200"/>
            <a:ext cx="7671023" cy="6858000"/>
          </a:xfrm>
          <a:prstGeom prst="rect">
            <a:avLst/>
          </a:prstGeom>
        </p:spPr>
      </p:pic>
    </p:spTree>
    <p:extLst>
      <p:ext uri="{BB962C8B-B14F-4D97-AF65-F5344CB8AC3E}">
        <p14:creationId xmlns:p14="http://schemas.microsoft.com/office/powerpoint/2010/main" val="19530369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82</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05954017-6296-1068-79E0-72A8AB3CA69D}"/>
              </a:ext>
            </a:extLst>
          </p:cNvPr>
          <p:cNvSpPr txBox="1"/>
          <p:nvPr/>
        </p:nvSpPr>
        <p:spPr>
          <a:xfrm>
            <a:off x="381000" y="819150"/>
            <a:ext cx="8153400" cy="3077766"/>
          </a:xfrm>
          <a:prstGeom prst="rect">
            <a:avLst/>
          </a:prstGeom>
          <a:noFill/>
        </p:spPr>
        <p:txBody>
          <a:bodyPr wrap="square">
            <a:spAutoFit/>
          </a:bodyPr>
          <a:lstStyle/>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A Serialization Example</a:t>
            </a:r>
          </a:p>
          <a:p>
            <a:pPr algn="l"/>
            <a:endParaRPr lang="en-US" sz="12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An </a:t>
            </a:r>
            <a:r>
              <a:rPr lang="en-US" sz="2400" dirty="0">
                <a:solidFill>
                  <a:srgbClr val="1D1D1E"/>
                </a:solidFill>
                <a:latin typeface="Times New Roman" panose="02020603050405020304" pitchFamily="18" charset="0"/>
                <a:cs typeface="Times New Roman" panose="02020603050405020304" pitchFamily="18" charset="0"/>
              </a:rPr>
              <a:t>example of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object serialization and deserialization of class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MyClass</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This object has three instance variables that are of types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String</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int</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and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double</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 that we want to save and restore. </a:t>
            </a:r>
          </a:p>
          <a:p>
            <a:pPr algn="l"/>
            <a:endParaRPr lang="en-US" sz="1400" b="0" i="0" u="none" strike="noStrike" baseline="0" dirty="0">
              <a:solidFill>
                <a:srgbClr val="1D1D1E"/>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1D1D1E"/>
                </a:solidFill>
                <a:latin typeface="Times New Roman" panose="02020603050405020304" pitchFamily="18" charset="0"/>
                <a:cs typeface="Times New Roman" panose="02020603050405020304" pitchFamily="18" charset="0"/>
              </a:rPr>
              <a:t>Note that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MyClass</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defined to implement the </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Serializable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interface. If this is not done, a </a:t>
            </a:r>
            <a:r>
              <a:rPr lang="en-US" sz="2400" b="1" i="0" u="none" strike="noStrike" baseline="0" dirty="0" err="1">
                <a:solidFill>
                  <a:srgbClr val="1D1D1E"/>
                </a:solidFill>
                <a:latin typeface="Times New Roman" panose="02020603050405020304" pitchFamily="18" charset="0"/>
                <a:cs typeface="Times New Roman" panose="02020603050405020304" pitchFamily="18" charset="0"/>
              </a:rPr>
              <a:t>NotSerializableException</a:t>
            </a:r>
            <a:r>
              <a:rPr lang="en-US" sz="2400" b="1" i="0" u="none" strike="noStrike" baseline="0" dirty="0">
                <a:solidFill>
                  <a:srgbClr val="1D1D1E"/>
                </a:solidFill>
                <a:latin typeface="Times New Roman" panose="02020603050405020304" pitchFamily="18" charset="0"/>
                <a:cs typeface="Times New Roman" panose="02020603050405020304" pitchFamily="18" charset="0"/>
              </a:rPr>
              <a:t> </a:t>
            </a:r>
            <a:r>
              <a:rPr lang="en-US" sz="2400" b="0" i="0" u="none" strike="noStrike" baseline="0" dirty="0">
                <a:solidFill>
                  <a:srgbClr val="1D1D1E"/>
                </a:solidFill>
                <a:latin typeface="Times New Roman" panose="02020603050405020304" pitchFamily="18" charset="0"/>
                <a:cs typeface="Times New Roman" panose="02020603050405020304" pitchFamily="18" charset="0"/>
              </a:rPr>
              <a:t>is </a:t>
            </a:r>
            <a:r>
              <a:rPr lang="en-US" sz="2400" b="0" i="0" u="none" strike="noStrike" baseline="0">
                <a:solidFill>
                  <a:srgbClr val="1D1D1E"/>
                </a:solidFill>
                <a:latin typeface="Times New Roman" panose="02020603050405020304" pitchFamily="18" charset="0"/>
                <a:cs typeface="Times New Roman" panose="02020603050405020304" pitchFamily="18" charset="0"/>
              </a:rPr>
              <a:t>thrown.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41770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83</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05954017-6296-1068-79E0-72A8AB3CA69D}"/>
              </a:ext>
            </a:extLst>
          </p:cNvPr>
          <p:cNvSpPr txBox="1"/>
          <p:nvPr/>
        </p:nvSpPr>
        <p:spPr>
          <a:xfrm>
            <a:off x="381000" y="819150"/>
            <a:ext cx="5105400" cy="461665"/>
          </a:xfrm>
          <a:prstGeom prst="rect">
            <a:avLst/>
          </a:prstGeom>
          <a:noFill/>
        </p:spPr>
        <p:txBody>
          <a:bodyPr wrap="square">
            <a:spAutoFit/>
          </a:bodyPr>
          <a:lstStyle/>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A Serialization Example</a:t>
            </a:r>
          </a:p>
        </p:txBody>
      </p:sp>
      <p:sp>
        <p:nvSpPr>
          <p:cNvPr id="4" name="TextBox 3">
            <a:extLst>
              <a:ext uri="{FF2B5EF4-FFF2-40B4-BE49-F238E27FC236}">
                <a16:creationId xmlns:a16="http://schemas.microsoft.com/office/drawing/2014/main" xmlns="" id="{4A6EF4D2-F9FA-E830-F608-B8998FBE258C}"/>
              </a:ext>
            </a:extLst>
          </p:cNvPr>
          <p:cNvSpPr txBox="1"/>
          <p:nvPr/>
        </p:nvSpPr>
        <p:spPr>
          <a:xfrm>
            <a:off x="203703" y="1314480"/>
            <a:ext cx="8864097" cy="4708981"/>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 A serialization demo. It requires JDK 7 or later.</a:t>
            </a:r>
          </a:p>
          <a:p>
            <a:pPr algn="l"/>
            <a:r>
              <a:rPr lang="en-US" sz="2000" b="0" i="0" u="none" strike="noStrike" baseline="0" dirty="0">
                <a:latin typeface="Times New Roman" panose="02020603050405020304" pitchFamily="18" charset="0"/>
                <a:cs typeface="Times New Roman" panose="02020603050405020304" pitchFamily="18" charset="0"/>
              </a:rPr>
              <a:t>import java.io.*;</a:t>
            </a:r>
          </a:p>
          <a:p>
            <a:pPr algn="l"/>
            <a:r>
              <a:rPr lang="en-US" sz="2000" b="0" i="0" u="none" strike="noStrike" baseline="0" dirty="0">
                <a:latin typeface="Times New Roman" panose="02020603050405020304" pitchFamily="18" charset="0"/>
                <a:cs typeface="Times New Roman" panose="02020603050405020304" pitchFamily="18" charset="0"/>
              </a:rPr>
              <a:t>public class </a:t>
            </a:r>
            <a:r>
              <a:rPr lang="en-US" sz="2000" b="0" i="0" u="none" strike="noStrike" baseline="0" dirty="0" err="1">
                <a:latin typeface="Times New Roman" panose="02020603050405020304" pitchFamily="18" charset="0"/>
                <a:cs typeface="Times New Roman" panose="02020603050405020304" pitchFamily="18" charset="0"/>
              </a:rPr>
              <a:t>SerializationDemo</a:t>
            </a:r>
            <a:r>
              <a:rPr lang="en-US" sz="2000" b="0" i="0" u="none" strike="noStrike" baseline="0" dirty="0">
                <a:latin typeface="Times New Roman" panose="02020603050405020304" pitchFamily="18" charset="0"/>
                <a:cs typeface="Times New Roman" panose="02020603050405020304" pitchFamily="18" charset="0"/>
              </a:rPr>
              <a:t> {</a:t>
            </a:r>
          </a:p>
          <a:p>
            <a:pPr algn="l"/>
            <a:r>
              <a:rPr lang="en-US" sz="2000" b="0" i="0" u="none" strike="noStrike" baseline="0" dirty="0">
                <a:latin typeface="Times New Roman" panose="02020603050405020304" pitchFamily="18" charset="0"/>
                <a:cs typeface="Times New Roman" panose="02020603050405020304" pitchFamily="18" charset="0"/>
              </a:rPr>
              <a:t>public static void main(String </a:t>
            </a:r>
            <a:r>
              <a:rPr lang="en-US" sz="2000" b="0" i="0" u="none" strike="noStrike" baseline="0" dirty="0" err="1">
                <a:latin typeface="Times New Roman" panose="02020603050405020304" pitchFamily="18" charset="0"/>
                <a:cs typeface="Times New Roman" panose="02020603050405020304" pitchFamily="18" charset="0"/>
              </a:rPr>
              <a:t>args</a:t>
            </a:r>
            <a:r>
              <a:rPr lang="en-US" sz="2000" b="0" i="0" u="none" strike="noStrike" baseline="0" dirty="0">
                <a:latin typeface="Times New Roman" panose="02020603050405020304" pitchFamily="18" charset="0"/>
                <a:cs typeface="Times New Roman" panose="02020603050405020304" pitchFamily="18" charset="0"/>
              </a:rPr>
              <a:t>[]) {</a:t>
            </a:r>
          </a:p>
          <a:p>
            <a:pPr algn="l"/>
            <a:r>
              <a:rPr lang="en-US" sz="2000" b="0" i="0" u="none" strike="noStrike" baseline="0" dirty="0">
                <a:latin typeface="Times New Roman" panose="02020603050405020304" pitchFamily="18" charset="0"/>
                <a:cs typeface="Times New Roman" panose="02020603050405020304" pitchFamily="18" charset="0"/>
              </a:rPr>
              <a:t>// Object serialization</a:t>
            </a:r>
          </a:p>
          <a:p>
            <a:pPr algn="l"/>
            <a:r>
              <a:rPr lang="en-US" sz="2000" b="0" i="0" u="none" strike="noStrike" baseline="0" dirty="0">
                <a:latin typeface="Times New Roman" panose="02020603050405020304" pitchFamily="18" charset="0"/>
                <a:cs typeface="Times New Roman" panose="02020603050405020304" pitchFamily="18" charset="0"/>
              </a:rPr>
              <a:t>try ( </a:t>
            </a:r>
            <a:r>
              <a:rPr lang="en-US" sz="2000" b="0" i="0" u="none" strike="noStrike" baseline="0" dirty="0" err="1">
                <a:latin typeface="Times New Roman" panose="02020603050405020304" pitchFamily="18" charset="0"/>
                <a:cs typeface="Times New Roman" panose="02020603050405020304" pitchFamily="18" charset="0"/>
              </a:rPr>
              <a:t>ObjectOutputStream</a:t>
            </a:r>
            <a:r>
              <a:rPr lang="en-US" sz="2000" b="0" i="0"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err="1">
                <a:latin typeface="Times New Roman" panose="02020603050405020304" pitchFamily="18" charset="0"/>
                <a:cs typeface="Times New Roman" panose="02020603050405020304" pitchFamily="18" charset="0"/>
              </a:rPr>
              <a:t>objOStrm</a:t>
            </a:r>
            <a:r>
              <a:rPr lang="en-US" sz="2000" b="0" i="0" u="none" strike="noStrike" baseline="0" dirty="0">
                <a:latin typeface="Times New Roman" panose="02020603050405020304" pitchFamily="18" charset="0"/>
                <a:cs typeface="Times New Roman" panose="02020603050405020304" pitchFamily="18" charset="0"/>
              </a:rPr>
              <a:t> = new </a:t>
            </a:r>
            <a:r>
              <a:rPr lang="en-US" sz="2000" b="0" i="0" u="none" strike="noStrike" baseline="0" dirty="0" err="1">
                <a:latin typeface="Times New Roman" panose="02020603050405020304" pitchFamily="18" charset="0"/>
                <a:cs typeface="Times New Roman" panose="02020603050405020304" pitchFamily="18" charset="0"/>
              </a:rPr>
              <a:t>ObjectOutputStream</a:t>
            </a:r>
            <a:r>
              <a:rPr lang="en-US" sz="2000" b="0" i="0" u="none" strike="noStrike" baseline="0" dirty="0">
                <a:latin typeface="Times New Roman" panose="02020603050405020304" pitchFamily="18" charset="0"/>
                <a:cs typeface="Times New Roman" panose="02020603050405020304" pitchFamily="18" charset="0"/>
              </a:rPr>
              <a:t>(new </a:t>
            </a:r>
            <a:r>
              <a:rPr lang="en-US" sz="2000" b="0" i="0" u="none" strike="noStrike" baseline="0" dirty="0" err="1">
                <a:latin typeface="Times New Roman" panose="02020603050405020304" pitchFamily="18" charset="0"/>
                <a:cs typeface="Times New Roman" panose="02020603050405020304" pitchFamily="18" charset="0"/>
              </a:rPr>
              <a:t>FileOutputStream</a:t>
            </a:r>
            <a:r>
              <a:rPr lang="en-US" sz="2000" b="0" i="0" u="none" strike="noStrike" baseline="0" dirty="0">
                <a:latin typeface="Times New Roman" panose="02020603050405020304" pitchFamily="18" charset="0"/>
                <a:cs typeface="Times New Roman" panose="02020603050405020304" pitchFamily="18" charset="0"/>
              </a:rPr>
              <a:t>("serial")) )</a:t>
            </a:r>
          </a:p>
          <a:p>
            <a:pPr algn="l"/>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err="1">
                <a:latin typeface="Times New Roman" panose="02020603050405020304" pitchFamily="18" charset="0"/>
                <a:cs typeface="Times New Roman" panose="02020603050405020304" pitchFamily="18" charset="0"/>
              </a:rPr>
              <a:t>MyClass</a:t>
            </a:r>
            <a:r>
              <a:rPr lang="en-US" sz="2000" b="0" i="0" u="none" strike="noStrike" baseline="0" dirty="0">
                <a:latin typeface="Times New Roman" panose="02020603050405020304" pitchFamily="18" charset="0"/>
                <a:cs typeface="Times New Roman" panose="02020603050405020304" pitchFamily="18" charset="0"/>
              </a:rPr>
              <a:t> object1 = new </a:t>
            </a:r>
            <a:r>
              <a:rPr lang="en-US" sz="2000" b="0" i="0" u="none" strike="noStrike" baseline="0" dirty="0" err="1">
                <a:latin typeface="Times New Roman" panose="02020603050405020304" pitchFamily="18" charset="0"/>
                <a:cs typeface="Times New Roman" panose="02020603050405020304" pitchFamily="18" charset="0"/>
              </a:rPr>
              <a:t>MyClass</a:t>
            </a:r>
            <a:r>
              <a:rPr lang="en-US" sz="2000" b="0" i="0" u="none" strike="noStrike" baseline="0" dirty="0">
                <a:latin typeface="Times New Roman" panose="02020603050405020304" pitchFamily="18" charset="0"/>
                <a:cs typeface="Times New Roman" panose="02020603050405020304" pitchFamily="18" charset="0"/>
              </a:rPr>
              <a:t>("Hello", -7, 2.7e10);</a:t>
            </a:r>
          </a:p>
          <a:p>
            <a:pPr algn="l"/>
            <a:r>
              <a:rPr lang="en-US" sz="2000" b="0" i="0" u="none" strike="noStrike" baseline="0" dirty="0" err="1">
                <a:latin typeface="Times New Roman" panose="02020603050405020304" pitchFamily="18" charset="0"/>
                <a:cs typeface="Times New Roman" panose="02020603050405020304" pitchFamily="18" charset="0"/>
              </a:rPr>
              <a:t>System.out.println</a:t>
            </a:r>
            <a:r>
              <a:rPr lang="en-US" sz="2000" b="0" i="0" u="none" strike="noStrike" baseline="0" dirty="0">
                <a:latin typeface="Times New Roman" panose="02020603050405020304" pitchFamily="18" charset="0"/>
                <a:cs typeface="Times New Roman" panose="02020603050405020304" pitchFamily="18" charset="0"/>
              </a:rPr>
              <a:t>("object1: " + object1);</a:t>
            </a:r>
          </a:p>
          <a:p>
            <a:pPr algn="l"/>
            <a:r>
              <a:rPr lang="en-US" sz="2000" b="0" i="0" u="none" strike="noStrike" baseline="0" dirty="0" err="1">
                <a:latin typeface="Times New Roman" panose="02020603050405020304" pitchFamily="18" charset="0"/>
                <a:cs typeface="Times New Roman" panose="02020603050405020304" pitchFamily="18" charset="0"/>
              </a:rPr>
              <a:t>objOStrm.writeObject</a:t>
            </a:r>
            <a:r>
              <a:rPr lang="en-US" sz="2000" b="0" i="0" u="none" strike="noStrike" baseline="0" dirty="0">
                <a:latin typeface="Times New Roman" panose="02020603050405020304" pitchFamily="18" charset="0"/>
                <a:cs typeface="Times New Roman" panose="02020603050405020304" pitchFamily="18" charset="0"/>
              </a:rPr>
              <a:t>(object1);</a:t>
            </a:r>
          </a:p>
          <a:p>
            <a:pPr algn="l"/>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catch(</a:t>
            </a:r>
            <a:r>
              <a:rPr lang="en-US" sz="2000" b="0" i="0" u="none" strike="noStrike" baseline="0" dirty="0" err="1">
                <a:latin typeface="Times New Roman" panose="02020603050405020304" pitchFamily="18" charset="0"/>
                <a:cs typeface="Times New Roman" panose="02020603050405020304" pitchFamily="18" charset="0"/>
              </a:rPr>
              <a:t>IOException</a:t>
            </a:r>
            <a:r>
              <a:rPr lang="en-US" sz="2000" b="0" i="0" u="none" strike="noStrike" baseline="0" dirty="0">
                <a:latin typeface="Times New Roman" panose="02020603050405020304" pitchFamily="18" charset="0"/>
                <a:cs typeface="Times New Roman" panose="02020603050405020304" pitchFamily="18" charset="0"/>
              </a:rPr>
              <a:t> e) {</a:t>
            </a:r>
          </a:p>
          <a:p>
            <a:pPr algn="l"/>
            <a:r>
              <a:rPr lang="en-US" sz="2000" b="0" i="0" u="none" strike="noStrike" baseline="0" dirty="0" err="1">
                <a:latin typeface="Times New Roman" panose="02020603050405020304" pitchFamily="18" charset="0"/>
                <a:cs typeface="Times New Roman" panose="02020603050405020304" pitchFamily="18" charset="0"/>
              </a:rPr>
              <a:t>System.out.println</a:t>
            </a:r>
            <a:r>
              <a:rPr lang="en-US" sz="2000" b="0" i="0" u="none" strike="noStrike" baseline="0" dirty="0">
                <a:latin typeface="Times New Roman" panose="02020603050405020304" pitchFamily="18" charset="0"/>
                <a:cs typeface="Times New Roman" panose="02020603050405020304" pitchFamily="18" charset="0"/>
              </a:rPr>
              <a:t>("Exception during serialization: " + e);</a:t>
            </a:r>
          </a:p>
          <a:p>
            <a:pPr algn="l"/>
            <a:r>
              <a:rPr lang="en-US" sz="2000" b="0" i="0" u="none" strike="noStrike" baseline="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477190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84</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05954017-6296-1068-79E0-72A8AB3CA69D}"/>
              </a:ext>
            </a:extLst>
          </p:cNvPr>
          <p:cNvSpPr txBox="1"/>
          <p:nvPr/>
        </p:nvSpPr>
        <p:spPr>
          <a:xfrm>
            <a:off x="381000" y="819150"/>
            <a:ext cx="5105400" cy="461665"/>
          </a:xfrm>
          <a:prstGeom prst="rect">
            <a:avLst/>
          </a:prstGeom>
          <a:noFill/>
        </p:spPr>
        <p:txBody>
          <a:bodyPr wrap="square">
            <a:spAutoFit/>
          </a:bodyPr>
          <a:lstStyle/>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A Serialization Example</a:t>
            </a:r>
          </a:p>
        </p:txBody>
      </p:sp>
      <p:sp>
        <p:nvSpPr>
          <p:cNvPr id="4" name="TextBox 3">
            <a:extLst>
              <a:ext uri="{FF2B5EF4-FFF2-40B4-BE49-F238E27FC236}">
                <a16:creationId xmlns:a16="http://schemas.microsoft.com/office/drawing/2014/main" xmlns="" id="{4A6EF4D2-F9FA-E830-F608-B8998FBE258C}"/>
              </a:ext>
            </a:extLst>
          </p:cNvPr>
          <p:cNvSpPr txBox="1"/>
          <p:nvPr/>
        </p:nvSpPr>
        <p:spPr>
          <a:xfrm>
            <a:off x="203703" y="1314480"/>
            <a:ext cx="8864097" cy="4093428"/>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 Object deserialization</a:t>
            </a:r>
          </a:p>
          <a:p>
            <a:pPr algn="l"/>
            <a:r>
              <a:rPr lang="en-US" sz="2000" b="0" i="0" u="none" strike="noStrike" baseline="0" dirty="0">
                <a:latin typeface="Times New Roman" panose="02020603050405020304" pitchFamily="18" charset="0"/>
                <a:cs typeface="Times New Roman" panose="02020603050405020304" pitchFamily="18" charset="0"/>
              </a:rPr>
              <a:t>try ( </a:t>
            </a:r>
            <a:r>
              <a:rPr lang="en-US" sz="2000" b="0" i="0" u="none" strike="noStrike" baseline="0" dirty="0" err="1">
                <a:latin typeface="Times New Roman" panose="02020603050405020304" pitchFamily="18" charset="0"/>
                <a:cs typeface="Times New Roman" panose="02020603050405020304" pitchFamily="18" charset="0"/>
              </a:rPr>
              <a:t>ObjectInputStream</a:t>
            </a:r>
            <a:r>
              <a:rPr lang="en-US" sz="2000" b="0" i="0"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err="1">
                <a:latin typeface="Times New Roman" panose="02020603050405020304" pitchFamily="18" charset="0"/>
                <a:cs typeface="Times New Roman" panose="02020603050405020304" pitchFamily="18" charset="0"/>
              </a:rPr>
              <a:t>objIStrm</a:t>
            </a:r>
            <a:r>
              <a:rPr lang="en-US" sz="2000" b="0" i="0" u="none" strike="noStrike" baseline="0" dirty="0">
                <a:latin typeface="Times New Roman" panose="02020603050405020304" pitchFamily="18" charset="0"/>
                <a:cs typeface="Times New Roman" panose="02020603050405020304" pitchFamily="18" charset="0"/>
              </a:rPr>
              <a:t> = new </a:t>
            </a:r>
            <a:r>
              <a:rPr lang="en-US" sz="2000" b="0" i="0" u="none" strike="noStrike" baseline="0" dirty="0" err="1">
                <a:latin typeface="Times New Roman" panose="02020603050405020304" pitchFamily="18" charset="0"/>
                <a:cs typeface="Times New Roman" panose="02020603050405020304" pitchFamily="18" charset="0"/>
              </a:rPr>
              <a:t>ObjectInputStream</a:t>
            </a:r>
            <a:r>
              <a:rPr lang="en-US" sz="2000" b="0" i="0" u="none" strike="noStrike" baseline="0" dirty="0">
                <a:latin typeface="Times New Roman" panose="02020603050405020304" pitchFamily="18" charset="0"/>
                <a:cs typeface="Times New Roman" panose="02020603050405020304" pitchFamily="18" charset="0"/>
              </a:rPr>
              <a:t>(new </a:t>
            </a:r>
            <a:r>
              <a:rPr lang="en-US" sz="2000" b="0" i="0" u="none" strike="noStrike" baseline="0" dirty="0" err="1">
                <a:latin typeface="Times New Roman" panose="02020603050405020304" pitchFamily="18" charset="0"/>
                <a:cs typeface="Times New Roman" panose="02020603050405020304" pitchFamily="18" charset="0"/>
              </a:rPr>
              <a:t>FileInputStream</a:t>
            </a:r>
            <a:r>
              <a:rPr lang="en-US" sz="2000" b="0" i="0" u="none" strike="noStrike" baseline="0" dirty="0">
                <a:latin typeface="Times New Roman" panose="02020603050405020304" pitchFamily="18" charset="0"/>
                <a:cs typeface="Times New Roman" panose="02020603050405020304" pitchFamily="18" charset="0"/>
              </a:rPr>
              <a:t>("serial")) )</a:t>
            </a:r>
          </a:p>
          <a:p>
            <a:pPr algn="l"/>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err="1">
                <a:latin typeface="Times New Roman" panose="02020603050405020304" pitchFamily="18" charset="0"/>
                <a:cs typeface="Times New Roman" panose="02020603050405020304" pitchFamily="18" charset="0"/>
              </a:rPr>
              <a:t>MyClass</a:t>
            </a:r>
            <a:r>
              <a:rPr lang="en-US" sz="2000" b="0" i="0" u="none" strike="noStrike" baseline="0" dirty="0">
                <a:latin typeface="Times New Roman" panose="02020603050405020304" pitchFamily="18" charset="0"/>
                <a:cs typeface="Times New Roman" panose="02020603050405020304" pitchFamily="18" charset="0"/>
              </a:rPr>
              <a:t> object2 = (</a:t>
            </a:r>
            <a:r>
              <a:rPr lang="en-US" sz="2000" b="0" i="0" u="none" strike="noStrike" baseline="0" dirty="0" err="1">
                <a:latin typeface="Times New Roman" panose="02020603050405020304" pitchFamily="18" charset="0"/>
                <a:cs typeface="Times New Roman" panose="02020603050405020304" pitchFamily="18" charset="0"/>
              </a:rPr>
              <a:t>MyClass</a:t>
            </a:r>
            <a:r>
              <a:rPr lang="en-US" sz="2000" b="0" i="0" u="none" strike="noStrike" baseline="0" dirty="0">
                <a:latin typeface="Times New Roman" panose="02020603050405020304" pitchFamily="18" charset="0"/>
                <a:cs typeface="Times New Roman" panose="02020603050405020304" pitchFamily="18" charset="0"/>
              </a:rPr>
              <a:t>)</a:t>
            </a:r>
            <a:r>
              <a:rPr lang="en-US" sz="2000" b="0" i="0" u="none" strike="noStrike" baseline="0" dirty="0" err="1">
                <a:latin typeface="Times New Roman" panose="02020603050405020304" pitchFamily="18" charset="0"/>
                <a:cs typeface="Times New Roman" panose="02020603050405020304" pitchFamily="18" charset="0"/>
              </a:rPr>
              <a:t>objIStrm.readObject</a:t>
            </a:r>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err="1">
                <a:latin typeface="Times New Roman" panose="02020603050405020304" pitchFamily="18" charset="0"/>
                <a:cs typeface="Times New Roman" panose="02020603050405020304" pitchFamily="18" charset="0"/>
              </a:rPr>
              <a:t>System.out.println</a:t>
            </a:r>
            <a:r>
              <a:rPr lang="en-US" sz="2000" b="0" i="0" u="none" strike="noStrike" baseline="0" dirty="0">
                <a:latin typeface="Times New Roman" panose="02020603050405020304" pitchFamily="18" charset="0"/>
                <a:cs typeface="Times New Roman" panose="02020603050405020304" pitchFamily="18" charset="0"/>
              </a:rPr>
              <a:t>("object2: " + object2);</a:t>
            </a:r>
          </a:p>
          <a:p>
            <a:pPr algn="l"/>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catch(Exception e) {</a:t>
            </a:r>
          </a:p>
          <a:p>
            <a:pPr algn="l"/>
            <a:r>
              <a:rPr lang="en-US" sz="2000" b="0" i="0" u="none" strike="noStrike" baseline="0" dirty="0" err="1">
                <a:latin typeface="Times New Roman" panose="02020603050405020304" pitchFamily="18" charset="0"/>
                <a:cs typeface="Times New Roman" panose="02020603050405020304" pitchFamily="18" charset="0"/>
              </a:rPr>
              <a:t>System.out.println</a:t>
            </a:r>
            <a:r>
              <a:rPr lang="en-US" sz="2000" b="0" i="0" u="none" strike="noStrike" baseline="0" dirty="0">
                <a:latin typeface="Times New Roman" panose="02020603050405020304" pitchFamily="18" charset="0"/>
                <a:cs typeface="Times New Roman" panose="02020603050405020304" pitchFamily="18" charset="0"/>
              </a:rPr>
              <a:t>("Exception during deserialization: " + e);</a:t>
            </a:r>
          </a:p>
          <a:p>
            <a:pPr algn="l"/>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a:t>
            </a:r>
          </a:p>
          <a:p>
            <a:pPr algn="l"/>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18652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CC7AF45C-1BFD-A3B7-40AA-F6854A5EFEB1}"/>
              </a:ext>
            </a:extLst>
          </p:cNvPr>
          <p:cNvSpPr>
            <a:spLocks noGrp="1"/>
          </p:cNvSpPr>
          <p:nvPr>
            <p:ph type="title"/>
          </p:nvPr>
        </p:nvSpPr>
        <p:spPr/>
        <p:txBody>
          <a:bodyPr/>
          <a:lstStyle/>
          <a:p>
            <a:r>
              <a:rPr lang="en-US" sz="4000" b="0" i="0" u="none" strike="noStrike" baseline="0" dirty="0">
                <a:solidFill>
                  <a:srgbClr val="FF0000"/>
                </a:solidFill>
                <a:latin typeface="Times New Roman" panose="02020603050405020304" pitchFamily="18" charset="0"/>
                <a:cs typeface="Times New Roman" panose="02020603050405020304" pitchFamily="18" charset="0"/>
              </a:rPr>
              <a:t>Serialization</a:t>
            </a:r>
            <a:endParaRPr lang="en-US" altLang="en-US" dirty="0">
              <a:solidFill>
                <a:srgbClr val="FF0000"/>
              </a:solidFill>
            </a:endParaRPr>
          </a:p>
        </p:txBody>
      </p:sp>
      <p:sp>
        <p:nvSpPr>
          <p:cNvPr id="17412" name="Slide Number Placeholder 3">
            <a:extLst>
              <a:ext uri="{FF2B5EF4-FFF2-40B4-BE49-F238E27FC236}">
                <a16:creationId xmlns:a16="http://schemas.microsoft.com/office/drawing/2014/main" xmlns="" id="{242EEA62-7D07-8FA3-0751-291AF93A61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BA30BC22-CCB0-4466-A1BA-75E7D2FAEBF6}" type="slidenum">
              <a:rPr lang="en-US" altLang="en-US" sz="1400">
                <a:latin typeface="Times New Roman" panose="02020603050405020304" pitchFamily="18" charset="0"/>
              </a:rPr>
              <a:pPr/>
              <a:t>85</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xmlns="" id="{05954017-6296-1068-79E0-72A8AB3CA69D}"/>
              </a:ext>
            </a:extLst>
          </p:cNvPr>
          <p:cNvSpPr txBox="1"/>
          <p:nvPr/>
        </p:nvSpPr>
        <p:spPr>
          <a:xfrm>
            <a:off x="381000" y="819150"/>
            <a:ext cx="5105400" cy="461665"/>
          </a:xfrm>
          <a:prstGeom prst="rect">
            <a:avLst/>
          </a:prstGeom>
          <a:noFill/>
        </p:spPr>
        <p:txBody>
          <a:bodyPr wrap="square">
            <a:spAutoFit/>
          </a:bodyPr>
          <a:lstStyle/>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A Serialization Example</a:t>
            </a:r>
          </a:p>
        </p:txBody>
      </p:sp>
      <p:sp>
        <p:nvSpPr>
          <p:cNvPr id="4" name="TextBox 3">
            <a:extLst>
              <a:ext uri="{FF2B5EF4-FFF2-40B4-BE49-F238E27FC236}">
                <a16:creationId xmlns:a16="http://schemas.microsoft.com/office/drawing/2014/main" xmlns="" id="{4A6EF4D2-F9FA-E830-F608-B8998FBE258C}"/>
              </a:ext>
            </a:extLst>
          </p:cNvPr>
          <p:cNvSpPr txBox="1"/>
          <p:nvPr/>
        </p:nvSpPr>
        <p:spPr>
          <a:xfrm>
            <a:off x="203703" y="1314480"/>
            <a:ext cx="6349497" cy="4093428"/>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class </a:t>
            </a:r>
            <a:r>
              <a:rPr lang="en-US" sz="2000" b="0" i="0" u="none" strike="noStrike" baseline="0" dirty="0" err="1">
                <a:latin typeface="Times New Roman" panose="02020603050405020304" pitchFamily="18" charset="0"/>
                <a:cs typeface="Times New Roman" panose="02020603050405020304" pitchFamily="18" charset="0"/>
              </a:rPr>
              <a:t>MyClass</a:t>
            </a:r>
            <a:r>
              <a:rPr lang="en-US" sz="2000" b="0" i="0" u="none" strike="noStrike" baseline="0" dirty="0">
                <a:latin typeface="Times New Roman" panose="02020603050405020304" pitchFamily="18" charset="0"/>
                <a:cs typeface="Times New Roman" panose="02020603050405020304" pitchFamily="18" charset="0"/>
              </a:rPr>
              <a:t> implements Serializable {</a:t>
            </a:r>
          </a:p>
          <a:p>
            <a:pPr algn="l"/>
            <a:r>
              <a:rPr lang="en-US" sz="2000" b="0" i="0" u="none" strike="noStrike" baseline="0" dirty="0">
                <a:latin typeface="Times New Roman" panose="02020603050405020304" pitchFamily="18" charset="0"/>
                <a:cs typeface="Times New Roman" panose="02020603050405020304" pitchFamily="18" charset="0"/>
              </a:rPr>
              <a:t>String s;</a:t>
            </a:r>
          </a:p>
          <a:p>
            <a:pPr algn="l"/>
            <a:r>
              <a:rPr lang="en-US" sz="2000" b="0" i="0" u="none" strike="noStrike" baseline="0" dirty="0">
                <a:latin typeface="Times New Roman" panose="02020603050405020304" pitchFamily="18" charset="0"/>
                <a:cs typeface="Times New Roman" panose="02020603050405020304" pitchFamily="18" charset="0"/>
              </a:rPr>
              <a:t>int </a:t>
            </a:r>
            <a:r>
              <a:rPr lang="en-US" sz="2000" b="0" i="0" u="none" strike="noStrike" baseline="0" dirty="0" err="1">
                <a:latin typeface="Times New Roman" panose="02020603050405020304" pitchFamily="18" charset="0"/>
                <a:cs typeface="Times New Roman" panose="02020603050405020304" pitchFamily="18" charset="0"/>
              </a:rPr>
              <a:t>i</a:t>
            </a:r>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double d;</a:t>
            </a:r>
          </a:p>
          <a:p>
            <a:pPr algn="l"/>
            <a:r>
              <a:rPr lang="en-US" sz="2000" b="0" i="0" u="none" strike="noStrike" baseline="0" dirty="0">
                <a:latin typeface="Times New Roman" panose="02020603050405020304" pitchFamily="18" charset="0"/>
                <a:cs typeface="Times New Roman" panose="02020603050405020304" pitchFamily="18" charset="0"/>
              </a:rPr>
              <a:t>public </a:t>
            </a:r>
            <a:r>
              <a:rPr lang="en-US" sz="2000" b="0" i="0" u="none" strike="noStrike" baseline="0" dirty="0" err="1">
                <a:latin typeface="Times New Roman" panose="02020603050405020304" pitchFamily="18" charset="0"/>
                <a:cs typeface="Times New Roman" panose="02020603050405020304" pitchFamily="18" charset="0"/>
              </a:rPr>
              <a:t>MyClass</a:t>
            </a:r>
            <a:r>
              <a:rPr lang="en-US" sz="2000" b="0" i="0" u="none" strike="noStrike" baseline="0" dirty="0">
                <a:latin typeface="Times New Roman" panose="02020603050405020304" pitchFamily="18" charset="0"/>
                <a:cs typeface="Times New Roman" panose="02020603050405020304" pitchFamily="18" charset="0"/>
              </a:rPr>
              <a:t>(String s, int </a:t>
            </a:r>
            <a:r>
              <a:rPr lang="en-US" sz="2000" b="0" i="0" u="none" strike="noStrike" baseline="0" dirty="0" err="1">
                <a:latin typeface="Times New Roman" panose="02020603050405020304" pitchFamily="18" charset="0"/>
                <a:cs typeface="Times New Roman" panose="02020603050405020304" pitchFamily="18" charset="0"/>
              </a:rPr>
              <a:t>i</a:t>
            </a:r>
            <a:r>
              <a:rPr lang="en-US" sz="2000" b="0" i="0" u="none" strike="noStrike" baseline="0" dirty="0">
                <a:latin typeface="Times New Roman" panose="02020603050405020304" pitchFamily="18" charset="0"/>
                <a:cs typeface="Times New Roman" panose="02020603050405020304" pitchFamily="18" charset="0"/>
              </a:rPr>
              <a:t>, double d) {</a:t>
            </a:r>
          </a:p>
          <a:p>
            <a:pPr algn="l"/>
            <a:r>
              <a:rPr lang="en-US" sz="2000" b="0" i="0" u="none" strike="noStrike" baseline="0" dirty="0" err="1">
                <a:latin typeface="Times New Roman" panose="02020603050405020304" pitchFamily="18" charset="0"/>
                <a:cs typeface="Times New Roman" panose="02020603050405020304" pitchFamily="18" charset="0"/>
              </a:rPr>
              <a:t>this.s</a:t>
            </a:r>
            <a:r>
              <a:rPr lang="en-US" sz="2000" b="0" i="0" u="none" strike="noStrike" baseline="0" dirty="0">
                <a:latin typeface="Times New Roman" panose="02020603050405020304" pitchFamily="18" charset="0"/>
                <a:cs typeface="Times New Roman" panose="02020603050405020304" pitchFamily="18" charset="0"/>
              </a:rPr>
              <a:t> = s;</a:t>
            </a:r>
          </a:p>
          <a:p>
            <a:pPr algn="l"/>
            <a:r>
              <a:rPr lang="en-US" sz="2000" b="0" i="0" u="none" strike="noStrike" baseline="0" dirty="0" err="1">
                <a:latin typeface="Times New Roman" panose="02020603050405020304" pitchFamily="18" charset="0"/>
                <a:cs typeface="Times New Roman" panose="02020603050405020304" pitchFamily="18" charset="0"/>
              </a:rPr>
              <a:t>this.i</a:t>
            </a:r>
            <a:r>
              <a:rPr lang="en-US" sz="2000" b="0" i="0" u="none" strike="noStrike" baseline="0" dirty="0">
                <a:latin typeface="Times New Roman" panose="02020603050405020304" pitchFamily="18" charset="0"/>
                <a:cs typeface="Times New Roman" panose="02020603050405020304" pitchFamily="18" charset="0"/>
              </a:rPr>
              <a:t> = </a:t>
            </a:r>
            <a:r>
              <a:rPr lang="en-US" sz="2000" b="0" i="0" u="none" strike="noStrike" baseline="0" dirty="0" err="1">
                <a:latin typeface="Times New Roman" panose="02020603050405020304" pitchFamily="18" charset="0"/>
                <a:cs typeface="Times New Roman" panose="02020603050405020304" pitchFamily="18" charset="0"/>
              </a:rPr>
              <a:t>i</a:t>
            </a:r>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err="1">
                <a:latin typeface="Times New Roman" panose="02020603050405020304" pitchFamily="18" charset="0"/>
                <a:cs typeface="Times New Roman" panose="02020603050405020304" pitchFamily="18" charset="0"/>
              </a:rPr>
              <a:t>this.d</a:t>
            </a:r>
            <a:r>
              <a:rPr lang="en-US" sz="2000" b="0" i="0" u="none" strike="noStrike" baseline="0" dirty="0">
                <a:latin typeface="Times New Roman" panose="02020603050405020304" pitchFamily="18" charset="0"/>
                <a:cs typeface="Times New Roman" panose="02020603050405020304" pitchFamily="18" charset="0"/>
              </a:rPr>
              <a:t> = d;</a:t>
            </a:r>
          </a:p>
          <a:p>
            <a:pPr algn="l"/>
            <a:r>
              <a:rPr lang="en-US" sz="2000" b="0" i="0" u="none" strike="noStrike" baseline="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public String </a:t>
            </a:r>
            <a:r>
              <a:rPr lang="en-US" sz="2000" dirty="0" err="1">
                <a:latin typeface="Times New Roman" panose="02020603050405020304" pitchFamily="18" charset="0"/>
                <a:cs typeface="Times New Roman" panose="02020603050405020304" pitchFamily="18" charset="0"/>
              </a:rPr>
              <a:t>toString</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return "s=" + s + ";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 d=" + d;</a:t>
            </a:r>
          </a:p>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xmlns="" id="{E57FACFF-7206-E0C6-5F73-84369C579631}"/>
              </a:ext>
            </a:extLst>
          </p:cNvPr>
          <p:cNvPicPr>
            <a:picLocks noChangeAspect="1"/>
          </p:cNvPicPr>
          <p:nvPr/>
        </p:nvPicPr>
        <p:blipFill>
          <a:blip r:embed="rId2"/>
          <a:stretch>
            <a:fillRect/>
          </a:stretch>
        </p:blipFill>
        <p:spPr>
          <a:xfrm>
            <a:off x="1827862" y="5791200"/>
            <a:ext cx="4744199" cy="630942"/>
          </a:xfrm>
          <a:prstGeom prst="rect">
            <a:avLst/>
          </a:prstGeom>
        </p:spPr>
      </p:pic>
      <p:sp>
        <p:nvSpPr>
          <p:cNvPr id="6" name="TextBox 5">
            <a:extLst>
              <a:ext uri="{FF2B5EF4-FFF2-40B4-BE49-F238E27FC236}">
                <a16:creationId xmlns:a16="http://schemas.microsoft.com/office/drawing/2014/main" xmlns="" id="{88A61C08-1274-E75F-10F2-F14EE2F4B64B}"/>
              </a:ext>
            </a:extLst>
          </p:cNvPr>
          <p:cNvSpPr txBox="1"/>
          <p:nvPr/>
        </p:nvSpPr>
        <p:spPr>
          <a:xfrm>
            <a:off x="1600200" y="5257800"/>
            <a:ext cx="1524000" cy="523220"/>
          </a:xfrm>
          <a:prstGeom prst="rect">
            <a:avLst/>
          </a:prstGeom>
          <a:noFill/>
        </p:spPr>
        <p:txBody>
          <a:bodyPr wrap="square">
            <a:spAutoFit/>
          </a:bodyPr>
          <a:lstStyle/>
          <a:p>
            <a:pPr algn="l"/>
            <a:r>
              <a:rPr lang="en-US" sz="2800" b="1" dirty="0">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14642909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6A27B3-E669-1108-E3E0-DAA4D4A729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77A86C1-232D-2EC0-B12F-8C8230438BB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xmlns="" id="{077BC149-0415-463C-C92C-050E4752B826}"/>
              </a:ext>
            </a:extLst>
          </p:cNvPr>
          <p:cNvSpPr>
            <a:spLocks noGrp="1"/>
          </p:cNvSpPr>
          <p:nvPr>
            <p:ph type="sldNum" sz="quarter" idx="10"/>
          </p:nvPr>
        </p:nvSpPr>
        <p:spPr/>
        <p:txBody>
          <a:bodyPr/>
          <a:lstStyle/>
          <a:p>
            <a:fld id="{318E18A1-927C-44B6-85CB-6862163FC039}" type="slidenum">
              <a:rPr lang="en-US" altLang="en-US" smtClean="0"/>
              <a:pPr/>
              <a:t>86</a:t>
            </a:fld>
            <a:endParaRPr lang="en-US" altLang="en-US"/>
          </a:p>
        </p:txBody>
      </p:sp>
    </p:spTree>
    <p:extLst>
      <p:ext uri="{BB962C8B-B14F-4D97-AF65-F5344CB8AC3E}">
        <p14:creationId xmlns:p14="http://schemas.microsoft.com/office/powerpoint/2010/main" val="122710083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0000"/>
        </a:solidFill>
        <a:ln w="9525">
          <a:solidFill>
            <a:schemeClr val="tx1"/>
          </a:solidFill>
          <a:round/>
          <a:headEnd/>
          <a:tailEnd/>
        </a:ln>
      </a:spPr>
      <a:bodyPr wrap="none" anchor="ctr"/>
      <a:lstStyle>
        <a:defPPr>
          <a:buFont typeface="Monotype Sorts" pitchFamily="2" charset="2"/>
          <a:buNone/>
          <a:defRPr b="1">
            <a:solidFill>
              <a:srgbClr val="FF0000"/>
            </a:solidFill>
            <a:latin typeface="Times New Roman" pitchFamily="18" charset="0"/>
            <a:ea typeface="Gulim" pitchFamily="34" charset="-127"/>
            <a:cs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Crayons</Template>
  <TotalTime>59547</TotalTime>
  <Words>5711</Words>
  <Application>Microsoft Office PowerPoint</Application>
  <PresentationFormat>On-screen Show (4:3)</PresentationFormat>
  <Paragraphs>831</Paragraphs>
  <Slides>86</Slides>
  <Notes>8</Notes>
  <HiddenSlides>0</HiddenSlides>
  <MMClips>0</MMClips>
  <ScaleCrop>false</ScaleCrop>
  <HeadingPairs>
    <vt:vector size="4" baseType="variant">
      <vt:variant>
        <vt:lpstr>Theme</vt:lpstr>
      </vt:variant>
      <vt:variant>
        <vt:i4>1</vt:i4>
      </vt:variant>
      <vt:variant>
        <vt:lpstr>Slide Titles</vt:lpstr>
      </vt:variant>
      <vt:variant>
        <vt:i4>86</vt:i4>
      </vt:variant>
    </vt:vector>
  </HeadingPairs>
  <TitlesOfParts>
    <vt:vector size="87" baseType="lpstr">
      <vt:lpstr>Default Design</vt:lpstr>
      <vt:lpstr>PowerPoint Presentation</vt:lpstr>
      <vt:lpstr>PowerPoint Presentation</vt:lpstr>
      <vt:lpstr>PowerPoint Presentation</vt:lpstr>
      <vt:lpstr>PowerPoint Presentation</vt:lpstr>
      <vt:lpstr>PowerPoint Presentation</vt:lpstr>
      <vt:lpstr>PowerPoint Presentation</vt:lpstr>
      <vt:lpstr>Managing Input/Output Files in Java</vt:lpstr>
      <vt:lpstr>Outlines of Presentation</vt:lpstr>
      <vt:lpstr>Introduction </vt:lpstr>
      <vt:lpstr>Introduction </vt:lpstr>
      <vt:lpstr>Introduction </vt:lpstr>
      <vt:lpstr>Introduction </vt:lpstr>
      <vt:lpstr>Introduction </vt:lpstr>
      <vt:lpstr>Concept of Streams</vt:lpstr>
      <vt:lpstr>Concept of Streams</vt:lpstr>
      <vt:lpstr>Concept of Streams</vt:lpstr>
      <vt:lpstr>Stream Classes</vt:lpstr>
      <vt:lpstr>Byte Stream Classes</vt:lpstr>
      <vt:lpstr>Input Stream Classes</vt:lpstr>
      <vt:lpstr>Input Stream Classes</vt:lpstr>
      <vt:lpstr>Input Stream Classes</vt:lpstr>
      <vt:lpstr>Output Stream Classes</vt:lpstr>
      <vt:lpstr>FileInputStream Classes</vt:lpstr>
      <vt:lpstr>FileInputStream Classes</vt:lpstr>
      <vt:lpstr>FileInputStream Classes</vt:lpstr>
      <vt:lpstr>FileInputStream Classes</vt:lpstr>
      <vt:lpstr>FileOutputStream Classes</vt:lpstr>
      <vt:lpstr>FileOutputStream Classes</vt:lpstr>
      <vt:lpstr>FileOutputStream Classes</vt:lpstr>
      <vt:lpstr>Byte Stream Classes</vt:lpstr>
      <vt:lpstr>Byte Stream Classes</vt:lpstr>
      <vt:lpstr>Byte Stream Classes</vt:lpstr>
      <vt:lpstr>RandomAccessFile Classes</vt:lpstr>
      <vt:lpstr>RandomAccessFile Classes</vt:lpstr>
      <vt:lpstr>RandomAccessFile Classes</vt:lpstr>
      <vt:lpstr>RandomAccessFile Classes</vt:lpstr>
      <vt:lpstr>RandomAccessFile Classes</vt:lpstr>
      <vt:lpstr>RandomAccessFile Classes</vt:lpstr>
      <vt:lpstr>RandomAccessFile Classes</vt:lpstr>
      <vt:lpstr>RandomAccessFile Classes</vt:lpstr>
      <vt:lpstr>The Character Streams</vt:lpstr>
      <vt:lpstr>The Character Streams</vt:lpstr>
      <vt:lpstr>The Character Streams</vt:lpstr>
      <vt:lpstr>The Character Streams</vt:lpstr>
      <vt:lpstr>The Character Streams</vt:lpstr>
      <vt:lpstr>The Character Streams</vt:lpstr>
      <vt:lpstr>The Character Streams</vt:lpstr>
      <vt:lpstr>The Character Streams</vt:lpstr>
      <vt:lpstr>The Character Streams</vt:lpstr>
      <vt:lpstr>The Character Streams</vt:lpstr>
      <vt:lpstr>The Character Streams</vt:lpstr>
      <vt:lpstr>The Character Streams</vt:lpstr>
      <vt:lpstr>Byte Stream vs. Character Stream</vt:lpstr>
      <vt:lpstr>Byte Stream vs. Character Stream</vt:lpstr>
      <vt:lpstr>File </vt:lpstr>
      <vt:lpstr>File </vt:lpstr>
      <vt:lpstr>File </vt:lpstr>
      <vt:lpstr>File </vt:lpstr>
      <vt:lpstr>File </vt:lpstr>
      <vt:lpstr>File </vt:lpstr>
      <vt:lpstr>File </vt:lpstr>
      <vt:lpstr>File </vt:lpstr>
      <vt:lpstr>File </vt:lpstr>
      <vt:lpstr>File </vt:lpstr>
      <vt:lpstr>File </vt:lpstr>
      <vt:lpstr>File </vt:lpstr>
      <vt:lpstr>File </vt:lpstr>
      <vt:lpstr>File </vt:lpstr>
      <vt:lpstr>Serialization</vt:lpstr>
      <vt:lpstr>Serialization</vt:lpstr>
      <vt:lpstr>Serialization</vt:lpstr>
      <vt:lpstr>Serialization</vt:lpstr>
      <vt:lpstr>Serialization</vt:lpstr>
      <vt:lpstr>Serialization</vt:lpstr>
      <vt:lpstr>Serialization</vt:lpstr>
      <vt:lpstr>Serialization</vt:lpstr>
      <vt:lpstr>Serialization</vt:lpstr>
      <vt:lpstr>Serialization</vt:lpstr>
      <vt:lpstr>Serialization</vt:lpstr>
      <vt:lpstr>Serialization</vt:lpstr>
      <vt:lpstr>Serialization</vt:lpstr>
      <vt:lpstr>Serialization</vt:lpstr>
      <vt:lpstr>Serialization</vt:lpstr>
      <vt:lpstr>Serialization</vt:lpstr>
      <vt:lpstr>Serialization</vt:lpstr>
      <vt:lpstr>PowerPoint Presentation</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DELL</cp:lastModifiedBy>
  <cp:revision>1894</cp:revision>
  <dcterms:created xsi:type="dcterms:W3CDTF">2006-05-23T11:30:02Z</dcterms:created>
  <dcterms:modified xsi:type="dcterms:W3CDTF">2024-10-06T09:37:49Z</dcterms:modified>
</cp:coreProperties>
</file>