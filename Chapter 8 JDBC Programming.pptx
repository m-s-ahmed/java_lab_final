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8000"/>
    <a:srgbClr val="66FF33"/>
    <a:srgbClr val="6600CC"/>
    <a:srgbClr val="339966"/>
    <a:srgbClr val="00CC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3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7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4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9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4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8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1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9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350B3-53D4-4A0D-96AC-13FD51E9699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72B31-1ED8-43A2-9BC1-2351D20A3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6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163774" y="2271755"/>
            <a:ext cx="82568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Database Connectivity </a:t>
            </a:r>
          </a:p>
        </p:txBody>
      </p:sp>
    </p:spTree>
    <p:extLst>
      <p:ext uri="{BB962C8B-B14F-4D97-AF65-F5344CB8AC3E}">
        <p14:creationId xmlns:p14="http://schemas.microsoft.com/office/powerpoint/2010/main" val="109513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a database, the software that stores and manages data in the database, and the application programs.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E7F947-DC93-2BFC-2E0D-1BC1EC61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154" y="1655308"/>
            <a:ext cx="3990975" cy="3067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EDD5BD8-7FD1-796E-7C19-E99DD044F405}"/>
              </a:ext>
            </a:extLst>
          </p:cNvPr>
          <p:cNvSpPr txBox="1"/>
          <p:nvPr/>
        </p:nvSpPr>
        <p:spPr>
          <a:xfrm>
            <a:off x="3094559" y="4722358"/>
            <a:ext cx="3798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latin typeface="TimesLTStd-Roman"/>
              </a:rPr>
              <a:t>Fig:</a:t>
            </a:r>
            <a:r>
              <a:rPr lang="en-US" sz="1800" b="0" i="0" u="none" strike="noStrike" baseline="0" dirty="0">
                <a:latin typeface="TimesLTStd-Roman"/>
              </a:rPr>
              <a:t> A database system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56973F3-51CE-D04F-AC7F-30BAF7CD5E19}"/>
              </a:ext>
            </a:extLst>
          </p:cNvPr>
          <p:cNvSpPr txBox="1"/>
          <p:nvPr/>
        </p:nvSpPr>
        <p:spPr>
          <a:xfrm>
            <a:off x="213064" y="5149424"/>
            <a:ext cx="88007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repository of data that form information.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today’s database systems are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systems.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based on the relational data model, which has three key components: </a:t>
            </a:r>
            <a:r>
              <a:rPr lang="en-US" sz="2400" b="0" i="1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structure, integrity, and language</a:t>
            </a:r>
            <a:r>
              <a:rPr lang="en-US" sz="1800" b="0" i="0" u="none" strike="noStrike" baseline="0" dirty="0">
                <a:latin typeface="TimesLTStd-Roman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8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300" b="0" i="1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representation of the data. </a:t>
            </a:r>
            <a:r>
              <a:rPr lang="en-US" sz="2300" b="0" i="1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imposes constraints on the data. </a:t>
            </a:r>
            <a:r>
              <a:rPr lang="en-US" sz="2300" b="0" i="1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means for accessing and manipulating data.</a:t>
            </a:r>
          </a:p>
          <a:p>
            <a:pPr algn="l"/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3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Structure: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actually a table that consists of nonduplicate rows. Tables are easy to understand and use. </a:t>
            </a:r>
          </a:p>
          <a:p>
            <a:pPr algn="l"/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row of a table represents a 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column of a table represents the 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 a single attribute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record. </a:t>
            </a:r>
          </a:p>
          <a:p>
            <a:pPr algn="l"/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relational database theory, a row is called a 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column is called an </a:t>
            </a:r>
            <a:r>
              <a:rPr lang="en-US" sz="23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en-US" sz="23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A6D44ED-5B19-721E-C52E-2B21A343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41" y="4060086"/>
            <a:ext cx="7979555" cy="281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08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table and Enrollment table are as follows: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3B7CE03-AC19-8647-3B21-74AC3C2E6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4" y="1245265"/>
            <a:ext cx="8660812" cy="2712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DAD0C76-CDB7-DBA6-99B0-B203B92CC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819" y="2809449"/>
            <a:ext cx="3850181" cy="391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0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imposes a condition that all the legal values in a table must satisfy. Fig. shows an example of some integrity constraints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" y="2286762"/>
            <a:ext cx="8920717" cy="43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28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Constraints: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constraints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permissible values for an attribute. Domains can be specified using standard data types, such as integers, floating-point numbers, fixed-length strings, and variant-length strings.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 Constraints: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should know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keys, and candidate keys.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superkey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attribute or a set of attributes that uniquely identifies the relation. That is, no two tuples have the same values on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2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 Constraints: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minimal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that any proper subset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 can have several keys. In this case, each of the keys is called 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of the candidate keys designated by the database designer.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key is often used to identify tuples in a relation.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primary key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as shown previously.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19" y="4199920"/>
            <a:ext cx="6227569" cy="252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9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 Constraints: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Informally speaking, the common attributes are foreign keys.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constraints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relationships among relations.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Formally, a set of attributes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relation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references relation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satisfies the following two rules: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 The attributes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same domain as the primary key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■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nonnull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match a primary key value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Figure 32.6,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foreign key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references the primary key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Every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must match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23" y="4761805"/>
            <a:ext cx="5545625" cy="225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CC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 (SQL):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the language for defining tables and integrity constraints, and for accessing and manipulating data. MySQL is an example of the SQL.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User Account on MySQL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create a user named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password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Here are the steps to create a user from the command line: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From the DOS command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prompt, type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uroot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be prompted to enter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password, as shown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prompt, enter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277" y="3317067"/>
            <a:ext cx="5133723" cy="309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8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User Account on MySQL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create user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password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create user '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'@'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localhost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identified by 'tiger';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 grant privileges to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grant select, insert, update, delete, create, create view, drop,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execute, references on *.* to '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'@'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localhost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exit;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exit the MySQL console.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69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consider a database named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the steps to create it: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From the DOS command prompt, type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uscott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ptiger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login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shown in Fig.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prompt, enter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create database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22" y="2689544"/>
            <a:ext cx="8173811" cy="32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7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the script, first switch to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using the following command: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then type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source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script.sql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Fig.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0" y="3702003"/>
            <a:ext cx="9034070" cy="26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0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213064" y="798989"/>
            <a:ext cx="880072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Dropping Tables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are the essential objects in a database. To create a table, use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to specify a table name, attributes, and types, as in the following example: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(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subjectId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courseNumber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numOfCredits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737" y="2228943"/>
            <a:ext cx="5273264" cy="432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1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800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Dropping Tables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created as follows: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31057" y="1962417"/>
            <a:ext cx="46129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(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dateRegistered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271" y="1962417"/>
            <a:ext cx="46129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(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birthDate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street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2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8007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and Dropping Tables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delete table and database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04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80072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Insert, Update, and Delete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to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record into a table is: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[(column1, column2, ..., column)]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(value1, value2, ...,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subjectId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courseNumber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title,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numOfCredits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'11113'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'CSCI'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'3720'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'Database Systems'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column names are optional. </a:t>
            </a:r>
          </a:p>
        </p:txBody>
      </p:sp>
    </p:spTree>
    <p:extLst>
      <p:ext uri="{BB962C8B-B14F-4D97-AF65-F5344CB8AC3E}">
        <p14:creationId xmlns:p14="http://schemas.microsoft.com/office/powerpoint/2010/main" val="188133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8007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Insert, Update, and Delete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to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table is: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column1 = newValue1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column2 = newValue2, ...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condition];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following statement changes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numOfCredits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course whose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Database Systems to 4.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numOfCredits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'Database Systems'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2278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80072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Insert, Update, and Delete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to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records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table is: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condition];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following statement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deletes the Database Systems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from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'Database Systems'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statement deletes all the records from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51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Queries:</a:t>
            </a: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retrieve information from tables, use a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with the following syntax:</a:t>
            </a:r>
          </a:p>
          <a:p>
            <a:pPr algn="l"/>
            <a:endParaRPr lang="en-US" sz="105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column-list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table-list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condition];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1: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all the students in the CS department, as shown in Fig.</a:t>
            </a: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deptId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'CS'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3735928-8745-3910-96B1-3BF1567D5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01" y="4116719"/>
            <a:ext cx="4573567" cy="243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54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333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Queries:</a:t>
            </a:r>
          </a:p>
          <a:p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2: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the names of the students who are in the CS dept and live in the ZIP code 31411.</a:t>
            </a:r>
          </a:p>
          <a:p>
            <a:pPr algn="l"/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deptId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'CS'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'31411’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8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Alias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</a:p>
          <a:p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columnName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alias</a:t>
            </a:r>
          </a:p>
          <a:p>
            <a:pPr algn="l"/>
            <a:r>
              <a:rPr lang="en-US" sz="2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4: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last name and ZIP code of the students with “CS” department and column headings as “Last Name” for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“Zip Code” for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"Last Name"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"Zip Code"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5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deptId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'CS'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7C61D48-BEE0-A6FC-5446-4C9B3249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78" y="4281724"/>
            <a:ext cx="6614390" cy="246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3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Java API for developing Java database applications is called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provides Java programmers with a uniform interface for accessing and manipulating relational databases.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JDBC API, applications written in the Java programming language can execute SQL statements, retrieve results, present data in a user-friendly interface, and propagate changes back to the database. 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JDBC API can also be used to interact with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 sources in a distributed, heterogeneous environment.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07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relationships between Java programs, JDBC API, JDBC drivers, and relational databases are shown in Fig. The JDBC API is a set of Java interfaces and classes used to write Java programs for accessing and manipulating relational databases. 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36AD001-7A94-1FC9-217C-9EB6CE7BD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544" y="2902598"/>
            <a:ext cx="4058437" cy="310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4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Database Applications Using JDBC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JDBC API consists of classes and interfaces for establishing connections with databases, sending SQL statements to databases, processing the results of SQL statements, </a:t>
            </a:r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obtaining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metadata. 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key interfaces are needed to develop any database application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Java: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These interfaces define a framework for generic SQL database access. </a:t>
            </a:r>
          </a:p>
          <a:p>
            <a:pPr algn="l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JDBC API defines these interfaces, and the JDBC driver vendors provide the implementation for the interfaces. Programmers use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interfaces.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41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Database Applications Using JDBC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of these interfaces is shown in following Fig. 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JDBC application loads an appropriate driver using the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interface, connects to the database using the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interface, creates and executes SQL statements using the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interface, and processes the result using the 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if the statements return results.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D7E69FC-109E-4AF5-4525-78C35E16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2" y="3271930"/>
            <a:ext cx="57435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8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Database Applications Using JDBC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typical Java program takes the following steps to access a database.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 Loading drivers.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appropriate driver must be loaded using the statement shown below before connecting to a database.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Class.forName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JDBCDriverClass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driver is a concrete class that implements the 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java.sql.Driver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interface. The drivers for Access, MySQL, and Oracle are listed in following Table:</a:t>
            </a: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F753BFA-2598-9E88-4B22-92795D00C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4" y="4428264"/>
            <a:ext cx="8939814" cy="231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8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Database Applications Using JDBC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the MySQL and Oracle drivers, we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mysql-connector-java-5.1.26.jar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ojdbc6.jar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classpath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following DOS command on Windows: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set </a:t>
            </a:r>
            <a:r>
              <a:rPr lang="en-US" sz="20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classpath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=%</a:t>
            </a:r>
            <a:r>
              <a:rPr lang="en-US" sz="20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classpath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%;c:\book\lib\mysql-connector-java-5.1.26.jar;</a:t>
            </a:r>
          </a:p>
          <a:p>
            <a:pPr algn="l"/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c:\book\lib\ojdbc6.jar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use an IDE such as Eclipse or NetBeans, you need to add these jar files into the library in the IDE.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LTStd-Roman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79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Database Applications Using JDBC</a:t>
            </a:r>
          </a:p>
          <a:p>
            <a:pPr algn="l"/>
            <a:endParaRPr lang="en-US" sz="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Establishing connections.</a:t>
            </a:r>
          </a:p>
          <a:p>
            <a:pPr algn="l"/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connect to a database, use the static method </a:t>
            </a:r>
            <a:r>
              <a:rPr lang="en-US" sz="22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getConnection</a:t>
            </a:r>
            <a:r>
              <a:rPr lang="en-US" sz="22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databaseURL</a:t>
            </a:r>
            <a:r>
              <a:rPr lang="en-US" sz="22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2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</a:t>
            </a:r>
            <a:r>
              <a:rPr lang="en-US" sz="22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class, as follows: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DriverManager.getConnection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databaseURL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databaseURL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unique identifier of the database on the Internet. Table 32.4 lists the URL patterns for the Access, MySQL, and Oracle databases.</a:t>
            </a: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solidFill>
                <a:srgbClr val="000000"/>
              </a:solidFill>
              <a:latin typeface="TimesLTStd-Roman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59207D8-5968-A633-C96B-8132C1DF3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3" y="3988149"/>
            <a:ext cx="8657854" cy="254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60D8947-E808-7601-ECA5-44DDC7B89ED3}"/>
              </a:ext>
            </a:extLst>
          </p:cNvPr>
          <p:cNvSpPr txBox="1"/>
          <p:nvPr/>
        </p:nvSpPr>
        <p:spPr>
          <a:xfrm>
            <a:off x="535619" y="115410"/>
            <a:ext cx="339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79D72B-DC5F-524E-138F-C2B44C238DD9}"/>
              </a:ext>
            </a:extLst>
          </p:cNvPr>
          <p:cNvSpPr txBox="1"/>
          <p:nvPr/>
        </p:nvSpPr>
        <p:spPr>
          <a:xfrm>
            <a:off x="343271" y="594274"/>
            <a:ext cx="8694197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Database Applications Using JDBC</a:t>
            </a:r>
          </a:p>
          <a:p>
            <a:pPr algn="l"/>
            <a:endParaRPr lang="en-US" sz="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databaseURL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MySQL database specifies the host name and database name to locate a database. For example, the following statement creates a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for the local MySQL database 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username </a:t>
            </a:r>
            <a:r>
              <a:rPr lang="en-US" sz="2400" b="0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password </a:t>
            </a:r>
            <a:r>
              <a:rPr lang="en-US" sz="2400" b="0" i="1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tiger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DriverManager.getConnection</a:t>
            </a: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jdbc:mysql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://localhost/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javabook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b="1" i="0" u="none" strike="noStrike" baseline="0" dirty="0" err="1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scott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u="none" strike="noStrike" baseline="0" dirty="0">
                <a:solidFill>
                  <a:srgbClr val="00AF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"tiger"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2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446</TotalTime>
  <Words>1848</Words>
  <Application>Microsoft Office PowerPoint</Application>
  <PresentationFormat>On-screen Show (4:3)</PresentationFormat>
  <Paragraphs>261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</dc:creator>
  <cp:lastModifiedBy>DELL</cp:lastModifiedBy>
  <cp:revision>40</cp:revision>
  <dcterms:created xsi:type="dcterms:W3CDTF">2023-10-10T02:53:46Z</dcterms:created>
  <dcterms:modified xsi:type="dcterms:W3CDTF">2024-10-06T03:41:26Z</dcterms:modified>
</cp:coreProperties>
</file>