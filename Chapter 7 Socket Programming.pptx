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56" r:id="rId2"/>
    <p:sldId id="387" r:id="rId3"/>
    <p:sldId id="383" r:id="rId4"/>
    <p:sldId id="386" r:id="rId5"/>
    <p:sldId id="389" r:id="rId6"/>
    <p:sldId id="388" r:id="rId7"/>
    <p:sldId id="395" r:id="rId8"/>
    <p:sldId id="384" r:id="rId9"/>
    <p:sldId id="391" r:id="rId10"/>
    <p:sldId id="390" r:id="rId11"/>
    <p:sldId id="392" r:id="rId12"/>
    <p:sldId id="385" r:id="rId13"/>
    <p:sldId id="357" r:id="rId14"/>
    <p:sldId id="360" r:id="rId15"/>
    <p:sldId id="358" r:id="rId16"/>
    <p:sldId id="359" r:id="rId17"/>
    <p:sldId id="351" r:id="rId18"/>
    <p:sldId id="362" r:id="rId19"/>
    <p:sldId id="345" r:id="rId20"/>
    <p:sldId id="361" r:id="rId21"/>
    <p:sldId id="363" r:id="rId22"/>
    <p:sldId id="364" r:id="rId23"/>
    <p:sldId id="366" r:id="rId24"/>
    <p:sldId id="367" r:id="rId25"/>
    <p:sldId id="369" r:id="rId26"/>
    <p:sldId id="371" r:id="rId27"/>
    <p:sldId id="375" r:id="rId28"/>
    <p:sldId id="394" r:id="rId29"/>
    <p:sldId id="401" r:id="rId30"/>
    <p:sldId id="398" r:id="rId31"/>
    <p:sldId id="396" r:id="rId32"/>
    <p:sldId id="397" r:id="rId33"/>
    <p:sldId id="399" r:id="rId34"/>
    <p:sldId id="402" r:id="rId35"/>
    <p:sldId id="400" r:id="rId36"/>
    <p:sldId id="403" r:id="rId37"/>
    <p:sldId id="404" r:id="rId38"/>
    <p:sldId id="405" r:id="rId39"/>
    <p:sldId id="406" r:id="rId40"/>
    <p:sldId id="407" r:id="rId41"/>
    <p:sldId id="408" r:id="rId42"/>
    <p:sldId id="409" r:id="rId43"/>
    <p:sldId id="410" r:id="rId44"/>
    <p:sldId id="411" r:id="rId45"/>
    <p:sldId id="412" r:id="rId46"/>
    <p:sldId id="413" r:id="rId47"/>
    <p:sldId id="414" r:id="rId48"/>
  </p:sldIdLst>
  <p:sldSz cx="9144000" cy="6858000" type="screen4x3"/>
  <p:notesSz cx="6985000" cy="9271000"/>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FF"/>
    <a:srgbClr val="CC3300"/>
    <a:srgbClr val="003399"/>
    <a:srgbClr val="11FF11"/>
    <a:srgbClr val="CCCCFF"/>
    <a:srgbClr val="FFFF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56" autoAdjust="0"/>
    <p:restoredTop sz="92606" autoAdjust="0"/>
  </p:normalViewPr>
  <p:slideViewPr>
    <p:cSldViewPr>
      <p:cViewPr>
        <p:scale>
          <a:sx n="110" d="100"/>
          <a:sy n="110" d="100"/>
        </p:scale>
        <p:origin x="-1734" y="3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2430"/>
    </p:cViewPr>
  </p:sorterViewPr>
  <p:notesViewPr>
    <p:cSldViewPr>
      <p:cViewPr varScale="1">
        <p:scale>
          <a:sx n="37" d="100"/>
          <a:sy n="37" d="100"/>
        </p:scale>
        <p:origin x="-2250" y="-96"/>
      </p:cViewPr>
      <p:guideLst>
        <p:guide orient="horz" pos="2920"/>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xmlns="" id="{B2152ED5-7AAD-4CAA-BB90-84B5ECA47C2F}"/>
              </a:ext>
            </a:extLst>
          </p:cNvPr>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eaLnBrk="1" hangingPunct="1">
              <a:defRPr sz="1200">
                <a:latin typeface="Arial" pitchFamily="34" charset="0"/>
                <a:cs typeface="+mn-cs"/>
              </a:defRPr>
            </a:lvl1pPr>
          </a:lstStyle>
          <a:p>
            <a:pPr>
              <a:defRPr/>
            </a:pPr>
            <a:endParaRPr lang="en-US"/>
          </a:p>
        </p:txBody>
      </p:sp>
      <p:sp>
        <p:nvSpPr>
          <p:cNvPr id="24579" name="Rectangle 3">
            <a:extLst>
              <a:ext uri="{FF2B5EF4-FFF2-40B4-BE49-F238E27FC236}">
                <a16:creationId xmlns:a16="http://schemas.microsoft.com/office/drawing/2014/main" xmlns="" id="{388A4DEE-C20A-47F9-BE84-C8C2C87D9529}"/>
              </a:ext>
            </a:extLst>
          </p:cNvPr>
          <p:cNvSpPr>
            <a:spLocks noGrp="1" noChangeArrowheads="1"/>
          </p:cNvSpPr>
          <p:nvPr>
            <p:ph type="dt" sz="quarter" idx="1"/>
          </p:nvPr>
        </p:nvSpPr>
        <p:spPr bwMode="auto">
          <a:xfrm>
            <a:off x="395605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Arial" pitchFamily="34" charset="0"/>
                <a:cs typeface="+mn-cs"/>
              </a:defRPr>
            </a:lvl1pPr>
          </a:lstStyle>
          <a:p>
            <a:pPr>
              <a:defRPr/>
            </a:pPr>
            <a:endParaRPr lang="en-US"/>
          </a:p>
        </p:txBody>
      </p:sp>
      <p:sp>
        <p:nvSpPr>
          <p:cNvPr id="24580" name="Rectangle 4">
            <a:extLst>
              <a:ext uri="{FF2B5EF4-FFF2-40B4-BE49-F238E27FC236}">
                <a16:creationId xmlns:a16="http://schemas.microsoft.com/office/drawing/2014/main" xmlns="" id="{D41836E5-E93A-4FA8-A0C3-D39C012AED5F}"/>
              </a:ext>
            </a:extLst>
          </p:cNvPr>
          <p:cNvSpPr>
            <a:spLocks noGrp="1" noChangeArrowheads="1"/>
          </p:cNvSpPr>
          <p:nvPr>
            <p:ph type="ftr" sz="quarter" idx="2"/>
          </p:nvPr>
        </p:nvSpPr>
        <p:spPr bwMode="auto">
          <a:xfrm>
            <a:off x="0" y="8805863"/>
            <a:ext cx="3027363"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eaLnBrk="1" hangingPunct="1">
              <a:defRPr sz="1200">
                <a:latin typeface="Arial" pitchFamily="34" charset="0"/>
                <a:cs typeface="+mn-cs"/>
              </a:defRPr>
            </a:lvl1pPr>
          </a:lstStyle>
          <a:p>
            <a:pPr>
              <a:defRPr/>
            </a:pPr>
            <a:endParaRPr lang="en-US"/>
          </a:p>
        </p:txBody>
      </p:sp>
      <p:sp>
        <p:nvSpPr>
          <p:cNvPr id="24581" name="Rectangle 5">
            <a:extLst>
              <a:ext uri="{FF2B5EF4-FFF2-40B4-BE49-F238E27FC236}">
                <a16:creationId xmlns:a16="http://schemas.microsoft.com/office/drawing/2014/main" xmlns="" id="{2CECD74F-EDA3-4683-8BBA-04F52FFF05D7}"/>
              </a:ext>
            </a:extLst>
          </p:cNvPr>
          <p:cNvSpPr>
            <a:spLocks noGrp="1" noChangeArrowheads="1"/>
          </p:cNvSpPr>
          <p:nvPr>
            <p:ph type="sldNum" sz="quarter" idx="3"/>
          </p:nvPr>
        </p:nvSpPr>
        <p:spPr bwMode="auto">
          <a:xfrm>
            <a:off x="3956050" y="8805863"/>
            <a:ext cx="3027363"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fld id="{3C6A5564-7D71-4E05-A996-EE6426E43A0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91661F8D-3CE7-486C-B292-2CDA11C33D4D}"/>
              </a:ext>
            </a:extLst>
          </p:cNvPr>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eaLnBrk="1" hangingPunct="1">
              <a:defRPr sz="1200">
                <a:latin typeface="Arial" pitchFamily="34" charset="0"/>
                <a:cs typeface="+mn-cs"/>
              </a:defRPr>
            </a:lvl1pPr>
          </a:lstStyle>
          <a:p>
            <a:pPr>
              <a:defRPr/>
            </a:pPr>
            <a:endParaRPr lang="en-US"/>
          </a:p>
        </p:txBody>
      </p:sp>
      <p:sp>
        <p:nvSpPr>
          <p:cNvPr id="12291" name="Rectangle 3">
            <a:extLst>
              <a:ext uri="{FF2B5EF4-FFF2-40B4-BE49-F238E27FC236}">
                <a16:creationId xmlns:a16="http://schemas.microsoft.com/office/drawing/2014/main" xmlns="" id="{4662A774-A4D1-47A4-88DB-EAAE1727D6F3}"/>
              </a:ext>
            </a:extLst>
          </p:cNvPr>
          <p:cNvSpPr>
            <a:spLocks noGrp="1" noChangeArrowheads="1"/>
          </p:cNvSpPr>
          <p:nvPr>
            <p:ph type="dt" idx="1"/>
          </p:nvPr>
        </p:nvSpPr>
        <p:spPr bwMode="auto">
          <a:xfrm>
            <a:off x="395605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Arial" pitchFamily="34" charset="0"/>
                <a:cs typeface="+mn-cs"/>
              </a:defRPr>
            </a:lvl1pPr>
          </a:lstStyle>
          <a:p>
            <a:pPr>
              <a:defRPr/>
            </a:pPr>
            <a:endParaRPr lang="en-US"/>
          </a:p>
        </p:txBody>
      </p:sp>
      <p:sp>
        <p:nvSpPr>
          <p:cNvPr id="2052" name="Rectangle 4">
            <a:extLst>
              <a:ext uri="{FF2B5EF4-FFF2-40B4-BE49-F238E27FC236}">
                <a16:creationId xmlns:a16="http://schemas.microsoft.com/office/drawing/2014/main" xmlns="" id="{A6129557-FE15-4013-8A4F-FDFB247E4B4C}"/>
              </a:ext>
            </a:extLst>
          </p:cNvPr>
          <p:cNvSpPr>
            <a:spLocks noGrp="1" noRot="1" noChangeAspect="1" noChangeArrowheads="1" noTextEdit="1"/>
          </p:cNvSpPr>
          <p:nvPr>
            <p:ph type="sldImg" idx="2"/>
          </p:nvPr>
        </p:nvSpPr>
        <p:spPr bwMode="auto">
          <a:xfrm>
            <a:off x="1174750" y="695325"/>
            <a:ext cx="4637088" cy="3476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a:extLst>
              <a:ext uri="{FF2B5EF4-FFF2-40B4-BE49-F238E27FC236}">
                <a16:creationId xmlns:a16="http://schemas.microsoft.com/office/drawing/2014/main" xmlns="" id="{EC4D04FA-4E9E-4680-9253-2AB55D74158D}"/>
              </a:ext>
            </a:extLst>
          </p:cNvPr>
          <p:cNvSpPr>
            <a:spLocks noGrp="1" noChangeArrowheads="1"/>
          </p:cNvSpPr>
          <p:nvPr>
            <p:ph type="body" sz="quarter" idx="3"/>
          </p:nvPr>
        </p:nvSpPr>
        <p:spPr bwMode="auto">
          <a:xfrm>
            <a:off x="700088" y="4403725"/>
            <a:ext cx="5584825" cy="41719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a:extLst>
              <a:ext uri="{FF2B5EF4-FFF2-40B4-BE49-F238E27FC236}">
                <a16:creationId xmlns:a16="http://schemas.microsoft.com/office/drawing/2014/main" xmlns="" id="{840359C0-D5F6-47D2-80A2-ED3E2633FBED}"/>
              </a:ext>
            </a:extLst>
          </p:cNvPr>
          <p:cNvSpPr>
            <a:spLocks noGrp="1" noChangeArrowheads="1"/>
          </p:cNvSpPr>
          <p:nvPr>
            <p:ph type="ftr" sz="quarter" idx="4"/>
          </p:nvPr>
        </p:nvSpPr>
        <p:spPr bwMode="auto">
          <a:xfrm>
            <a:off x="0" y="8805863"/>
            <a:ext cx="3027363"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eaLnBrk="1" hangingPunct="1">
              <a:defRPr sz="1200">
                <a:latin typeface="Arial" pitchFamily="34" charset="0"/>
                <a:cs typeface="+mn-cs"/>
              </a:defRPr>
            </a:lvl1pPr>
          </a:lstStyle>
          <a:p>
            <a:pPr>
              <a:defRPr/>
            </a:pPr>
            <a:endParaRPr lang="en-US"/>
          </a:p>
        </p:txBody>
      </p:sp>
    </p:spTree>
    <p:extLst>
      <p:ext uri="{BB962C8B-B14F-4D97-AF65-F5344CB8AC3E}">
        <p14:creationId xmlns:p14="http://schemas.microsoft.com/office/powerpoint/2010/main" val="1817241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xmlns="" id="{E08C5B30-B76B-44CB-95D2-4EC75F681F76}"/>
              </a:ext>
            </a:extLst>
          </p:cNvPr>
          <p:cNvSpPr>
            <a:spLocks noGrp="1" noChangeArrowheads="1"/>
          </p:cNvSpPr>
          <p:nvPr>
            <p:ph type="sldNum" sz="quarter" idx="4294967295"/>
          </p:nvPr>
        </p:nvSpPr>
        <p:spPr bwMode="auto">
          <a:xfrm>
            <a:off x="3956050" y="8805863"/>
            <a:ext cx="3027363" cy="4635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cs typeface="Arial" panose="020B0604020202020204" pitchFamily="34" charset="0"/>
              </a:defRPr>
            </a:lvl1pPr>
            <a:lvl2pPr marL="742950" indent="-285750">
              <a:defRPr sz="1600">
                <a:solidFill>
                  <a:schemeClr val="tx1"/>
                </a:solidFill>
                <a:latin typeface="Arial" panose="020B0604020202020204" pitchFamily="34" charset="0"/>
                <a:cs typeface="Arial" panose="020B0604020202020204" pitchFamily="34" charset="0"/>
              </a:defRPr>
            </a:lvl2pPr>
            <a:lvl3pPr marL="1143000" indent="-228600">
              <a:defRPr sz="1600">
                <a:solidFill>
                  <a:schemeClr val="tx1"/>
                </a:solidFill>
                <a:latin typeface="Arial" panose="020B0604020202020204" pitchFamily="34" charset="0"/>
                <a:cs typeface="Arial" panose="020B0604020202020204" pitchFamily="34" charset="0"/>
              </a:defRPr>
            </a:lvl3pPr>
            <a:lvl4pPr marL="1600200" indent="-228600">
              <a:defRPr sz="1600">
                <a:solidFill>
                  <a:schemeClr val="tx1"/>
                </a:solidFill>
                <a:latin typeface="Arial" panose="020B0604020202020204" pitchFamily="34" charset="0"/>
                <a:cs typeface="Arial" panose="020B0604020202020204" pitchFamily="34" charset="0"/>
              </a:defRPr>
            </a:lvl4pPr>
            <a:lvl5pPr marL="2057400" indent="-22860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algn="ctr" eaLnBrk="1" hangingPunct="1"/>
            <a:fld id="{00FE5A43-3765-4615-B8D7-026C3CA66430}" type="slidenum">
              <a:rPr lang="en-US" altLang="en-US"/>
              <a:pPr algn="ctr" eaLnBrk="1" hangingPunct="1"/>
              <a:t>1</a:t>
            </a:fld>
            <a:endParaRPr lang="en-US" altLang="en-US"/>
          </a:p>
        </p:txBody>
      </p:sp>
      <p:sp>
        <p:nvSpPr>
          <p:cNvPr id="5123" name="Rectangle 2">
            <a:extLst>
              <a:ext uri="{FF2B5EF4-FFF2-40B4-BE49-F238E27FC236}">
                <a16:creationId xmlns:a16="http://schemas.microsoft.com/office/drawing/2014/main" xmlns="" id="{D5C4AA7C-5F4C-488F-8205-1E94C5AD1B25}"/>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xmlns="" id="{76E148BE-65CF-459B-9B1B-8A786D56F9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874376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1487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a:extLst>
              <a:ext uri="{FF2B5EF4-FFF2-40B4-BE49-F238E27FC236}">
                <a16:creationId xmlns:a16="http://schemas.microsoft.com/office/drawing/2014/main" xmlns="" id="{1A259F34-D2E9-4CC6-B30A-19332E9AA39B}"/>
              </a:ext>
            </a:extLst>
          </p:cNvPr>
          <p:cNvSpPr>
            <a:spLocks noGrp="1" noChangeArrowheads="1"/>
          </p:cNvSpPr>
          <p:nvPr>
            <p:ph type="sldNum" sz="quarter" idx="10"/>
          </p:nvPr>
        </p:nvSpPr>
        <p:spPr>
          <a:ln/>
        </p:spPr>
        <p:txBody>
          <a:bodyPr/>
          <a:lstStyle>
            <a:lvl1pPr>
              <a:defRPr/>
            </a:lvl1pPr>
          </a:lstStyle>
          <a:p>
            <a:fld id="{381C97F8-416E-410D-99C6-1BAAE9D0FBD6}" type="slidenum">
              <a:rPr lang="en-US" altLang="en-US"/>
              <a:pPr/>
              <a:t>‹#›</a:t>
            </a:fld>
            <a:endParaRPr lang="en-US" altLang="en-US"/>
          </a:p>
        </p:txBody>
      </p:sp>
    </p:spTree>
    <p:extLst>
      <p:ext uri="{BB962C8B-B14F-4D97-AF65-F5344CB8AC3E}">
        <p14:creationId xmlns:p14="http://schemas.microsoft.com/office/powerpoint/2010/main" val="3387523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
        <p:nvSpPr>
          <p:cNvPr id="4" name="Rectangle 6">
            <a:extLst>
              <a:ext uri="{FF2B5EF4-FFF2-40B4-BE49-F238E27FC236}">
                <a16:creationId xmlns:a16="http://schemas.microsoft.com/office/drawing/2014/main" xmlns="" id="{470B7C87-D549-46C3-B9D0-C7036B550066}"/>
              </a:ext>
            </a:extLst>
          </p:cNvPr>
          <p:cNvSpPr>
            <a:spLocks noGrp="1" noChangeArrowheads="1"/>
          </p:cNvSpPr>
          <p:nvPr>
            <p:ph type="sldNum" sz="quarter" idx="10"/>
          </p:nvPr>
        </p:nvSpPr>
        <p:spPr>
          <a:ln/>
        </p:spPr>
        <p:txBody>
          <a:bodyPr/>
          <a:lstStyle>
            <a:lvl1pPr>
              <a:defRPr/>
            </a:lvl1pPr>
          </a:lstStyle>
          <a:p>
            <a:fld id="{06AD7C5C-20A7-4FA5-A3E8-3304B31EE667}" type="slidenum">
              <a:rPr lang="en-US" altLang="en-US"/>
              <a:pPr/>
              <a:t>‹#›</a:t>
            </a:fld>
            <a:endParaRPr lang="en-US" altLang="en-US"/>
          </a:p>
        </p:txBody>
      </p:sp>
    </p:spTree>
    <p:extLst>
      <p:ext uri="{BB962C8B-B14F-4D97-AF65-F5344CB8AC3E}">
        <p14:creationId xmlns:p14="http://schemas.microsoft.com/office/powerpoint/2010/main" val="178348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xmlns="" id="{D4CF57FC-E3FB-4DAF-A2BF-2CF27FF16872}"/>
              </a:ext>
            </a:extLst>
          </p:cNvPr>
          <p:cNvSpPr>
            <a:spLocks noGrp="1" noChangeArrowheads="1"/>
          </p:cNvSpPr>
          <p:nvPr>
            <p:ph type="sldNum" sz="quarter" idx="10"/>
          </p:nvPr>
        </p:nvSpPr>
        <p:spPr>
          <a:ln/>
        </p:spPr>
        <p:txBody>
          <a:bodyPr/>
          <a:lstStyle>
            <a:lvl1pPr>
              <a:defRPr/>
            </a:lvl1pPr>
          </a:lstStyle>
          <a:p>
            <a:fld id="{44856588-8BD5-45C6-8983-0B66BFC56497}" type="slidenum">
              <a:rPr lang="en-US" altLang="en-US"/>
              <a:pPr/>
              <a:t>‹#›</a:t>
            </a:fld>
            <a:endParaRPr lang="en-US" altLang="en-US"/>
          </a:p>
        </p:txBody>
      </p:sp>
    </p:spTree>
    <p:extLst>
      <p:ext uri="{BB962C8B-B14F-4D97-AF65-F5344CB8AC3E}">
        <p14:creationId xmlns:p14="http://schemas.microsoft.com/office/powerpoint/2010/main" val="311739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71450" y="838200"/>
            <a:ext cx="4305300" cy="579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838200"/>
            <a:ext cx="4305300" cy="579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xmlns="" id="{0ECFF75B-608B-4A54-A1E6-E33E279F177A}"/>
              </a:ext>
            </a:extLst>
          </p:cNvPr>
          <p:cNvSpPr>
            <a:spLocks noGrp="1" noChangeArrowheads="1"/>
          </p:cNvSpPr>
          <p:nvPr>
            <p:ph type="sldNum" sz="quarter" idx="10"/>
          </p:nvPr>
        </p:nvSpPr>
        <p:spPr>
          <a:ln/>
        </p:spPr>
        <p:txBody>
          <a:bodyPr/>
          <a:lstStyle>
            <a:lvl1pPr>
              <a:defRPr/>
            </a:lvl1pPr>
          </a:lstStyle>
          <a:p>
            <a:fld id="{D8B36F66-A7A6-4B00-B69F-E107FEBA626C}" type="slidenum">
              <a:rPr lang="en-US" altLang="en-US"/>
              <a:pPr/>
              <a:t>‹#›</a:t>
            </a:fld>
            <a:endParaRPr lang="en-US" altLang="en-US"/>
          </a:p>
        </p:txBody>
      </p:sp>
    </p:spTree>
    <p:extLst>
      <p:ext uri="{BB962C8B-B14F-4D97-AF65-F5344CB8AC3E}">
        <p14:creationId xmlns:p14="http://schemas.microsoft.com/office/powerpoint/2010/main" val="2256570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xmlns="" id="{A38B3BD8-5E24-4AAC-8E81-9FFBFAFF9A3B}"/>
              </a:ext>
            </a:extLst>
          </p:cNvPr>
          <p:cNvSpPr>
            <a:spLocks noGrp="1" noChangeArrowheads="1"/>
          </p:cNvSpPr>
          <p:nvPr>
            <p:ph type="sldNum" sz="quarter" idx="10"/>
          </p:nvPr>
        </p:nvSpPr>
        <p:spPr>
          <a:ln/>
        </p:spPr>
        <p:txBody>
          <a:bodyPr/>
          <a:lstStyle>
            <a:lvl1pPr>
              <a:defRPr/>
            </a:lvl1pPr>
          </a:lstStyle>
          <a:p>
            <a:fld id="{9F034267-FBC1-4C3A-A61C-31989D61DDE1}" type="slidenum">
              <a:rPr lang="en-US" altLang="en-US"/>
              <a:pPr/>
              <a:t>‹#›</a:t>
            </a:fld>
            <a:endParaRPr lang="en-US" altLang="en-US"/>
          </a:p>
        </p:txBody>
      </p:sp>
    </p:spTree>
    <p:extLst>
      <p:ext uri="{BB962C8B-B14F-4D97-AF65-F5344CB8AC3E}">
        <p14:creationId xmlns:p14="http://schemas.microsoft.com/office/powerpoint/2010/main" val="449301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xmlns="" id="{4CC89B6C-B5E5-4D25-B06B-BD5A0399A4BE}"/>
              </a:ext>
            </a:extLst>
          </p:cNvPr>
          <p:cNvSpPr>
            <a:spLocks noGrp="1" noChangeArrowheads="1"/>
          </p:cNvSpPr>
          <p:nvPr>
            <p:ph type="sldNum" sz="quarter" idx="10"/>
          </p:nvPr>
        </p:nvSpPr>
        <p:spPr>
          <a:ln/>
        </p:spPr>
        <p:txBody>
          <a:bodyPr/>
          <a:lstStyle>
            <a:lvl1pPr>
              <a:defRPr/>
            </a:lvl1pPr>
          </a:lstStyle>
          <a:p>
            <a:fld id="{1B90BB38-2F27-4D49-B7ED-A102C7830DC4}" type="slidenum">
              <a:rPr lang="en-US" altLang="en-US"/>
              <a:pPr/>
              <a:t>‹#›</a:t>
            </a:fld>
            <a:endParaRPr lang="en-US" altLang="en-US"/>
          </a:p>
        </p:txBody>
      </p:sp>
    </p:spTree>
    <p:extLst>
      <p:ext uri="{BB962C8B-B14F-4D97-AF65-F5344CB8AC3E}">
        <p14:creationId xmlns:p14="http://schemas.microsoft.com/office/powerpoint/2010/main" val="3606080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xmlns="" id="{B4A3D850-3884-4413-B1FF-13F2D276E560}"/>
              </a:ext>
            </a:extLst>
          </p:cNvPr>
          <p:cNvSpPr>
            <a:spLocks noGrp="1" noChangeArrowheads="1"/>
          </p:cNvSpPr>
          <p:nvPr>
            <p:ph type="sldNum" sz="quarter" idx="10"/>
          </p:nvPr>
        </p:nvSpPr>
        <p:spPr>
          <a:ln/>
        </p:spPr>
        <p:txBody>
          <a:bodyPr/>
          <a:lstStyle>
            <a:lvl1pPr>
              <a:defRPr/>
            </a:lvl1pPr>
          </a:lstStyle>
          <a:p>
            <a:fld id="{8C504060-7436-482B-B6B2-7E129DE74607}" type="slidenum">
              <a:rPr lang="en-US" altLang="en-US"/>
              <a:pPr/>
              <a:t>‹#›</a:t>
            </a:fld>
            <a:endParaRPr lang="en-US" altLang="en-US"/>
          </a:p>
        </p:txBody>
      </p:sp>
    </p:spTree>
    <p:extLst>
      <p:ext uri="{BB962C8B-B14F-4D97-AF65-F5344CB8AC3E}">
        <p14:creationId xmlns:p14="http://schemas.microsoft.com/office/powerpoint/2010/main" val="3559780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D7CBE063-D582-42A8-B56D-971F7FF6E428}"/>
              </a:ext>
            </a:extLst>
          </p:cNvPr>
          <p:cNvSpPr>
            <a:spLocks noGrp="1" noChangeArrowheads="1"/>
          </p:cNvSpPr>
          <p:nvPr>
            <p:ph type="sldNum" sz="quarter" idx="10"/>
          </p:nvPr>
        </p:nvSpPr>
        <p:spPr>
          <a:ln/>
        </p:spPr>
        <p:txBody>
          <a:bodyPr/>
          <a:lstStyle>
            <a:lvl1pPr>
              <a:defRPr/>
            </a:lvl1pPr>
          </a:lstStyle>
          <a:p>
            <a:fld id="{E17F885A-F854-40E8-9F61-C0AB0F0A3AC1}" type="slidenum">
              <a:rPr lang="en-US" altLang="en-US"/>
              <a:pPr/>
              <a:t>‹#›</a:t>
            </a:fld>
            <a:endParaRPr lang="en-US" altLang="en-US"/>
          </a:p>
        </p:txBody>
      </p:sp>
    </p:spTree>
    <p:extLst>
      <p:ext uri="{BB962C8B-B14F-4D97-AF65-F5344CB8AC3E}">
        <p14:creationId xmlns:p14="http://schemas.microsoft.com/office/powerpoint/2010/main" val="3060985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F5D9DD93-5CA4-4BC2-91B5-67820110B446}"/>
              </a:ext>
            </a:extLst>
          </p:cNvPr>
          <p:cNvSpPr>
            <a:spLocks noGrp="1" noChangeArrowheads="1"/>
          </p:cNvSpPr>
          <p:nvPr>
            <p:ph type="sldNum" sz="quarter" idx="10"/>
          </p:nvPr>
        </p:nvSpPr>
        <p:spPr>
          <a:ln/>
        </p:spPr>
        <p:txBody>
          <a:bodyPr/>
          <a:lstStyle>
            <a:lvl1pPr>
              <a:defRPr/>
            </a:lvl1pPr>
          </a:lstStyle>
          <a:p>
            <a:fld id="{B77D0E82-1682-4133-B920-B49C1E77F88A}" type="slidenum">
              <a:rPr lang="en-US" altLang="en-US"/>
              <a:pPr/>
              <a:t>‹#›</a:t>
            </a:fld>
            <a:endParaRPr lang="en-US" altLang="en-US"/>
          </a:p>
        </p:txBody>
      </p:sp>
    </p:spTree>
    <p:extLst>
      <p:ext uri="{BB962C8B-B14F-4D97-AF65-F5344CB8AC3E}">
        <p14:creationId xmlns:p14="http://schemas.microsoft.com/office/powerpoint/2010/main" val="3018528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951B9AA8-183C-43D5-A771-726CD2DBA4D6}"/>
              </a:ext>
            </a:extLst>
          </p:cNvPr>
          <p:cNvSpPr>
            <a:spLocks noGrp="1" noChangeArrowheads="1"/>
          </p:cNvSpPr>
          <p:nvPr>
            <p:ph type="sldNum" sz="quarter" idx="10"/>
          </p:nvPr>
        </p:nvSpPr>
        <p:spPr>
          <a:ln/>
        </p:spPr>
        <p:txBody>
          <a:bodyPr/>
          <a:lstStyle>
            <a:lvl1pPr>
              <a:defRPr/>
            </a:lvl1pPr>
          </a:lstStyle>
          <a:p>
            <a:fld id="{B2854C3B-C7DA-46D5-A6D2-436E6BB2E52B}" type="slidenum">
              <a:rPr lang="en-US" altLang="en-US"/>
              <a:pPr/>
              <a:t>‹#›</a:t>
            </a:fld>
            <a:endParaRPr lang="en-US" altLang="en-US"/>
          </a:p>
        </p:txBody>
      </p:sp>
    </p:spTree>
    <p:extLst>
      <p:ext uri="{BB962C8B-B14F-4D97-AF65-F5344CB8AC3E}">
        <p14:creationId xmlns:p14="http://schemas.microsoft.com/office/powerpoint/2010/main" val="2290640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9050"/>
            <a:ext cx="2190750" cy="66484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1450" y="-19050"/>
            <a:ext cx="6419850" cy="664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A7DF49D5-78B6-4F13-9D17-C69283F229A8}"/>
              </a:ext>
            </a:extLst>
          </p:cNvPr>
          <p:cNvSpPr>
            <a:spLocks noGrp="1" noChangeArrowheads="1"/>
          </p:cNvSpPr>
          <p:nvPr>
            <p:ph type="sldNum" sz="quarter" idx="10"/>
          </p:nvPr>
        </p:nvSpPr>
        <p:spPr>
          <a:ln/>
        </p:spPr>
        <p:txBody>
          <a:bodyPr/>
          <a:lstStyle>
            <a:lvl1pPr>
              <a:defRPr/>
            </a:lvl1pPr>
          </a:lstStyle>
          <a:p>
            <a:fld id="{461B5491-0365-43C2-AB17-C5E76BC1C2AD}" type="slidenum">
              <a:rPr lang="en-US" altLang="en-US"/>
              <a:pPr/>
              <a:t>‹#›</a:t>
            </a:fld>
            <a:endParaRPr lang="en-US" altLang="en-US"/>
          </a:p>
        </p:txBody>
      </p:sp>
    </p:spTree>
    <p:extLst>
      <p:ext uri="{BB962C8B-B14F-4D97-AF65-F5344CB8AC3E}">
        <p14:creationId xmlns:p14="http://schemas.microsoft.com/office/powerpoint/2010/main" val="1824134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9050"/>
            <a:ext cx="8686800" cy="838200"/>
          </a:xfrm>
        </p:spPr>
        <p:txBody>
          <a:bodyPr/>
          <a:lstStyle/>
          <a:p>
            <a:r>
              <a:rPr lang="en-US"/>
              <a:t>Click to edit Master title style</a:t>
            </a:r>
          </a:p>
        </p:txBody>
      </p:sp>
      <p:sp>
        <p:nvSpPr>
          <p:cNvPr id="3" name="Text Placeholder 2"/>
          <p:cNvSpPr>
            <a:spLocks noGrp="1"/>
          </p:cNvSpPr>
          <p:nvPr>
            <p:ph type="body" sz="half" idx="1"/>
          </p:nvPr>
        </p:nvSpPr>
        <p:spPr>
          <a:xfrm>
            <a:off x="171450" y="838200"/>
            <a:ext cx="4305300"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29150" y="838200"/>
            <a:ext cx="4305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29150" y="3810000"/>
            <a:ext cx="4305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xmlns="" id="{E28B6C2C-5260-4E57-B1FD-F097F022D75F}"/>
              </a:ext>
            </a:extLst>
          </p:cNvPr>
          <p:cNvSpPr>
            <a:spLocks noGrp="1" noChangeArrowheads="1"/>
          </p:cNvSpPr>
          <p:nvPr>
            <p:ph type="sldNum" sz="quarter" idx="10"/>
          </p:nvPr>
        </p:nvSpPr>
        <p:spPr>
          <a:ln/>
        </p:spPr>
        <p:txBody>
          <a:bodyPr/>
          <a:lstStyle>
            <a:lvl1pPr>
              <a:defRPr/>
            </a:lvl1pPr>
          </a:lstStyle>
          <a:p>
            <a:fld id="{03FE0488-82D0-4ACD-8358-D511995390A5}" type="slidenum">
              <a:rPr lang="en-US" altLang="en-US"/>
              <a:pPr/>
              <a:t>‹#›</a:t>
            </a:fld>
            <a:endParaRPr lang="en-US" altLang="en-US"/>
          </a:p>
        </p:txBody>
      </p:sp>
    </p:spTree>
    <p:extLst>
      <p:ext uri="{BB962C8B-B14F-4D97-AF65-F5344CB8AC3E}">
        <p14:creationId xmlns:p14="http://schemas.microsoft.com/office/powerpoint/2010/main" val="504743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4C15B576-62EA-42E0-B0E5-A0D290317A99}"/>
              </a:ext>
            </a:extLst>
          </p:cNvPr>
          <p:cNvSpPr>
            <a:spLocks noGrp="1" noChangeArrowheads="1"/>
          </p:cNvSpPr>
          <p:nvPr>
            <p:ph type="title"/>
          </p:nvPr>
        </p:nvSpPr>
        <p:spPr bwMode="auto">
          <a:xfrm>
            <a:off x="228600" y="-19050"/>
            <a:ext cx="8686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C8BA5F84-10F1-4C99-9AE4-5E44057963D4}"/>
              </a:ext>
            </a:extLst>
          </p:cNvPr>
          <p:cNvSpPr>
            <a:spLocks noGrp="1" noChangeArrowheads="1"/>
          </p:cNvSpPr>
          <p:nvPr>
            <p:ph type="body" idx="1"/>
          </p:nvPr>
        </p:nvSpPr>
        <p:spPr bwMode="auto">
          <a:xfrm>
            <a:off x="171450" y="838200"/>
            <a:ext cx="87630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a:extLst>
              <a:ext uri="{FF2B5EF4-FFF2-40B4-BE49-F238E27FC236}">
                <a16:creationId xmlns:a16="http://schemas.microsoft.com/office/drawing/2014/main" xmlns="" id="{6D70DFDF-95EB-42E3-ABE4-E68050A8D2D7}"/>
              </a:ext>
            </a:extLst>
          </p:cNvPr>
          <p:cNvSpPr>
            <a:spLocks noGrp="1" noChangeArrowheads="1"/>
          </p:cNvSpPr>
          <p:nvPr>
            <p:ph type="sldNum" sz="quarter" idx="4"/>
          </p:nvPr>
        </p:nvSpPr>
        <p:spPr bwMode="auto">
          <a:xfrm>
            <a:off x="4191000" y="6553200"/>
            <a:ext cx="609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1">
                <a:latin typeface="Times New Roman" panose="02020603050405020304" pitchFamily="18" charset="0"/>
                <a:cs typeface="Times New Roman" panose="02020603050405020304" pitchFamily="18" charset="0"/>
              </a:defRPr>
            </a:lvl1pPr>
          </a:lstStyle>
          <a:p>
            <a:fld id="{C0630A74-F34A-46C6-B46A-D519F7ECC5E4}" type="slidenum">
              <a:rPr lang="en-US" altLang="en-US"/>
              <a:pPr/>
              <a:t>‹#›</a:t>
            </a:fld>
            <a:endParaRPr lang="en-US" altLang="en-US"/>
          </a:p>
        </p:txBody>
      </p:sp>
      <p:sp>
        <p:nvSpPr>
          <p:cNvPr id="1029" name="Line 8">
            <a:extLst>
              <a:ext uri="{FF2B5EF4-FFF2-40B4-BE49-F238E27FC236}">
                <a16:creationId xmlns:a16="http://schemas.microsoft.com/office/drawing/2014/main" xmlns="" id="{3903B871-3F42-479D-8074-1F2A66EEB86D}"/>
              </a:ext>
            </a:extLst>
          </p:cNvPr>
          <p:cNvSpPr>
            <a:spLocks noChangeShapeType="1"/>
          </p:cNvSpPr>
          <p:nvPr/>
        </p:nvSpPr>
        <p:spPr bwMode="auto">
          <a:xfrm>
            <a:off x="0" y="838200"/>
            <a:ext cx="5715000" cy="0"/>
          </a:xfrm>
          <a:prstGeom prst="line">
            <a:avLst/>
          </a:prstGeom>
          <a:noFill/>
          <a:ln w="57150">
            <a:solidFill>
              <a:srgbClr val="996633"/>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sz="4000">
          <a:solidFill>
            <a:srgbClr val="0000FF"/>
          </a:solidFill>
          <a:latin typeface="+mj-lt"/>
          <a:ea typeface="+mj-ea"/>
          <a:cs typeface="+mj-cs"/>
        </a:defRPr>
      </a:lvl1pPr>
      <a:lvl2pPr algn="l" rtl="0" eaLnBrk="0" fontAlgn="base" hangingPunct="0">
        <a:spcBef>
          <a:spcPct val="0"/>
        </a:spcBef>
        <a:spcAft>
          <a:spcPct val="0"/>
        </a:spcAft>
        <a:defRPr sz="4000">
          <a:solidFill>
            <a:srgbClr val="0000FF"/>
          </a:solidFill>
          <a:latin typeface="Arial" pitchFamily="34" charset="0"/>
        </a:defRPr>
      </a:lvl2pPr>
      <a:lvl3pPr algn="l" rtl="0" eaLnBrk="0" fontAlgn="base" hangingPunct="0">
        <a:spcBef>
          <a:spcPct val="0"/>
        </a:spcBef>
        <a:spcAft>
          <a:spcPct val="0"/>
        </a:spcAft>
        <a:defRPr sz="4000">
          <a:solidFill>
            <a:srgbClr val="0000FF"/>
          </a:solidFill>
          <a:latin typeface="Arial" pitchFamily="34" charset="0"/>
        </a:defRPr>
      </a:lvl3pPr>
      <a:lvl4pPr algn="l" rtl="0" eaLnBrk="0" fontAlgn="base" hangingPunct="0">
        <a:spcBef>
          <a:spcPct val="0"/>
        </a:spcBef>
        <a:spcAft>
          <a:spcPct val="0"/>
        </a:spcAft>
        <a:defRPr sz="4000">
          <a:solidFill>
            <a:srgbClr val="0000FF"/>
          </a:solidFill>
          <a:latin typeface="Arial" pitchFamily="34" charset="0"/>
        </a:defRPr>
      </a:lvl4pPr>
      <a:lvl5pPr algn="l" rtl="0" eaLnBrk="0" fontAlgn="base" hangingPunct="0">
        <a:spcBef>
          <a:spcPct val="0"/>
        </a:spcBef>
        <a:spcAft>
          <a:spcPct val="0"/>
        </a:spcAft>
        <a:defRPr sz="4000">
          <a:solidFill>
            <a:srgbClr val="0000FF"/>
          </a:solidFill>
          <a:latin typeface="Arial" pitchFamily="34" charset="0"/>
        </a:defRPr>
      </a:lvl5pPr>
      <a:lvl6pPr marL="457200" algn="l" rtl="0" fontAlgn="base">
        <a:spcBef>
          <a:spcPct val="0"/>
        </a:spcBef>
        <a:spcAft>
          <a:spcPct val="0"/>
        </a:spcAft>
        <a:defRPr sz="4000">
          <a:solidFill>
            <a:srgbClr val="0000FF"/>
          </a:solidFill>
          <a:latin typeface="Arial" pitchFamily="34" charset="0"/>
        </a:defRPr>
      </a:lvl6pPr>
      <a:lvl7pPr marL="914400" algn="l" rtl="0" fontAlgn="base">
        <a:spcBef>
          <a:spcPct val="0"/>
        </a:spcBef>
        <a:spcAft>
          <a:spcPct val="0"/>
        </a:spcAft>
        <a:defRPr sz="4000">
          <a:solidFill>
            <a:srgbClr val="0000FF"/>
          </a:solidFill>
          <a:latin typeface="Arial" pitchFamily="34" charset="0"/>
        </a:defRPr>
      </a:lvl7pPr>
      <a:lvl8pPr marL="1371600" algn="l" rtl="0" fontAlgn="base">
        <a:spcBef>
          <a:spcPct val="0"/>
        </a:spcBef>
        <a:spcAft>
          <a:spcPct val="0"/>
        </a:spcAft>
        <a:defRPr sz="4000">
          <a:solidFill>
            <a:srgbClr val="0000FF"/>
          </a:solidFill>
          <a:latin typeface="Arial" pitchFamily="34" charset="0"/>
        </a:defRPr>
      </a:lvl8pPr>
      <a:lvl9pPr marL="1828800" algn="l" rtl="0" fontAlgn="base">
        <a:spcBef>
          <a:spcPct val="0"/>
        </a:spcBef>
        <a:spcAft>
          <a:spcPct val="0"/>
        </a:spcAft>
        <a:defRPr sz="4000">
          <a:solidFill>
            <a:srgbClr val="0000FF"/>
          </a:solidFill>
          <a:latin typeface="Arial" pitchFamily="34" charset="0"/>
        </a:defRPr>
      </a:lvl9pPr>
    </p:titleStyle>
    <p:bodyStyle>
      <a:lvl1pPr marL="342900" indent="-342900" algn="l" rtl="0" eaLnBrk="0" fontAlgn="base" hangingPunct="0">
        <a:lnSpc>
          <a:spcPct val="105000"/>
        </a:lnSpc>
        <a:spcBef>
          <a:spcPct val="30000"/>
        </a:spcBef>
        <a:spcAft>
          <a:spcPct val="0"/>
        </a:spcAft>
        <a:buClr>
          <a:srgbClr val="CC3300"/>
        </a:buClr>
        <a:buFont typeface="Wingdings" panose="05000000000000000000" pitchFamily="2" charset="2"/>
        <a:buBlip>
          <a:blip r:embed="rId14"/>
        </a:buBlip>
        <a:defRPr sz="2600">
          <a:solidFill>
            <a:srgbClr val="0000FF"/>
          </a:solidFill>
          <a:latin typeface="+mn-lt"/>
          <a:ea typeface="+mn-ea"/>
          <a:cs typeface="+mn-cs"/>
        </a:defRPr>
      </a:lvl1pPr>
      <a:lvl2pPr marL="742950" indent="-285750" algn="l" rtl="0" eaLnBrk="0" fontAlgn="base" hangingPunct="0">
        <a:lnSpc>
          <a:spcPct val="105000"/>
        </a:lnSpc>
        <a:spcBef>
          <a:spcPct val="30000"/>
        </a:spcBef>
        <a:spcAft>
          <a:spcPct val="0"/>
        </a:spcAft>
        <a:buClr>
          <a:srgbClr val="990000"/>
        </a:buClr>
        <a:buFont typeface="Wingdings" panose="05000000000000000000" pitchFamily="2" charset="2"/>
        <a:buChar char="§"/>
        <a:defRPr sz="2300">
          <a:solidFill>
            <a:schemeClr val="tx1"/>
          </a:solidFill>
          <a:latin typeface="+mn-lt"/>
        </a:defRPr>
      </a:lvl2pPr>
      <a:lvl3pPr marL="1143000" indent="-228600" algn="l" rtl="0" eaLnBrk="0" fontAlgn="base" hangingPunct="0">
        <a:lnSpc>
          <a:spcPct val="105000"/>
        </a:lnSpc>
        <a:spcBef>
          <a:spcPct val="30000"/>
        </a:spcBef>
        <a:spcAft>
          <a:spcPct val="0"/>
        </a:spcAft>
        <a:buClr>
          <a:srgbClr val="FF9900"/>
        </a:buClr>
        <a:buSzPct val="120000"/>
        <a:buChar char="•"/>
        <a:defRPr sz="2100">
          <a:solidFill>
            <a:schemeClr val="tx1"/>
          </a:solidFill>
          <a:latin typeface="+mn-lt"/>
        </a:defRPr>
      </a:lvl3pPr>
      <a:lvl4pPr marL="1600200" indent="-228600" algn="l" rtl="0" eaLnBrk="0" fontAlgn="base" hangingPunct="0">
        <a:lnSpc>
          <a:spcPct val="105000"/>
        </a:lnSpc>
        <a:spcBef>
          <a:spcPct val="30000"/>
        </a:spcBef>
        <a:spcAft>
          <a:spcPct val="0"/>
        </a:spcAft>
        <a:buChar char="–"/>
        <a:defRPr sz="2100">
          <a:solidFill>
            <a:schemeClr val="tx1"/>
          </a:solidFill>
          <a:latin typeface="+mn-lt"/>
        </a:defRPr>
      </a:lvl4pPr>
      <a:lvl5pPr marL="2057400" indent="-228600" algn="l" rtl="0" eaLnBrk="0" fontAlgn="base" hangingPunct="0">
        <a:lnSpc>
          <a:spcPct val="105000"/>
        </a:lnSpc>
        <a:spcBef>
          <a:spcPct val="30000"/>
        </a:spcBef>
        <a:spcAft>
          <a:spcPct val="0"/>
        </a:spcAft>
        <a:buChar char="»"/>
        <a:defRPr sz="2000">
          <a:solidFill>
            <a:schemeClr val="tx1"/>
          </a:solidFill>
          <a:latin typeface="+mn-lt"/>
        </a:defRPr>
      </a:lvl5pPr>
      <a:lvl6pPr marL="2514600" indent="-228600" algn="l" rtl="0" fontAlgn="base">
        <a:lnSpc>
          <a:spcPct val="105000"/>
        </a:lnSpc>
        <a:spcBef>
          <a:spcPct val="30000"/>
        </a:spcBef>
        <a:spcAft>
          <a:spcPct val="0"/>
        </a:spcAft>
        <a:buChar char="»"/>
        <a:defRPr sz="2000">
          <a:solidFill>
            <a:schemeClr val="tx1"/>
          </a:solidFill>
          <a:latin typeface="+mn-lt"/>
        </a:defRPr>
      </a:lvl6pPr>
      <a:lvl7pPr marL="2971800" indent="-228600" algn="l" rtl="0" fontAlgn="base">
        <a:lnSpc>
          <a:spcPct val="105000"/>
        </a:lnSpc>
        <a:spcBef>
          <a:spcPct val="30000"/>
        </a:spcBef>
        <a:spcAft>
          <a:spcPct val="0"/>
        </a:spcAft>
        <a:buChar char="»"/>
        <a:defRPr sz="2000">
          <a:solidFill>
            <a:schemeClr val="tx1"/>
          </a:solidFill>
          <a:latin typeface="+mn-lt"/>
        </a:defRPr>
      </a:lvl7pPr>
      <a:lvl8pPr marL="3429000" indent="-228600" algn="l" rtl="0" fontAlgn="base">
        <a:lnSpc>
          <a:spcPct val="105000"/>
        </a:lnSpc>
        <a:spcBef>
          <a:spcPct val="30000"/>
        </a:spcBef>
        <a:spcAft>
          <a:spcPct val="0"/>
        </a:spcAft>
        <a:buChar char="»"/>
        <a:defRPr sz="2000">
          <a:solidFill>
            <a:schemeClr val="tx1"/>
          </a:solidFill>
          <a:latin typeface="+mn-lt"/>
        </a:defRPr>
      </a:lvl8pPr>
      <a:lvl9pPr marL="3886200" indent="-228600" algn="l" rtl="0" fontAlgn="base">
        <a:lnSpc>
          <a:spcPct val="105000"/>
        </a:lnSpc>
        <a:spcBef>
          <a:spcPct val="3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xmlns="" id="{8F9870EC-37BF-42BE-8333-EC68AA29BBC7}"/>
              </a:ext>
            </a:extLst>
          </p:cNvPr>
          <p:cNvSpPr>
            <a:spLocks noGrp="1" noChangeArrowheads="1"/>
          </p:cNvSpPr>
          <p:nvPr>
            <p:ph type="ctrTitle"/>
          </p:nvPr>
        </p:nvSpPr>
        <p:spPr>
          <a:xfrm>
            <a:off x="304800" y="1371600"/>
            <a:ext cx="8382000" cy="1470025"/>
          </a:xfrm>
        </p:spPr>
        <p:txBody>
          <a:bodyPr/>
          <a:lstStyle/>
          <a:p>
            <a:pPr eaLnBrk="1" hangingPunct="1"/>
            <a:r>
              <a:rPr lang="en-US" altLang="en-US" sz="7200" dirty="0">
                <a:latin typeface="Times New Roman" panose="02020603050405020304" pitchFamily="18" charset="0"/>
                <a:cs typeface="Times New Roman" panose="02020603050405020304" pitchFamily="18" charset="0"/>
              </a:rPr>
              <a:t>Socket Programming</a:t>
            </a:r>
          </a:p>
        </p:txBody>
      </p:sp>
      <p:sp>
        <p:nvSpPr>
          <p:cNvPr id="4099" name="Rectangle 3">
            <a:extLst>
              <a:ext uri="{FF2B5EF4-FFF2-40B4-BE49-F238E27FC236}">
                <a16:creationId xmlns:a16="http://schemas.microsoft.com/office/drawing/2014/main" xmlns="" id="{2E0ABC83-DE68-4148-8196-EE169B643D45}"/>
              </a:ext>
            </a:extLst>
          </p:cNvPr>
          <p:cNvSpPr>
            <a:spLocks noGrp="1" noChangeArrowheads="1"/>
          </p:cNvSpPr>
          <p:nvPr>
            <p:ph type="subTitle" idx="1"/>
          </p:nvPr>
        </p:nvSpPr>
        <p:spPr>
          <a:xfrm>
            <a:off x="1371600" y="3886199"/>
            <a:ext cx="6400800" cy="2133599"/>
          </a:xfrm>
        </p:spPr>
        <p:txBody>
          <a:bodyPr/>
          <a:lstStyle/>
          <a:p>
            <a:pPr eaLnBrk="1" hangingPunct="1"/>
            <a:r>
              <a:rPr lang="en-US" altLang="en-US" sz="2800" b="1" dirty="0">
                <a:solidFill>
                  <a:srgbClr val="FF0000"/>
                </a:solidFill>
                <a:latin typeface="Times New Roman" panose="02020603050405020304" pitchFamily="18" charset="0"/>
                <a:cs typeface="Times New Roman" panose="02020603050405020304" pitchFamily="18" charset="0"/>
              </a:rPr>
              <a:t>Md. </a:t>
            </a:r>
            <a:r>
              <a:rPr lang="en-US" altLang="en-US" sz="2800" b="1" dirty="0" err="1">
                <a:solidFill>
                  <a:srgbClr val="FF0000"/>
                </a:solidFill>
                <a:latin typeface="Times New Roman" panose="02020603050405020304" pitchFamily="18" charset="0"/>
                <a:cs typeface="Times New Roman" panose="02020603050405020304" pitchFamily="18" charset="0"/>
              </a:rPr>
              <a:t>Emdadul</a:t>
            </a:r>
            <a:r>
              <a:rPr lang="en-US" altLang="en-US" sz="2800" b="1" dirty="0">
                <a:solidFill>
                  <a:srgbClr val="FF0000"/>
                </a:solidFill>
                <a:latin typeface="Times New Roman" panose="02020603050405020304" pitchFamily="18" charset="0"/>
                <a:cs typeface="Times New Roman" panose="02020603050405020304" pitchFamily="18" charset="0"/>
              </a:rPr>
              <a:t> Haque</a:t>
            </a:r>
            <a:endParaRPr lang="en-US" altLang="en-US" sz="2800" dirty="0">
              <a:solidFill>
                <a:srgbClr val="FF0000"/>
              </a:solidFill>
              <a:latin typeface="Times New Roman" panose="02020603050405020304" pitchFamily="18" charset="0"/>
              <a:cs typeface="Times New Roman" panose="02020603050405020304" pitchFamily="18" charset="0"/>
            </a:endParaRP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Professor</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Department of ICE, RU</a:t>
            </a:r>
          </a:p>
          <a:p>
            <a:pPr eaLnBrk="1" hangingPunct="1"/>
            <a:r>
              <a:rPr lang="en-US" altLang="en-US" sz="1600" dirty="0" smtClean="0">
                <a:solidFill>
                  <a:schemeClr val="tx1"/>
                </a:solidFill>
                <a:latin typeface="Times New Roman" panose="02020603050405020304" pitchFamily="18" charset="0"/>
                <a:cs typeface="Times New Roman" panose="02020603050405020304" pitchFamily="18" charset="0"/>
              </a:rPr>
              <a:t>[Partially courtesy </a:t>
            </a:r>
            <a:r>
              <a:rPr lang="en-US" altLang="en-US" sz="1600" dirty="0">
                <a:solidFill>
                  <a:schemeClr val="tx1"/>
                </a:solidFill>
                <a:latin typeface="Times New Roman" panose="02020603050405020304" pitchFamily="18" charset="0"/>
                <a:cs typeface="Times New Roman" panose="02020603050405020304" pitchFamily="18" charset="0"/>
              </a:rPr>
              <a:t>by Prof. Dr. Firoz Ahmed]</a:t>
            </a:r>
          </a:p>
        </p:txBody>
      </p:sp>
      <p:sp>
        <p:nvSpPr>
          <p:cNvPr id="4100" name="Line 5">
            <a:extLst>
              <a:ext uri="{FF2B5EF4-FFF2-40B4-BE49-F238E27FC236}">
                <a16:creationId xmlns:a16="http://schemas.microsoft.com/office/drawing/2014/main" xmlns="" id="{A20407E0-E03C-45D4-A583-37DF918213CC}"/>
              </a:ext>
            </a:extLst>
          </p:cNvPr>
          <p:cNvSpPr>
            <a:spLocks noChangeShapeType="1"/>
          </p:cNvSpPr>
          <p:nvPr/>
        </p:nvSpPr>
        <p:spPr bwMode="auto">
          <a:xfrm>
            <a:off x="0" y="3810000"/>
            <a:ext cx="5715000" cy="0"/>
          </a:xfrm>
          <a:prstGeom prst="line">
            <a:avLst/>
          </a:prstGeom>
          <a:noFill/>
          <a:ln w="57150">
            <a:solidFill>
              <a:srgbClr val="996633"/>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4101" name="Picture 6">
            <a:extLst>
              <a:ext uri="{FF2B5EF4-FFF2-40B4-BE49-F238E27FC236}">
                <a16:creationId xmlns:a16="http://schemas.microsoft.com/office/drawing/2014/main" xmlns="" id="{1447B355-4C0D-4477-B03B-89B52F5B2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6988"/>
            <a:ext cx="83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xmlns="" id="{72AB055F-B8FB-4F9D-9A87-1ED1938F60F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C8788D9F-4E08-409E-A9CD-36A4FA05C004}" type="slidenum">
              <a:rPr lang="en-US" altLang="en-US" sz="1400">
                <a:solidFill>
                  <a:schemeClr val="tx1"/>
                </a:solidFill>
                <a:latin typeface="Times New Roman" panose="02020603050405020304" pitchFamily="18" charset="0"/>
              </a:rPr>
              <a:pPr>
                <a:lnSpc>
                  <a:spcPct val="100000"/>
                </a:lnSpc>
                <a:spcBef>
                  <a:spcPct val="0"/>
                </a:spcBef>
                <a:buClrTx/>
                <a:buFontTx/>
                <a:buNone/>
              </a:pPr>
              <a:t>2</a:t>
            </a:fld>
            <a:endParaRPr lang="en-US" altLang="en-US" sz="1400">
              <a:solidFill>
                <a:schemeClr val="tx1"/>
              </a:solidFill>
              <a:latin typeface="Times New Roman" panose="02020603050405020304" pitchFamily="18" charset="0"/>
            </a:endParaRPr>
          </a:p>
        </p:txBody>
      </p:sp>
      <p:sp>
        <p:nvSpPr>
          <p:cNvPr id="6147" name="Rectangle 2">
            <a:extLst>
              <a:ext uri="{FF2B5EF4-FFF2-40B4-BE49-F238E27FC236}">
                <a16:creationId xmlns:a16="http://schemas.microsoft.com/office/drawing/2014/main" xmlns="" id="{6CD65531-604C-4CBF-8B67-BD04E9669F39}"/>
              </a:ext>
            </a:extLst>
          </p:cNvPr>
          <p:cNvSpPr>
            <a:spLocks noGrp="1" noChangeArrowheads="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Outlines of Presentation</a:t>
            </a:r>
          </a:p>
        </p:txBody>
      </p:sp>
      <p:sp>
        <p:nvSpPr>
          <p:cNvPr id="6148" name="Rectangle 3">
            <a:extLst>
              <a:ext uri="{FF2B5EF4-FFF2-40B4-BE49-F238E27FC236}">
                <a16:creationId xmlns:a16="http://schemas.microsoft.com/office/drawing/2014/main" xmlns="" id="{4F4476E7-E73F-49A0-B809-67658E058816}"/>
              </a:ext>
            </a:extLst>
          </p:cNvPr>
          <p:cNvSpPr>
            <a:spLocks noGrp="1" noChangeArrowheads="1"/>
          </p:cNvSpPr>
          <p:nvPr>
            <p:ph type="body" idx="1"/>
          </p:nvPr>
        </p:nvSpPr>
        <p:spPr>
          <a:xfrm>
            <a:off x="171450" y="838200"/>
            <a:ext cx="8591550" cy="4800600"/>
          </a:xfrm>
        </p:spPr>
        <p:txBody>
          <a:bodyPr/>
          <a:lstStyle/>
          <a:p>
            <a:pPr eaLnBrk="1" hangingPunct="1"/>
            <a:r>
              <a:rPr lang="en-US" altLang="en-US" sz="3200" dirty="0">
                <a:solidFill>
                  <a:srgbClr val="C00000"/>
                </a:solidFill>
                <a:latin typeface="Times New Roman" panose="02020603050405020304" pitchFamily="18" charset="0"/>
                <a:cs typeface="Times New Roman" panose="02020603050405020304" pitchFamily="18" charset="0"/>
              </a:rPr>
              <a:t>Introduction </a:t>
            </a:r>
          </a:p>
          <a:p>
            <a:pPr eaLnBrk="1" hangingPunct="1"/>
            <a:r>
              <a:rPr lang="en-US" altLang="en-US" sz="3200" dirty="0">
                <a:solidFill>
                  <a:srgbClr val="C00000"/>
                </a:solidFill>
                <a:latin typeface="Times New Roman" panose="02020603050405020304" pitchFamily="18" charset="0"/>
                <a:cs typeface="Times New Roman" panose="02020603050405020304" pitchFamily="18" charset="0"/>
              </a:rPr>
              <a:t>Socket Basics</a:t>
            </a:r>
          </a:p>
          <a:p>
            <a:pPr eaLnBrk="1" hangingPunct="1"/>
            <a:r>
              <a:rPr lang="en-US" altLang="en-US" sz="3200" dirty="0">
                <a:solidFill>
                  <a:srgbClr val="C00000"/>
                </a:solidFill>
                <a:latin typeface="Times New Roman" panose="02020603050405020304" pitchFamily="18" charset="0"/>
                <a:cs typeface="Times New Roman" panose="02020603050405020304" pitchFamily="18" charset="0"/>
              </a:rPr>
              <a:t>Socket-based Network Concepts</a:t>
            </a:r>
          </a:p>
          <a:p>
            <a:pPr eaLnBrk="1" hangingPunct="1"/>
            <a:r>
              <a:rPr lang="en-US" altLang="en-US" sz="3200" dirty="0">
                <a:solidFill>
                  <a:srgbClr val="C00000"/>
                </a:solidFill>
                <a:latin typeface="Times New Roman" panose="02020603050405020304" pitchFamily="18" charset="0"/>
                <a:cs typeface="Times New Roman" panose="02020603050405020304" pitchFamily="18" charset="0"/>
              </a:rPr>
              <a:t>Client Server Basics</a:t>
            </a:r>
          </a:p>
          <a:p>
            <a:pPr eaLnBrk="1" hangingPunct="1"/>
            <a:r>
              <a:rPr lang="en-US" altLang="en-US" sz="3200" dirty="0">
                <a:solidFill>
                  <a:srgbClr val="C00000"/>
                </a:solidFill>
                <a:latin typeface="Times New Roman" panose="02020603050405020304" pitchFamily="18" charset="0"/>
                <a:cs typeface="Times New Roman" panose="02020603050405020304" pitchFamily="18" charset="0"/>
              </a:rPr>
              <a:t>Client Server Algorithm</a:t>
            </a:r>
          </a:p>
          <a:p>
            <a:pPr eaLnBrk="1" hangingPunct="1"/>
            <a:r>
              <a:rPr lang="en-US" altLang="en-US" sz="3200" dirty="0">
                <a:solidFill>
                  <a:srgbClr val="C00000"/>
                </a:solidFill>
                <a:latin typeface="Times New Roman" panose="02020603050405020304" pitchFamily="18" charset="0"/>
                <a:cs typeface="Times New Roman" panose="02020603050405020304" pitchFamily="18" charset="0"/>
              </a:rPr>
              <a:t>Socket for Client</a:t>
            </a:r>
          </a:p>
          <a:p>
            <a:pPr eaLnBrk="1" hangingPunct="1"/>
            <a:r>
              <a:rPr lang="en-US" altLang="en-US" sz="3200" dirty="0">
                <a:solidFill>
                  <a:srgbClr val="C00000"/>
                </a:solidFill>
                <a:latin typeface="Times New Roman" panose="02020603050405020304" pitchFamily="18" charset="0"/>
                <a:cs typeface="Times New Roman" panose="02020603050405020304" pitchFamily="18" charset="0"/>
              </a:rPr>
              <a:t>Socket for Server</a:t>
            </a:r>
          </a:p>
          <a:p>
            <a:pPr eaLnBrk="1" hangingPunct="1"/>
            <a:endParaRPr lang="en-US" altLang="en-US" sz="3200" dirty="0">
              <a:solidFill>
                <a:srgbClr val="C00000"/>
              </a:solidFill>
              <a:latin typeface="Times New Roman" panose="02020603050405020304" pitchFamily="18" charset="0"/>
              <a:cs typeface="Times New Roman" panose="02020603050405020304" pitchFamily="18" charset="0"/>
            </a:endParaRPr>
          </a:p>
          <a:p>
            <a:pPr eaLnBrk="1" hangingPunct="1"/>
            <a:endParaRPr lang="en-US" altLang="en-US" sz="3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 calcmode="lin" valueType="num">
                                      <p:cBhvr additive="base">
                                        <p:cTn id="7" dur="500" fill="hold"/>
                                        <p:tgtEl>
                                          <p:spTgt spid="61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8">
                                            <p:txEl>
                                              <p:pRg st="1" end="1"/>
                                            </p:txEl>
                                          </p:spTgt>
                                        </p:tgtEl>
                                        <p:attrNameLst>
                                          <p:attrName>style.visibility</p:attrName>
                                        </p:attrNameLst>
                                      </p:cBhvr>
                                      <p:to>
                                        <p:strVal val="visible"/>
                                      </p:to>
                                    </p:set>
                                    <p:anim calcmode="lin" valueType="num">
                                      <p:cBhvr additive="base">
                                        <p:cTn id="13" dur="500" fill="hold"/>
                                        <p:tgtEl>
                                          <p:spTgt spid="614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148">
                                            <p:txEl>
                                              <p:pRg st="2" end="2"/>
                                            </p:txEl>
                                          </p:spTgt>
                                        </p:tgtEl>
                                        <p:attrNameLst>
                                          <p:attrName>style.visibility</p:attrName>
                                        </p:attrNameLst>
                                      </p:cBhvr>
                                      <p:to>
                                        <p:strVal val="visible"/>
                                      </p:to>
                                    </p:set>
                                    <p:anim calcmode="lin" valueType="num">
                                      <p:cBhvr additive="base">
                                        <p:cTn id="19" dur="500" fill="hold"/>
                                        <p:tgtEl>
                                          <p:spTgt spid="614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148">
                                            <p:txEl>
                                              <p:pRg st="3" end="3"/>
                                            </p:txEl>
                                          </p:spTgt>
                                        </p:tgtEl>
                                        <p:attrNameLst>
                                          <p:attrName>style.visibility</p:attrName>
                                        </p:attrNameLst>
                                      </p:cBhvr>
                                      <p:to>
                                        <p:strVal val="visible"/>
                                      </p:to>
                                    </p:set>
                                    <p:anim calcmode="lin" valueType="num">
                                      <p:cBhvr additive="base">
                                        <p:cTn id="25" dur="500" fill="hold"/>
                                        <p:tgtEl>
                                          <p:spTgt spid="614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6148">
                                            <p:txEl>
                                              <p:pRg st="4" end="4"/>
                                            </p:txEl>
                                          </p:spTgt>
                                        </p:tgtEl>
                                        <p:attrNameLst>
                                          <p:attrName>style.visibility</p:attrName>
                                        </p:attrNameLst>
                                      </p:cBhvr>
                                      <p:to>
                                        <p:strVal val="visible"/>
                                      </p:to>
                                    </p:set>
                                    <p:anim calcmode="lin" valueType="num">
                                      <p:cBhvr additive="base">
                                        <p:cTn id="31" dur="500" fill="hold"/>
                                        <p:tgtEl>
                                          <p:spTgt spid="614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14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6148">
                                            <p:txEl>
                                              <p:pRg st="5" end="5"/>
                                            </p:txEl>
                                          </p:spTgt>
                                        </p:tgtEl>
                                        <p:attrNameLst>
                                          <p:attrName>style.visibility</p:attrName>
                                        </p:attrNameLst>
                                      </p:cBhvr>
                                      <p:to>
                                        <p:strVal val="visible"/>
                                      </p:to>
                                    </p:set>
                                    <p:anim calcmode="lin" valueType="num">
                                      <p:cBhvr additive="base">
                                        <p:cTn id="37" dur="500" fill="hold"/>
                                        <p:tgtEl>
                                          <p:spTgt spid="614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14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6148">
                                            <p:txEl>
                                              <p:pRg st="6" end="6"/>
                                            </p:txEl>
                                          </p:spTgt>
                                        </p:tgtEl>
                                        <p:attrNameLst>
                                          <p:attrName>style.visibility</p:attrName>
                                        </p:attrNameLst>
                                      </p:cBhvr>
                                      <p:to>
                                        <p:strVal val="visible"/>
                                      </p:to>
                                    </p:set>
                                    <p:anim calcmode="lin" valueType="num">
                                      <p:cBhvr additive="base">
                                        <p:cTn id="43" dur="500" fill="hold"/>
                                        <p:tgtEl>
                                          <p:spTgt spid="614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14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xmlns="" id="{9977A4D2-C321-462B-AF8C-7EA20246742B}"/>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7171" name="Content Placeholder 2">
            <a:extLst>
              <a:ext uri="{FF2B5EF4-FFF2-40B4-BE49-F238E27FC236}">
                <a16:creationId xmlns:a16="http://schemas.microsoft.com/office/drawing/2014/main" xmlns="" id="{675C9C73-1211-4AE4-8919-C85C211A4D90}"/>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This chapter presents key concepts of intercommunication between programs running on different computers in the network </a:t>
            </a:r>
          </a:p>
          <a:p>
            <a:pPr algn="just"/>
            <a:r>
              <a:rPr lang="en-US" altLang="en-US" dirty="0">
                <a:solidFill>
                  <a:schemeClr val="tx1"/>
                </a:solidFill>
                <a:latin typeface="Times New Roman" panose="02020603050405020304" pitchFamily="18" charset="0"/>
                <a:cs typeface="Times New Roman" panose="02020603050405020304" pitchFamily="18" charset="0"/>
              </a:rPr>
              <a:t>It introduces elements of network programming and concepts involved in creating network applications using sockets</a:t>
            </a:r>
          </a:p>
          <a:p>
            <a:pPr algn="just"/>
            <a:r>
              <a:rPr lang="en-US" altLang="en-US" dirty="0">
                <a:solidFill>
                  <a:schemeClr val="tx1"/>
                </a:solidFill>
                <a:latin typeface="Times New Roman" panose="02020603050405020304" pitchFamily="18" charset="0"/>
                <a:cs typeface="Times New Roman" panose="02020603050405020304" pitchFamily="18" charset="0"/>
              </a:rPr>
              <a:t>Java-based technologies offer many options for network communications, and one of the technologies</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is </a:t>
            </a:r>
            <a:r>
              <a:rPr lang="en-US" altLang="en-US" i="1" dirty="0">
                <a:solidFill>
                  <a:srgbClr val="C00000"/>
                </a:solidFill>
                <a:latin typeface="Times New Roman" panose="02020603050405020304" pitchFamily="18" charset="0"/>
                <a:cs typeface="Times New Roman" panose="02020603050405020304" pitchFamily="18" charset="0"/>
              </a:rPr>
              <a:t>sockets</a:t>
            </a:r>
            <a:endParaRPr lang="bn-BD" altLang="en-US" i="1" dirty="0">
              <a:solidFill>
                <a:srgbClr val="C00000"/>
              </a:solidFill>
              <a:latin typeface="Times New Roman" panose="02020603050405020304" pitchFamily="18" charset="0"/>
              <a:cs typeface="Times New Roman" panose="02020603050405020304" pitchFamily="18" charset="0"/>
            </a:endParaRPr>
          </a:p>
          <a:p>
            <a:pPr algn="just"/>
            <a:r>
              <a:rPr lang="bn-BD" altLang="en-US" dirty="0">
                <a:solidFill>
                  <a:schemeClr val="tx1"/>
                </a:solidFill>
                <a:latin typeface="Times New Roman" panose="02020603050405020304" pitchFamily="18" charset="0"/>
                <a:cs typeface="Times New Roman" panose="02020603050405020304" pitchFamily="18" charset="0"/>
              </a:rPr>
              <a:t>It </a:t>
            </a:r>
            <a:r>
              <a:rPr lang="en-US" altLang="en-US" dirty="0">
                <a:solidFill>
                  <a:schemeClr val="tx1"/>
                </a:solidFill>
                <a:latin typeface="Times New Roman" panose="02020603050405020304" pitchFamily="18" charset="0"/>
                <a:cs typeface="Times New Roman" panose="02020603050405020304" pitchFamily="18" charset="0"/>
              </a:rPr>
              <a:t>introduces the java.net package containing various classes required for creating sockets and message communication using two different protocols</a:t>
            </a:r>
          </a:p>
          <a:p>
            <a:pPr algn="just"/>
            <a:r>
              <a:rPr lang="en-US" altLang="en-US" dirty="0">
                <a:solidFill>
                  <a:schemeClr val="tx1"/>
                </a:solidFill>
                <a:latin typeface="Times New Roman" panose="02020603050405020304" pitchFamily="18" charset="0"/>
                <a:cs typeface="Times New Roman" panose="02020603050405020304" pitchFamily="18" charset="0"/>
              </a:rPr>
              <a:t>H</a:t>
            </a:r>
            <a:r>
              <a:rPr lang="bn-BD" altLang="en-US" dirty="0">
                <a:solidFill>
                  <a:schemeClr val="tx1"/>
                </a:solidFill>
                <a:latin typeface="Times New Roman" panose="02020603050405020304" pitchFamily="18" charset="0"/>
                <a:cs typeface="Times New Roman" panose="02020603050405020304" pitchFamily="18" charset="0"/>
              </a:rPr>
              <a:t>ere we</a:t>
            </a:r>
            <a:r>
              <a:rPr lang="en-US" altLang="en-US" dirty="0">
                <a:solidFill>
                  <a:schemeClr val="tx1"/>
                </a:solidFill>
                <a:latin typeface="Times New Roman" panose="02020603050405020304" pitchFamily="18" charset="0"/>
                <a:cs typeface="Times New Roman" panose="02020603050405020304" pitchFamily="18" charset="0"/>
              </a:rPr>
              <a:t> learn how to use the Java classes Socket and</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ServerSocket</a:t>
            </a:r>
            <a:r>
              <a:rPr lang="en-US" altLang="en-US" dirty="0">
                <a:solidFill>
                  <a:schemeClr val="tx1"/>
                </a:solidFill>
                <a:latin typeface="Times New Roman" panose="02020603050405020304" pitchFamily="18" charset="0"/>
                <a:cs typeface="Times New Roman" panose="02020603050405020304" pitchFamily="18" charset="0"/>
              </a:rPr>
              <a:t> from the package java.net</a:t>
            </a:r>
          </a:p>
        </p:txBody>
      </p:sp>
      <p:sp>
        <p:nvSpPr>
          <p:cNvPr id="7172" name="Slide Number Placeholder 3">
            <a:extLst>
              <a:ext uri="{FF2B5EF4-FFF2-40B4-BE49-F238E27FC236}">
                <a16:creationId xmlns:a16="http://schemas.microsoft.com/office/drawing/2014/main" xmlns="" id="{18CBA153-CF6B-4FC5-8074-AA36CFB14D1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F2F7F9EE-087C-4D36-8F3C-D59FD3257ACE}" type="slidenum">
              <a:rPr lang="en-US" altLang="en-US" sz="1400">
                <a:solidFill>
                  <a:schemeClr val="tx1"/>
                </a:solidFill>
                <a:latin typeface="Times New Roman" panose="02020603050405020304" pitchFamily="18" charset="0"/>
              </a:rPr>
              <a:pPr>
                <a:lnSpc>
                  <a:spcPct val="100000"/>
                </a:lnSpc>
                <a:spcBef>
                  <a:spcPct val="0"/>
                </a:spcBef>
                <a:buClrTx/>
                <a:buFontTx/>
                <a:buNone/>
              </a:pPr>
              <a:t>3</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arn(inVertical)">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arn(inVertical)">
                                      <p:cBhvr>
                                        <p:cTn id="12" dur="500"/>
                                        <p:tgtEl>
                                          <p:spTgt spid="7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barn(inVertical)">
                                      <p:cBhvr>
                                        <p:cTn id="17" dur="500"/>
                                        <p:tgtEl>
                                          <p:spTgt spid="71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barn(inVertical)">
                                      <p:cBhvr>
                                        <p:cTn id="22" dur="500"/>
                                        <p:tgtEl>
                                          <p:spTgt spid="71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animEffect transition="in" filter="barn(inVertical)">
                                      <p:cBhvr>
                                        <p:cTn id="27"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04B4306A-1241-471A-97B4-064A86E986F6}"/>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Introduction</a:t>
            </a:r>
            <a:endParaRPr lang="en-US" altLang="en-US" dirty="0"/>
          </a:p>
        </p:txBody>
      </p:sp>
      <p:sp>
        <p:nvSpPr>
          <p:cNvPr id="8195" name="Content Placeholder 2">
            <a:extLst>
              <a:ext uri="{FF2B5EF4-FFF2-40B4-BE49-F238E27FC236}">
                <a16:creationId xmlns:a16="http://schemas.microsoft.com/office/drawing/2014/main" xmlns="" id="{BEF15C10-5D4E-4BC0-B635-3CC495438FFD}"/>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To connect one computer with another computer the address of the computer is required</a:t>
            </a:r>
          </a:p>
          <a:p>
            <a:pPr algn="just"/>
            <a:r>
              <a:rPr lang="en-US" altLang="en-US" i="1" dirty="0">
                <a:solidFill>
                  <a:srgbClr val="C00000"/>
                </a:solidFill>
                <a:latin typeface="Times New Roman" panose="02020603050405020304" pitchFamily="18" charset="0"/>
                <a:cs typeface="Times New Roman" panose="02020603050405020304" pitchFamily="18" charset="0"/>
              </a:rPr>
              <a:t>Internet Protocol</a:t>
            </a:r>
            <a:r>
              <a:rPr lang="en-US" altLang="en-US" dirty="0">
                <a:solidFill>
                  <a:srgbClr val="C00000"/>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(IP) uniquely identifies a computer on the internet </a:t>
            </a:r>
          </a:p>
          <a:p>
            <a:pPr algn="just"/>
            <a:r>
              <a:rPr lang="en-US" altLang="en-US" dirty="0">
                <a:solidFill>
                  <a:schemeClr val="tx1"/>
                </a:solidFill>
                <a:latin typeface="Times New Roman" panose="02020603050405020304" pitchFamily="18" charset="0"/>
                <a:cs typeface="Times New Roman" panose="02020603050405020304" pitchFamily="18" charset="0"/>
              </a:rPr>
              <a:t>An IP address consists of 4 dotted decimal number 0 to 255</a:t>
            </a:r>
          </a:p>
          <a:p>
            <a:pPr algn="just"/>
            <a:r>
              <a:rPr lang="en-US" altLang="en-US" dirty="0">
                <a:solidFill>
                  <a:schemeClr val="tx1"/>
                </a:solidFill>
                <a:latin typeface="Times New Roman" panose="02020603050405020304" pitchFamily="18" charset="0"/>
                <a:cs typeface="Times New Roman" panose="02020603050405020304" pitchFamily="18" charset="0"/>
              </a:rPr>
              <a:t>Example 130.225.0.1.</a:t>
            </a:r>
          </a:p>
          <a:p>
            <a:pPr algn="just"/>
            <a:r>
              <a:rPr lang="en-US" altLang="en-US" dirty="0">
                <a:solidFill>
                  <a:schemeClr val="tx1"/>
                </a:solidFill>
                <a:latin typeface="Times New Roman" panose="02020603050405020304" pitchFamily="18" charset="0"/>
                <a:cs typeface="Times New Roman" panose="02020603050405020304" pitchFamily="18" charset="0"/>
              </a:rPr>
              <a:t>Remembering or handling so many number are is not easy</a:t>
            </a:r>
          </a:p>
          <a:p>
            <a:pPr algn="just"/>
            <a:r>
              <a:rPr lang="en-US" altLang="en-US" dirty="0">
                <a:solidFill>
                  <a:schemeClr val="tx1"/>
                </a:solidFill>
                <a:latin typeface="Times New Roman" panose="02020603050405020304" pitchFamily="18" charset="0"/>
                <a:cs typeface="Times New Roman" panose="02020603050405020304" pitchFamily="18" charset="0"/>
              </a:rPr>
              <a:t>Meaningful names are used. Domain Name Server (DNS) is used to convert the name to the number </a:t>
            </a:r>
          </a:p>
          <a:p>
            <a:pPr algn="just"/>
            <a:r>
              <a:rPr lang="en-US" altLang="en-US" dirty="0">
                <a:solidFill>
                  <a:schemeClr val="tx1"/>
                </a:solidFill>
                <a:latin typeface="Times New Roman" panose="02020603050405020304" pitchFamily="18" charset="0"/>
                <a:cs typeface="Times New Roman" panose="02020603050405020304" pitchFamily="18" charset="0"/>
              </a:rPr>
              <a:t>Example ru.ac.bd correspond to </a:t>
            </a:r>
            <a:r>
              <a:rPr lang="en-US" dirty="0">
                <a:solidFill>
                  <a:schemeClr val="tx1"/>
                </a:solidFill>
                <a:latin typeface="Times New Roman" panose="02020603050405020304" pitchFamily="18" charset="0"/>
                <a:cs typeface="Times New Roman" panose="02020603050405020304" pitchFamily="18" charset="0"/>
              </a:rPr>
              <a:t>103.79.117.77</a:t>
            </a:r>
            <a:r>
              <a:rPr lang="en-US" altLang="en-US" dirty="0">
                <a:solidFill>
                  <a:schemeClr val="tx1"/>
                </a:solidFill>
                <a:latin typeface="Times New Roman" panose="02020603050405020304" pitchFamily="18" charset="0"/>
                <a:cs typeface="Times New Roman" panose="02020603050405020304" pitchFamily="18" charset="0"/>
              </a:rPr>
              <a:t> </a:t>
            </a:r>
            <a:endParaRPr lang="bn-BD" altLang="en-US" dirty="0">
              <a:solidFill>
                <a:schemeClr val="tx1"/>
              </a:solidFill>
              <a:latin typeface="Times New Roman" panose="02020603050405020304" pitchFamily="18" charset="0"/>
              <a:cs typeface="Times New Roman" panose="02020603050405020304" pitchFamily="18" charset="0"/>
            </a:endParaRPr>
          </a:p>
          <a:p>
            <a:endParaRPr lang="en-US" altLang="en-US" dirty="0"/>
          </a:p>
        </p:txBody>
      </p:sp>
      <p:sp>
        <p:nvSpPr>
          <p:cNvPr id="8196" name="Slide Number Placeholder 3">
            <a:extLst>
              <a:ext uri="{FF2B5EF4-FFF2-40B4-BE49-F238E27FC236}">
                <a16:creationId xmlns:a16="http://schemas.microsoft.com/office/drawing/2014/main" xmlns="" id="{5C783D2C-F842-4821-9C3D-934E8E6D81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67FBFD95-0BBF-4BE8-9ECF-A3F1FB626A9A}" type="slidenum">
              <a:rPr lang="en-US" altLang="en-US" sz="1400">
                <a:solidFill>
                  <a:schemeClr val="tx1"/>
                </a:solidFill>
                <a:latin typeface="Times New Roman" panose="02020603050405020304" pitchFamily="18" charset="0"/>
              </a:rPr>
              <a:pPr>
                <a:lnSpc>
                  <a:spcPct val="100000"/>
                </a:lnSpc>
                <a:spcBef>
                  <a:spcPct val="0"/>
                </a:spcBef>
                <a:buClrTx/>
                <a:buFontTx/>
                <a:buNone/>
              </a:pPr>
              <a:t>4</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Vertic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arn(inVertic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arn(inVertic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arn(inVertic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arn(inVertical)">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barn(inVertical)">
                                      <p:cBhvr>
                                        <p:cTn id="37" dur="5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04B4306A-1241-471A-97B4-064A86E986F6}"/>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Introduction</a:t>
            </a:r>
            <a:endParaRPr lang="en-US" altLang="en-US" dirty="0"/>
          </a:p>
        </p:txBody>
      </p:sp>
      <p:sp>
        <p:nvSpPr>
          <p:cNvPr id="8195" name="Content Placeholder 2">
            <a:extLst>
              <a:ext uri="{FF2B5EF4-FFF2-40B4-BE49-F238E27FC236}">
                <a16:creationId xmlns:a16="http://schemas.microsoft.com/office/drawing/2014/main" xmlns="" id="{BEF15C10-5D4E-4BC0-B635-3CC495438FFD}"/>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When a computer contacts ru.ac.bd, it first asks the DNS to translate this domain name into a numeric IP address and then sends the request using the IP address.</a:t>
            </a:r>
          </a:p>
          <a:p>
            <a:r>
              <a:rPr lang="en-US" altLang="en-US" dirty="0">
                <a:solidFill>
                  <a:schemeClr val="tx1"/>
                </a:solidFill>
                <a:latin typeface="Times New Roman" panose="02020603050405020304" pitchFamily="18" charset="0"/>
                <a:cs typeface="Times New Roman" panose="02020603050405020304" pitchFamily="18" charset="0"/>
              </a:rPr>
              <a:t>Internet Protocol (IP) </a:t>
            </a:r>
            <a:r>
              <a:rPr lang="en-US" dirty="0">
                <a:solidFill>
                  <a:schemeClr val="tx1"/>
                </a:solidFill>
                <a:latin typeface="Times New Roman" panose="02020603050405020304" pitchFamily="18" charset="0"/>
                <a:cs typeface="Times New Roman" panose="02020603050405020304" pitchFamily="18" charset="0"/>
              </a:rPr>
              <a:t>is a low-level protocol for delivering data from one computer to another</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rPr>
              <a:t>Two higher-level protocols are used with IP</a:t>
            </a:r>
          </a:p>
          <a:p>
            <a:pPr lvl="1"/>
            <a:r>
              <a:rPr lang="en-US" dirty="0">
                <a:solidFill>
                  <a:schemeClr val="tx1"/>
                </a:solidFill>
                <a:latin typeface="Times New Roman" panose="02020603050405020304" pitchFamily="18" charset="0"/>
                <a:cs typeface="Times New Roman" panose="02020603050405020304" pitchFamily="18" charset="0"/>
              </a:rPr>
              <a:t>Transmission Control Protocol (TCP) uses Stream-based communications</a:t>
            </a:r>
          </a:p>
          <a:p>
            <a:pPr lvl="1"/>
            <a:r>
              <a:rPr lang="en-US" dirty="0">
                <a:solidFill>
                  <a:schemeClr val="tx1"/>
                </a:solidFill>
                <a:latin typeface="Times New Roman" panose="02020603050405020304" pitchFamily="18" charset="0"/>
                <a:cs typeface="Times New Roman" panose="02020603050405020304" pitchFamily="18" charset="0"/>
              </a:rPr>
              <a:t>User Datagram Protocol (UDP) uses packet-based communications</a:t>
            </a:r>
            <a:r>
              <a:rPr lang="en-US" dirty="0"/>
              <a:t>. </a:t>
            </a:r>
          </a:p>
          <a:p>
            <a:r>
              <a:rPr lang="en-US" altLang="en-US" dirty="0"/>
              <a:t> </a:t>
            </a:r>
          </a:p>
        </p:txBody>
      </p:sp>
      <p:sp>
        <p:nvSpPr>
          <p:cNvPr id="8196" name="Slide Number Placeholder 3">
            <a:extLst>
              <a:ext uri="{FF2B5EF4-FFF2-40B4-BE49-F238E27FC236}">
                <a16:creationId xmlns:a16="http://schemas.microsoft.com/office/drawing/2014/main" xmlns="" id="{5C783D2C-F842-4821-9C3D-934E8E6D81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3"/>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67FBFD95-0BBF-4BE8-9ECF-A3F1FB626A9A}" type="slidenum">
              <a:rPr lang="en-US" altLang="en-US" sz="1400">
                <a:solidFill>
                  <a:schemeClr val="tx1"/>
                </a:solidFill>
                <a:latin typeface="Times New Roman" panose="02020603050405020304" pitchFamily="18" charset="0"/>
              </a:rPr>
              <a:pPr>
                <a:lnSpc>
                  <a:spcPct val="100000"/>
                </a:lnSpc>
                <a:spcBef>
                  <a:spcPct val="0"/>
                </a:spcBef>
                <a:buClrTx/>
                <a:buFontTx/>
                <a:buNone/>
              </a:pPr>
              <a:t>5</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61588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Vertic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arn(inVertic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arn(inVertic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arn(inVertic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arn(inVertical)">
                                      <p:cBhvr>
                                        <p:cTn id="3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04B4306A-1241-471A-97B4-064A86E986F6}"/>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8195" name="Content Placeholder 2">
            <a:extLst>
              <a:ext uri="{FF2B5EF4-FFF2-40B4-BE49-F238E27FC236}">
                <a16:creationId xmlns:a16="http://schemas.microsoft.com/office/drawing/2014/main" xmlns="" id="{BEF15C10-5D4E-4BC0-B635-3CC495438FFD}"/>
              </a:ext>
            </a:extLst>
          </p:cNvPr>
          <p:cNvSpPr>
            <a:spLocks noGrp="1"/>
          </p:cNvSpPr>
          <p:nvPr>
            <p:ph idx="1"/>
          </p:nvPr>
        </p:nvSpPr>
        <p:spPr>
          <a:xfrm>
            <a:off x="171450" y="838200"/>
            <a:ext cx="8763000" cy="6019800"/>
          </a:xfrm>
        </p:spPr>
        <p:txBody>
          <a:bodyPr/>
          <a:lstStyle/>
          <a:p>
            <a:r>
              <a:rPr lang="en-US" dirty="0">
                <a:solidFill>
                  <a:schemeClr val="tx1"/>
                </a:solidFill>
                <a:latin typeface="Times New Roman" panose="02020603050405020304" pitchFamily="18" charset="0"/>
                <a:cs typeface="Times New Roman" panose="02020603050405020304" pitchFamily="18" charset="0"/>
              </a:rPr>
              <a:t>The Java API provides the classes for creating sockets to facilitate program communications over the Internet</a:t>
            </a:r>
            <a:endParaRPr lang="en-US" altLang="en-US" dirty="0">
              <a:solidFill>
                <a:schemeClr val="tx1"/>
              </a:solidFill>
              <a:latin typeface="Times New Roman" panose="02020603050405020304" pitchFamily="18" charset="0"/>
              <a:cs typeface="Times New Roman" panose="02020603050405020304" pitchFamily="18" charset="0"/>
            </a:endParaRPr>
          </a:p>
          <a:p>
            <a:r>
              <a:rPr lang="en-US" dirty="0">
                <a:solidFill>
                  <a:srgbClr val="0066FF"/>
                </a:solidFill>
                <a:latin typeface="Times New Roman" panose="02020603050405020304" pitchFamily="18" charset="0"/>
                <a:cs typeface="Times New Roman" panose="02020603050405020304" pitchFamily="18" charset="0"/>
              </a:rPr>
              <a:t>Sockets</a:t>
            </a:r>
            <a:r>
              <a:rPr lang="en-US" dirty="0">
                <a:solidFill>
                  <a:schemeClr val="tx1"/>
                </a:solidFill>
                <a:latin typeface="Times New Roman" panose="02020603050405020304" pitchFamily="18" charset="0"/>
                <a:cs typeface="Times New Roman" panose="02020603050405020304" pitchFamily="18" charset="0"/>
              </a:rPr>
              <a:t> are the endpoints of logical connections between two hosts and can be used to send and receive data</a:t>
            </a:r>
          </a:p>
          <a:p>
            <a:r>
              <a:rPr lang="en-US" altLang="en-US" i="1" dirty="0">
                <a:solidFill>
                  <a:schemeClr val="tx1"/>
                </a:solidFill>
                <a:latin typeface="Times New Roman" panose="02020603050405020304" pitchFamily="18" charset="0"/>
                <a:cs typeface="Times New Roman" panose="02020603050405020304" pitchFamily="18" charset="0"/>
              </a:rPr>
              <a:t>TCP/IP protocol </a:t>
            </a:r>
            <a:r>
              <a:rPr lang="en-US" altLang="en-US" dirty="0">
                <a:solidFill>
                  <a:schemeClr val="tx1"/>
                </a:solidFill>
                <a:latin typeface="Times New Roman" panose="02020603050405020304" pitchFamily="18" charset="0"/>
                <a:cs typeface="Times New Roman" panose="02020603050405020304" pitchFamily="18" charset="0"/>
              </a:rPr>
              <a:t>maintains a socket connection for the whole period of communication</a:t>
            </a:r>
            <a:endParaRPr lang="en-US" altLang="en-US" i="1" dirty="0">
              <a:solidFill>
                <a:schemeClr val="tx1"/>
              </a:solidFill>
              <a:latin typeface="Times New Roman" panose="02020603050405020304" pitchFamily="18" charset="0"/>
              <a:cs typeface="Times New Roman" panose="02020603050405020304" pitchFamily="18" charset="0"/>
            </a:endParaRPr>
          </a:p>
          <a:p>
            <a:endParaRPr lang="en-US" altLang="en-US" dirty="0"/>
          </a:p>
        </p:txBody>
      </p:sp>
      <p:sp>
        <p:nvSpPr>
          <p:cNvPr id="8196" name="Slide Number Placeholder 3">
            <a:extLst>
              <a:ext uri="{FF2B5EF4-FFF2-40B4-BE49-F238E27FC236}">
                <a16:creationId xmlns:a16="http://schemas.microsoft.com/office/drawing/2014/main" xmlns="" id="{5C783D2C-F842-4821-9C3D-934E8E6D81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67FBFD95-0BBF-4BE8-9ECF-A3F1FB626A9A}" type="slidenum">
              <a:rPr lang="en-US" altLang="en-US" sz="1400">
                <a:solidFill>
                  <a:schemeClr val="tx1"/>
                </a:solidFill>
                <a:latin typeface="Times New Roman" panose="02020603050405020304" pitchFamily="18" charset="0"/>
              </a:rPr>
              <a:pPr>
                <a:lnSpc>
                  <a:spcPct val="100000"/>
                </a:lnSpc>
                <a:spcBef>
                  <a:spcPct val="0"/>
                </a:spcBef>
                <a:buClrTx/>
                <a:buFontTx/>
                <a:buNone/>
              </a:pPr>
              <a:t>6</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7632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2" end="2"/>
                                            </p:txEl>
                                          </p:spTgt>
                                        </p:tgtEl>
                                        <p:attrNameLst>
                                          <p:attrName>style.visibility</p:attrName>
                                        </p:attrNameLst>
                                      </p:cBhvr>
                                      <p:to>
                                        <p:strVal val="visible"/>
                                      </p:to>
                                    </p:set>
                                    <p:animEffect transition="in" filter="barn(inVertical)">
                                      <p:cBhvr>
                                        <p:cTn id="12" dur="500"/>
                                        <p:tgtEl>
                                          <p:spTgt spid="81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195">
                                            <p:txEl>
                                              <p:pRg st="1" end="1"/>
                                            </p:txEl>
                                          </p:spTgt>
                                        </p:tgtEl>
                                        <p:attrNameLst>
                                          <p:attrName>style.visibility</p:attrName>
                                        </p:attrNameLst>
                                      </p:cBhvr>
                                      <p:to>
                                        <p:strVal val="visible"/>
                                      </p:to>
                                    </p:set>
                                    <p:animEffect transition="in" filter="barn(inVertical)">
                                      <p:cBhvr>
                                        <p:cTn id="17" dur="500"/>
                                        <p:tgtEl>
                                          <p:spTgt spid="8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04B4306A-1241-471A-97B4-064A86E986F6}"/>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8195" name="Content Placeholder 2">
            <a:extLst>
              <a:ext uri="{FF2B5EF4-FFF2-40B4-BE49-F238E27FC236}">
                <a16:creationId xmlns:a16="http://schemas.microsoft.com/office/drawing/2014/main" xmlns="" id="{BEF15C10-5D4E-4BC0-B635-3CC495438FFD}"/>
              </a:ext>
            </a:extLst>
          </p:cNvPr>
          <p:cNvSpPr>
            <a:spLocks noGrp="1"/>
          </p:cNvSpPr>
          <p:nvPr>
            <p:ph idx="1"/>
          </p:nvPr>
        </p:nvSpPr>
        <p:spPr>
          <a:xfrm>
            <a:off x="171450" y="838200"/>
            <a:ext cx="8763000" cy="6019800"/>
          </a:xfrm>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The socket address is a pair: </a:t>
            </a:r>
          </a:p>
          <a:p>
            <a:pPr lvl="1" algn="just"/>
            <a:r>
              <a:rPr lang="en-US" altLang="en-US" dirty="0">
                <a:solidFill>
                  <a:srgbClr val="C00000"/>
                </a:solidFill>
                <a:latin typeface="Times New Roman" panose="02020603050405020304" pitchFamily="18" charset="0"/>
                <a:cs typeface="Times New Roman" panose="02020603050405020304" pitchFamily="18" charset="0"/>
              </a:rPr>
              <a:t>IP address</a:t>
            </a:r>
          </a:p>
          <a:p>
            <a:pPr lvl="1" algn="just"/>
            <a:r>
              <a:rPr lang="en-US" altLang="en-US" dirty="0">
                <a:solidFill>
                  <a:srgbClr val="C00000"/>
                </a:solidFill>
                <a:latin typeface="Times New Roman" panose="02020603050405020304" pitchFamily="18" charset="0"/>
                <a:cs typeface="Times New Roman" panose="02020603050405020304" pitchFamily="18" charset="0"/>
              </a:rPr>
              <a:t>Port</a:t>
            </a:r>
            <a:endParaRPr lang="bn-BD" altLang="en-US" dirty="0">
              <a:solidFill>
                <a:srgbClr val="C00000"/>
              </a:solidFill>
              <a:latin typeface="Times New Roman" panose="02020603050405020304" pitchFamily="18" charset="0"/>
              <a:cs typeface="Times New Roman" panose="02020603050405020304" pitchFamily="18" charset="0"/>
            </a:endParaRPr>
          </a:p>
          <a:p>
            <a:pPr algn="just"/>
            <a:r>
              <a:rPr lang="en-US" altLang="en-US" dirty="0">
                <a:solidFill>
                  <a:schemeClr val="tx1"/>
                </a:solidFill>
                <a:latin typeface="Times New Roman" panose="02020603050405020304" pitchFamily="18" charset="0"/>
                <a:cs typeface="Times New Roman" panose="02020603050405020304" pitchFamily="18" charset="0"/>
              </a:rPr>
              <a:t>When a Java program creates an instance of</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the </a:t>
            </a:r>
            <a:r>
              <a:rPr lang="en-US" altLang="en-US" dirty="0" err="1">
                <a:solidFill>
                  <a:schemeClr val="tx1"/>
                </a:solidFill>
                <a:latin typeface="Times New Roman" panose="02020603050405020304" pitchFamily="18" charset="0"/>
                <a:cs typeface="Times New Roman" panose="02020603050405020304" pitchFamily="18" charset="0"/>
              </a:rPr>
              <a:t>ServerSocket</a:t>
            </a:r>
            <a:r>
              <a:rPr lang="en-US" altLang="en-US" dirty="0">
                <a:solidFill>
                  <a:schemeClr val="tx1"/>
                </a:solidFill>
                <a:latin typeface="Times New Roman" panose="02020603050405020304" pitchFamily="18" charset="0"/>
                <a:cs typeface="Times New Roman" panose="02020603050405020304" pitchFamily="18" charset="0"/>
              </a:rPr>
              <a:t> class, it just runs in memory and listens on</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the specified port for other program requests</a:t>
            </a:r>
          </a:p>
          <a:p>
            <a:endParaRPr lang="en-US" altLang="en-US" dirty="0"/>
          </a:p>
        </p:txBody>
      </p:sp>
      <p:sp>
        <p:nvSpPr>
          <p:cNvPr id="8196" name="Slide Number Placeholder 3">
            <a:extLst>
              <a:ext uri="{FF2B5EF4-FFF2-40B4-BE49-F238E27FC236}">
                <a16:creationId xmlns:a16="http://schemas.microsoft.com/office/drawing/2014/main" xmlns="" id="{5C783D2C-F842-4821-9C3D-934E8E6D81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67FBFD95-0BBF-4BE8-9ECF-A3F1FB626A9A}" type="slidenum">
              <a:rPr lang="en-US" altLang="en-US" sz="1400">
                <a:solidFill>
                  <a:schemeClr val="tx1"/>
                </a:solidFill>
                <a:latin typeface="Times New Roman" panose="02020603050405020304" pitchFamily="18" charset="0"/>
              </a:rPr>
              <a:pPr>
                <a:lnSpc>
                  <a:spcPct val="100000"/>
                </a:lnSpc>
                <a:spcBef>
                  <a:spcPct val="0"/>
                </a:spcBef>
                <a:buClrTx/>
                <a:buFontTx/>
                <a:buNone/>
              </a:pPr>
              <a:t>7</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65251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Vertical)">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arn(inVertical)">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arn(inVertical)">
                                      <p:cBhvr>
                                        <p:cTn id="22"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xmlns="" id="{64553641-FBCB-4959-8C21-FC94B8C44EC2}"/>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9219" name="Content Placeholder 2">
            <a:extLst>
              <a:ext uri="{FF2B5EF4-FFF2-40B4-BE49-F238E27FC236}">
                <a16:creationId xmlns:a16="http://schemas.microsoft.com/office/drawing/2014/main" xmlns="" id="{7D5D3147-F79A-4951-A022-1FB773D450EA}"/>
              </a:ext>
            </a:extLst>
          </p:cNvPr>
          <p:cNvSpPr>
            <a:spLocks noGrp="1"/>
          </p:cNvSpPr>
          <p:nvPr>
            <p:ph idx="1"/>
          </p:nvPr>
        </p:nvSpPr>
        <p:spPr>
          <a:xfrm>
            <a:off x="171450" y="838200"/>
            <a:ext cx="8763000" cy="6019800"/>
          </a:xfrm>
        </p:spPr>
        <p:txBody>
          <a:bodyPr/>
          <a:lstStyle/>
          <a:p>
            <a:r>
              <a:rPr lang="en-US" dirty="0">
                <a:solidFill>
                  <a:schemeClr val="tx1"/>
                </a:solidFill>
                <a:latin typeface="Times New Roman" panose="02020603050405020304" pitchFamily="18" charset="0"/>
                <a:cs typeface="Times New Roman" panose="02020603050405020304" pitchFamily="18" charset="0"/>
              </a:rPr>
              <a:t>To establish a server, you need to create a server socket and attach it to a port, which is where the server listens for connections. </a:t>
            </a:r>
          </a:p>
          <a:p>
            <a:r>
              <a:rPr lang="en-US" dirty="0">
                <a:solidFill>
                  <a:schemeClr val="tx1"/>
                </a:solidFill>
                <a:latin typeface="Times New Roman" panose="02020603050405020304" pitchFamily="18" charset="0"/>
                <a:cs typeface="Times New Roman" panose="02020603050405020304" pitchFamily="18" charset="0"/>
              </a:rPr>
              <a:t>Port numbers range from 0 to 65536, but port numbers 0 to 1024 are reserved for privileged services.</a:t>
            </a:r>
            <a:endParaRPr lang="en-US" altLang="en-US" dirty="0">
              <a:solidFill>
                <a:schemeClr val="tx1"/>
              </a:solidFill>
              <a:latin typeface="Times New Roman" panose="02020603050405020304" pitchFamily="18" charset="0"/>
              <a:cs typeface="Times New Roman" panose="02020603050405020304" pitchFamily="18" charset="0"/>
            </a:endParaRPr>
          </a:p>
          <a:p>
            <a:endParaRPr lang="en-US" altLang="en-US" dirty="0">
              <a:solidFill>
                <a:schemeClr val="tx1"/>
              </a:solidFill>
            </a:endParaRPr>
          </a:p>
        </p:txBody>
      </p:sp>
      <p:sp>
        <p:nvSpPr>
          <p:cNvPr id="9220" name="Slide Number Placeholder 3">
            <a:extLst>
              <a:ext uri="{FF2B5EF4-FFF2-40B4-BE49-F238E27FC236}">
                <a16:creationId xmlns:a16="http://schemas.microsoft.com/office/drawing/2014/main" xmlns="" id="{A8A353AE-F338-4837-BA14-6C54456636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22AA13D7-3346-4415-BED3-432A133B207D}" type="slidenum">
              <a:rPr lang="en-US" altLang="en-US" sz="1400">
                <a:solidFill>
                  <a:schemeClr val="tx1"/>
                </a:solidFill>
                <a:latin typeface="Times New Roman" panose="02020603050405020304" pitchFamily="18" charset="0"/>
              </a:rPr>
              <a:pPr>
                <a:lnSpc>
                  <a:spcPct val="100000"/>
                </a:lnSpc>
                <a:spcBef>
                  <a:spcPct val="0"/>
                </a:spcBef>
                <a:buClrTx/>
                <a:buFontTx/>
                <a:buNone/>
              </a:pPr>
              <a:t>8</a:t>
            </a:fld>
            <a:endParaRPr lang="en-US" altLang="en-US" sz="1400">
              <a:solidFill>
                <a:schemeClr val="tx1"/>
              </a:solidFill>
              <a:latin typeface="Times New Roman" panose="02020603050405020304" pitchFamily="18" charset="0"/>
            </a:endParaRPr>
          </a:p>
        </p:txBody>
      </p:sp>
      <p:pic>
        <p:nvPicPr>
          <p:cNvPr id="3" name="Picture 2">
            <a:extLst>
              <a:ext uri="{FF2B5EF4-FFF2-40B4-BE49-F238E27FC236}">
                <a16:creationId xmlns:a16="http://schemas.microsoft.com/office/drawing/2014/main" xmlns="" id="{8BFDA8CA-E155-ED9B-C6E9-7CDAC661E9E4}"/>
              </a:ext>
            </a:extLst>
          </p:cNvPr>
          <p:cNvPicPr>
            <a:picLocks noChangeAspect="1"/>
          </p:cNvPicPr>
          <p:nvPr/>
        </p:nvPicPr>
        <p:blipFill>
          <a:blip r:embed="rId3"/>
          <a:stretch>
            <a:fillRect/>
          </a:stretch>
        </p:blipFill>
        <p:spPr>
          <a:xfrm>
            <a:off x="156361" y="3290577"/>
            <a:ext cx="8627918" cy="2755629"/>
          </a:xfrm>
          <a:prstGeom prst="rect">
            <a:avLst/>
          </a:prstGeom>
        </p:spPr>
      </p:pic>
      <p:sp>
        <p:nvSpPr>
          <p:cNvPr id="5" name="TextBox 4">
            <a:extLst>
              <a:ext uri="{FF2B5EF4-FFF2-40B4-BE49-F238E27FC236}">
                <a16:creationId xmlns:a16="http://schemas.microsoft.com/office/drawing/2014/main" xmlns="" id="{649EF5CA-01A1-A3D8-6D9E-1AD4958F3D6E}"/>
              </a:ext>
            </a:extLst>
          </p:cNvPr>
          <p:cNvSpPr txBox="1"/>
          <p:nvPr/>
        </p:nvSpPr>
        <p:spPr>
          <a:xfrm>
            <a:off x="304799" y="6097369"/>
            <a:ext cx="8479479" cy="646331"/>
          </a:xfrm>
          <a:prstGeom prst="rect">
            <a:avLst/>
          </a:prstGeom>
          <a:noFill/>
        </p:spPr>
        <p:txBody>
          <a:bodyPr wrap="square">
            <a:spAutoFit/>
          </a:bodyPr>
          <a:lstStyle/>
          <a:p>
            <a:pPr algn="l"/>
            <a:r>
              <a:rPr lang="en-US" sz="1800" b="1" i="0" u="none" strike="noStrike" baseline="0" dirty="0">
                <a:latin typeface="TimesLTStd-Roman"/>
              </a:rPr>
              <a:t>Fig: </a:t>
            </a:r>
            <a:r>
              <a:rPr lang="en-US" sz="1800" b="0" i="0" u="none" strike="noStrike" baseline="0" dirty="0">
                <a:latin typeface="TimesLTStd-Roman"/>
              </a:rPr>
              <a:t>The server creates a server socket and, once a connection to a client is established, connects to the client with a client socket.</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arn(inVertic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arn(inVertical)">
                                      <p:cBhvr>
                                        <p:cTn id="12"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xmlns="" id="{64553641-FBCB-4959-8C21-FC94B8C44EC2}"/>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9219" name="Content Placeholder 2">
            <a:extLst>
              <a:ext uri="{FF2B5EF4-FFF2-40B4-BE49-F238E27FC236}">
                <a16:creationId xmlns:a16="http://schemas.microsoft.com/office/drawing/2014/main" xmlns="" id="{7D5D3147-F79A-4951-A022-1FB773D450EA}"/>
              </a:ext>
            </a:extLst>
          </p:cNvPr>
          <p:cNvSpPr>
            <a:spLocks noGrp="1"/>
          </p:cNvSpPr>
          <p:nvPr>
            <p:ph idx="1"/>
          </p:nvPr>
        </p:nvSpPr>
        <p:spPr/>
        <p:txBody>
          <a:bodyPr/>
          <a:lstStyle/>
          <a:p>
            <a:pPr marL="0" indent="0" algn="just">
              <a:buNone/>
            </a:pPr>
            <a:r>
              <a:rPr lang="en-US" altLang="en-US" sz="3200" dirty="0">
                <a:solidFill>
                  <a:srgbClr val="C00000"/>
                </a:solidFill>
                <a:latin typeface="Times New Roman" panose="02020603050405020304" pitchFamily="18" charset="0"/>
                <a:cs typeface="Times New Roman" panose="02020603050405020304" pitchFamily="18" charset="0"/>
              </a:rPr>
              <a:t>Server Socket and Client Socket</a:t>
            </a:r>
          </a:p>
          <a:p>
            <a:pPr algn="just"/>
            <a:r>
              <a:rPr lang="en-US" altLang="en-US" dirty="0">
                <a:solidFill>
                  <a:schemeClr val="tx1"/>
                </a:solidFill>
                <a:latin typeface="Times New Roman" panose="02020603050405020304" pitchFamily="18" charset="0"/>
                <a:cs typeface="Times New Roman" panose="02020603050405020304" pitchFamily="18" charset="0"/>
              </a:rPr>
              <a:t>The following lines create a server that is listening</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to port 4999:</a:t>
            </a:r>
          </a:p>
          <a:p>
            <a:pPr algn="just"/>
            <a:endParaRPr lang="en-US" altLang="en-US" sz="2000" dirty="0">
              <a:solidFill>
                <a:schemeClr val="tx1"/>
              </a:solidFill>
              <a:latin typeface="Times New Roman" panose="02020603050405020304" pitchFamily="18" charset="0"/>
              <a:cs typeface="Times New Roman" panose="02020603050405020304" pitchFamily="18" charset="0"/>
            </a:endParaRPr>
          </a:p>
          <a:p>
            <a:pPr algn="just"/>
            <a:endParaRPr lang="en-US" altLang="en-US" sz="2000" dirty="0">
              <a:solidFill>
                <a:schemeClr val="tx1"/>
              </a:solidFill>
              <a:latin typeface="Times New Roman" panose="02020603050405020304" pitchFamily="18" charset="0"/>
              <a:cs typeface="Times New Roman" panose="02020603050405020304" pitchFamily="18" charset="0"/>
            </a:endParaRPr>
          </a:p>
          <a:p>
            <a:pPr algn="just"/>
            <a:r>
              <a:rPr lang="en-US" altLang="en-US" dirty="0">
                <a:solidFill>
                  <a:schemeClr val="tx1"/>
                </a:solidFill>
                <a:latin typeface="Times New Roman" panose="02020603050405020304" pitchFamily="18" charset="0"/>
                <a:cs typeface="Times New Roman" panose="02020603050405020304" pitchFamily="18" charset="0"/>
              </a:rPr>
              <a:t>The client program should create a client socket — an instance of the class Socket — pointing at the</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computer and port on which the </a:t>
            </a:r>
            <a:r>
              <a:rPr lang="en-US" altLang="en-US" dirty="0" err="1">
                <a:solidFill>
                  <a:schemeClr val="tx1"/>
                </a:solidFill>
                <a:latin typeface="Times New Roman" panose="02020603050405020304" pitchFamily="18" charset="0"/>
                <a:cs typeface="Times New Roman" panose="02020603050405020304" pitchFamily="18" charset="0"/>
              </a:rPr>
              <a:t>ServerSocket</a:t>
            </a:r>
            <a:r>
              <a:rPr lang="en-US" altLang="en-US" dirty="0">
                <a:solidFill>
                  <a:schemeClr val="tx1"/>
                </a:solidFill>
                <a:latin typeface="Times New Roman" panose="02020603050405020304" pitchFamily="18" charset="0"/>
                <a:cs typeface="Times New Roman" panose="02020603050405020304" pitchFamily="18" charset="0"/>
              </a:rPr>
              <a:t> is running</a:t>
            </a:r>
            <a:endParaRPr lang="bn-BD" altLang="en-US" dirty="0">
              <a:solidFill>
                <a:schemeClr val="tx1"/>
              </a:solidFill>
              <a:latin typeface="Times New Roman" panose="02020603050405020304" pitchFamily="18" charset="0"/>
              <a:cs typeface="Times New Roman" panose="02020603050405020304" pitchFamily="18" charset="0"/>
            </a:endParaRPr>
          </a:p>
          <a:p>
            <a:pPr algn="just"/>
            <a:r>
              <a:rPr lang="en-US" altLang="en-US" dirty="0">
                <a:solidFill>
                  <a:schemeClr val="tx1"/>
                </a:solidFill>
                <a:latin typeface="Times New Roman" panose="02020603050405020304" pitchFamily="18" charset="0"/>
                <a:cs typeface="Times New Roman" panose="02020603050405020304" pitchFamily="18" charset="0"/>
              </a:rPr>
              <a:t>The client program can connect to the server</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using hostnames or IP addresses too, for example:</a:t>
            </a:r>
          </a:p>
          <a:p>
            <a:pPr algn="just"/>
            <a:endParaRPr lang="en-US" altLang="en-US" dirty="0">
              <a:solidFill>
                <a:schemeClr val="tx1"/>
              </a:solidFill>
              <a:latin typeface="Times New Roman" panose="02020603050405020304" pitchFamily="18" charset="0"/>
              <a:cs typeface="Times New Roman" panose="02020603050405020304" pitchFamily="18" charset="0"/>
            </a:endParaRPr>
          </a:p>
          <a:p>
            <a:endParaRPr lang="en-US" altLang="en-US" dirty="0">
              <a:solidFill>
                <a:schemeClr val="tx1"/>
              </a:solidFill>
            </a:endParaRPr>
          </a:p>
        </p:txBody>
      </p:sp>
      <p:sp>
        <p:nvSpPr>
          <p:cNvPr id="9220" name="Slide Number Placeholder 3">
            <a:extLst>
              <a:ext uri="{FF2B5EF4-FFF2-40B4-BE49-F238E27FC236}">
                <a16:creationId xmlns:a16="http://schemas.microsoft.com/office/drawing/2014/main" xmlns="" id="{A8A353AE-F338-4837-BA14-6C54456636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22AA13D7-3346-4415-BED3-432A133B207D}" type="slidenum">
              <a:rPr lang="en-US" altLang="en-US" sz="1400">
                <a:solidFill>
                  <a:schemeClr val="tx1"/>
                </a:solidFill>
                <a:latin typeface="Times New Roman" panose="02020603050405020304" pitchFamily="18" charset="0"/>
              </a:rPr>
              <a:pPr>
                <a:lnSpc>
                  <a:spcPct val="100000"/>
                </a:lnSpc>
                <a:spcBef>
                  <a:spcPct val="0"/>
                </a:spcBef>
                <a:buClrTx/>
                <a:buFontTx/>
                <a:buNone/>
              </a:pPr>
              <a:t>9</a:t>
            </a:fld>
            <a:endParaRPr lang="en-US" altLang="en-US" sz="1400">
              <a:solidFill>
                <a:schemeClr val="tx1"/>
              </a:solidFill>
              <a:latin typeface="Times New Roman" panose="02020603050405020304" pitchFamily="18" charset="0"/>
            </a:endParaRPr>
          </a:p>
        </p:txBody>
      </p:sp>
      <p:sp>
        <p:nvSpPr>
          <p:cNvPr id="9221" name="Rectangle 4">
            <a:extLst>
              <a:ext uri="{FF2B5EF4-FFF2-40B4-BE49-F238E27FC236}">
                <a16:creationId xmlns:a16="http://schemas.microsoft.com/office/drawing/2014/main" xmlns="" id="{CD3E2AAB-DCA5-4EFF-A590-9E9D6683B885}"/>
              </a:ext>
            </a:extLst>
          </p:cNvPr>
          <p:cNvSpPr>
            <a:spLocks noChangeArrowheads="1"/>
          </p:cNvSpPr>
          <p:nvPr/>
        </p:nvSpPr>
        <p:spPr bwMode="auto">
          <a:xfrm>
            <a:off x="1371600" y="2356500"/>
            <a:ext cx="6781800" cy="800219"/>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gn="just">
              <a:lnSpc>
                <a:spcPct val="100000"/>
              </a:lnSpc>
              <a:spcBef>
                <a:spcPct val="0"/>
              </a:spcBef>
              <a:buClrTx/>
              <a:buFontTx/>
              <a:buNone/>
            </a:pPr>
            <a:r>
              <a:rPr lang="en-US" altLang="en-US" sz="2300" dirty="0" err="1">
                <a:latin typeface="Times New Roman" panose="02020603050405020304" pitchFamily="18" charset="0"/>
                <a:cs typeface="Times New Roman" panose="02020603050405020304" pitchFamily="18" charset="0"/>
              </a:rPr>
              <a:t>ServerSocket</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serverSocket</a:t>
            </a:r>
            <a:r>
              <a:rPr lang="en-US" altLang="en-US" sz="2300" dirty="0">
                <a:latin typeface="Times New Roman" panose="02020603050405020304" pitchFamily="18" charset="0"/>
                <a:cs typeface="Times New Roman" panose="02020603050405020304" pitchFamily="18" charset="0"/>
              </a:rPr>
              <a:t> = new </a:t>
            </a:r>
            <a:r>
              <a:rPr lang="en-US" altLang="en-US" sz="2300" dirty="0" err="1">
                <a:latin typeface="Times New Roman" panose="02020603050405020304" pitchFamily="18" charset="0"/>
                <a:cs typeface="Times New Roman" panose="02020603050405020304" pitchFamily="18" charset="0"/>
              </a:rPr>
              <a:t>ServerSocket</a:t>
            </a:r>
            <a:r>
              <a:rPr lang="en-US" altLang="en-US" sz="2300" dirty="0">
                <a:latin typeface="Times New Roman" panose="02020603050405020304" pitchFamily="18" charset="0"/>
                <a:cs typeface="Times New Roman" panose="02020603050405020304" pitchFamily="18" charset="0"/>
              </a:rPr>
              <a:t>(4999);</a:t>
            </a:r>
          </a:p>
          <a:p>
            <a:pPr algn="just">
              <a:lnSpc>
                <a:spcPct val="100000"/>
              </a:lnSpc>
              <a:spcBef>
                <a:spcPct val="0"/>
              </a:spcBef>
              <a:buClrTx/>
              <a:buFontTx/>
              <a:buNone/>
            </a:pPr>
            <a:r>
              <a:rPr lang="en-US" altLang="en-US" sz="2300" dirty="0">
                <a:latin typeface="Times New Roman" panose="02020603050405020304" pitchFamily="18" charset="0"/>
                <a:cs typeface="Times New Roman" panose="02020603050405020304" pitchFamily="18" charset="0"/>
              </a:rPr>
              <a:t>Socket s = </a:t>
            </a:r>
            <a:r>
              <a:rPr lang="en-US" altLang="en-US" sz="2300" dirty="0" err="1">
                <a:latin typeface="Times New Roman" panose="02020603050405020304" pitchFamily="18" charset="0"/>
                <a:cs typeface="Times New Roman" panose="02020603050405020304" pitchFamily="18" charset="0"/>
              </a:rPr>
              <a:t>serverSocket.accept</a:t>
            </a:r>
            <a:r>
              <a:rPr lang="en-US" altLang="en-US" sz="2300" dirty="0">
                <a:latin typeface="Times New Roman" panose="02020603050405020304" pitchFamily="18" charset="0"/>
                <a:cs typeface="Times New Roman" panose="02020603050405020304" pitchFamily="18" charset="0"/>
              </a:rPr>
              <a:t>();</a:t>
            </a:r>
            <a:endParaRPr lang="bn-BD" altLang="en-US" sz="2300" dirty="0">
              <a:latin typeface="Times New Roman" panose="02020603050405020304" pitchFamily="18" charset="0"/>
              <a:cs typeface="Times New Roman" panose="02020603050405020304" pitchFamily="18" charset="0"/>
            </a:endParaRPr>
          </a:p>
        </p:txBody>
      </p:sp>
      <p:sp>
        <p:nvSpPr>
          <p:cNvPr id="9222" name="Rectangle 5">
            <a:extLst>
              <a:ext uri="{FF2B5EF4-FFF2-40B4-BE49-F238E27FC236}">
                <a16:creationId xmlns:a16="http://schemas.microsoft.com/office/drawing/2014/main" xmlns="" id="{7BA61F80-C4C0-4D7C-8B9C-5D7EE154D253}"/>
              </a:ext>
            </a:extLst>
          </p:cNvPr>
          <p:cNvSpPr>
            <a:spLocks noChangeArrowheads="1"/>
          </p:cNvSpPr>
          <p:nvPr/>
        </p:nvSpPr>
        <p:spPr bwMode="auto">
          <a:xfrm>
            <a:off x="1028700" y="5475238"/>
            <a:ext cx="7543800" cy="1154162"/>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gn="just">
              <a:lnSpc>
                <a:spcPct val="100000"/>
              </a:lnSpc>
              <a:spcBef>
                <a:spcPct val="0"/>
              </a:spcBef>
              <a:buClrTx/>
              <a:buFontTx/>
              <a:buNone/>
            </a:pPr>
            <a:r>
              <a:rPr lang="en-US" altLang="en-US" sz="2300" dirty="0" err="1">
                <a:latin typeface="Times New Roman" panose="02020603050405020304" pitchFamily="18" charset="0"/>
                <a:cs typeface="Times New Roman" panose="02020603050405020304" pitchFamily="18" charset="0"/>
              </a:rPr>
              <a:t>clientSocket</a:t>
            </a:r>
            <a:r>
              <a:rPr lang="en-US" altLang="en-US" sz="2300" dirty="0">
                <a:latin typeface="Times New Roman" panose="02020603050405020304" pitchFamily="18" charset="0"/>
                <a:cs typeface="Times New Roman" panose="02020603050405020304" pitchFamily="18" charset="0"/>
              </a:rPr>
              <a:t> = new Socket(“124.67.98.101”, 3000);</a:t>
            </a:r>
          </a:p>
          <a:p>
            <a:pPr algn="just">
              <a:lnSpc>
                <a:spcPct val="100000"/>
              </a:lnSpc>
              <a:spcBef>
                <a:spcPct val="0"/>
              </a:spcBef>
              <a:buClrTx/>
              <a:buFontTx/>
              <a:buNone/>
            </a:pPr>
            <a:r>
              <a:rPr lang="en-US" altLang="en-US" sz="2300" dirty="0" err="1">
                <a:latin typeface="Times New Roman" panose="02020603050405020304" pitchFamily="18" charset="0"/>
                <a:cs typeface="Times New Roman" panose="02020603050405020304" pitchFamily="18" charset="0"/>
              </a:rPr>
              <a:t>clientSocket</a:t>
            </a:r>
            <a:r>
              <a:rPr lang="en-US" altLang="en-US" sz="2300" dirty="0">
                <a:latin typeface="Times New Roman" panose="02020603050405020304" pitchFamily="18" charset="0"/>
                <a:cs typeface="Times New Roman" panose="02020603050405020304" pitchFamily="18" charset="0"/>
              </a:rPr>
              <a:t> = new Socket(“localhost”, 3000);</a:t>
            </a:r>
          </a:p>
          <a:p>
            <a:pPr algn="just">
              <a:lnSpc>
                <a:spcPct val="100000"/>
              </a:lnSpc>
              <a:spcBef>
                <a:spcPct val="0"/>
              </a:spcBef>
              <a:buClrTx/>
              <a:buFontTx/>
              <a:buNone/>
            </a:pPr>
            <a:r>
              <a:rPr lang="en-US" altLang="en-US" sz="2300" dirty="0" err="1">
                <a:latin typeface="Times New Roman" panose="02020603050405020304" pitchFamily="18" charset="0"/>
                <a:cs typeface="Times New Roman" panose="02020603050405020304" pitchFamily="18" charset="0"/>
              </a:rPr>
              <a:t>clientSocket</a:t>
            </a:r>
            <a:r>
              <a:rPr lang="en-US" altLang="en-US" sz="2300" dirty="0">
                <a:latin typeface="Times New Roman" panose="02020603050405020304" pitchFamily="18" charset="0"/>
                <a:cs typeface="Times New Roman" panose="02020603050405020304" pitchFamily="18" charset="0"/>
              </a:rPr>
              <a:t> = new Socket(“</a:t>
            </a:r>
            <a:r>
              <a:rPr lang="en-US" sz="2300" dirty="0">
                <a:latin typeface="Times New Roman" panose="02020603050405020304" pitchFamily="18" charset="0"/>
                <a:cs typeface="Times New Roman" panose="02020603050405020304" pitchFamily="18" charset="0"/>
              </a:rPr>
              <a:t>liang.armstrong.edu</a:t>
            </a:r>
            <a:r>
              <a:rPr lang="en-US" altLang="en-US" sz="2300" dirty="0">
                <a:latin typeface="Times New Roman" panose="02020603050405020304" pitchFamily="18" charset="0"/>
                <a:cs typeface="Times New Roman" panose="02020603050405020304" pitchFamily="18" charset="0"/>
              </a:rPr>
              <a:t>”, 3000);</a:t>
            </a:r>
          </a:p>
        </p:txBody>
      </p:sp>
    </p:spTree>
    <p:extLst>
      <p:ext uri="{BB962C8B-B14F-4D97-AF65-F5344CB8AC3E}">
        <p14:creationId xmlns:p14="http://schemas.microsoft.com/office/powerpoint/2010/main" val="304185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barn(inVertic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219">
                                            <p:txEl>
                                              <p:pRg st="0" end="0"/>
                                            </p:txEl>
                                          </p:spTgt>
                                        </p:tgtEl>
                                        <p:attrNameLst>
                                          <p:attrName>style.visibility</p:attrName>
                                        </p:attrNameLst>
                                      </p:cBhvr>
                                      <p:to>
                                        <p:strVal val="visible"/>
                                      </p:to>
                                    </p:set>
                                    <p:animEffect transition="in" filter="barn(inVertical)">
                                      <p:cBhvr>
                                        <p:cTn id="12" dur="500"/>
                                        <p:tgtEl>
                                          <p:spTgt spid="92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9221"/>
                                        </p:tgtEl>
                                        <p:attrNameLst>
                                          <p:attrName>style.visibility</p:attrName>
                                        </p:attrNameLst>
                                      </p:cBhvr>
                                      <p:to>
                                        <p:strVal val="visible"/>
                                      </p:to>
                                    </p:set>
                                    <p:animEffect transition="in" filter="fade">
                                      <p:cBhvr>
                                        <p:cTn id="17" dur="1000"/>
                                        <p:tgtEl>
                                          <p:spTgt spid="9221"/>
                                        </p:tgtEl>
                                      </p:cBhvr>
                                    </p:animEffect>
                                    <p:anim calcmode="lin" valueType="num">
                                      <p:cBhvr>
                                        <p:cTn id="18" dur="1000" fill="hold"/>
                                        <p:tgtEl>
                                          <p:spTgt spid="9221"/>
                                        </p:tgtEl>
                                        <p:attrNameLst>
                                          <p:attrName>ppt_x</p:attrName>
                                        </p:attrNameLst>
                                      </p:cBhvr>
                                      <p:tavLst>
                                        <p:tav tm="0">
                                          <p:val>
                                            <p:strVal val="#ppt_x"/>
                                          </p:val>
                                        </p:tav>
                                        <p:tav tm="100000">
                                          <p:val>
                                            <p:strVal val="#ppt_x"/>
                                          </p:val>
                                        </p:tav>
                                      </p:tavLst>
                                    </p:anim>
                                    <p:anim calcmode="lin" valueType="num">
                                      <p:cBhvr>
                                        <p:cTn id="19" dur="1000" fill="hold"/>
                                        <p:tgtEl>
                                          <p:spTgt spid="9221"/>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nodeType="clickEffect">
                                  <p:stCondLst>
                                    <p:cond delay="0"/>
                                  </p:stCondLst>
                                  <p:childTnLst>
                                    <p:set>
                                      <p:cBhvr>
                                        <p:cTn id="23" dur="1" fill="hold">
                                          <p:stCondLst>
                                            <p:cond delay="0"/>
                                          </p:stCondLst>
                                        </p:cTn>
                                        <p:tgtEl>
                                          <p:spTgt spid="9219">
                                            <p:txEl>
                                              <p:pRg st="4" end="4"/>
                                            </p:txEl>
                                          </p:spTgt>
                                        </p:tgtEl>
                                        <p:attrNameLst>
                                          <p:attrName>style.visibility</p:attrName>
                                        </p:attrNameLst>
                                      </p:cBhvr>
                                      <p:to>
                                        <p:strVal val="visible"/>
                                      </p:to>
                                    </p:set>
                                    <p:animEffect transition="in" filter="barn(inVertical)">
                                      <p:cBhvr>
                                        <p:cTn id="24" dur="500"/>
                                        <p:tgtEl>
                                          <p:spTgt spid="9219">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21" fill="hold" nodeType="clickEffect">
                                  <p:stCondLst>
                                    <p:cond delay="0"/>
                                  </p:stCondLst>
                                  <p:childTnLst>
                                    <p:set>
                                      <p:cBhvr>
                                        <p:cTn id="28" dur="1" fill="hold">
                                          <p:stCondLst>
                                            <p:cond delay="0"/>
                                          </p:stCondLst>
                                        </p:cTn>
                                        <p:tgtEl>
                                          <p:spTgt spid="9219">
                                            <p:txEl>
                                              <p:pRg st="5" end="5"/>
                                            </p:txEl>
                                          </p:spTgt>
                                        </p:tgtEl>
                                        <p:attrNameLst>
                                          <p:attrName>style.visibility</p:attrName>
                                        </p:attrNameLst>
                                      </p:cBhvr>
                                      <p:to>
                                        <p:strVal val="visible"/>
                                      </p:to>
                                    </p:set>
                                    <p:animEffect transition="in" filter="barn(inVertical)">
                                      <p:cBhvr>
                                        <p:cTn id="29" dur="500"/>
                                        <p:tgtEl>
                                          <p:spTgt spid="9219">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222"/>
                                        </p:tgtEl>
                                        <p:attrNameLst>
                                          <p:attrName>style.visibility</p:attrName>
                                        </p:attrNameLst>
                                      </p:cBhvr>
                                      <p:to>
                                        <p:strVal val="visible"/>
                                      </p:to>
                                    </p:set>
                                    <p:animEffect transition="in" filter="fade">
                                      <p:cBhvr>
                                        <p:cTn id="34" dur="1000"/>
                                        <p:tgtEl>
                                          <p:spTgt spid="9222"/>
                                        </p:tgtEl>
                                      </p:cBhvr>
                                    </p:animEffect>
                                    <p:anim calcmode="lin" valueType="num">
                                      <p:cBhvr>
                                        <p:cTn id="35" dur="1000" fill="hold"/>
                                        <p:tgtEl>
                                          <p:spTgt spid="9222"/>
                                        </p:tgtEl>
                                        <p:attrNameLst>
                                          <p:attrName>ppt_x</p:attrName>
                                        </p:attrNameLst>
                                      </p:cBhvr>
                                      <p:tavLst>
                                        <p:tav tm="0">
                                          <p:val>
                                            <p:strVal val="#ppt_x"/>
                                          </p:val>
                                        </p:tav>
                                        <p:tav tm="100000">
                                          <p:val>
                                            <p:strVal val="#ppt_x"/>
                                          </p:val>
                                        </p:tav>
                                      </p:tavLst>
                                    </p:anim>
                                    <p:anim calcmode="lin" valueType="num">
                                      <p:cBhvr>
                                        <p:cTn id="36" dur="1000" fill="hold"/>
                                        <p:tgtEl>
                                          <p:spTgt spid="92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nimBg="1"/>
      <p:bldP spid="92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xmlns="" id="{64553641-FBCB-4959-8C21-FC94B8C44EC2}"/>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9219" name="Content Placeholder 2">
            <a:extLst>
              <a:ext uri="{FF2B5EF4-FFF2-40B4-BE49-F238E27FC236}">
                <a16:creationId xmlns:a16="http://schemas.microsoft.com/office/drawing/2014/main" xmlns="" id="{7D5D3147-F79A-4951-A022-1FB773D450EA}"/>
              </a:ext>
            </a:extLst>
          </p:cNvPr>
          <p:cNvSpPr>
            <a:spLocks noGrp="1"/>
          </p:cNvSpPr>
          <p:nvPr>
            <p:ph idx="1"/>
          </p:nvPr>
        </p:nvSpPr>
        <p:spPr/>
        <p:txBody>
          <a:bodyPr/>
          <a:lstStyle/>
          <a:p>
            <a:pPr marL="0" indent="0" algn="just">
              <a:buNone/>
            </a:pPr>
            <a:r>
              <a:rPr lang="en-US" altLang="en-US" sz="3200" dirty="0">
                <a:solidFill>
                  <a:srgbClr val="C00000"/>
                </a:solidFill>
                <a:latin typeface="Times New Roman" panose="02020603050405020304" pitchFamily="18" charset="0"/>
                <a:cs typeface="Times New Roman" panose="02020603050405020304" pitchFamily="18" charset="0"/>
              </a:rPr>
              <a:t>Server Socket and Client Socket</a:t>
            </a:r>
          </a:p>
          <a:p>
            <a:r>
              <a:rPr lang="en-US" dirty="0">
                <a:solidFill>
                  <a:schemeClr val="tx1"/>
                </a:solidFill>
                <a:latin typeface="Times New Roman" panose="02020603050405020304" pitchFamily="18" charset="0"/>
                <a:cs typeface="Times New Roman" panose="02020603050405020304" pitchFamily="18" charset="0"/>
              </a:rPr>
              <a:t>When you create a socket with a host name, the JVM asks the DNS to translate the host name into the IP address.</a:t>
            </a:r>
          </a:p>
          <a:p>
            <a:pPr marL="0" indent="0" algn="just">
              <a:buNone/>
            </a:pPr>
            <a:r>
              <a:rPr lang="en-US" sz="3200" dirty="0">
                <a:solidFill>
                  <a:srgbClr val="C00000"/>
                </a:solidFill>
                <a:latin typeface="Times New Roman" panose="02020603050405020304" pitchFamily="18" charset="0"/>
                <a:cs typeface="Times New Roman" panose="02020603050405020304" pitchFamily="18" charset="0"/>
              </a:rPr>
              <a:t>Data Transmission through Sockets</a:t>
            </a:r>
          </a:p>
          <a:p>
            <a:r>
              <a:rPr lang="en-US" dirty="0">
                <a:solidFill>
                  <a:schemeClr val="tx1"/>
                </a:solidFill>
                <a:latin typeface="Times New Roman" panose="02020603050405020304" pitchFamily="18" charset="0"/>
                <a:cs typeface="Times New Roman" panose="02020603050405020304" pitchFamily="18" charset="0"/>
              </a:rPr>
              <a:t>After the server accepts the connection, communication between the server and the client is stated</a:t>
            </a:r>
          </a:p>
          <a:p>
            <a:r>
              <a:rPr lang="en-US" dirty="0">
                <a:solidFill>
                  <a:schemeClr val="tx1"/>
                </a:solidFill>
                <a:latin typeface="Times New Roman" panose="02020603050405020304" pitchFamily="18" charset="0"/>
                <a:cs typeface="Times New Roman" panose="02020603050405020304" pitchFamily="18" charset="0"/>
              </a:rPr>
              <a:t>The statements needed to create the streams and to exchange data between them are shown in the next Figure</a:t>
            </a:r>
          </a:p>
        </p:txBody>
      </p:sp>
      <p:sp>
        <p:nvSpPr>
          <p:cNvPr id="9220" name="Slide Number Placeholder 3">
            <a:extLst>
              <a:ext uri="{FF2B5EF4-FFF2-40B4-BE49-F238E27FC236}">
                <a16:creationId xmlns:a16="http://schemas.microsoft.com/office/drawing/2014/main" xmlns="" id="{A8A353AE-F338-4837-BA14-6C54456636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22AA13D7-3346-4415-BED3-432A133B207D}" type="slidenum">
              <a:rPr lang="en-US" altLang="en-US" sz="1400">
                <a:solidFill>
                  <a:schemeClr val="tx1"/>
                </a:solidFill>
                <a:latin typeface="Times New Roman" panose="02020603050405020304" pitchFamily="18" charset="0"/>
              </a:rPr>
              <a:pPr>
                <a:lnSpc>
                  <a:spcPct val="100000"/>
                </a:lnSpc>
                <a:spcBef>
                  <a:spcPct val="0"/>
                </a:spcBef>
                <a:buClrTx/>
                <a:buFontTx/>
                <a:buNone/>
              </a:pPr>
              <a:t>10</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52929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arn(inVertical)">
                                      <p:cBhvr>
                                        <p:cTn id="7"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xmlns="" id="{64553641-FBCB-4959-8C21-FC94B8C44EC2}"/>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9219" name="Content Placeholder 2">
            <a:extLst>
              <a:ext uri="{FF2B5EF4-FFF2-40B4-BE49-F238E27FC236}">
                <a16:creationId xmlns:a16="http://schemas.microsoft.com/office/drawing/2014/main" xmlns="" id="{7D5D3147-F79A-4951-A022-1FB773D450EA}"/>
              </a:ext>
            </a:extLst>
          </p:cNvPr>
          <p:cNvSpPr>
            <a:spLocks noGrp="1"/>
          </p:cNvSpPr>
          <p:nvPr>
            <p:ph idx="1"/>
          </p:nvPr>
        </p:nvSpPr>
        <p:spPr/>
        <p:txBody>
          <a:bodyPr/>
          <a:lstStyle/>
          <a:p>
            <a:pPr marL="0" indent="0" algn="just">
              <a:buNone/>
            </a:pPr>
            <a:r>
              <a:rPr lang="en-US" sz="3200" dirty="0">
                <a:solidFill>
                  <a:srgbClr val="C00000"/>
                </a:solidFill>
                <a:latin typeface="Times New Roman" panose="02020603050405020304" pitchFamily="18" charset="0"/>
                <a:cs typeface="Times New Roman" panose="02020603050405020304" pitchFamily="18" charset="0"/>
              </a:rPr>
              <a:t>Data Transmission through Sockets</a:t>
            </a:r>
          </a:p>
        </p:txBody>
      </p:sp>
      <p:sp>
        <p:nvSpPr>
          <p:cNvPr id="9220" name="Slide Number Placeholder 3">
            <a:extLst>
              <a:ext uri="{FF2B5EF4-FFF2-40B4-BE49-F238E27FC236}">
                <a16:creationId xmlns:a16="http://schemas.microsoft.com/office/drawing/2014/main" xmlns="" id="{A8A353AE-F338-4837-BA14-6C54456636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22AA13D7-3346-4415-BED3-432A133B207D}" type="slidenum">
              <a:rPr lang="en-US" altLang="en-US" sz="1400">
                <a:solidFill>
                  <a:schemeClr val="tx1"/>
                </a:solidFill>
                <a:latin typeface="Times New Roman" panose="02020603050405020304" pitchFamily="18" charset="0"/>
              </a:rPr>
              <a:pPr>
                <a:lnSpc>
                  <a:spcPct val="100000"/>
                </a:lnSpc>
                <a:spcBef>
                  <a:spcPct val="0"/>
                </a:spcBef>
                <a:buClrTx/>
                <a:buFontTx/>
                <a:buNone/>
              </a:pPr>
              <a:t>11</a:t>
            </a:fld>
            <a:endParaRPr lang="en-US" altLang="en-US" sz="1400">
              <a:solidFill>
                <a:schemeClr val="tx1"/>
              </a:solidFill>
              <a:latin typeface="Times New Roman" panose="02020603050405020304" pitchFamily="18" charset="0"/>
            </a:endParaRPr>
          </a:p>
        </p:txBody>
      </p:sp>
      <p:pic>
        <p:nvPicPr>
          <p:cNvPr id="3" name="Picture 2">
            <a:extLst>
              <a:ext uri="{FF2B5EF4-FFF2-40B4-BE49-F238E27FC236}">
                <a16:creationId xmlns:a16="http://schemas.microsoft.com/office/drawing/2014/main" xmlns="" id="{C86CB127-EA59-7B53-D1FE-8AD4D7ECD01E}"/>
              </a:ext>
            </a:extLst>
          </p:cNvPr>
          <p:cNvPicPr>
            <a:picLocks noChangeAspect="1"/>
          </p:cNvPicPr>
          <p:nvPr/>
        </p:nvPicPr>
        <p:blipFill>
          <a:blip r:embed="rId3"/>
          <a:stretch>
            <a:fillRect/>
          </a:stretch>
        </p:blipFill>
        <p:spPr>
          <a:xfrm>
            <a:off x="0" y="2057400"/>
            <a:ext cx="9144000" cy="3614422"/>
          </a:xfrm>
          <a:prstGeom prst="rect">
            <a:avLst/>
          </a:prstGeom>
        </p:spPr>
      </p:pic>
      <p:sp>
        <p:nvSpPr>
          <p:cNvPr id="4" name="TextBox 3">
            <a:extLst>
              <a:ext uri="{FF2B5EF4-FFF2-40B4-BE49-F238E27FC236}">
                <a16:creationId xmlns:a16="http://schemas.microsoft.com/office/drawing/2014/main" xmlns="" id="{6A69D821-E759-EE99-823E-CF70C26D667C}"/>
              </a:ext>
            </a:extLst>
          </p:cNvPr>
          <p:cNvSpPr txBox="1"/>
          <p:nvPr/>
        </p:nvSpPr>
        <p:spPr>
          <a:xfrm>
            <a:off x="609600" y="5858223"/>
            <a:ext cx="7848600" cy="707886"/>
          </a:xfrm>
          <a:prstGeom prst="rect">
            <a:avLst/>
          </a:prstGeom>
          <a:noFill/>
        </p:spPr>
        <p:txBody>
          <a:bodyPr wrap="square">
            <a:spAutoFit/>
          </a:bodyPr>
          <a:lstStyle/>
          <a:p>
            <a:r>
              <a:rPr lang="en-US" sz="2000" b="1" i="0" u="none" strike="noStrike" baseline="0" dirty="0">
                <a:solidFill>
                  <a:srgbClr val="005B80"/>
                </a:solidFill>
                <a:latin typeface="Times New Roman" panose="02020603050405020304" pitchFamily="18" charset="0"/>
                <a:cs typeface="Times New Roman" panose="02020603050405020304" pitchFamily="18" charset="0"/>
              </a:rPr>
              <a:t>FIGURE: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The server and client exchange data through I/O streams on top of the socket.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1989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xmlns="" id="{E9A96A65-291B-4AF7-9DD7-0DE9E10A4324}"/>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Programming</a:t>
            </a:r>
            <a:endParaRPr lang="en-US" altLang="en-US"/>
          </a:p>
        </p:txBody>
      </p:sp>
      <p:sp>
        <p:nvSpPr>
          <p:cNvPr id="10243" name="Content Placeholder 2">
            <a:extLst>
              <a:ext uri="{FF2B5EF4-FFF2-40B4-BE49-F238E27FC236}">
                <a16:creationId xmlns:a16="http://schemas.microsoft.com/office/drawing/2014/main" xmlns="" id="{51F75081-8345-4273-823D-88835B1AB9D4}"/>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While deciding which port number to use for the </a:t>
            </a:r>
            <a:r>
              <a:rPr lang="en-US" altLang="en-US" dirty="0" err="1">
                <a:solidFill>
                  <a:schemeClr val="tx1"/>
                </a:solidFill>
                <a:latin typeface="Times New Roman" panose="02020603050405020304" pitchFamily="18" charset="0"/>
                <a:cs typeface="Times New Roman" panose="02020603050405020304" pitchFamily="18" charset="0"/>
              </a:rPr>
              <a:t>ServerSocket</a:t>
            </a:r>
            <a:r>
              <a:rPr lang="en-US" altLang="en-US" dirty="0">
                <a:solidFill>
                  <a:schemeClr val="tx1"/>
                </a:solidFill>
                <a:latin typeface="Times New Roman" panose="02020603050405020304" pitchFamily="18" charset="0"/>
                <a:cs typeface="Times New Roman" panose="02020603050405020304" pitchFamily="18" charset="0"/>
              </a:rPr>
              <a:t>, avoid using port numbers below to avoid conflicts with other system programs</a:t>
            </a:r>
            <a:endParaRPr lang="bn-BD" altLang="en-US" dirty="0">
              <a:solidFill>
                <a:schemeClr val="tx1"/>
              </a:solidFill>
              <a:latin typeface="Times New Roman" panose="02020603050405020304" pitchFamily="18" charset="0"/>
              <a:cs typeface="Times New Roman" panose="02020603050405020304" pitchFamily="18" charset="0"/>
            </a:endParaRPr>
          </a:p>
          <a:p>
            <a:pPr algn="just"/>
            <a:r>
              <a:rPr lang="en-US" altLang="en-US" dirty="0">
                <a:solidFill>
                  <a:schemeClr val="tx1"/>
                </a:solidFill>
                <a:latin typeface="Times New Roman" panose="02020603050405020304" pitchFamily="18" charset="0"/>
                <a:cs typeface="Times New Roman" panose="02020603050405020304" pitchFamily="18" charset="0"/>
              </a:rPr>
              <a:t>For example, </a:t>
            </a:r>
            <a:endParaRPr lang="bn-BD" altLang="en-US" dirty="0">
              <a:solidFill>
                <a:schemeClr val="tx1"/>
              </a:solidFill>
              <a:latin typeface="Times New Roman" panose="02020603050405020304" pitchFamily="18" charset="0"/>
              <a:cs typeface="Times New Roman" panose="02020603050405020304" pitchFamily="18" charset="0"/>
            </a:endParaRPr>
          </a:p>
          <a:p>
            <a:pPr lvl="1" algn="just"/>
            <a:r>
              <a:rPr lang="en-US" altLang="en-US" dirty="0">
                <a:solidFill>
                  <a:srgbClr val="C00000"/>
                </a:solidFill>
                <a:latin typeface="Times New Roman" panose="02020603050405020304" pitchFamily="18" charset="0"/>
                <a:cs typeface="Times New Roman" panose="02020603050405020304" pitchFamily="18" charset="0"/>
              </a:rPr>
              <a:t>port 80 is typically used by</a:t>
            </a:r>
            <a:r>
              <a:rPr lang="bn-BD" altLang="en-US" dirty="0">
                <a:solidFill>
                  <a:srgbClr val="C00000"/>
                </a:solidFill>
                <a:latin typeface="Times New Roman" panose="02020603050405020304" pitchFamily="18" charset="0"/>
                <a:cs typeface="Times New Roman" panose="02020603050405020304" pitchFamily="18" charset="0"/>
              </a:rPr>
              <a:t> </a:t>
            </a:r>
            <a:r>
              <a:rPr lang="en-US" altLang="en-US" dirty="0">
                <a:solidFill>
                  <a:srgbClr val="C00000"/>
                </a:solidFill>
                <a:latin typeface="Times New Roman" panose="02020603050405020304" pitchFamily="18" charset="0"/>
                <a:cs typeface="Times New Roman" panose="02020603050405020304" pitchFamily="18" charset="0"/>
              </a:rPr>
              <a:t>HTTP servers; </a:t>
            </a:r>
            <a:endParaRPr lang="bn-BD" altLang="en-US" dirty="0">
              <a:solidFill>
                <a:srgbClr val="C00000"/>
              </a:solidFill>
              <a:latin typeface="Times New Roman" panose="02020603050405020304" pitchFamily="18" charset="0"/>
              <a:cs typeface="Times New Roman" panose="02020603050405020304" pitchFamily="18" charset="0"/>
            </a:endParaRPr>
          </a:p>
          <a:p>
            <a:pPr lvl="1" algn="just"/>
            <a:r>
              <a:rPr lang="en-US" altLang="en-US" dirty="0">
                <a:solidFill>
                  <a:srgbClr val="C00000"/>
                </a:solidFill>
                <a:latin typeface="Times New Roman" panose="02020603050405020304" pitchFamily="18" charset="0"/>
                <a:cs typeface="Times New Roman" panose="02020603050405020304" pitchFamily="18" charset="0"/>
              </a:rPr>
              <a:t>port 443 is reserved for HTTPS; </a:t>
            </a:r>
            <a:endParaRPr lang="bn-BD" altLang="en-US" dirty="0">
              <a:solidFill>
                <a:srgbClr val="C00000"/>
              </a:solidFill>
              <a:latin typeface="Times New Roman" panose="02020603050405020304" pitchFamily="18" charset="0"/>
              <a:cs typeface="Times New Roman" panose="02020603050405020304" pitchFamily="18" charset="0"/>
            </a:endParaRPr>
          </a:p>
          <a:p>
            <a:pPr lvl="1" algn="just"/>
            <a:r>
              <a:rPr lang="en-US" altLang="en-US" dirty="0">
                <a:solidFill>
                  <a:srgbClr val="C00000"/>
                </a:solidFill>
                <a:latin typeface="Times New Roman" panose="02020603050405020304" pitchFamily="18" charset="0"/>
                <a:cs typeface="Times New Roman" panose="02020603050405020304" pitchFamily="18" charset="0"/>
              </a:rPr>
              <a:t>port 21 is typically used for FTP communications;</a:t>
            </a:r>
            <a:r>
              <a:rPr lang="bn-BD" altLang="en-US" dirty="0">
                <a:solidFill>
                  <a:srgbClr val="C00000"/>
                </a:solidFill>
                <a:latin typeface="Times New Roman" panose="02020603050405020304" pitchFamily="18" charset="0"/>
                <a:cs typeface="Times New Roman" panose="02020603050405020304" pitchFamily="18" charset="0"/>
              </a:rPr>
              <a:t> </a:t>
            </a:r>
          </a:p>
          <a:p>
            <a:pPr lvl="1" algn="just"/>
            <a:r>
              <a:rPr lang="en-US" altLang="en-US" dirty="0">
                <a:solidFill>
                  <a:srgbClr val="C00000"/>
                </a:solidFill>
                <a:latin typeface="Times New Roman" panose="02020603050405020304" pitchFamily="18" charset="0"/>
                <a:cs typeface="Times New Roman" panose="02020603050405020304" pitchFamily="18" charset="0"/>
              </a:rPr>
              <a:t>port 389 is for LDAP servers, and so on</a:t>
            </a:r>
            <a:endParaRPr lang="bn-BD" altLang="en-US" dirty="0">
              <a:solidFill>
                <a:srgbClr val="C00000"/>
              </a:solidFill>
              <a:latin typeface="Times New Roman" panose="02020603050405020304" pitchFamily="18" charset="0"/>
              <a:cs typeface="Times New Roman" panose="02020603050405020304" pitchFamily="18" charset="0"/>
            </a:endParaRPr>
          </a:p>
          <a:p>
            <a:pPr algn="just"/>
            <a:r>
              <a:rPr lang="en-US" altLang="en-US" dirty="0">
                <a:solidFill>
                  <a:schemeClr val="tx1"/>
                </a:solidFill>
                <a:latin typeface="Times New Roman" panose="02020603050405020304" pitchFamily="18" charset="0"/>
                <a:cs typeface="Times New Roman" panose="02020603050405020304" pitchFamily="18" charset="0"/>
              </a:rPr>
              <a:t>After creating a socket-based connection, both client and</a:t>
            </a:r>
            <a:r>
              <a:rPr lang="bn-BD"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server should obtain references to its input/output streams and use them for data exchange</a:t>
            </a:r>
          </a:p>
        </p:txBody>
      </p:sp>
      <p:sp>
        <p:nvSpPr>
          <p:cNvPr id="10244" name="Slide Number Placeholder 3">
            <a:extLst>
              <a:ext uri="{FF2B5EF4-FFF2-40B4-BE49-F238E27FC236}">
                <a16:creationId xmlns:a16="http://schemas.microsoft.com/office/drawing/2014/main" xmlns="" id="{79BD704A-7C1F-4395-B6E1-96F690D1DC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0899D638-42B4-4863-B615-E1934D467A8E}" type="slidenum">
              <a:rPr lang="en-US" altLang="en-US" sz="1400">
                <a:solidFill>
                  <a:schemeClr val="tx1"/>
                </a:solidFill>
                <a:latin typeface="Times New Roman" panose="02020603050405020304" pitchFamily="18" charset="0"/>
              </a:rPr>
              <a:pPr>
                <a:lnSpc>
                  <a:spcPct val="100000"/>
                </a:lnSpc>
                <a:spcBef>
                  <a:spcPct val="0"/>
                </a:spcBef>
                <a:buClrTx/>
                <a:buFontTx/>
                <a:buNone/>
              </a:pPr>
              <a:t>12</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arn(inVertical)">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arn(inVertical)">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fade">
                                      <p:cBhvr>
                                        <p:cTn id="17" dur="1000"/>
                                        <p:tgtEl>
                                          <p:spTgt spid="10243">
                                            <p:txEl>
                                              <p:pRg st="2" end="2"/>
                                            </p:txEl>
                                          </p:spTgt>
                                        </p:tgtEl>
                                      </p:cBhvr>
                                    </p:animEffect>
                                    <p:anim calcmode="lin" valueType="num">
                                      <p:cBhvr>
                                        <p:cTn id="18"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2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0243">
                                            <p:txEl>
                                              <p:pRg st="3" end="3"/>
                                            </p:txEl>
                                          </p:spTgt>
                                        </p:tgtEl>
                                        <p:attrNameLst>
                                          <p:attrName>style.visibility</p:attrName>
                                        </p:attrNameLst>
                                      </p:cBhvr>
                                      <p:to>
                                        <p:strVal val="visible"/>
                                      </p:to>
                                    </p:set>
                                    <p:animEffect transition="in" filter="fade">
                                      <p:cBhvr>
                                        <p:cTn id="24" dur="1000"/>
                                        <p:tgtEl>
                                          <p:spTgt spid="10243">
                                            <p:txEl>
                                              <p:pRg st="3" end="3"/>
                                            </p:txEl>
                                          </p:spTgt>
                                        </p:tgtEl>
                                      </p:cBhvr>
                                    </p:animEffect>
                                    <p:anim calcmode="lin" valueType="num">
                                      <p:cBhvr>
                                        <p:cTn id="25"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Effect transition="in" filter="fade">
                                      <p:cBhvr>
                                        <p:cTn id="31" dur="1000"/>
                                        <p:tgtEl>
                                          <p:spTgt spid="10243">
                                            <p:txEl>
                                              <p:pRg st="4" end="4"/>
                                            </p:txEl>
                                          </p:spTgt>
                                        </p:tgtEl>
                                      </p:cBhvr>
                                    </p:animEffect>
                                    <p:anim calcmode="lin" valueType="num">
                                      <p:cBhvr>
                                        <p:cTn id="32" dur="10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24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nodeType="clickEffect">
                                  <p:stCondLst>
                                    <p:cond delay="0"/>
                                  </p:stCondLst>
                                  <p:childTnLst>
                                    <p:set>
                                      <p:cBhvr>
                                        <p:cTn id="37" dur="1" fill="hold">
                                          <p:stCondLst>
                                            <p:cond delay="0"/>
                                          </p:stCondLst>
                                        </p:cTn>
                                        <p:tgtEl>
                                          <p:spTgt spid="10243">
                                            <p:txEl>
                                              <p:pRg st="5" end="5"/>
                                            </p:txEl>
                                          </p:spTgt>
                                        </p:tgtEl>
                                        <p:attrNameLst>
                                          <p:attrName>style.visibility</p:attrName>
                                        </p:attrNameLst>
                                      </p:cBhvr>
                                      <p:to>
                                        <p:strVal val="visible"/>
                                      </p:to>
                                    </p:set>
                                    <p:animEffect transition="in" filter="fade">
                                      <p:cBhvr>
                                        <p:cTn id="38" dur="1000"/>
                                        <p:tgtEl>
                                          <p:spTgt spid="10243">
                                            <p:txEl>
                                              <p:pRg st="5" end="5"/>
                                            </p:txEl>
                                          </p:spTgt>
                                        </p:tgtEl>
                                      </p:cBhvr>
                                    </p:animEffect>
                                    <p:anim calcmode="lin" valueType="num">
                                      <p:cBhvr>
                                        <p:cTn id="39" dur="10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024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1" fill="hold" nodeType="clickEffect">
                                  <p:stCondLst>
                                    <p:cond delay="0"/>
                                  </p:stCondLst>
                                  <p:childTnLst>
                                    <p:set>
                                      <p:cBhvr>
                                        <p:cTn id="44" dur="1" fill="hold">
                                          <p:stCondLst>
                                            <p:cond delay="0"/>
                                          </p:stCondLst>
                                        </p:cTn>
                                        <p:tgtEl>
                                          <p:spTgt spid="10243">
                                            <p:txEl>
                                              <p:pRg st="6" end="6"/>
                                            </p:txEl>
                                          </p:spTgt>
                                        </p:tgtEl>
                                        <p:attrNameLst>
                                          <p:attrName>style.visibility</p:attrName>
                                        </p:attrNameLst>
                                      </p:cBhvr>
                                      <p:to>
                                        <p:strVal val="visible"/>
                                      </p:to>
                                    </p:set>
                                    <p:animEffect transition="in" filter="barn(inVertical)">
                                      <p:cBhvr>
                                        <p:cTn id="45" dur="500"/>
                                        <p:tgtEl>
                                          <p:spTgt spid="10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xmlns="" id="{8610FA80-A16C-4103-B3B9-5EAF0EFC0336}"/>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a:t>
            </a:r>
          </a:p>
        </p:txBody>
      </p:sp>
      <p:sp>
        <p:nvSpPr>
          <p:cNvPr id="6147" name="Content Placeholder 2">
            <a:extLst>
              <a:ext uri="{FF2B5EF4-FFF2-40B4-BE49-F238E27FC236}">
                <a16:creationId xmlns:a16="http://schemas.microsoft.com/office/drawing/2014/main" xmlns="" id="{40F7E61E-7AF3-4779-9625-BA32EB90A8FF}"/>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An interface between an application process and transport layer</a:t>
            </a:r>
          </a:p>
          <a:p>
            <a:pPr lvl="1" algn="just"/>
            <a:r>
              <a:rPr lang="en-US" altLang="en-US" dirty="0">
                <a:solidFill>
                  <a:srgbClr val="0000FF"/>
                </a:solidFill>
                <a:latin typeface="Times New Roman" panose="02020603050405020304" pitchFamily="18" charset="0"/>
                <a:cs typeface="Times New Roman" panose="02020603050405020304" pitchFamily="18" charset="0"/>
              </a:rPr>
              <a:t>The application process can send/receive messages to/from another application process (local or remote)via a socket</a:t>
            </a:r>
          </a:p>
          <a:p>
            <a:pPr algn="just"/>
            <a:endParaRPr lang="en-US" altLang="en-US" dirty="0">
              <a:latin typeface="Times New Roman" panose="02020603050405020304" pitchFamily="18" charset="0"/>
              <a:cs typeface="Times New Roman" panose="02020603050405020304" pitchFamily="18" charset="0"/>
            </a:endParaRPr>
          </a:p>
        </p:txBody>
      </p:sp>
      <p:sp>
        <p:nvSpPr>
          <p:cNvPr id="11268" name="Slide Number Placeholder 3">
            <a:extLst>
              <a:ext uri="{FF2B5EF4-FFF2-40B4-BE49-F238E27FC236}">
                <a16:creationId xmlns:a16="http://schemas.microsoft.com/office/drawing/2014/main" xmlns="" id="{C0A6F56F-5FD5-4CF8-B500-FF73A5DEE6C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34963DBB-66BA-4E34-BE95-9A06B381761C}" type="slidenum">
              <a:rPr lang="en-US" altLang="en-US" sz="1400">
                <a:solidFill>
                  <a:schemeClr val="tx1"/>
                </a:solidFill>
                <a:latin typeface="Times New Roman" panose="02020603050405020304" pitchFamily="18" charset="0"/>
              </a:rPr>
              <a:pPr>
                <a:lnSpc>
                  <a:spcPct val="100000"/>
                </a:lnSpc>
                <a:spcBef>
                  <a:spcPct val="0"/>
                </a:spcBef>
                <a:buClrTx/>
                <a:buFontTx/>
                <a:buNone/>
              </a:pPr>
              <a:t>13</a:t>
            </a:fld>
            <a:endParaRPr lang="en-US" altLang="en-US" sz="1400">
              <a:solidFill>
                <a:schemeClr val="tx1"/>
              </a:solidFill>
              <a:latin typeface="Times New Roman" panose="02020603050405020304" pitchFamily="18" charset="0"/>
            </a:endParaRPr>
          </a:p>
        </p:txBody>
      </p:sp>
      <p:pic>
        <p:nvPicPr>
          <p:cNvPr id="6149" name="Picture 3">
            <a:extLst>
              <a:ext uri="{FF2B5EF4-FFF2-40B4-BE49-F238E27FC236}">
                <a16:creationId xmlns:a16="http://schemas.microsoft.com/office/drawing/2014/main" xmlns="" id="{3812BB77-55D9-4BB8-800C-79BAB1F56C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2752725"/>
            <a:ext cx="819150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4"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 calcmode="lin" valueType="num">
                                      <p:cBhvr additive="base">
                                        <p:cTn id="12" dur="10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nodeType="clickEffect">
                                  <p:stCondLst>
                                    <p:cond delay="0"/>
                                  </p:stCondLst>
                                  <p:childTnLst>
                                    <p:set>
                                      <p:cBhvr>
                                        <p:cTn id="17" dur="1" fill="hold">
                                          <p:stCondLst>
                                            <p:cond delay="0"/>
                                          </p:stCondLst>
                                        </p:cTn>
                                        <p:tgtEl>
                                          <p:spTgt spid="6149"/>
                                        </p:tgtEl>
                                        <p:attrNameLst>
                                          <p:attrName>style.visibility</p:attrName>
                                        </p:attrNameLst>
                                      </p:cBhvr>
                                      <p:to>
                                        <p:strVal val="visible"/>
                                      </p:to>
                                    </p:set>
                                    <p:animEffect transition="in" filter="diamond(in)">
                                      <p:cBhvr>
                                        <p:cTn id="18" dur="20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xmlns="" id="{91BF9978-9820-4A91-B958-D3A2506995B7}"/>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Socket Description</a:t>
            </a:r>
          </a:p>
        </p:txBody>
      </p:sp>
      <p:sp>
        <p:nvSpPr>
          <p:cNvPr id="12291" name="Content Placeholder 2">
            <a:extLst>
              <a:ext uri="{FF2B5EF4-FFF2-40B4-BE49-F238E27FC236}">
                <a16:creationId xmlns:a16="http://schemas.microsoft.com/office/drawing/2014/main" xmlns="" id="{BC59B94E-20F6-4CA5-B715-8F2BCAAEFEBA}"/>
              </a:ext>
            </a:extLst>
          </p:cNvPr>
          <p:cNvSpPr>
            <a:spLocks noGrp="1"/>
          </p:cNvSpPr>
          <p:nvPr>
            <p:ph idx="1"/>
          </p:nvPr>
        </p:nvSpPr>
        <p:spPr/>
        <p:txBody>
          <a:bodyPr/>
          <a:lstStyle/>
          <a:p>
            <a:endParaRPr lang="en-US" altLang="en-US"/>
          </a:p>
        </p:txBody>
      </p:sp>
      <p:sp>
        <p:nvSpPr>
          <p:cNvPr id="12292" name="Slide Number Placeholder 3">
            <a:extLst>
              <a:ext uri="{FF2B5EF4-FFF2-40B4-BE49-F238E27FC236}">
                <a16:creationId xmlns:a16="http://schemas.microsoft.com/office/drawing/2014/main" xmlns="" id="{7D6186DB-0C66-4917-914F-0BF3663E17C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9897536A-A300-40B7-AEBE-85A6653BE2CF}" type="slidenum">
              <a:rPr lang="en-US" altLang="en-US" sz="1400">
                <a:solidFill>
                  <a:schemeClr val="tx1"/>
                </a:solidFill>
                <a:latin typeface="Times New Roman" panose="02020603050405020304" pitchFamily="18" charset="0"/>
              </a:rPr>
              <a:pPr>
                <a:lnSpc>
                  <a:spcPct val="100000"/>
                </a:lnSpc>
                <a:spcBef>
                  <a:spcPct val="0"/>
                </a:spcBef>
                <a:buClrTx/>
                <a:buFontTx/>
                <a:buNone/>
              </a:pPr>
              <a:t>14</a:t>
            </a:fld>
            <a:endParaRPr lang="en-US" altLang="en-US" sz="1400">
              <a:solidFill>
                <a:schemeClr val="tx1"/>
              </a:solidFill>
              <a:latin typeface="Times New Roman" panose="02020603050405020304" pitchFamily="18" charset="0"/>
            </a:endParaRPr>
          </a:p>
        </p:txBody>
      </p:sp>
      <p:pic>
        <p:nvPicPr>
          <p:cNvPr id="7173" name="Picture 3">
            <a:extLst>
              <a:ext uri="{FF2B5EF4-FFF2-40B4-BE49-F238E27FC236}">
                <a16:creationId xmlns:a16="http://schemas.microsoft.com/office/drawing/2014/main" xmlns="" id="{86A32E59-8BE0-455E-A686-BB40B987D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19200"/>
            <a:ext cx="8839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checkerboard(across)">
                                      <p:cBhvr>
                                        <p:cTn id="7"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xmlns="" id="{5C35D986-4A2E-42A8-9195-D12999F76748}"/>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Types of Socket</a:t>
            </a:r>
          </a:p>
        </p:txBody>
      </p:sp>
      <p:sp>
        <p:nvSpPr>
          <p:cNvPr id="8195" name="Content Placeholder 2">
            <a:extLst>
              <a:ext uri="{FF2B5EF4-FFF2-40B4-BE49-F238E27FC236}">
                <a16:creationId xmlns:a16="http://schemas.microsoft.com/office/drawing/2014/main" xmlns="" id="{795C9F8A-E20F-4234-B37D-8A26303264AB}"/>
              </a:ext>
            </a:extLst>
          </p:cNvPr>
          <p:cNvSpPr>
            <a:spLocks noGrp="1"/>
          </p:cNvSpPr>
          <p:nvPr>
            <p:ph idx="1"/>
          </p:nvPr>
        </p:nvSpPr>
        <p:spPr/>
        <p:txBody>
          <a:bodyPr/>
          <a:lstStyle/>
          <a:p>
            <a:pPr algn="just"/>
            <a:r>
              <a:rPr lang="en-US" altLang="en-US" dirty="0">
                <a:solidFill>
                  <a:srgbClr val="FF0000"/>
                </a:solidFill>
                <a:latin typeface="Times New Roman" panose="02020603050405020304" pitchFamily="18" charset="0"/>
                <a:cs typeface="Times New Roman" panose="02020603050405020304" pitchFamily="18" charset="0"/>
              </a:rPr>
              <a:t>Stream sockets </a:t>
            </a:r>
          </a:p>
          <a:p>
            <a:pPr lvl="1" algn="just"/>
            <a:r>
              <a:rPr lang="en-US" altLang="en-US" dirty="0">
                <a:latin typeface="Times New Roman" panose="02020603050405020304" pitchFamily="18" charset="0"/>
                <a:cs typeface="Times New Roman" panose="02020603050405020304" pitchFamily="18" charset="0"/>
              </a:rPr>
              <a:t>Interface to the TCP (transmission control protocol)</a:t>
            </a:r>
          </a:p>
          <a:p>
            <a:pPr algn="just"/>
            <a:r>
              <a:rPr lang="en-US" altLang="en-US" dirty="0">
                <a:solidFill>
                  <a:srgbClr val="FF0000"/>
                </a:solidFill>
                <a:latin typeface="Times New Roman" panose="02020603050405020304" pitchFamily="18" charset="0"/>
                <a:cs typeface="Times New Roman" panose="02020603050405020304" pitchFamily="18" charset="0"/>
              </a:rPr>
              <a:t>Datagram sockets</a:t>
            </a:r>
            <a:r>
              <a:rPr lang="en-US" altLang="en-US" sz="2800" dirty="0">
                <a:solidFill>
                  <a:srgbClr val="FF0000"/>
                </a:solidFill>
                <a:latin typeface="Times New Roman" panose="02020603050405020304" pitchFamily="18" charset="0"/>
                <a:cs typeface="Times New Roman" panose="02020603050405020304" pitchFamily="18" charset="0"/>
              </a:rPr>
              <a:t> </a:t>
            </a:r>
          </a:p>
          <a:p>
            <a:pPr lvl="1" algn="just"/>
            <a:r>
              <a:rPr lang="en-US" altLang="en-US" dirty="0">
                <a:latin typeface="Times New Roman" panose="02020603050405020304" pitchFamily="18" charset="0"/>
                <a:cs typeface="Times New Roman" panose="02020603050405020304" pitchFamily="18" charset="0"/>
              </a:rPr>
              <a:t>Interface to the UDP (user datagram protocol)</a:t>
            </a:r>
          </a:p>
          <a:p>
            <a:pPr algn="just"/>
            <a:r>
              <a:rPr lang="en-US" altLang="en-US" dirty="0">
                <a:solidFill>
                  <a:srgbClr val="FF0000"/>
                </a:solidFill>
                <a:latin typeface="Times New Roman" panose="02020603050405020304" pitchFamily="18" charset="0"/>
                <a:cs typeface="Times New Roman" panose="02020603050405020304" pitchFamily="18" charset="0"/>
              </a:rPr>
              <a:t>Raw sockets</a:t>
            </a:r>
            <a:r>
              <a:rPr lang="en-US" altLang="en-US" sz="2800" dirty="0">
                <a:solidFill>
                  <a:srgbClr val="FF0000"/>
                </a:solidFill>
                <a:latin typeface="Times New Roman" panose="02020603050405020304" pitchFamily="18" charset="0"/>
                <a:cs typeface="Times New Roman" panose="02020603050405020304" pitchFamily="18" charset="0"/>
              </a:rPr>
              <a:t> </a:t>
            </a:r>
          </a:p>
          <a:p>
            <a:pPr lvl="1" algn="just"/>
            <a:r>
              <a:rPr lang="en-US" altLang="en-US" dirty="0">
                <a:latin typeface="Times New Roman" panose="02020603050405020304" pitchFamily="18" charset="0"/>
                <a:cs typeface="Times New Roman" panose="02020603050405020304" pitchFamily="18" charset="0"/>
              </a:rPr>
              <a:t>Interface to the IP (Internet protocol)</a:t>
            </a: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13316" name="Slide Number Placeholder 3">
            <a:extLst>
              <a:ext uri="{FF2B5EF4-FFF2-40B4-BE49-F238E27FC236}">
                <a16:creationId xmlns:a16="http://schemas.microsoft.com/office/drawing/2014/main" xmlns="" id="{C6D563AB-2F83-4655-B2A8-04903AE15B6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D4ADE70D-27D9-488F-B612-AE95EBB68446}" type="slidenum">
              <a:rPr lang="en-US" altLang="en-US" sz="1400">
                <a:solidFill>
                  <a:schemeClr val="tx1"/>
                </a:solidFill>
                <a:latin typeface="Times New Roman" panose="02020603050405020304" pitchFamily="18" charset="0"/>
              </a:rPr>
              <a:pPr>
                <a:lnSpc>
                  <a:spcPct val="100000"/>
                </a:lnSpc>
                <a:spcBef>
                  <a:spcPct val="0"/>
                </a:spcBef>
                <a:buClrTx/>
                <a:buFontTx/>
                <a:buNone/>
              </a:pPr>
              <a:t>15</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3" dur="500"/>
                                        <p:tgtEl>
                                          <p:spTgt spid="8195">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8195">
                                            <p:txEl>
                                              <p:pRg st="2" end="2"/>
                                            </p:txEl>
                                          </p:spTgt>
                                        </p:tgtEl>
                                        <p:attrNameLst>
                                          <p:attrName>style.visibility</p:attrName>
                                        </p:attrNameLst>
                                      </p:cBhvr>
                                      <p:to>
                                        <p:strVal val="visible"/>
                                      </p:to>
                                    </p:set>
                                    <p:anim calcmode="lin" valueType="num">
                                      <p:cBhvr additive="base">
                                        <p:cTn id="18"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4" dur="500"/>
                                        <p:tgtEl>
                                          <p:spTgt spid="8195">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8195">
                                            <p:txEl>
                                              <p:pRg st="4" end="4"/>
                                            </p:txEl>
                                          </p:spTgt>
                                        </p:tgtEl>
                                        <p:attrNameLst>
                                          <p:attrName>style.visibility</p:attrName>
                                        </p:attrNameLst>
                                      </p:cBhvr>
                                      <p:to>
                                        <p:strVal val="visible"/>
                                      </p:to>
                                    </p:set>
                                    <p:anim calcmode="lin" valueType="num">
                                      <p:cBhvr additive="base">
                                        <p:cTn id="29"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8195">
                                            <p:txEl>
                                              <p:pRg st="5" end="5"/>
                                            </p:txEl>
                                          </p:spTgt>
                                        </p:tgtEl>
                                        <p:attrNameLst>
                                          <p:attrName>style.visibility</p:attrName>
                                        </p:attrNameLst>
                                      </p:cBhvr>
                                      <p:to>
                                        <p:strVal val="visible"/>
                                      </p:to>
                                    </p:set>
                                    <p:animEffect transition="in" filter="blinds(horizontal)">
                                      <p:cBhvr>
                                        <p:cTn id="35"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xmlns="" id="{3140A777-93E7-4CA1-A89B-F7B437F80733}"/>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Types of Socket</a:t>
            </a:r>
            <a:endParaRPr lang="en-US" altLang="en-US"/>
          </a:p>
        </p:txBody>
      </p:sp>
      <p:sp>
        <p:nvSpPr>
          <p:cNvPr id="9219" name="Content Placeholder 2">
            <a:extLst>
              <a:ext uri="{FF2B5EF4-FFF2-40B4-BE49-F238E27FC236}">
                <a16:creationId xmlns:a16="http://schemas.microsoft.com/office/drawing/2014/main" xmlns="" id="{ECAE70AD-F8BA-4FCA-840F-A72552E46427}"/>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A socket programming construct can use either UDP or TCP transport protocols</a:t>
            </a:r>
          </a:p>
          <a:p>
            <a:pPr algn="just"/>
            <a:r>
              <a:rPr lang="en-US" altLang="en-US" dirty="0">
                <a:solidFill>
                  <a:schemeClr val="tx1"/>
                </a:solidFill>
                <a:latin typeface="Times New Roman" panose="02020603050405020304" pitchFamily="18" charset="0"/>
                <a:cs typeface="Times New Roman" panose="02020603050405020304" pitchFamily="18" charset="0"/>
              </a:rPr>
              <a:t>Sockets that use UDP for transport of packets are called “datagram” sockets and </a:t>
            </a:r>
          </a:p>
          <a:p>
            <a:pPr algn="just"/>
            <a:r>
              <a:rPr lang="en-US" altLang="en-US" dirty="0">
                <a:solidFill>
                  <a:schemeClr val="tx1"/>
                </a:solidFill>
                <a:latin typeface="Times New Roman" panose="02020603050405020304" pitchFamily="18" charset="0"/>
                <a:cs typeface="Times New Roman" panose="02020603050405020304" pitchFamily="18" charset="0"/>
              </a:rPr>
              <a:t>Sockets that use TCP for transport are called “stream” sockets</a:t>
            </a:r>
          </a:p>
          <a:p>
            <a:pPr algn="just"/>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14340" name="Slide Number Placeholder 3">
            <a:extLst>
              <a:ext uri="{FF2B5EF4-FFF2-40B4-BE49-F238E27FC236}">
                <a16:creationId xmlns:a16="http://schemas.microsoft.com/office/drawing/2014/main" xmlns="" id="{9185EC5D-D580-4DA2-AA14-EDF3A31687E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0E67D631-FDD0-479D-A0B7-B6CBC0EE7183}" type="slidenum">
              <a:rPr lang="en-US" altLang="en-US" sz="1400">
                <a:solidFill>
                  <a:schemeClr val="tx1"/>
                </a:solidFill>
                <a:latin typeface="Times New Roman" panose="02020603050405020304" pitchFamily="18" charset="0"/>
              </a:rPr>
              <a:pPr>
                <a:lnSpc>
                  <a:spcPct val="100000"/>
                </a:lnSpc>
                <a:spcBef>
                  <a:spcPct val="0"/>
                </a:spcBef>
                <a:buClrTx/>
                <a:buFontTx/>
                <a:buNone/>
              </a:pPr>
              <a:t>16</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7"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xmlns="" id="{586A0017-A143-420A-918B-E7CDF34669BA}"/>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Types of Socket</a:t>
            </a:r>
            <a:endParaRPr lang="en-US" altLang="en-US"/>
          </a:p>
        </p:txBody>
      </p:sp>
      <p:sp>
        <p:nvSpPr>
          <p:cNvPr id="10243" name="Content Placeholder 2">
            <a:extLst>
              <a:ext uri="{FF2B5EF4-FFF2-40B4-BE49-F238E27FC236}">
                <a16:creationId xmlns:a16="http://schemas.microsoft.com/office/drawing/2014/main" xmlns="" id="{5337545B-6FFB-40FF-BA4D-1021AB3EC604}"/>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Stream Sockets (SOCK_STREAM)</a:t>
            </a:r>
          </a:p>
          <a:p>
            <a:pPr lvl="1" algn="just"/>
            <a:r>
              <a:rPr lang="en-US" altLang="en-US" dirty="0">
                <a:solidFill>
                  <a:srgbClr val="C00000"/>
                </a:solidFill>
                <a:latin typeface="Times New Roman" panose="02020603050405020304" pitchFamily="18" charset="0"/>
                <a:cs typeface="Times New Roman" panose="02020603050405020304" pitchFamily="18" charset="0"/>
              </a:rPr>
              <a:t>Connection oriented</a:t>
            </a:r>
          </a:p>
          <a:p>
            <a:pPr lvl="1" algn="just"/>
            <a:r>
              <a:rPr lang="en-US" altLang="en-US" dirty="0">
                <a:solidFill>
                  <a:srgbClr val="C00000"/>
                </a:solidFill>
                <a:latin typeface="Times New Roman" panose="02020603050405020304" pitchFamily="18" charset="0"/>
                <a:cs typeface="Times New Roman" panose="02020603050405020304" pitchFamily="18" charset="0"/>
              </a:rPr>
              <a:t>Rely on TCP to provide reliable two-way connected communication</a:t>
            </a:r>
          </a:p>
          <a:p>
            <a:pPr algn="just"/>
            <a:r>
              <a:rPr lang="en-US" altLang="en-US" dirty="0">
                <a:solidFill>
                  <a:schemeClr val="tx1"/>
                </a:solidFill>
                <a:latin typeface="Times New Roman" panose="02020603050405020304" pitchFamily="18" charset="0"/>
                <a:cs typeface="Times New Roman" panose="02020603050405020304" pitchFamily="18" charset="0"/>
              </a:rPr>
              <a:t>Datagram Sockets (SOCK_DGRAM)</a:t>
            </a:r>
          </a:p>
          <a:p>
            <a:pPr lvl="1" algn="just"/>
            <a:r>
              <a:rPr lang="en-US" altLang="en-US" dirty="0">
                <a:solidFill>
                  <a:srgbClr val="C00000"/>
                </a:solidFill>
                <a:latin typeface="Times New Roman" panose="02020603050405020304" pitchFamily="18" charset="0"/>
                <a:cs typeface="Times New Roman" panose="02020603050405020304" pitchFamily="18" charset="0"/>
              </a:rPr>
              <a:t>Connection is unreliable</a:t>
            </a:r>
          </a:p>
          <a:p>
            <a:pPr lvl="1" algn="just"/>
            <a:r>
              <a:rPr lang="en-US" altLang="en-US" dirty="0">
                <a:solidFill>
                  <a:srgbClr val="C00000"/>
                </a:solidFill>
                <a:latin typeface="Times New Roman" panose="02020603050405020304" pitchFamily="18" charset="0"/>
                <a:cs typeface="Times New Roman" panose="02020603050405020304" pitchFamily="18" charset="0"/>
              </a:rPr>
              <a:t>Rely on UDP</a:t>
            </a:r>
          </a:p>
          <a:p>
            <a:pPr lvl="1" algn="just"/>
            <a:endParaRPr lang="en-US" altLang="en-US" sz="2400" dirty="0">
              <a:solidFill>
                <a:srgbClr val="C00000"/>
              </a:solidFill>
              <a:latin typeface="Times New Roman" panose="02020603050405020304" pitchFamily="18" charset="0"/>
              <a:cs typeface="Times New Roman" panose="02020603050405020304" pitchFamily="18" charset="0"/>
            </a:endParaRPr>
          </a:p>
        </p:txBody>
      </p:sp>
      <p:sp>
        <p:nvSpPr>
          <p:cNvPr id="15364" name="Slide Number Placeholder 3">
            <a:extLst>
              <a:ext uri="{FF2B5EF4-FFF2-40B4-BE49-F238E27FC236}">
                <a16:creationId xmlns:a16="http://schemas.microsoft.com/office/drawing/2014/main" xmlns="" id="{5BD45B7A-08D8-4D64-AF3A-10CD273D944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56822306-6D60-414E-BEEA-C79F4DCCD62C}" type="slidenum">
              <a:rPr lang="en-US" altLang="en-US" sz="1400">
                <a:solidFill>
                  <a:schemeClr val="tx1"/>
                </a:solidFill>
                <a:latin typeface="Times New Roman" panose="02020603050405020304" pitchFamily="18" charset="0"/>
              </a:rPr>
              <a:pPr>
                <a:lnSpc>
                  <a:spcPct val="100000"/>
                </a:lnSpc>
                <a:spcBef>
                  <a:spcPct val="0"/>
                </a:spcBef>
                <a:buClrTx/>
                <a:buFontTx/>
                <a:buNone/>
              </a:pPr>
              <a:t>17</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 calcmode="lin" valueType="num">
                                      <p:cBhvr additive="base">
                                        <p:cTn id="12"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2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0243">
                                            <p:txEl>
                                              <p:pRg st="2" end="2"/>
                                            </p:txEl>
                                          </p:spTgt>
                                        </p:tgtEl>
                                        <p:attrNameLst>
                                          <p:attrName>style.visibility</p:attrName>
                                        </p:attrNameLst>
                                      </p:cBhvr>
                                      <p:to>
                                        <p:strVal val="visible"/>
                                      </p:to>
                                    </p:set>
                                    <p:anim calcmode="lin" valueType="num">
                                      <p:cBhvr additive="base">
                                        <p:cTn id="18"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4" dur="500"/>
                                        <p:tgtEl>
                                          <p:spTgt spid="10243">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0243">
                                            <p:txEl>
                                              <p:pRg st="4" end="4"/>
                                            </p:txEl>
                                          </p:spTgt>
                                        </p:tgtEl>
                                        <p:attrNameLst>
                                          <p:attrName>style.visibility</p:attrName>
                                        </p:attrNameLst>
                                      </p:cBhvr>
                                      <p:to>
                                        <p:strVal val="visible"/>
                                      </p:to>
                                    </p:set>
                                    <p:anim calcmode="lin" valueType="num">
                                      <p:cBhvr additive="base">
                                        <p:cTn id="29"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2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0243">
                                            <p:txEl>
                                              <p:pRg st="5" end="5"/>
                                            </p:txEl>
                                          </p:spTgt>
                                        </p:tgtEl>
                                        <p:attrNameLst>
                                          <p:attrName>style.visibility</p:attrName>
                                        </p:attrNameLst>
                                      </p:cBhvr>
                                      <p:to>
                                        <p:strVal val="visible"/>
                                      </p:to>
                                    </p:set>
                                    <p:anim calcmode="lin" valueType="num">
                                      <p:cBhvr additive="base">
                                        <p:cTn id="35"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2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xmlns="" id="{A7053313-4D44-4CC1-9864-3D8A980ADBE3}"/>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TCP vs. UDP</a:t>
            </a:r>
          </a:p>
        </p:txBody>
      </p:sp>
      <p:sp>
        <p:nvSpPr>
          <p:cNvPr id="11267" name="Content Placeholder 2">
            <a:extLst>
              <a:ext uri="{FF2B5EF4-FFF2-40B4-BE49-F238E27FC236}">
                <a16:creationId xmlns:a16="http://schemas.microsoft.com/office/drawing/2014/main" xmlns="" id="{1188FD3C-FD3D-4C81-B2F3-1679289ED91C}"/>
              </a:ext>
            </a:extLst>
          </p:cNvPr>
          <p:cNvSpPr>
            <a:spLocks noGrp="1"/>
          </p:cNvSpPr>
          <p:nvPr>
            <p:ph idx="1"/>
          </p:nvPr>
        </p:nvSpPr>
        <p:spPr/>
        <p:txBody>
          <a:bodyPr/>
          <a:lstStyle/>
          <a:p>
            <a:pPr algn="just"/>
            <a:r>
              <a:rPr lang="en-US" altLang="en-US">
                <a:solidFill>
                  <a:schemeClr val="tx1"/>
                </a:solidFill>
                <a:latin typeface="Times New Roman" panose="02020603050405020304" pitchFamily="18" charset="0"/>
                <a:cs typeface="Times New Roman" panose="02020603050405020304" pitchFamily="18" charset="0"/>
              </a:rPr>
              <a:t>Transmission Control Protocol (TCP)</a:t>
            </a:r>
          </a:p>
          <a:p>
            <a:pPr lvl="1" algn="just"/>
            <a:r>
              <a:rPr lang="en-US" altLang="en-US" sz="2200">
                <a:solidFill>
                  <a:srgbClr val="C00000"/>
                </a:solidFill>
                <a:latin typeface="Times New Roman" panose="02020603050405020304" pitchFamily="18" charset="0"/>
                <a:cs typeface="Times New Roman" panose="02020603050405020304" pitchFamily="18" charset="0"/>
              </a:rPr>
              <a:t>One-to-one</a:t>
            </a:r>
          </a:p>
          <a:p>
            <a:pPr lvl="1" algn="just"/>
            <a:r>
              <a:rPr lang="en-US" altLang="en-US" sz="2200">
                <a:solidFill>
                  <a:srgbClr val="C00000"/>
                </a:solidFill>
                <a:latin typeface="Times New Roman" panose="02020603050405020304" pitchFamily="18" charset="0"/>
                <a:cs typeface="Times New Roman" panose="02020603050405020304" pitchFamily="18" charset="0"/>
              </a:rPr>
              <a:t>Connection-oriented</a:t>
            </a:r>
          </a:p>
          <a:p>
            <a:pPr lvl="1" algn="just"/>
            <a:r>
              <a:rPr lang="en-US" altLang="en-US" sz="2200">
                <a:solidFill>
                  <a:srgbClr val="C00000"/>
                </a:solidFill>
                <a:latin typeface="Times New Roman" panose="02020603050405020304" pitchFamily="18" charset="0"/>
                <a:cs typeface="Times New Roman" panose="02020603050405020304" pitchFamily="18" charset="0"/>
              </a:rPr>
              <a:t>Reliable</a:t>
            </a:r>
          </a:p>
          <a:p>
            <a:pPr lvl="1" algn="just"/>
            <a:r>
              <a:rPr lang="en-US" altLang="en-US" sz="2200">
                <a:solidFill>
                  <a:srgbClr val="C00000"/>
                </a:solidFill>
                <a:latin typeface="Times New Roman" panose="02020603050405020304" pitchFamily="18" charset="0"/>
                <a:cs typeface="Times New Roman" panose="02020603050405020304" pitchFamily="18" charset="0"/>
              </a:rPr>
              <a:t>In-order delivery</a:t>
            </a:r>
          </a:p>
          <a:p>
            <a:pPr lvl="1" algn="just"/>
            <a:r>
              <a:rPr lang="en-US" altLang="en-US" sz="2200">
                <a:solidFill>
                  <a:srgbClr val="C00000"/>
                </a:solidFill>
                <a:latin typeface="Times New Roman" panose="02020603050405020304" pitchFamily="18" charset="0"/>
                <a:cs typeface="Times New Roman" panose="02020603050405020304" pitchFamily="18" charset="0"/>
              </a:rPr>
              <a:t>Transmission after Connect</a:t>
            </a:r>
          </a:p>
          <a:p>
            <a:pPr algn="just"/>
            <a:r>
              <a:rPr lang="en-US" altLang="en-US">
                <a:solidFill>
                  <a:schemeClr val="tx1"/>
                </a:solidFill>
                <a:latin typeface="Times New Roman" panose="02020603050405020304" pitchFamily="18" charset="0"/>
                <a:cs typeface="Times New Roman" panose="02020603050405020304" pitchFamily="18" charset="0"/>
              </a:rPr>
              <a:t>User Datagram Protocol (UDP)</a:t>
            </a:r>
          </a:p>
          <a:p>
            <a:pPr lvl="1" algn="just"/>
            <a:r>
              <a:rPr lang="en-US" altLang="en-US" sz="2200">
                <a:solidFill>
                  <a:srgbClr val="C00000"/>
                </a:solidFill>
                <a:latin typeface="Times New Roman" panose="02020603050405020304" pitchFamily="18" charset="0"/>
                <a:cs typeface="Times New Roman" panose="02020603050405020304" pitchFamily="18" charset="0"/>
              </a:rPr>
              <a:t>One-to-one or one-to many</a:t>
            </a:r>
          </a:p>
          <a:p>
            <a:pPr lvl="1" algn="just"/>
            <a:r>
              <a:rPr lang="en-US" altLang="en-US" sz="2200">
                <a:solidFill>
                  <a:srgbClr val="C00000"/>
                </a:solidFill>
                <a:latin typeface="Times New Roman" panose="02020603050405020304" pitchFamily="18" charset="0"/>
                <a:cs typeface="Times New Roman" panose="02020603050405020304" pitchFamily="18" charset="0"/>
              </a:rPr>
              <a:t>Connectionless</a:t>
            </a:r>
          </a:p>
          <a:p>
            <a:pPr lvl="1" algn="just"/>
            <a:r>
              <a:rPr lang="en-US" altLang="en-US" sz="2200">
                <a:solidFill>
                  <a:srgbClr val="C00000"/>
                </a:solidFill>
                <a:latin typeface="Times New Roman" panose="02020603050405020304" pitchFamily="18" charset="0"/>
                <a:cs typeface="Times New Roman" panose="02020603050405020304" pitchFamily="18" charset="0"/>
              </a:rPr>
              <a:t>Unreliable</a:t>
            </a:r>
          </a:p>
          <a:p>
            <a:pPr lvl="1" algn="just"/>
            <a:r>
              <a:rPr lang="en-US" altLang="en-US" sz="2200">
                <a:solidFill>
                  <a:srgbClr val="C00000"/>
                </a:solidFill>
                <a:latin typeface="Times New Roman" panose="02020603050405020304" pitchFamily="18" charset="0"/>
                <a:cs typeface="Times New Roman" panose="02020603050405020304" pitchFamily="18" charset="0"/>
              </a:rPr>
              <a:t>Unordered delivery</a:t>
            </a:r>
          </a:p>
          <a:p>
            <a:pPr lvl="1" algn="just"/>
            <a:r>
              <a:rPr lang="en-US" altLang="en-US" sz="2200">
                <a:solidFill>
                  <a:srgbClr val="C00000"/>
                </a:solidFill>
                <a:latin typeface="Times New Roman" panose="02020603050405020304" pitchFamily="18" charset="0"/>
                <a:cs typeface="Times New Roman" panose="02020603050405020304" pitchFamily="18" charset="0"/>
              </a:rPr>
              <a:t>Transmission with destination address</a:t>
            </a:r>
          </a:p>
        </p:txBody>
      </p:sp>
      <p:sp>
        <p:nvSpPr>
          <p:cNvPr id="16388" name="Slide Number Placeholder 3">
            <a:extLst>
              <a:ext uri="{FF2B5EF4-FFF2-40B4-BE49-F238E27FC236}">
                <a16:creationId xmlns:a16="http://schemas.microsoft.com/office/drawing/2014/main" xmlns="" id="{0AFDCA48-5B03-40B2-91CB-2E2AD5FD6C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F498CBF2-526B-4A92-958E-4F9A4F0FF276}" type="slidenum">
              <a:rPr lang="en-US" altLang="en-US" sz="1400">
                <a:solidFill>
                  <a:schemeClr val="tx1"/>
                </a:solidFill>
                <a:latin typeface="Times New Roman" panose="02020603050405020304" pitchFamily="18" charset="0"/>
              </a:rPr>
              <a:pPr>
                <a:lnSpc>
                  <a:spcPct val="100000"/>
                </a:lnSpc>
                <a:spcBef>
                  <a:spcPct val="0"/>
                </a:spcBef>
                <a:buClrTx/>
                <a:buFontTx/>
                <a:buNone/>
              </a:pPr>
              <a:t>18</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 calcmode="lin" valueType="num">
                                      <p:cBhvr additive="base">
                                        <p:cTn id="12"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1267">
                                            <p:txEl>
                                              <p:pRg st="2" end="2"/>
                                            </p:txEl>
                                          </p:spTgt>
                                        </p:tgtEl>
                                        <p:attrNameLst>
                                          <p:attrName>style.visibility</p:attrName>
                                        </p:attrNameLst>
                                      </p:cBhvr>
                                      <p:to>
                                        <p:strVal val="visible"/>
                                      </p:to>
                                    </p:set>
                                    <p:anim calcmode="lin" valueType="num">
                                      <p:cBhvr additive="base">
                                        <p:cTn id="18"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11267">
                                            <p:txEl>
                                              <p:pRg st="3" end="3"/>
                                            </p:txEl>
                                          </p:spTgt>
                                        </p:tgtEl>
                                        <p:attrNameLst>
                                          <p:attrName>style.visibility</p:attrName>
                                        </p:attrNameLst>
                                      </p:cBhvr>
                                      <p:to>
                                        <p:strVal val="visible"/>
                                      </p:to>
                                    </p:set>
                                    <p:anim calcmode="lin" valueType="num">
                                      <p:cBhvr additive="base">
                                        <p:cTn id="24"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1267">
                                            <p:txEl>
                                              <p:pRg st="4" end="4"/>
                                            </p:txEl>
                                          </p:spTgt>
                                        </p:tgtEl>
                                        <p:attrNameLst>
                                          <p:attrName>style.visibility</p:attrName>
                                        </p:attrNameLst>
                                      </p:cBhvr>
                                      <p:to>
                                        <p:strVal val="visible"/>
                                      </p:to>
                                    </p:set>
                                    <p:anim calcmode="lin" valueType="num">
                                      <p:cBhvr additive="base">
                                        <p:cTn id="30"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12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11267">
                                            <p:txEl>
                                              <p:pRg st="5" end="5"/>
                                            </p:txEl>
                                          </p:spTgt>
                                        </p:tgtEl>
                                        <p:attrNameLst>
                                          <p:attrName>style.visibility</p:attrName>
                                        </p:attrNameLst>
                                      </p:cBhvr>
                                      <p:to>
                                        <p:strVal val="visible"/>
                                      </p:to>
                                    </p:set>
                                    <p:anim calcmode="lin" valueType="num">
                                      <p:cBhvr additive="base">
                                        <p:cTn id="36" dur="5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12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42" dur="500"/>
                                        <p:tgtEl>
                                          <p:spTgt spid="11267">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11267">
                                            <p:txEl>
                                              <p:pRg st="7" end="7"/>
                                            </p:txEl>
                                          </p:spTgt>
                                        </p:tgtEl>
                                        <p:attrNameLst>
                                          <p:attrName>style.visibility</p:attrName>
                                        </p:attrNameLst>
                                      </p:cBhvr>
                                      <p:to>
                                        <p:strVal val="visible"/>
                                      </p:to>
                                    </p:set>
                                    <p:anim calcmode="lin" valueType="num">
                                      <p:cBhvr additive="base">
                                        <p:cTn id="47" dur="500" fill="hold"/>
                                        <p:tgtEl>
                                          <p:spTgt spid="11267">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2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11267">
                                            <p:txEl>
                                              <p:pRg st="8" end="8"/>
                                            </p:txEl>
                                          </p:spTgt>
                                        </p:tgtEl>
                                        <p:attrNameLst>
                                          <p:attrName>style.visibility</p:attrName>
                                        </p:attrNameLst>
                                      </p:cBhvr>
                                      <p:to>
                                        <p:strVal val="visible"/>
                                      </p:to>
                                    </p:set>
                                    <p:anim calcmode="lin" valueType="num">
                                      <p:cBhvr additive="base">
                                        <p:cTn id="53" dur="500" fill="hold"/>
                                        <p:tgtEl>
                                          <p:spTgt spid="11267">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126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11267">
                                            <p:txEl>
                                              <p:pRg st="9" end="9"/>
                                            </p:txEl>
                                          </p:spTgt>
                                        </p:tgtEl>
                                        <p:attrNameLst>
                                          <p:attrName>style.visibility</p:attrName>
                                        </p:attrNameLst>
                                      </p:cBhvr>
                                      <p:to>
                                        <p:strVal val="visible"/>
                                      </p:to>
                                    </p:set>
                                    <p:anim calcmode="lin" valueType="num">
                                      <p:cBhvr additive="base">
                                        <p:cTn id="59" dur="500" fill="hold"/>
                                        <p:tgtEl>
                                          <p:spTgt spid="11267">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126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11267">
                                            <p:txEl>
                                              <p:pRg st="10" end="10"/>
                                            </p:txEl>
                                          </p:spTgt>
                                        </p:tgtEl>
                                        <p:attrNameLst>
                                          <p:attrName>style.visibility</p:attrName>
                                        </p:attrNameLst>
                                      </p:cBhvr>
                                      <p:to>
                                        <p:strVal val="visible"/>
                                      </p:to>
                                    </p:set>
                                    <p:anim calcmode="lin" valueType="num">
                                      <p:cBhvr additive="base">
                                        <p:cTn id="65" dur="500" fill="hold"/>
                                        <p:tgtEl>
                                          <p:spTgt spid="11267">
                                            <p:txEl>
                                              <p:pRg st="10" end="1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26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nodeType="clickEffect">
                                  <p:stCondLst>
                                    <p:cond delay="0"/>
                                  </p:stCondLst>
                                  <p:childTnLst>
                                    <p:set>
                                      <p:cBhvr>
                                        <p:cTn id="70" dur="1" fill="hold">
                                          <p:stCondLst>
                                            <p:cond delay="0"/>
                                          </p:stCondLst>
                                        </p:cTn>
                                        <p:tgtEl>
                                          <p:spTgt spid="11267">
                                            <p:txEl>
                                              <p:pRg st="11" end="11"/>
                                            </p:txEl>
                                          </p:spTgt>
                                        </p:tgtEl>
                                        <p:attrNameLst>
                                          <p:attrName>style.visibility</p:attrName>
                                        </p:attrNameLst>
                                      </p:cBhvr>
                                      <p:to>
                                        <p:strVal val="visible"/>
                                      </p:to>
                                    </p:set>
                                    <p:anim calcmode="lin" valueType="num">
                                      <p:cBhvr additive="base">
                                        <p:cTn id="71" dur="500" fill="hold"/>
                                        <p:tgtEl>
                                          <p:spTgt spid="11267">
                                            <p:txEl>
                                              <p:pRg st="11" end="11"/>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126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xmlns="" id="{0F80DF70-F472-4920-8C9F-487577FC5463}"/>
              </a:ext>
            </a:extLst>
          </p:cNvPr>
          <p:cNvSpPr>
            <a:spLocks noGrp="1" noChangeArrowheads="1"/>
          </p:cNvSpPr>
          <p:nvPr>
            <p:ph type="body" idx="1"/>
          </p:nvPr>
        </p:nvSpPr>
        <p:spPr>
          <a:xfrm>
            <a:off x="228600" y="838200"/>
            <a:ext cx="8686800" cy="5562600"/>
          </a:xfrm>
          <a:noFill/>
        </p:spPr>
        <p:txBody>
          <a:bodyPr lIns="92075" tIns="46038" rIns="92075" bIns="46038"/>
          <a:lstStyle/>
          <a:p>
            <a:pPr algn="just"/>
            <a:r>
              <a:rPr lang="en-US" altLang="en-US" dirty="0">
                <a:solidFill>
                  <a:schemeClr val="tx1"/>
                </a:solidFill>
                <a:latin typeface="Times New Roman" panose="02020603050405020304" pitchFamily="18" charset="0"/>
                <a:cs typeface="Times New Roman" panose="02020603050405020304" pitchFamily="18" charset="0"/>
              </a:rPr>
              <a:t>TCP used for services with a large data capacity, and a persistent connection</a:t>
            </a:r>
          </a:p>
          <a:p>
            <a:pPr algn="just"/>
            <a:r>
              <a:rPr lang="en-US" altLang="en-US" dirty="0">
                <a:solidFill>
                  <a:schemeClr val="tx1"/>
                </a:solidFill>
                <a:latin typeface="Times New Roman" panose="02020603050405020304" pitchFamily="18" charset="0"/>
                <a:cs typeface="Times New Roman" panose="02020603050405020304" pitchFamily="18" charset="0"/>
              </a:rPr>
              <a:t>While UDP is more commonly used for quick lookups, and single use query-reply actions</a:t>
            </a:r>
          </a:p>
          <a:p>
            <a:pPr algn="just"/>
            <a:r>
              <a:rPr lang="en-US" altLang="en-US" dirty="0">
                <a:latin typeface="Times New Roman" panose="02020603050405020304" pitchFamily="18" charset="0"/>
                <a:cs typeface="Times New Roman" panose="02020603050405020304" pitchFamily="18" charset="0"/>
              </a:rPr>
              <a:t>Some common examples of TCP and UDP with their default ports:</a:t>
            </a:r>
          </a:p>
          <a:p>
            <a:pPr algn="just">
              <a:buFont typeface="Wingdings" panose="05000000000000000000" pitchFamily="2" charset="2"/>
              <a:buNone/>
            </a:pPr>
            <a:r>
              <a:rPr lang="en-US" altLang="en-US" sz="2800" dirty="0">
                <a:latin typeface="Times New Roman" panose="02020603050405020304" pitchFamily="18" charset="0"/>
                <a:cs typeface="Times New Roman" panose="02020603050405020304" pitchFamily="18" charset="0"/>
              </a:rPr>
              <a:t>	</a:t>
            </a:r>
            <a:r>
              <a:rPr lang="en-US" altLang="en-US" sz="2300" dirty="0">
                <a:solidFill>
                  <a:srgbClr val="C00000"/>
                </a:solidFill>
                <a:latin typeface="Times New Roman" panose="02020603050405020304" pitchFamily="18" charset="0"/>
                <a:cs typeface="Times New Roman" panose="02020603050405020304" pitchFamily="18" charset="0"/>
              </a:rPr>
              <a:t>DNS lookup			UDP	53</a:t>
            </a:r>
          </a:p>
          <a:p>
            <a:pPr algn="just">
              <a:buFont typeface="Wingdings" panose="05000000000000000000" pitchFamily="2" charset="2"/>
              <a:buNone/>
            </a:pPr>
            <a:r>
              <a:rPr lang="en-US" altLang="en-US" sz="2300" dirty="0">
                <a:solidFill>
                  <a:srgbClr val="C00000"/>
                </a:solidFill>
                <a:latin typeface="Times New Roman" panose="02020603050405020304" pitchFamily="18" charset="0"/>
                <a:cs typeface="Times New Roman" panose="02020603050405020304" pitchFamily="18" charset="0"/>
              </a:rPr>
              <a:t>	FTP			            TCP	21</a:t>
            </a:r>
          </a:p>
          <a:p>
            <a:pPr algn="just">
              <a:buFont typeface="Wingdings" panose="05000000000000000000" pitchFamily="2" charset="2"/>
              <a:buNone/>
            </a:pPr>
            <a:r>
              <a:rPr lang="en-US" altLang="en-US" sz="2300" dirty="0">
                <a:solidFill>
                  <a:srgbClr val="C00000"/>
                </a:solidFill>
                <a:latin typeface="Times New Roman" panose="02020603050405020304" pitchFamily="18" charset="0"/>
                <a:cs typeface="Times New Roman" panose="02020603050405020304" pitchFamily="18" charset="0"/>
              </a:rPr>
              <a:t>	HTTP			TCP	80</a:t>
            </a:r>
          </a:p>
          <a:p>
            <a:pPr algn="just">
              <a:buFont typeface="Wingdings" panose="05000000000000000000" pitchFamily="2" charset="2"/>
              <a:buNone/>
            </a:pPr>
            <a:r>
              <a:rPr lang="en-US" altLang="en-US" sz="2300" dirty="0">
                <a:solidFill>
                  <a:srgbClr val="C00000"/>
                </a:solidFill>
                <a:latin typeface="Times New Roman" panose="02020603050405020304" pitchFamily="18" charset="0"/>
                <a:cs typeface="Times New Roman" panose="02020603050405020304" pitchFamily="18" charset="0"/>
              </a:rPr>
              <a:t>	POP3			TCP	110</a:t>
            </a:r>
          </a:p>
          <a:p>
            <a:pPr algn="just">
              <a:buFont typeface="Wingdings" panose="05000000000000000000" pitchFamily="2" charset="2"/>
              <a:buNone/>
            </a:pPr>
            <a:r>
              <a:rPr lang="en-US" altLang="en-US" sz="2300" dirty="0">
                <a:solidFill>
                  <a:srgbClr val="C00000"/>
                </a:solidFill>
                <a:latin typeface="Times New Roman" panose="02020603050405020304" pitchFamily="18" charset="0"/>
                <a:cs typeface="Times New Roman" panose="02020603050405020304" pitchFamily="18" charset="0"/>
              </a:rPr>
              <a:t>	Telnet			TCP	23</a:t>
            </a:r>
          </a:p>
        </p:txBody>
      </p:sp>
      <p:sp>
        <p:nvSpPr>
          <p:cNvPr id="17411" name="Title 5">
            <a:extLst>
              <a:ext uri="{FF2B5EF4-FFF2-40B4-BE49-F238E27FC236}">
                <a16:creationId xmlns:a16="http://schemas.microsoft.com/office/drawing/2014/main" xmlns="" id="{AABB81D0-C864-44CF-A713-D3276AA3E473}"/>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TCP vs. UDP</a:t>
            </a:r>
            <a:endParaRPr lang="en-US" altLang="en-US"/>
          </a:p>
        </p:txBody>
      </p:sp>
      <p:sp>
        <p:nvSpPr>
          <p:cNvPr id="17412" name="Slide Number Placeholder 3">
            <a:extLst>
              <a:ext uri="{FF2B5EF4-FFF2-40B4-BE49-F238E27FC236}">
                <a16:creationId xmlns:a16="http://schemas.microsoft.com/office/drawing/2014/main" xmlns="" id="{9D3AF596-453D-4D04-8729-0C65389AD1B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85AFE7AA-DDF3-4536-B32A-7B39295DDBFE}" type="slidenum">
              <a:rPr lang="en-US" altLang="en-US" sz="1400">
                <a:solidFill>
                  <a:schemeClr val="tx1"/>
                </a:solidFill>
                <a:latin typeface="Times New Roman" panose="02020603050405020304" pitchFamily="18" charset="0"/>
              </a:rPr>
              <a:pPr>
                <a:lnSpc>
                  <a:spcPct val="100000"/>
                </a:lnSpc>
                <a:spcBef>
                  <a:spcPct val="0"/>
                </a:spcBef>
                <a:buClrTx/>
                <a:buFontTx/>
                <a:buNone/>
              </a:pPr>
              <a:t>19</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blinds(horizontal)">
                                      <p:cBhvr>
                                        <p:cTn id="7" dur="500"/>
                                        <p:tgtEl>
                                          <p:spTgt spid="122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290">
                                            <p:txEl>
                                              <p:pRg st="1" end="1"/>
                                            </p:txEl>
                                          </p:spTgt>
                                        </p:tgtEl>
                                        <p:attrNameLst>
                                          <p:attrName>style.visibility</p:attrName>
                                        </p:attrNameLst>
                                      </p:cBhvr>
                                      <p:to>
                                        <p:strVal val="visible"/>
                                      </p:to>
                                    </p:set>
                                    <p:animEffect transition="in" filter="blinds(horizontal)">
                                      <p:cBhvr>
                                        <p:cTn id="12" dur="500"/>
                                        <p:tgtEl>
                                          <p:spTgt spid="1229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2290">
                                            <p:txEl>
                                              <p:pRg st="2" end="2"/>
                                            </p:txEl>
                                          </p:spTgt>
                                        </p:tgtEl>
                                        <p:attrNameLst>
                                          <p:attrName>style.visibility</p:attrName>
                                        </p:attrNameLst>
                                      </p:cBhvr>
                                      <p:to>
                                        <p:strVal val="visible"/>
                                      </p:to>
                                    </p:set>
                                    <p:animEffect transition="in" filter="box(in)">
                                      <p:cBhvr>
                                        <p:cTn id="17" dur="500"/>
                                        <p:tgtEl>
                                          <p:spTgt spid="1229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12290">
                                            <p:txEl>
                                              <p:pRg st="3" end="3"/>
                                            </p:txEl>
                                          </p:spTgt>
                                        </p:tgtEl>
                                        <p:attrNameLst>
                                          <p:attrName>style.visibility</p:attrName>
                                        </p:attrNameLst>
                                      </p:cBhvr>
                                      <p:to>
                                        <p:strVal val="visible"/>
                                      </p:to>
                                    </p:set>
                                    <p:anim calcmode="lin" valueType="num">
                                      <p:cBhvr additive="base">
                                        <p:cTn id="22" dur="500" fill="hold"/>
                                        <p:tgtEl>
                                          <p:spTgt spid="12290">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229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2290">
                                            <p:txEl>
                                              <p:pRg st="4" end="4"/>
                                            </p:txEl>
                                          </p:spTgt>
                                        </p:tgtEl>
                                        <p:attrNameLst>
                                          <p:attrName>style.visibility</p:attrName>
                                        </p:attrNameLst>
                                      </p:cBhvr>
                                      <p:to>
                                        <p:strVal val="visible"/>
                                      </p:to>
                                    </p:set>
                                    <p:anim calcmode="lin" valueType="num">
                                      <p:cBhvr additive="base">
                                        <p:cTn id="28" dur="500" fill="hold"/>
                                        <p:tgtEl>
                                          <p:spTgt spid="12290">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229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12290">
                                            <p:txEl>
                                              <p:pRg st="5" end="5"/>
                                            </p:txEl>
                                          </p:spTgt>
                                        </p:tgtEl>
                                        <p:attrNameLst>
                                          <p:attrName>style.visibility</p:attrName>
                                        </p:attrNameLst>
                                      </p:cBhvr>
                                      <p:to>
                                        <p:strVal val="visible"/>
                                      </p:to>
                                    </p:set>
                                    <p:anim calcmode="lin" valueType="num">
                                      <p:cBhvr additive="base">
                                        <p:cTn id="34" dur="500" fill="hold"/>
                                        <p:tgtEl>
                                          <p:spTgt spid="12290">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229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12290">
                                            <p:txEl>
                                              <p:pRg st="6" end="6"/>
                                            </p:txEl>
                                          </p:spTgt>
                                        </p:tgtEl>
                                        <p:attrNameLst>
                                          <p:attrName>style.visibility</p:attrName>
                                        </p:attrNameLst>
                                      </p:cBhvr>
                                      <p:to>
                                        <p:strVal val="visible"/>
                                      </p:to>
                                    </p:set>
                                    <p:anim calcmode="lin" valueType="num">
                                      <p:cBhvr additive="base">
                                        <p:cTn id="40" dur="500" fill="hold"/>
                                        <p:tgtEl>
                                          <p:spTgt spid="12290">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229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12290">
                                            <p:txEl>
                                              <p:pRg st="7" end="7"/>
                                            </p:txEl>
                                          </p:spTgt>
                                        </p:tgtEl>
                                        <p:attrNameLst>
                                          <p:attrName>style.visibility</p:attrName>
                                        </p:attrNameLst>
                                      </p:cBhvr>
                                      <p:to>
                                        <p:strVal val="visible"/>
                                      </p:to>
                                    </p:set>
                                    <p:anim calcmode="lin" valueType="num">
                                      <p:cBhvr additive="base">
                                        <p:cTn id="46" dur="500" fill="hold"/>
                                        <p:tgtEl>
                                          <p:spTgt spid="12290">
                                            <p:txEl>
                                              <p:pRg st="7" end="7"/>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229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xmlns="" id="{59CB81AF-D9A9-4E29-8702-40A4B2C44A42}"/>
              </a:ext>
            </a:extLst>
          </p:cNvPr>
          <p:cNvSpPr>
            <a:spLocks noGrp="1"/>
          </p:cNvSpPr>
          <p:nvPr>
            <p:ph type="title"/>
          </p:nvPr>
        </p:nvSpPr>
        <p:spPr/>
        <p:txBody>
          <a:bodyPr/>
          <a:lstStyle/>
          <a:p>
            <a:pPr algn="just"/>
            <a:r>
              <a:rPr lang="en-US" altLang="en-US">
                <a:latin typeface="Times New Roman" panose="02020603050405020304" pitchFamily="18" charset="0"/>
                <a:cs typeface="Times New Roman" panose="02020603050405020304" pitchFamily="18" charset="0"/>
              </a:rPr>
              <a:t>Java Sockets</a:t>
            </a:r>
          </a:p>
        </p:txBody>
      </p:sp>
      <p:sp>
        <p:nvSpPr>
          <p:cNvPr id="13315" name="Content Placeholder 2">
            <a:extLst>
              <a:ext uri="{FF2B5EF4-FFF2-40B4-BE49-F238E27FC236}">
                <a16:creationId xmlns:a16="http://schemas.microsoft.com/office/drawing/2014/main" xmlns="" id="{75CEDFA7-A1FB-44A7-826D-D2C3AE370F78}"/>
              </a:ext>
            </a:extLst>
          </p:cNvPr>
          <p:cNvSpPr>
            <a:spLocks noGrp="1"/>
          </p:cNvSpPr>
          <p:nvPr>
            <p:ph idx="1"/>
          </p:nvPr>
        </p:nvSpPr>
        <p:spPr>
          <a:xfrm>
            <a:off x="171450" y="838200"/>
            <a:ext cx="8763000" cy="4038600"/>
          </a:xfrm>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Part of the java.net package</a:t>
            </a:r>
          </a:p>
          <a:p>
            <a:pPr lvl="1" algn="just"/>
            <a:r>
              <a:rPr lang="en-US" altLang="en-US" dirty="0">
                <a:solidFill>
                  <a:srgbClr val="C00000"/>
                </a:solidFill>
                <a:latin typeface="Times New Roman" panose="02020603050405020304" pitchFamily="18" charset="0"/>
                <a:cs typeface="Times New Roman" panose="02020603050405020304" pitchFamily="18" charset="0"/>
              </a:rPr>
              <a:t>Import java.net.*;</a:t>
            </a:r>
          </a:p>
          <a:p>
            <a:pPr algn="just"/>
            <a:r>
              <a:rPr lang="en-US" altLang="en-US" dirty="0">
                <a:solidFill>
                  <a:schemeClr val="tx1"/>
                </a:solidFill>
                <a:latin typeface="Times New Roman" panose="02020603050405020304" pitchFamily="18" charset="0"/>
                <a:cs typeface="Times New Roman" panose="02020603050405020304" pitchFamily="18" charset="0"/>
              </a:rPr>
              <a:t>Provides two classes of sockets for TCP</a:t>
            </a:r>
          </a:p>
          <a:p>
            <a:pPr lvl="1" algn="just"/>
            <a:r>
              <a:rPr lang="en-US" altLang="en-US" dirty="0">
                <a:solidFill>
                  <a:srgbClr val="C00000"/>
                </a:solidFill>
                <a:latin typeface="Times New Roman" panose="02020603050405020304" pitchFamily="18" charset="0"/>
                <a:cs typeface="Times New Roman" panose="02020603050405020304" pitchFamily="18" charset="0"/>
              </a:rPr>
              <a:t>Socket – client side of socket</a:t>
            </a:r>
          </a:p>
          <a:p>
            <a:pPr lvl="1" algn="just"/>
            <a:r>
              <a:rPr lang="en-US" altLang="en-US" dirty="0" err="1">
                <a:solidFill>
                  <a:srgbClr val="C00000"/>
                </a:solidFill>
                <a:latin typeface="Times New Roman" panose="02020603050405020304" pitchFamily="18" charset="0"/>
                <a:cs typeface="Times New Roman" panose="02020603050405020304" pitchFamily="18" charset="0"/>
              </a:rPr>
              <a:t>ServerSocket</a:t>
            </a:r>
            <a:r>
              <a:rPr lang="en-US" altLang="en-US" dirty="0">
                <a:solidFill>
                  <a:srgbClr val="C00000"/>
                </a:solidFill>
                <a:latin typeface="Times New Roman" panose="02020603050405020304" pitchFamily="18" charset="0"/>
                <a:cs typeface="Times New Roman" panose="02020603050405020304" pitchFamily="18" charset="0"/>
              </a:rPr>
              <a:t> – server side of socket</a:t>
            </a:r>
          </a:p>
          <a:p>
            <a:pPr algn="just"/>
            <a:r>
              <a:rPr lang="en-US" altLang="en-US" dirty="0">
                <a:solidFill>
                  <a:schemeClr val="tx1"/>
                </a:solidFill>
                <a:latin typeface="Times New Roman" panose="02020603050405020304" pitchFamily="18" charset="0"/>
                <a:cs typeface="Times New Roman" panose="02020603050405020304" pitchFamily="18" charset="0"/>
              </a:rPr>
              <a:t>Provides one socket type for UDP</a:t>
            </a:r>
          </a:p>
          <a:p>
            <a:pPr lvl="1" algn="just"/>
            <a:r>
              <a:rPr lang="en-US" altLang="en-US" dirty="0" err="1">
                <a:solidFill>
                  <a:srgbClr val="C00000"/>
                </a:solidFill>
                <a:latin typeface="Times New Roman" panose="02020603050405020304" pitchFamily="18" charset="0"/>
                <a:cs typeface="Times New Roman" panose="02020603050405020304" pitchFamily="18" charset="0"/>
              </a:rPr>
              <a:t>DatagramSocket</a:t>
            </a:r>
            <a:endParaRPr lang="en-US" altLang="en-US" dirty="0">
              <a:solidFill>
                <a:srgbClr val="C00000"/>
              </a:solidFill>
              <a:latin typeface="Times New Roman" panose="02020603050405020304" pitchFamily="18" charset="0"/>
              <a:cs typeface="Times New Roman" panose="02020603050405020304" pitchFamily="18" charset="0"/>
            </a:endParaRP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18436" name="Slide Number Placeholder 3">
            <a:extLst>
              <a:ext uri="{FF2B5EF4-FFF2-40B4-BE49-F238E27FC236}">
                <a16:creationId xmlns:a16="http://schemas.microsoft.com/office/drawing/2014/main" xmlns="" id="{C74F121D-EBB2-4D0C-A5E6-5B04ACB4632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74B63C7-AE98-43E7-813C-98F01B26E027}" type="slidenum">
              <a:rPr lang="en-US" altLang="en-US" sz="1400">
                <a:solidFill>
                  <a:schemeClr val="tx1"/>
                </a:solidFill>
                <a:latin typeface="Times New Roman" panose="02020603050405020304" pitchFamily="18" charset="0"/>
              </a:rPr>
              <a:pPr>
                <a:lnSpc>
                  <a:spcPct val="100000"/>
                </a:lnSpc>
                <a:spcBef>
                  <a:spcPct val="0"/>
                </a:spcBef>
                <a:buClrTx/>
                <a:buFontTx/>
                <a:buNone/>
              </a:pPr>
              <a:t>20</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 calcmode="lin" valueType="num">
                                      <p:cBhvr additive="base">
                                        <p:cTn id="12"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8" dur="500"/>
                                        <p:tgtEl>
                                          <p:spTgt spid="13315">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 calcmode="lin" valueType="num">
                                      <p:cBhvr additive="base">
                                        <p:cTn id="23"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3315">
                                            <p:txEl>
                                              <p:pRg st="4" end="4"/>
                                            </p:txEl>
                                          </p:spTgt>
                                        </p:tgtEl>
                                        <p:attrNameLst>
                                          <p:attrName>style.visibility</p:attrName>
                                        </p:attrNameLst>
                                      </p:cBhvr>
                                      <p:to>
                                        <p:strVal val="visible"/>
                                      </p:to>
                                    </p:set>
                                    <p:anim calcmode="lin" valueType="num">
                                      <p:cBhvr additive="base">
                                        <p:cTn id="29"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35" dur="500"/>
                                        <p:tgtEl>
                                          <p:spTgt spid="13315">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13315">
                                            <p:txEl>
                                              <p:pRg st="6" end="6"/>
                                            </p:txEl>
                                          </p:spTgt>
                                        </p:tgtEl>
                                        <p:attrNameLst>
                                          <p:attrName>style.visibility</p:attrName>
                                        </p:attrNameLst>
                                      </p:cBhvr>
                                      <p:to>
                                        <p:strVal val="visible"/>
                                      </p:to>
                                    </p:set>
                                    <p:anim calcmode="lin" valueType="num">
                                      <p:cBhvr additive="base">
                                        <p:cTn id="40" dur="500" fill="hold"/>
                                        <p:tgtEl>
                                          <p:spTgt spid="13315">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33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xmlns="" id="{8BA4454F-2A62-4FB7-9AB8-D2A64ED4F668}"/>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Client/Server Communication</a:t>
            </a:r>
          </a:p>
        </p:txBody>
      </p:sp>
      <p:sp>
        <p:nvSpPr>
          <p:cNvPr id="3" name="Content Placeholder 2">
            <a:extLst>
              <a:ext uri="{FF2B5EF4-FFF2-40B4-BE49-F238E27FC236}">
                <a16:creationId xmlns:a16="http://schemas.microsoft.com/office/drawing/2014/main" xmlns="" id="{967BD026-6831-40B6-A7D1-BA519C54B731}"/>
              </a:ext>
            </a:extLst>
          </p:cNvPr>
          <p:cNvSpPr>
            <a:spLocks noGrp="1"/>
          </p:cNvSpPr>
          <p:nvPr>
            <p:ph idx="1"/>
          </p:nvPr>
        </p:nvSpPr>
        <p:spPr>
          <a:xfrm>
            <a:off x="171450" y="838200"/>
            <a:ext cx="8763000" cy="3200400"/>
          </a:xfrm>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Network-based systems consist of a server, client, and a media for communication</a:t>
            </a:r>
          </a:p>
          <a:p>
            <a:r>
              <a:rPr lang="en-US" altLang="en-US" sz="2400" dirty="0">
                <a:solidFill>
                  <a:schemeClr val="tx1"/>
                </a:solidFill>
                <a:latin typeface="Times New Roman" panose="02020603050405020304" pitchFamily="18" charset="0"/>
                <a:cs typeface="Times New Roman" panose="02020603050405020304" pitchFamily="18" charset="0"/>
              </a:rPr>
              <a:t>A computer running a program that makes a request for services is called client machine</a:t>
            </a:r>
          </a:p>
          <a:p>
            <a:r>
              <a:rPr lang="en-US" altLang="en-US" sz="2400" dirty="0">
                <a:solidFill>
                  <a:schemeClr val="tx1"/>
                </a:solidFill>
                <a:latin typeface="Times New Roman" panose="02020603050405020304" pitchFamily="18" charset="0"/>
                <a:cs typeface="Times New Roman" panose="02020603050405020304" pitchFamily="18" charset="0"/>
              </a:rPr>
              <a:t>A computer running a program that offers requested services from one or more clients is called server machine</a:t>
            </a:r>
          </a:p>
          <a:p>
            <a:r>
              <a:rPr lang="en-US" altLang="en-US" sz="2400" dirty="0">
                <a:solidFill>
                  <a:schemeClr val="tx1"/>
                </a:solidFill>
                <a:latin typeface="Times New Roman" panose="02020603050405020304" pitchFamily="18" charset="0"/>
                <a:cs typeface="Times New Roman" panose="02020603050405020304" pitchFamily="18" charset="0"/>
              </a:rPr>
              <a:t>The media for communication can be wired or wireless network</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
        <p:nvSpPr>
          <p:cNvPr id="19460" name="Slide Number Placeholder 3">
            <a:extLst>
              <a:ext uri="{FF2B5EF4-FFF2-40B4-BE49-F238E27FC236}">
                <a16:creationId xmlns:a16="http://schemas.microsoft.com/office/drawing/2014/main" xmlns="" id="{E089459E-BA62-47B3-A292-6AD59CD66C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F047A5D7-59CB-4BDE-818D-F24644C6EA64}" type="slidenum">
              <a:rPr lang="en-US" altLang="en-US" sz="1400">
                <a:solidFill>
                  <a:schemeClr val="tx1"/>
                </a:solidFill>
                <a:latin typeface="Times New Roman" panose="02020603050405020304" pitchFamily="18" charset="0"/>
              </a:rPr>
              <a:pPr>
                <a:lnSpc>
                  <a:spcPct val="100000"/>
                </a:lnSpc>
                <a:spcBef>
                  <a:spcPct val="0"/>
                </a:spcBef>
                <a:buClrTx/>
                <a:buFontTx/>
                <a:buNone/>
              </a:pPr>
              <a:t>21</a:t>
            </a:fld>
            <a:endParaRPr lang="en-US" altLang="en-US" sz="1400">
              <a:solidFill>
                <a:schemeClr val="tx1"/>
              </a:solidFill>
              <a:latin typeface="Times New Roman" panose="02020603050405020304" pitchFamily="18" charset="0"/>
            </a:endParaRPr>
          </a:p>
        </p:txBody>
      </p:sp>
      <p:pic>
        <p:nvPicPr>
          <p:cNvPr id="28674" name="Picture 2">
            <a:extLst>
              <a:ext uri="{FF2B5EF4-FFF2-40B4-BE49-F238E27FC236}">
                <a16:creationId xmlns:a16="http://schemas.microsoft.com/office/drawing/2014/main" xmlns="" id="{D6C33C1A-1CB9-4701-87D4-894BA2E21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276725"/>
            <a:ext cx="7043738"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1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10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10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10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8674"/>
                                        </p:tgtEl>
                                        <p:attrNameLst>
                                          <p:attrName>style.visibility</p:attrName>
                                        </p:attrNameLst>
                                      </p:cBhvr>
                                      <p:to>
                                        <p:strVal val="visible"/>
                                      </p:to>
                                    </p:set>
                                    <p:anim calcmode="lin" valueType="num">
                                      <p:cBhvr additive="base">
                                        <p:cTn id="27" dur="1000" fill="hold"/>
                                        <p:tgtEl>
                                          <p:spTgt spid="28674"/>
                                        </p:tgtEl>
                                        <p:attrNameLst>
                                          <p:attrName>ppt_x</p:attrName>
                                        </p:attrNameLst>
                                      </p:cBhvr>
                                      <p:tavLst>
                                        <p:tav tm="0">
                                          <p:val>
                                            <p:strVal val="#ppt_x"/>
                                          </p:val>
                                        </p:tav>
                                        <p:tav tm="100000">
                                          <p:val>
                                            <p:strVal val="#ppt_x"/>
                                          </p:val>
                                        </p:tav>
                                      </p:tavLst>
                                    </p:anim>
                                    <p:anim calcmode="lin" valueType="num">
                                      <p:cBhvr additive="base">
                                        <p:cTn id="28" dur="1000" fill="hold"/>
                                        <p:tgtEl>
                                          <p:spTgt spid="286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xmlns="" id="{9EE56D27-6BEA-441F-A872-E64F63D4AFB3}"/>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Client/Server Communication</a:t>
            </a:r>
            <a:endParaRPr lang="en-US" altLang="en-US"/>
          </a:p>
        </p:txBody>
      </p:sp>
      <p:sp>
        <p:nvSpPr>
          <p:cNvPr id="14339" name="Content Placeholder 2">
            <a:extLst>
              <a:ext uri="{FF2B5EF4-FFF2-40B4-BE49-F238E27FC236}">
                <a16:creationId xmlns:a16="http://schemas.microsoft.com/office/drawing/2014/main" xmlns="" id="{4A927A95-31DA-4234-898D-FCAA373CF127}"/>
              </a:ext>
            </a:extLst>
          </p:cNvPr>
          <p:cNvSpPr>
            <a:spLocks noGrp="1"/>
          </p:cNvSpPr>
          <p:nvPr>
            <p:ph idx="1"/>
          </p:nvPr>
        </p:nvSpPr>
        <p:spPr>
          <a:xfrm>
            <a:off x="171450" y="838200"/>
            <a:ext cx="8763000" cy="5638800"/>
          </a:xfrm>
        </p:spPr>
        <p:txBody>
          <a:bodyPr/>
          <a:lstStyle/>
          <a:p>
            <a:pPr algn="just"/>
            <a:r>
              <a:rPr lang="en-US" altLang="en-US" sz="2400" dirty="0">
                <a:solidFill>
                  <a:schemeClr val="tx1"/>
                </a:solidFill>
                <a:latin typeface="Times New Roman" panose="02020603050405020304" pitchFamily="18" charset="0"/>
                <a:cs typeface="Times New Roman" panose="02020603050405020304" pitchFamily="18" charset="0"/>
              </a:rPr>
              <a:t>Sockets are the most widely used programming interfaces for the transport layer protocols </a:t>
            </a:r>
          </a:p>
          <a:p>
            <a:pPr algn="just"/>
            <a:r>
              <a:rPr lang="en-US" altLang="en-US" sz="2400" dirty="0">
                <a:solidFill>
                  <a:schemeClr val="tx1"/>
                </a:solidFill>
                <a:latin typeface="Times New Roman" panose="02020603050405020304" pitchFamily="18" charset="0"/>
                <a:cs typeface="Times New Roman" panose="02020603050405020304" pitchFamily="18" charset="0"/>
              </a:rPr>
              <a:t>TCP is a connection-oriented protocol that provides a reliable flow of data between two computers</a:t>
            </a:r>
          </a:p>
          <a:p>
            <a:pPr lvl="1" algn="just"/>
            <a:r>
              <a:rPr lang="en-US" altLang="en-US" sz="2000" dirty="0">
                <a:solidFill>
                  <a:srgbClr val="C00000"/>
                </a:solidFill>
                <a:latin typeface="Times New Roman" panose="02020603050405020304" pitchFamily="18" charset="0"/>
                <a:cs typeface="Times New Roman" panose="02020603050405020304" pitchFamily="18" charset="0"/>
              </a:rPr>
              <a:t>Example applications that use such services are HTTP, FTP, and Telnet</a:t>
            </a:r>
          </a:p>
          <a:p>
            <a:pPr algn="just"/>
            <a:r>
              <a:rPr lang="en-US" altLang="en-US" sz="2400" dirty="0">
                <a:solidFill>
                  <a:schemeClr val="tx1"/>
                </a:solidFill>
                <a:latin typeface="Times New Roman" panose="02020603050405020304" pitchFamily="18" charset="0"/>
                <a:cs typeface="Times New Roman" panose="02020603050405020304" pitchFamily="18" charset="0"/>
              </a:rPr>
              <a:t>UDP is a protocol that sends independent packets of data, called </a:t>
            </a:r>
            <a:r>
              <a:rPr lang="en-US" altLang="en-US" sz="2400" i="1" dirty="0">
                <a:solidFill>
                  <a:schemeClr val="tx1"/>
                </a:solidFill>
                <a:latin typeface="Times New Roman" panose="02020603050405020304" pitchFamily="18" charset="0"/>
                <a:cs typeface="Times New Roman" panose="02020603050405020304" pitchFamily="18" charset="0"/>
              </a:rPr>
              <a:t>datagrams, </a:t>
            </a:r>
            <a:r>
              <a:rPr lang="en-US" altLang="en-US" sz="2400" dirty="0">
                <a:solidFill>
                  <a:schemeClr val="tx1"/>
                </a:solidFill>
                <a:latin typeface="Times New Roman" panose="02020603050405020304" pitchFamily="18" charset="0"/>
                <a:cs typeface="Times New Roman" panose="02020603050405020304" pitchFamily="18" charset="0"/>
              </a:rPr>
              <a:t>from one computer to another with no guarantees about arrival and sequencing</a:t>
            </a:r>
          </a:p>
          <a:p>
            <a:pPr lvl="1" algn="just"/>
            <a:r>
              <a:rPr lang="en-US" altLang="en-US" sz="2000" dirty="0">
                <a:solidFill>
                  <a:srgbClr val="C00000"/>
                </a:solidFill>
                <a:latin typeface="Times New Roman" panose="02020603050405020304" pitchFamily="18" charset="0"/>
                <a:cs typeface="Times New Roman" panose="02020603050405020304" pitchFamily="18" charset="0"/>
              </a:rPr>
              <a:t>Example applications that use such services include Clock server and Ping</a:t>
            </a:r>
          </a:p>
          <a:p>
            <a:pPr algn="just"/>
            <a:r>
              <a:rPr lang="en-US" altLang="en-US" sz="2400" dirty="0">
                <a:solidFill>
                  <a:schemeClr val="tx1"/>
                </a:solidFill>
                <a:latin typeface="Times New Roman" panose="02020603050405020304" pitchFamily="18" charset="0"/>
                <a:cs typeface="Times New Roman" panose="02020603050405020304" pitchFamily="18" charset="0"/>
              </a:rPr>
              <a:t>The TCP and UDP protocols use ports to map incoming data to a particular process running on a computer</a:t>
            </a:r>
          </a:p>
        </p:txBody>
      </p:sp>
      <p:sp>
        <p:nvSpPr>
          <p:cNvPr id="20484" name="Slide Number Placeholder 3">
            <a:extLst>
              <a:ext uri="{FF2B5EF4-FFF2-40B4-BE49-F238E27FC236}">
                <a16:creationId xmlns:a16="http://schemas.microsoft.com/office/drawing/2014/main" xmlns="" id="{120DE5D5-AD62-4A25-86F8-908F712DC67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F83FE1BA-8CAA-4D5E-855A-E54F5304B46F}" type="slidenum">
              <a:rPr lang="en-US" altLang="en-US" sz="1400">
                <a:solidFill>
                  <a:schemeClr val="tx1"/>
                </a:solidFill>
                <a:latin typeface="Times New Roman" panose="02020603050405020304" pitchFamily="18" charset="0"/>
              </a:rPr>
              <a:pPr>
                <a:lnSpc>
                  <a:spcPct val="100000"/>
                </a:lnSpc>
                <a:spcBef>
                  <a:spcPct val="0"/>
                </a:spcBef>
                <a:buClrTx/>
                <a:buFontTx/>
                <a:buNone/>
              </a:pPr>
              <a:t>22</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 calcmode="lin" valueType="num">
                                      <p:cBhvr additive="base">
                                        <p:cTn id="17" dur="5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3" dur="500"/>
                                        <p:tgtEl>
                                          <p:spTgt spid="14339">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4339">
                                            <p:txEl>
                                              <p:pRg st="4" end="4"/>
                                            </p:txEl>
                                          </p:spTgt>
                                        </p:tgtEl>
                                        <p:attrNameLst>
                                          <p:attrName>style.visibility</p:attrName>
                                        </p:attrNameLst>
                                      </p:cBhvr>
                                      <p:to>
                                        <p:strVal val="visible"/>
                                      </p:to>
                                    </p:set>
                                    <p:anim calcmode="lin" valueType="num">
                                      <p:cBhvr additive="base">
                                        <p:cTn id="28" dur="500" fill="hold"/>
                                        <p:tgtEl>
                                          <p:spTgt spid="14339">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34" dur="500"/>
                                        <p:tgtEl>
                                          <p:spTgt spid="14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xmlns="" id="{5956E37D-C0FF-4EBA-A1D1-96DA520835E1}"/>
              </a:ext>
            </a:extLst>
          </p:cNvPr>
          <p:cNvSpPr>
            <a:spLocks noGrp="1"/>
          </p:cNvSpPr>
          <p:nvPr>
            <p:ph type="title"/>
          </p:nvPr>
        </p:nvSpPr>
        <p:spPr/>
        <p:txBody>
          <a:bodyPr/>
          <a:lstStyle/>
          <a:p>
            <a:r>
              <a:rPr lang="en-US" altLang="en-US" sz="3600">
                <a:latin typeface="Times New Roman" panose="02020603050405020304" pitchFamily="18" charset="0"/>
                <a:cs typeface="Times New Roman" panose="02020603050405020304" pitchFamily="18" charset="0"/>
              </a:rPr>
              <a:t>Sockets and Socket-based Communication</a:t>
            </a:r>
          </a:p>
        </p:txBody>
      </p:sp>
      <p:sp>
        <p:nvSpPr>
          <p:cNvPr id="16387" name="Content Placeholder 2">
            <a:extLst>
              <a:ext uri="{FF2B5EF4-FFF2-40B4-BE49-F238E27FC236}">
                <a16:creationId xmlns:a16="http://schemas.microsoft.com/office/drawing/2014/main" xmlns="" id="{F8431BBD-FB10-4EF0-AE1C-D3BE6C316BB3}"/>
              </a:ext>
            </a:extLst>
          </p:cNvPr>
          <p:cNvSpPr>
            <a:spLocks noGrp="1"/>
          </p:cNvSpPr>
          <p:nvPr>
            <p:ph idx="1"/>
          </p:nvPr>
        </p:nvSpPr>
        <p:spPr/>
        <p:txBody>
          <a:bodyPr/>
          <a:lstStyle/>
          <a:p>
            <a:pPr algn="just"/>
            <a:r>
              <a:rPr lang="en-US" altLang="en-US" sz="2400" dirty="0">
                <a:solidFill>
                  <a:schemeClr val="tx1"/>
                </a:solidFill>
                <a:latin typeface="Times New Roman" panose="02020603050405020304" pitchFamily="18" charset="0"/>
                <a:cs typeface="Times New Roman" panose="02020603050405020304" pitchFamily="18" charset="0"/>
              </a:rPr>
              <a:t>Sockets provide an interface for programming networks at the transport layer</a:t>
            </a:r>
          </a:p>
          <a:p>
            <a:pPr algn="just"/>
            <a:r>
              <a:rPr lang="en-US" altLang="en-US" sz="2400" dirty="0">
                <a:solidFill>
                  <a:schemeClr val="tx1"/>
                </a:solidFill>
                <a:latin typeface="Times New Roman" panose="02020603050405020304" pitchFamily="18" charset="0"/>
                <a:cs typeface="Times New Roman" panose="02020603050405020304" pitchFamily="18" charset="0"/>
              </a:rPr>
              <a:t>Network communication using Sockets is very much similar to performing file I/O</a:t>
            </a:r>
          </a:p>
          <a:p>
            <a:pPr algn="just"/>
            <a:r>
              <a:rPr lang="en-US" altLang="en-US" sz="2400" dirty="0">
                <a:solidFill>
                  <a:schemeClr val="tx1"/>
                </a:solidFill>
                <a:latin typeface="Times New Roman" panose="02020603050405020304" pitchFamily="18" charset="0"/>
                <a:cs typeface="Times New Roman" panose="02020603050405020304" pitchFamily="18" charset="0"/>
              </a:rPr>
              <a:t>In fact, socket handle is treated like file handle</a:t>
            </a:r>
          </a:p>
        </p:txBody>
      </p:sp>
      <p:sp>
        <p:nvSpPr>
          <p:cNvPr id="22532" name="Slide Number Placeholder 3">
            <a:extLst>
              <a:ext uri="{FF2B5EF4-FFF2-40B4-BE49-F238E27FC236}">
                <a16:creationId xmlns:a16="http://schemas.microsoft.com/office/drawing/2014/main" xmlns="" id="{3D5AF117-1BF0-46C8-8A18-CF3E6A6C64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83F0EB17-E404-4DF1-9E0F-8FA53D3E8072}" type="slidenum">
              <a:rPr lang="en-US" altLang="en-US" sz="1400">
                <a:solidFill>
                  <a:schemeClr val="tx1"/>
                </a:solidFill>
                <a:latin typeface="Times New Roman" panose="02020603050405020304" pitchFamily="18" charset="0"/>
              </a:rPr>
              <a:pPr>
                <a:lnSpc>
                  <a:spcPct val="100000"/>
                </a:lnSpc>
                <a:spcBef>
                  <a:spcPct val="0"/>
                </a:spcBef>
                <a:buClrTx/>
                <a:buFontTx/>
                <a:buNone/>
              </a:pPr>
              <a:t>23</a:t>
            </a:fld>
            <a:endParaRPr lang="en-US" altLang="en-US" sz="1400">
              <a:solidFill>
                <a:schemeClr val="tx1"/>
              </a:solidFill>
              <a:latin typeface="Times New Roman" panose="02020603050405020304" pitchFamily="18" charset="0"/>
            </a:endParaRPr>
          </a:p>
        </p:txBody>
      </p:sp>
      <p:pic>
        <p:nvPicPr>
          <p:cNvPr id="16389" name="Picture 5">
            <a:extLst>
              <a:ext uri="{FF2B5EF4-FFF2-40B4-BE49-F238E27FC236}">
                <a16:creationId xmlns:a16="http://schemas.microsoft.com/office/drawing/2014/main" xmlns="" id="{125183F9-5BDE-4CDE-B0CE-AAFCD6B56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124200"/>
            <a:ext cx="705485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linds(horizontal)">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12" dur="500"/>
                                        <p:tgtEl>
                                          <p:spTgt spid="16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blinds(horizontal)">
                                      <p:cBhvr>
                                        <p:cTn id="17" dur="500"/>
                                        <p:tgtEl>
                                          <p:spTgt spid="16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16389"/>
                                        </p:tgtEl>
                                        <p:attrNameLst>
                                          <p:attrName>style.visibility</p:attrName>
                                        </p:attrNameLst>
                                      </p:cBhvr>
                                      <p:to>
                                        <p:strVal val="visible"/>
                                      </p:to>
                                    </p:set>
                                    <p:anim calcmode="lin" valueType="num">
                                      <p:cBhvr additive="base">
                                        <p:cTn id="22" dur="500" fill="hold"/>
                                        <p:tgtEl>
                                          <p:spTgt spid="16389"/>
                                        </p:tgtEl>
                                        <p:attrNameLst>
                                          <p:attrName>ppt_x</p:attrName>
                                        </p:attrNameLst>
                                      </p:cBhvr>
                                      <p:tavLst>
                                        <p:tav tm="0">
                                          <p:val>
                                            <p:strVal val="#ppt_x"/>
                                          </p:val>
                                        </p:tav>
                                        <p:tav tm="100000">
                                          <p:val>
                                            <p:strVal val="#ppt_x"/>
                                          </p:val>
                                        </p:tav>
                                      </p:tavLst>
                                    </p:anim>
                                    <p:anim calcmode="lin" valueType="num">
                                      <p:cBhvr additive="base">
                                        <p:cTn id="23"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xmlns="" id="{C41C852B-578D-47FF-82C7-D0FA1651FF81}"/>
              </a:ext>
            </a:extLst>
          </p:cNvPr>
          <p:cNvSpPr>
            <a:spLocks noGrp="1"/>
          </p:cNvSpPr>
          <p:nvPr>
            <p:ph type="title"/>
          </p:nvPr>
        </p:nvSpPr>
        <p:spPr/>
        <p:txBody>
          <a:bodyPr/>
          <a:lstStyle/>
          <a:p>
            <a:r>
              <a:rPr lang="en-US" altLang="en-US" sz="2800">
                <a:latin typeface="Times New Roman" panose="02020603050405020304" pitchFamily="18" charset="0"/>
                <a:cs typeface="Times New Roman" panose="02020603050405020304" pitchFamily="18" charset="0"/>
              </a:rPr>
              <a:t>SOCKET PROGRAMMING AND JAVA.NET CLASS</a:t>
            </a:r>
          </a:p>
        </p:txBody>
      </p:sp>
      <p:sp>
        <p:nvSpPr>
          <p:cNvPr id="17411" name="Content Placeholder 2">
            <a:extLst>
              <a:ext uri="{FF2B5EF4-FFF2-40B4-BE49-F238E27FC236}">
                <a16:creationId xmlns:a16="http://schemas.microsoft.com/office/drawing/2014/main" xmlns="" id="{35E71EB5-80F6-49F2-9C31-25EE0E2A447F}"/>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A socket is an endpoint of a two-way communication link between two programs running on the network</a:t>
            </a:r>
          </a:p>
          <a:p>
            <a:pPr algn="just"/>
            <a:r>
              <a:rPr lang="en-US" altLang="en-US" dirty="0">
                <a:solidFill>
                  <a:schemeClr val="tx1"/>
                </a:solidFill>
                <a:latin typeface="Times New Roman" panose="02020603050405020304" pitchFamily="18" charset="0"/>
                <a:cs typeface="Times New Roman" panose="02020603050405020304" pitchFamily="18" charset="0"/>
              </a:rPr>
              <a:t>Java provides a set of classes, defined in a package called java.net</a:t>
            </a:r>
          </a:p>
          <a:p>
            <a:pPr algn="just"/>
            <a:r>
              <a:rPr lang="en-US" altLang="en-US" dirty="0">
                <a:solidFill>
                  <a:schemeClr val="tx1"/>
                </a:solidFill>
                <a:latin typeface="Times New Roman" panose="02020603050405020304" pitchFamily="18" charset="0"/>
                <a:cs typeface="Times New Roman" panose="02020603050405020304" pitchFamily="18" charset="0"/>
              </a:rPr>
              <a:t>Key </a:t>
            </a:r>
            <a:r>
              <a:rPr lang="en-US" altLang="en-US" b="1" dirty="0">
                <a:solidFill>
                  <a:srgbClr val="FF0000"/>
                </a:solidFill>
                <a:latin typeface="Times New Roman" panose="02020603050405020304" pitchFamily="18" charset="0"/>
                <a:cs typeface="Times New Roman" panose="02020603050405020304" pitchFamily="18" charset="0"/>
              </a:rPr>
              <a:t>classes, interfaces, and exceptions </a:t>
            </a:r>
            <a:r>
              <a:rPr lang="en-US" altLang="en-US" dirty="0">
                <a:solidFill>
                  <a:schemeClr val="tx1"/>
                </a:solidFill>
                <a:latin typeface="Times New Roman" panose="02020603050405020304" pitchFamily="18" charset="0"/>
                <a:cs typeface="Times New Roman" panose="02020603050405020304" pitchFamily="18" charset="0"/>
              </a:rPr>
              <a:t>in java.net package simplifying the complexity involved in creating client and server programs </a:t>
            </a:r>
          </a:p>
        </p:txBody>
      </p:sp>
      <p:sp>
        <p:nvSpPr>
          <p:cNvPr id="23556" name="Slide Number Placeholder 3">
            <a:extLst>
              <a:ext uri="{FF2B5EF4-FFF2-40B4-BE49-F238E27FC236}">
                <a16:creationId xmlns:a16="http://schemas.microsoft.com/office/drawing/2014/main" xmlns="" id="{8A44D7DD-642B-44AF-BDE7-5F44B747151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B2476676-1689-4ABB-8669-A6DFA44CC78B}" type="slidenum">
              <a:rPr lang="en-US" altLang="en-US" sz="1400">
                <a:solidFill>
                  <a:schemeClr val="tx1"/>
                </a:solidFill>
                <a:latin typeface="Times New Roman" panose="02020603050405020304" pitchFamily="18" charset="0"/>
              </a:rPr>
              <a:pPr>
                <a:lnSpc>
                  <a:spcPct val="100000"/>
                </a:lnSpc>
                <a:spcBef>
                  <a:spcPct val="0"/>
                </a:spcBef>
                <a:buClrTx/>
                <a:buFontTx/>
                <a:buNone/>
              </a:pPr>
              <a:t>24</a:t>
            </a:fld>
            <a:endParaRPr lang="en-US" altLang="en-US" sz="1400">
              <a:solidFill>
                <a:schemeClr val="tx1"/>
              </a:solidFill>
              <a:latin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xmlns="" id="{DA28CAB9-114E-4B17-841F-5D61D3C9A567}"/>
              </a:ext>
            </a:extLst>
          </p:cNvPr>
          <p:cNvGraphicFramePr>
            <a:graphicFrameLocks/>
          </p:cNvGraphicFramePr>
          <p:nvPr/>
        </p:nvGraphicFramePr>
        <p:xfrm>
          <a:off x="914400" y="4343400"/>
          <a:ext cx="7543800" cy="1981200"/>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xmlns="" val="20000"/>
                    </a:ext>
                  </a:extLst>
                </a:gridCol>
                <a:gridCol w="2895600">
                  <a:extLst>
                    <a:ext uri="{9D8B030D-6E8A-4147-A177-3AD203B41FA5}">
                      <a16:colId xmlns:a16="http://schemas.microsoft.com/office/drawing/2014/main" xmlns="" val="20001"/>
                    </a:ext>
                  </a:extLst>
                </a:gridCol>
                <a:gridCol w="2362200">
                  <a:extLst>
                    <a:ext uri="{9D8B030D-6E8A-4147-A177-3AD203B41FA5}">
                      <a16:colId xmlns:a16="http://schemas.microsoft.com/office/drawing/2014/main" xmlns="" val="20002"/>
                    </a:ext>
                  </a:extLst>
                </a:gridCol>
              </a:tblGrid>
              <a:tr h="370840">
                <a:tc>
                  <a:txBody>
                    <a:bodyPr/>
                    <a:lstStyle/>
                    <a:p>
                      <a:r>
                        <a:rPr lang="en-US" sz="2000" b="1" i="0" kern="1200" baseline="0" dirty="0">
                          <a:solidFill>
                            <a:srgbClr val="0000FF"/>
                          </a:solidFill>
                          <a:latin typeface="Times New Roman" pitchFamily="18" charset="0"/>
                          <a:ea typeface="+mn-ea"/>
                          <a:cs typeface="Times New Roman" pitchFamily="18" charset="0"/>
                        </a:rPr>
                        <a:t>The Classes</a:t>
                      </a:r>
                    </a:p>
                  </a:txBody>
                  <a:tcPr/>
                </a:tc>
                <a:tc>
                  <a:txBody>
                    <a:bodyPr/>
                    <a:lstStyle/>
                    <a:p>
                      <a:r>
                        <a:rPr lang="en-US" sz="2000" b="1" i="0" kern="1200" baseline="0" dirty="0">
                          <a:solidFill>
                            <a:srgbClr val="0000FF"/>
                          </a:solidFill>
                          <a:latin typeface="Times New Roman" pitchFamily="18" charset="0"/>
                          <a:ea typeface="+mn-ea"/>
                          <a:cs typeface="Times New Roman" pitchFamily="18" charset="0"/>
                        </a:rPr>
                        <a:t>The Interfaces</a:t>
                      </a:r>
                    </a:p>
                  </a:txBody>
                  <a:tcPr/>
                </a:tc>
                <a:tc>
                  <a:txBody>
                    <a:bodyPr/>
                    <a:lstStyle/>
                    <a:p>
                      <a:r>
                        <a:rPr lang="en-US" sz="2000" b="1" i="0" kern="1200" baseline="0" dirty="0">
                          <a:solidFill>
                            <a:srgbClr val="0000FF"/>
                          </a:solidFill>
                          <a:latin typeface="Times New Roman" pitchFamily="18" charset="0"/>
                          <a:ea typeface="+mn-ea"/>
                          <a:cs typeface="Times New Roman" pitchFamily="18" charset="0"/>
                        </a:rPr>
                        <a:t>Exceptions</a:t>
                      </a:r>
                    </a:p>
                  </a:txBody>
                  <a:tcPr/>
                </a:tc>
                <a:extLst>
                  <a:ext uri="{0D108BD9-81ED-4DB2-BD59-A6C34878D82A}">
                    <a16:rowId xmlns:a16="http://schemas.microsoft.com/office/drawing/2014/main" xmlns="" val="10000"/>
                  </a:ext>
                </a:extLst>
              </a:tr>
              <a:tr h="370840">
                <a:tc>
                  <a:txBody>
                    <a:bodyPr/>
                    <a:lstStyle/>
                    <a:p>
                      <a:r>
                        <a:rPr lang="en-US" sz="2000" kern="1200" baseline="0" dirty="0">
                          <a:solidFill>
                            <a:schemeClr val="tx1"/>
                          </a:solidFill>
                          <a:latin typeface="Times New Roman" pitchFamily="18" charset="0"/>
                          <a:ea typeface="+mn-ea"/>
                          <a:cs typeface="Times New Roman" pitchFamily="18" charset="0"/>
                        </a:rPr>
                        <a:t>URL</a:t>
                      </a:r>
                    </a:p>
                  </a:txBody>
                  <a:tcPr/>
                </a:tc>
                <a:tc>
                  <a:txBody>
                    <a:bodyPr/>
                    <a:lstStyle/>
                    <a:p>
                      <a:r>
                        <a:rPr lang="en-US" sz="2000" kern="1200" baseline="0" dirty="0" err="1">
                          <a:solidFill>
                            <a:schemeClr val="tx1"/>
                          </a:solidFill>
                          <a:latin typeface="Times New Roman" pitchFamily="18" charset="0"/>
                          <a:ea typeface="+mn-ea"/>
                          <a:cs typeface="Times New Roman" pitchFamily="18" charset="0"/>
                        </a:rPr>
                        <a:t>ContentHandlerFactory</a:t>
                      </a:r>
                      <a:endParaRPr lang="en-US" sz="2000" kern="1200" baseline="0" dirty="0">
                        <a:solidFill>
                          <a:schemeClr val="tx1"/>
                        </a:solidFill>
                        <a:latin typeface="Times New Roman" pitchFamily="18" charset="0"/>
                        <a:ea typeface="+mn-ea"/>
                        <a:cs typeface="Times New Roman" pitchFamily="18" charset="0"/>
                      </a:endParaRPr>
                    </a:p>
                  </a:txBody>
                  <a:tcPr/>
                </a:tc>
                <a:tc>
                  <a:txBody>
                    <a:bodyPr/>
                    <a:lstStyle/>
                    <a:p>
                      <a:r>
                        <a:rPr lang="en-US" sz="2000" kern="1200" baseline="0" dirty="0" err="1">
                          <a:solidFill>
                            <a:schemeClr val="tx1"/>
                          </a:solidFill>
                          <a:latin typeface="Times New Roman" pitchFamily="18" charset="0"/>
                          <a:ea typeface="+mn-ea"/>
                          <a:cs typeface="Times New Roman" pitchFamily="18" charset="0"/>
                        </a:rPr>
                        <a:t>BindException</a:t>
                      </a:r>
                      <a:endParaRPr lang="en-US" sz="2000" kern="1200" baseline="0" dirty="0">
                        <a:solidFill>
                          <a:schemeClr val="tx1"/>
                        </a:solidFill>
                        <a:latin typeface="Times New Roman" pitchFamily="18" charset="0"/>
                        <a:ea typeface="+mn-ea"/>
                        <a:cs typeface="Times New Roman" pitchFamily="18" charset="0"/>
                      </a:endParaRPr>
                    </a:p>
                  </a:txBody>
                  <a:tcPr/>
                </a:tc>
                <a:extLst>
                  <a:ext uri="{0D108BD9-81ED-4DB2-BD59-A6C34878D82A}">
                    <a16:rowId xmlns:a16="http://schemas.microsoft.com/office/drawing/2014/main" xmlns="" val="10001"/>
                  </a:ext>
                </a:extLst>
              </a:tr>
              <a:tr h="370840">
                <a:tc>
                  <a:txBody>
                    <a:bodyPr/>
                    <a:lstStyle/>
                    <a:p>
                      <a:r>
                        <a:rPr lang="en-US" sz="2000" kern="1200" baseline="0" dirty="0" err="1">
                          <a:solidFill>
                            <a:schemeClr val="tx1"/>
                          </a:solidFill>
                          <a:latin typeface="Times New Roman" pitchFamily="18" charset="0"/>
                          <a:ea typeface="+mn-ea"/>
                          <a:cs typeface="Times New Roman" pitchFamily="18" charset="0"/>
                        </a:rPr>
                        <a:t>URLConnection</a:t>
                      </a:r>
                      <a:endParaRPr lang="en-US" sz="2000" kern="1200" baseline="0" dirty="0">
                        <a:solidFill>
                          <a:schemeClr val="tx1"/>
                        </a:solidFill>
                        <a:latin typeface="Times New Roman" pitchFamily="18" charset="0"/>
                        <a:ea typeface="+mn-ea"/>
                        <a:cs typeface="Times New Roman" pitchFamily="18" charset="0"/>
                      </a:endParaRPr>
                    </a:p>
                  </a:txBody>
                  <a:tcPr/>
                </a:tc>
                <a:tc>
                  <a:txBody>
                    <a:bodyPr/>
                    <a:lstStyle/>
                    <a:p>
                      <a:r>
                        <a:rPr lang="en-US" sz="2000" kern="1200" baseline="0" dirty="0" err="1">
                          <a:solidFill>
                            <a:schemeClr val="tx1"/>
                          </a:solidFill>
                          <a:latin typeface="Times New Roman" pitchFamily="18" charset="0"/>
                          <a:ea typeface="+mn-ea"/>
                          <a:cs typeface="Times New Roman" pitchFamily="18" charset="0"/>
                        </a:rPr>
                        <a:t>FileNameMap</a:t>
                      </a:r>
                      <a:endParaRPr lang="en-US" sz="2000" kern="1200" baseline="0" dirty="0">
                        <a:solidFill>
                          <a:schemeClr val="tx1"/>
                        </a:solidFill>
                        <a:latin typeface="Times New Roman" pitchFamily="18" charset="0"/>
                        <a:ea typeface="+mn-ea"/>
                        <a:cs typeface="Times New Roman" pitchFamily="18" charset="0"/>
                      </a:endParaRPr>
                    </a:p>
                  </a:txBody>
                  <a:tcPr/>
                </a:tc>
                <a:tc>
                  <a:txBody>
                    <a:bodyPr/>
                    <a:lstStyle/>
                    <a:p>
                      <a:r>
                        <a:rPr lang="en-US" sz="2000" kern="1200" baseline="0" dirty="0" err="1">
                          <a:solidFill>
                            <a:schemeClr val="tx1"/>
                          </a:solidFill>
                          <a:latin typeface="Times New Roman" pitchFamily="18" charset="0"/>
                          <a:ea typeface="+mn-ea"/>
                          <a:cs typeface="Times New Roman" pitchFamily="18" charset="0"/>
                        </a:rPr>
                        <a:t>ConnectException</a:t>
                      </a:r>
                      <a:endParaRPr lang="en-US" sz="2000" kern="1200" baseline="0" dirty="0">
                        <a:solidFill>
                          <a:schemeClr val="tx1"/>
                        </a:solidFill>
                        <a:latin typeface="Times New Roman" pitchFamily="18" charset="0"/>
                        <a:ea typeface="+mn-ea"/>
                        <a:cs typeface="Times New Roman" pitchFamily="18" charset="0"/>
                      </a:endParaRPr>
                    </a:p>
                  </a:txBody>
                  <a:tcPr/>
                </a:tc>
                <a:extLst>
                  <a:ext uri="{0D108BD9-81ED-4DB2-BD59-A6C34878D82A}">
                    <a16:rowId xmlns:a16="http://schemas.microsoft.com/office/drawing/2014/main" xmlns="" val="10002"/>
                  </a:ext>
                </a:extLst>
              </a:tr>
              <a:tr h="370840">
                <a:tc>
                  <a:txBody>
                    <a:bodyPr/>
                    <a:lstStyle/>
                    <a:p>
                      <a:r>
                        <a:rPr lang="en-US" sz="2000" kern="1200" baseline="0" dirty="0" err="1">
                          <a:solidFill>
                            <a:schemeClr val="tx1"/>
                          </a:solidFill>
                          <a:latin typeface="Times New Roman" pitchFamily="18" charset="0"/>
                          <a:ea typeface="+mn-ea"/>
                          <a:cs typeface="Times New Roman" pitchFamily="18" charset="0"/>
                        </a:rPr>
                        <a:t>URLStreamHandler</a:t>
                      </a:r>
                      <a:endParaRPr lang="en-US" sz="2000" kern="1200" baseline="0" dirty="0">
                        <a:solidFill>
                          <a:schemeClr val="tx1"/>
                        </a:solidFill>
                        <a:latin typeface="Times New Roman" pitchFamily="18" charset="0"/>
                        <a:ea typeface="+mn-ea"/>
                        <a:cs typeface="Times New Roman" pitchFamily="18" charset="0"/>
                      </a:endParaRPr>
                    </a:p>
                  </a:txBody>
                  <a:tcPr/>
                </a:tc>
                <a:tc>
                  <a:txBody>
                    <a:bodyPr/>
                    <a:lstStyle/>
                    <a:p>
                      <a:r>
                        <a:rPr lang="en-US" sz="2000" kern="1200" baseline="0" dirty="0" err="1">
                          <a:solidFill>
                            <a:schemeClr val="tx1"/>
                          </a:solidFill>
                          <a:latin typeface="Times New Roman" pitchFamily="18" charset="0"/>
                          <a:ea typeface="+mn-ea"/>
                          <a:cs typeface="Times New Roman" pitchFamily="18" charset="0"/>
                        </a:rPr>
                        <a:t>SocketImplFactory</a:t>
                      </a:r>
                      <a:endParaRPr lang="en-US" sz="2000" kern="1200" baseline="0" dirty="0">
                        <a:solidFill>
                          <a:schemeClr val="tx1"/>
                        </a:solidFill>
                        <a:latin typeface="Times New Roman" pitchFamily="18" charset="0"/>
                        <a:ea typeface="+mn-ea"/>
                        <a:cs typeface="Times New Roman" pitchFamily="18" charset="0"/>
                      </a:endParaRPr>
                    </a:p>
                  </a:txBody>
                  <a:tcPr/>
                </a:tc>
                <a:tc>
                  <a:txBody>
                    <a:bodyPr/>
                    <a:lstStyle/>
                    <a:p>
                      <a:r>
                        <a:rPr lang="el-GR" sz="2000" kern="1200" baseline="0" dirty="0">
                          <a:solidFill>
                            <a:schemeClr val="tx1"/>
                          </a:solidFill>
                          <a:latin typeface="Times New Roman" pitchFamily="18" charset="0"/>
                          <a:ea typeface="+mn-ea"/>
                          <a:cs typeface="Times New Roman" pitchFamily="18" charset="0"/>
                        </a:rPr>
                        <a:t> </a:t>
                      </a:r>
                      <a:r>
                        <a:rPr lang="en-US" sz="2000" kern="1200" baseline="0" dirty="0" err="1">
                          <a:solidFill>
                            <a:schemeClr val="tx1"/>
                          </a:solidFill>
                          <a:latin typeface="Times New Roman" pitchFamily="18" charset="0"/>
                          <a:ea typeface="+mn-ea"/>
                          <a:cs typeface="Times New Roman" pitchFamily="18" charset="0"/>
                        </a:rPr>
                        <a:t>SocketException</a:t>
                      </a:r>
                      <a:endParaRPr lang="en-US" sz="2000" kern="1200" baseline="0" dirty="0">
                        <a:solidFill>
                          <a:schemeClr val="tx1"/>
                        </a:solidFill>
                        <a:latin typeface="Times New Roman" pitchFamily="18" charset="0"/>
                        <a:ea typeface="+mn-ea"/>
                        <a:cs typeface="Times New Roman" pitchFamily="18" charset="0"/>
                      </a:endParaRPr>
                    </a:p>
                  </a:txBody>
                  <a:tcPr/>
                </a:tc>
                <a:extLst>
                  <a:ext uri="{0D108BD9-81ED-4DB2-BD59-A6C34878D82A}">
                    <a16:rowId xmlns:a16="http://schemas.microsoft.com/office/drawing/2014/main" xmlns="" val="10003"/>
                  </a:ext>
                </a:extLst>
              </a:tr>
              <a:tr h="370840">
                <a:tc>
                  <a:txBody>
                    <a:bodyPr/>
                    <a:lstStyle/>
                    <a:p>
                      <a:r>
                        <a:rPr lang="en-US" sz="2000" kern="1200" baseline="0" dirty="0" err="1">
                          <a:solidFill>
                            <a:schemeClr val="tx1"/>
                          </a:solidFill>
                          <a:latin typeface="Times New Roman" pitchFamily="18" charset="0"/>
                          <a:ea typeface="+mn-ea"/>
                          <a:cs typeface="Times New Roman" pitchFamily="18" charset="0"/>
                        </a:rPr>
                        <a:t>URLEncoder</a:t>
                      </a:r>
                      <a:endParaRPr lang="en-US" sz="2000" kern="1200" baseline="0" dirty="0">
                        <a:solidFill>
                          <a:schemeClr val="tx1"/>
                        </a:solidFill>
                        <a:latin typeface="Times New Roman" pitchFamily="18" charset="0"/>
                        <a:ea typeface="+mn-ea"/>
                        <a:cs typeface="Times New Roman" pitchFamily="18" charset="0"/>
                      </a:endParaRPr>
                    </a:p>
                  </a:txBody>
                  <a:tcPr/>
                </a:tc>
                <a:tc>
                  <a:txBody>
                    <a:bodyPr/>
                    <a:lstStyle/>
                    <a:p>
                      <a:r>
                        <a:rPr lang="en-US" sz="2000" kern="1200" baseline="0" dirty="0" err="1">
                          <a:solidFill>
                            <a:schemeClr val="tx1"/>
                          </a:solidFill>
                          <a:latin typeface="Times New Roman" pitchFamily="18" charset="0"/>
                          <a:ea typeface="+mn-ea"/>
                          <a:cs typeface="Times New Roman" pitchFamily="18" charset="0"/>
                        </a:rPr>
                        <a:t>URLStreamHandlerFactor</a:t>
                      </a:r>
                      <a:endParaRPr lang="en-US" sz="2000" kern="1200" baseline="0" dirty="0">
                        <a:solidFill>
                          <a:schemeClr val="tx1"/>
                        </a:solidFill>
                        <a:latin typeface="Times New Roman" pitchFamily="18" charset="0"/>
                        <a:ea typeface="+mn-ea"/>
                        <a:cs typeface="Times New Roman" pitchFamily="18" charset="0"/>
                      </a:endParaRPr>
                    </a:p>
                  </a:txBody>
                  <a:tcPr/>
                </a:tc>
                <a:tc>
                  <a:txBody>
                    <a:bodyPr/>
                    <a:lstStyle/>
                    <a:p>
                      <a:r>
                        <a:rPr lang="el-GR" sz="2000" kern="1200" baseline="0" dirty="0">
                          <a:solidFill>
                            <a:schemeClr val="tx1"/>
                          </a:solidFill>
                          <a:latin typeface="Times New Roman" pitchFamily="18" charset="0"/>
                          <a:ea typeface="+mn-ea"/>
                          <a:cs typeface="Times New Roman" pitchFamily="18" charset="0"/>
                        </a:rPr>
                        <a:t> </a:t>
                      </a:r>
                      <a:r>
                        <a:rPr lang="en-US" sz="2000" kern="1200" baseline="0" dirty="0" err="1">
                          <a:solidFill>
                            <a:schemeClr val="tx1"/>
                          </a:solidFill>
                          <a:latin typeface="Times New Roman" pitchFamily="18" charset="0"/>
                          <a:ea typeface="+mn-ea"/>
                          <a:cs typeface="Times New Roman" pitchFamily="18" charset="0"/>
                        </a:rPr>
                        <a:t>ProtocolException</a:t>
                      </a:r>
                      <a:endParaRPr lang="en-US" sz="2000" kern="1200" baseline="0" dirty="0">
                        <a:solidFill>
                          <a:schemeClr val="tx1"/>
                        </a:solidFill>
                        <a:latin typeface="Times New Roman" pitchFamily="18" charset="0"/>
                        <a:ea typeface="+mn-ea"/>
                        <a:cs typeface="Times New Roman" pitchFamily="18" charset="0"/>
                      </a:endParaRPr>
                    </a:p>
                  </a:txBody>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xmlns="" id="{D2021AE6-1C24-4F56-BDC8-B8C861E03AB0}"/>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TCP/IP SOCKET PROGRAMMING</a:t>
            </a:r>
          </a:p>
        </p:txBody>
      </p:sp>
      <p:sp>
        <p:nvSpPr>
          <p:cNvPr id="18435" name="Content Placeholder 2">
            <a:extLst>
              <a:ext uri="{FF2B5EF4-FFF2-40B4-BE49-F238E27FC236}">
                <a16:creationId xmlns:a16="http://schemas.microsoft.com/office/drawing/2014/main" xmlns="" id="{BF9A8D87-4F02-4163-9490-1F095C1206E5}"/>
              </a:ext>
            </a:extLst>
          </p:cNvPr>
          <p:cNvSpPr>
            <a:spLocks noGrp="1"/>
          </p:cNvSpPr>
          <p:nvPr>
            <p:ph idx="1"/>
          </p:nvPr>
        </p:nvSpPr>
        <p:spPr>
          <a:xfrm>
            <a:off x="171450" y="838200"/>
            <a:ext cx="8763000" cy="4800600"/>
          </a:xfrm>
        </p:spPr>
        <p:txBody>
          <a:bodyPr/>
          <a:lstStyle/>
          <a:p>
            <a:pPr algn="just"/>
            <a:r>
              <a:rPr lang="en-US" altLang="en-US" sz="2400" dirty="0">
                <a:solidFill>
                  <a:schemeClr val="tx1"/>
                </a:solidFill>
                <a:latin typeface="Times New Roman" panose="02020603050405020304" pitchFamily="18" charset="0"/>
                <a:cs typeface="Times New Roman" panose="02020603050405020304" pitchFamily="18" charset="0"/>
              </a:rPr>
              <a:t>The two key classes from the java.net package used in creation of server and client programs are</a:t>
            </a:r>
          </a:p>
          <a:p>
            <a:pPr lvl="1" algn="just"/>
            <a:r>
              <a:rPr lang="en-US" altLang="en-US" sz="2000" dirty="0" err="1">
                <a:solidFill>
                  <a:srgbClr val="C00000"/>
                </a:solidFill>
                <a:latin typeface="Times New Roman" panose="02020603050405020304" pitchFamily="18" charset="0"/>
                <a:cs typeface="Times New Roman" panose="02020603050405020304" pitchFamily="18" charset="0"/>
              </a:rPr>
              <a:t>ServerSocket</a:t>
            </a:r>
            <a:endParaRPr lang="en-US" altLang="en-US" sz="2000" dirty="0">
              <a:solidFill>
                <a:srgbClr val="C00000"/>
              </a:solidFill>
              <a:latin typeface="Times New Roman" panose="02020603050405020304" pitchFamily="18" charset="0"/>
              <a:cs typeface="Times New Roman" panose="02020603050405020304" pitchFamily="18" charset="0"/>
            </a:endParaRPr>
          </a:p>
          <a:p>
            <a:pPr lvl="1" algn="just"/>
            <a:r>
              <a:rPr lang="en-US" altLang="en-US" sz="2000" dirty="0">
                <a:solidFill>
                  <a:srgbClr val="C00000"/>
                </a:solidFill>
                <a:latin typeface="Times New Roman" panose="02020603050405020304" pitchFamily="18" charset="0"/>
                <a:cs typeface="Times New Roman" panose="02020603050405020304" pitchFamily="18" charset="0"/>
              </a:rPr>
              <a:t>Socket</a:t>
            </a:r>
          </a:p>
          <a:p>
            <a:pPr algn="just"/>
            <a:r>
              <a:rPr lang="en-US" altLang="en-US" sz="2400" dirty="0">
                <a:solidFill>
                  <a:schemeClr val="tx1"/>
                </a:solidFill>
                <a:latin typeface="Times New Roman" panose="02020603050405020304" pitchFamily="18" charset="0"/>
                <a:cs typeface="Times New Roman" panose="02020603050405020304" pitchFamily="18" charset="0"/>
              </a:rPr>
              <a:t>A server program creates a specific type of socket that is used to listen for client requests (server socket)</a:t>
            </a:r>
          </a:p>
          <a:p>
            <a:pPr algn="just"/>
            <a:r>
              <a:rPr lang="en-US" altLang="en-US" sz="2400" dirty="0">
                <a:solidFill>
                  <a:schemeClr val="tx1"/>
                </a:solidFill>
                <a:latin typeface="Times New Roman" panose="02020603050405020304" pitchFamily="18" charset="0"/>
                <a:cs typeface="Times New Roman" panose="02020603050405020304" pitchFamily="18" charset="0"/>
              </a:rPr>
              <a:t>In the case of a connection request, the program creates a new socket through which it will exchange data with the client using input and output streams</a:t>
            </a:r>
          </a:p>
          <a:p>
            <a:pPr algn="just"/>
            <a:r>
              <a:rPr lang="en-US" altLang="en-US" sz="2400" dirty="0">
                <a:solidFill>
                  <a:schemeClr val="tx1"/>
                </a:solidFill>
                <a:latin typeface="Times New Roman" panose="02020603050405020304" pitchFamily="18" charset="0"/>
                <a:cs typeface="Times New Roman" panose="02020603050405020304" pitchFamily="18" charset="0"/>
              </a:rPr>
              <a:t>The socket abstraction is very similar to the file concept</a:t>
            </a:r>
          </a:p>
          <a:p>
            <a:pPr algn="just"/>
            <a:r>
              <a:rPr lang="en-US" altLang="en-US" sz="2400" dirty="0">
                <a:solidFill>
                  <a:schemeClr val="tx1"/>
                </a:solidFill>
                <a:latin typeface="Times New Roman" panose="02020603050405020304" pitchFamily="18" charset="0"/>
                <a:cs typeface="Times New Roman" panose="02020603050405020304" pitchFamily="18" charset="0"/>
              </a:rPr>
              <a:t>Developers have to open a socket, perform I/O, and close it</a:t>
            </a:r>
          </a:p>
        </p:txBody>
      </p:sp>
      <p:sp>
        <p:nvSpPr>
          <p:cNvPr id="24580" name="Slide Number Placeholder 3">
            <a:extLst>
              <a:ext uri="{FF2B5EF4-FFF2-40B4-BE49-F238E27FC236}">
                <a16:creationId xmlns:a16="http://schemas.microsoft.com/office/drawing/2014/main" xmlns="" id="{94BC4EE3-4453-4051-8529-48122F7747A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E6A0846A-5B0A-4607-84C3-01DBA0A51E48}" type="slidenum">
              <a:rPr lang="en-US" altLang="en-US" sz="1400">
                <a:solidFill>
                  <a:schemeClr val="tx1"/>
                </a:solidFill>
                <a:latin typeface="Times New Roman" panose="02020603050405020304" pitchFamily="18" charset="0"/>
              </a:rPr>
              <a:pPr>
                <a:lnSpc>
                  <a:spcPct val="100000"/>
                </a:lnSpc>
                <a:spcBef>
                  <a:spcPct val="0"/>
                </a:spcBef>
                <a:buClrTx/>
                <a:buFontTx/>
                <a:buNone/>
              </a:pPr>
              <a:t>25</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 calcmode="lin" valueType="num">
                                      <p:cBhvr additive="base">
                                        <p:cTn id="12"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8435">
                                            <p:txEl>
                                              <p:pRg st="2" end="2"/>
                                            </p:txEl>
                                          </p:spTgt>
                                        </p:tgtEl>
                                        <p:attrNameLst>
                                          <p:attrName>style.visibility</p:attrName>
                                        </p:attrNameLst>
                                      </p:cBhvr>
                                      <p:to>
                                        <p:strVal val="visible"/>
                                      </p:to>
                                    </p:set>
                                    <p:anim calcmode="lin" valueType="num">
                                      <p:cBhvr additive="base">
                                        <p:cTn id="18"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24" dur="500"/>
                                        <p:tgtEl>
                                          <p:spTgt spid="18435">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29" dur="500"/>
                                        <p:tgtEl>
                                          <p:spTgt spid="18435">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34" dur="500"/>
                                        <p:tgtEl>
                                          <p:spTgt spid="18435">
                                            <p:txEl>
                                              <p:pRg st="5" end="5"/>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39" dur="500"/>
                                        <p:tgtEl>
                                          <p:spTgt spid="184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xmlns="" id="{5EA2F5A6-A22D-4382-B3B5-6CA2F032E834}"/>
              </a:ext>
            </a:extLst>
          </p:cNvPr>
          <p:cNvSpPr>
            <a:spLocks noGrp="1"/>
          </p:cNvSpPr>
          <p:nvPr>
            <p:ph type="title"/>
          </p:nvPr>
        </p:nvSpPr>
        <p:spPr/>
        <p:txBody>
          <a:bodyPr/>
          <a:lstStyle/>
          <a:p>
            <a:r>
              <a:rPr lang="en-US" altLang="en-US" sz="3600">
                <a:latin typeface="Times New Roman" panose="02020603050405020304" pitchFamily="18" charset="0"/>
                <a:cs typeface="Times New Roman" panose="02020603050405020304" pitchFamily="18" charset="0"/>
              </a:rPr>
              <a:t>Steps for Creating a Simple Server Program</a:t>
            </a:r>
            <a:endParaRPr lang="en-US" altLang="en-US" sz="3600"/>
          </a:p>
        </p:txBody>
      </p:sp>
      <p:sp>
        <p:nvSpPr>
          <p:cNvPr id="20483" name="Content Placeholder 2">
            <a:extLst>
              <a:ext uri="{FF2B5EF4-FFF2-40B4-BE49-F238E27FC236}">
                <a16:creationId xmlns:a16="http://schemas.microsoft.com/office/drawing/2014/main" xmlns="" id="{7567787E-907F-488F-9A93-FD47C61CAFE8}"/>
              </a:ext>
            </a:extLst>
          </p:cNvPr>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Open the Server Socket</a:t>
            </a:r>
          </a:p>
          <a:p>
            <a:pPr lvl="1"/>
            <a:r>
              <a:rPr lang="en-US" altLang="en-US" sz="2000" dirty="0" err="1">
                <a:solidFill>
                  <a:srgbClr val="C00000"/>
                </a:solidFill>
                <a:latin typeface="Times New Roman" panose="02020603050405020304" pitchFamily="18" charset="0"/>
                <a:cs typeface="Times New Roman" panose="02020603050405020304" pitchFamily="18" charset="0"/>
              </a:rPr>
              <a:t>ServerSocket</a:t>
            </a:r>
            <a:r>
              <a:rPr lang="en-US" altLang="en-US" sz="2000" dirty="0">
                <a:solidFill>
                  <a:srgbClr val="C00000"/>
                </a:solidFill>
                <a:latin typeface="Times New Roman" panose="02020603050405020304" pitchFamily="18" charset="0"/>
                <a:cs typeface="Times New Roman" panose="02020603050405020304" pitchFamily="18" charset="0"/>
              </a:rPr>
              <a:t> server = new </a:t>
            </a:r>
            <a:r>
              <a:rPr lang="en-US" altLang="en-US" sz="2000" dirty="0" err="1">
                <a:solidFill>
                  <a:srgbClr val="C00000"/>
                </a:solidFill>
                <a:latin typeface="Times New Roman" panose="02020603050405020304" pitchFamily="18" charset="0"/>
                <a:cs typeface="Times New Roman" panose="02020603050405020304" pitchFamily="18" charset="0"/>
              </a:rPr>
              <a:t>ServerSocket</a:t>
            </a:r>
            <a:r>
              <a:rPr lang="en-US" altLang="en-US" sz="2000" dirty="0">
                <a:solidFill>
                  <a:srgbClr val="C00000"/>
                </a:solidFill>
                <a:latin typeface="Times New Roman" panose="02020603050405020304" pitchFamily="18" charset="0"/>
                <a:cs typeface="Times New Roman" panose="02020603050405020304" pitchFamily="18" charset="0"/>
              </a:rPr>
              <a:t>( PORT );</a:t>
            </a:r>
          </a:p>
          <a:p>
            <a:r>
              <a:rPr lang="en-US" altLang="en-US" sz="2400" dirty="0">
                <a:solidFill>
                  <a:schemeClr val="tx1"/>
                </a:solidFill>
                <a:latin typeface="Times New Roman" panose="02020603050405020304" pitchFamily="18" charset="0"/>
                <a:cs typeface="Times New Roman" panose="02020603050405020304" pitchFamily="18" charset="0"/>
              </a:rPr>
              <a:t>Wait for the Client Request</a:t>
            </a:r>
          </a:p>
          <a:p>
            <a:pPr lvl="1"/>
            <a:r>
              <a:rPr lang="en-US" altLang="en-US" sz="2000" dirty="0">
                <a:solidFill>
                  <a:srgbClr val="C00000"/>
                </a:solidFill>
                <a:latin typeface="Times New Roman" panose="02020603050405020304" pitchFamily="18" charset="0"/>
                <a:cs typeface="Times New Roman" panose="02020603050405020304" pitchFamily="18" charset="0"/>
              </a:rPr>
              <a:t>Socket client = </a:t>
            </a:r>
            <a:r>
              <a:rPr lang="en-US" altLang="en-US" sz="2000" dirty="0" err="1">
                <a:solidFill>
                  <a:srgbClr val="C00000"/>
                </a:solidFill>
                <a:latin typeface="Times New Roman" panose="02020603050405020304" pitchFamily="18" charset="0"/>
                <a:cs typeface="Times New Roman" panose="02020603050405020304" pitchFamily="18" charset="0"/>
              </a:rPr>
              <a:t>server.accept</a:t>
            </a:r>
            <a:r>
              <a:rPr lang="en-US" altLang="en-US" sz="2000" dirty="0">
                <a:solidFill>
                  <a:srgbClr val="C00000"/>
                </a:solidFill>
                <a:latin typeface="Times New Roman" panose="02020603050405020304" pitchFamily="18" charset="0"/>
                <a:cs typeface="Times New Roman" panose="02020603050405020304" pitchFamily="18" charset="0"/>
              </a:rPr>
              <a:t>();</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altLang="en-US" sz="2400" dirty="0">
                <a:solidFill>
                  <a:schemeClr val="tx1"/>
                </a:solidFill>
                <a:latin typeface="Times New Roman" panose="02020603050405020304" pitchFamily="18" charset="0"/>
                <a:cs typeface="Times New Roman" panose="02020603050405020304" pitchFamily="18" charset="0"/>
              </a:rPr>
              <a:t>Create I/O streams for communicating to the client</a:t>
            </a:r>
          </a:p>
          <a:p>
            <a:pPr lvl="1"/>
            <a:r>
              <a:rPr lang="en-US" altLang="en-US" sz="2000" dirty="0" err="1">
                <a:solidFill>
                  <a:srgbClr val="C00000"/>
                </a:solidFill>
                <a:latin typeface="Times New Roman" panose="02020603050405020304" pitchFamily="18" charset="0"/>
                <a:cs typeface="Times New Roman" panose="02020603050405020304" pitchFamily="18" charset="0"/>
              </a:rPr>
              <a:t>DataInputStream</a:t>
            </a:r>
            <a:r>
              <a:rPr lang="en-US" altLang="en-US" sz="2000" dirty="0">
                <a:solidFill>
                  <a:srgbClr val="C00000"/>
                </a:solidFill>
                <a:latin typeface="Times New Roman" panose="02020603050405020304" pitchFamily="18" charset="0"/>
                <a:cs typeface="Times New Roman" panose="02020603050405020304" pitchFamily="18" charset="0"/>
              </a:rPr>
              <a:t> is = new </a:t>
            </a:r>
            <a:r>
              <a:rPr lang="en-US" altLang="en-US" sz="2000" dirty="0" err="1">
                <a:solidFill>
                  <a:srgbClr val="C00000"/>
                </a:solidFill>
                <a:latin typeface="Times New Roman" panose="02020603050405020304" pitchFamily="18" charset="0"/>
                <a:cs typeface="Times New Roman" panose="02020603050405020304" pitchFamily="18" charset="0"/>
              </a:rPr>
              <a:t>DataInputStream</a:t>
            </a:r>
            <a:r>
              <a:rPr lang="en-US" altLang="en-US" sz="2000" dirty="0">
                <a:solidFill>
                  <a:srgbClr val="C00000"/>
                </a:solidFill>
                <a:latin typeface="Times New Roman" panose="02020603050405020304" pitchFamily="18" charset="0"/>
                <a:cs typeface="Times New Roman" panose="02020603050405020304" pitchFamily="18" charset="0"/>
              </a:rPr>
              <a:t>(</a:t>
            </a:r>
            <a:r>
              <a:rPr lang="en-US" altLang="en-US" sz="2000" dirty="0" err="1">
                <a:solidFill>
                  <a:srgbClr val="C00000"/>
                </a:solidFill>
                <a:latin typeface="Times New Roman" panose="02020603050405020304" pitchFamily="18" charset="0"/>
                <a:cs typeface="Times New Roman" panose="02020603050405020304" pitchFamily="18" charset="0"/>
              </a:rPr>
              <a:t>client.getInputStream</a:t>
            </a:r>
            <a:r>
              <a:rPr lang="en-US" altLang="en-US" sz="2000" dirty="0">
                <a:solidFill>
                  <a:srgbClr val="C00000"/>
                </a:solidFill>
                <a:latin typeface="Times New Roman" panose="02020603050405020304" pitchFamily="18" charset="0"/>
                <a:cs typeface="Times New Roman" panose="02020603050405020304" pitchFamily="18" charset="0"/>
              </a:rPr>
              <a:t>());</a:t>
            </a:r>
          </a:p>
          <a:p>
            <a:pPr lvl="1"/>
            <a:r>
              <a:rPr lang="en-US" altLang="en-US" sz="2000" dirty="0" err="1">
                <a:solidFill>
                  <a:srgbClr val="C00000"/>
                </a:solidFill>
                <a:latin typeface="Times New Roman" panose="02020603050405020304" pitchFamily="18" charset="0"/>
                <a:cs typeface="Times New Roman" panose="02020603050405020304" pitchFamily="18" charset="0"/>
              </a:rPr>
              <a:t>DataOutputStream</a:t>
            </a:r>
            <a:r>
              <a:rPr lang="en-US" altLang="en-US" sz="2000" dirty="0">
                <a:solidFill>
                  <a:srgbClr val="C00000"/>
                </a:solidFill>
                <a:latin typeface="Times New Roman" panose="02020603050405020304" pitchFamily="18" charset="0"/>
                <a:cs typeface="Times New Roman" panose="02020603050405020304" pitchFamily="18" charset="0"/>
              </a:rPr>
              <a:t> </a:t>
            </a:r>
            <a:r>
              <a:rPr lang="en-US" altLang="en-US" sz="2000" dirty="0" err="1">
                <a:solidFill>
                  <a:srgbClr val="C00000"/>
                </a:solidFill>
                <a:latin typeface="Times New Roman" panose="02020603050405020304" pitchFamily="18" charset="0"/>
                <a:cs typeface="Times New Roman" panose="02020603050405020304" pitchFamily="18" charset="0"/>
              </a:rPr>
              <a:t>os</a:t>
            </a:r>
            <a:r>
              <a:rPr lang="en-US" altLang="en-US" sz="2000" dirty="0">
                <a:solidFill>
                  <a:srgbClr val="C00000"/>
                </a:solidFill>
                <a:latin typeface="Times New Roman" panose="02020603050405020304" pitchFamily="18" charset="0"/>
                <a:cs typeface="Times New Roman" panose="02020603050405020304" pitchFamily="18" charset="0"/>
              </a:rPr>
              <a:t> = new </a:t>
            </a:r>
            <a:r>
              <a:rPr lang="en-US" altLang="en-US" sz="2000" dirty="0" err="1">
                <a:solidFill>
                  <a:srgbClr val="C00000"/>
                </a:solidFill>
                <a:latin typeface="Times New Roman" panose="02020603050405020304" pitchFamily="18" charset="0"/>
                <a:cs typeface="Times New Roman" panose="02020603050405020304" pitchFamily="18" charset="0"/>
              </a:rPr>
              <a:t>DataOutputStream</a:t>
            </a:r>
            <a:r>
              <a:rPr lang="en-US" altLang="en-US" sz="2000" dirty="0">
                <a:solidFill>
                  <a:srgbClr val="C00000"/>
                </a:solidFill>
                <a:latin typeface="Times New Roman" panose="02020603050405020304" pitchFamily="18" charset="0"/>
                <a:cs typeface="Times New Roman" panose="02020603050405020304" pitchFamily="18" charset="0"/>
              </a:rPr>
              <a:t>(</a:t>
            </a:r>
            <a:r>
              <a:rPr lang="en-US" altLang="en-US" sz="2000" dirty="0" err="1">
                <a:solidFill>
                  <a:srgbClr val="C00000"/>
                </a:solidFill>
                <a:latin typeface="Times New Roman" panose="02020603050405020304" pitchFamily="18" charset="0"/>
                <a:cs typeface="Times New Roman" panose="02020603050405020304" pitchFamily="18" charset="0"/>
              </a:rPr>
              <a:t>client.getOutputStream</a:t>
            </a:r>
            <a:r>
              <a:rPr lang="en-US" altLang="en-US" sz="2000" dirty="0">
                <a:solidFill>
                  <a:srgbClr val="C00000"/>
                </a:solidFill>
                <a:latin typeface="Times New Roman" panose="02020603050405020304" pitchFamily="18" charset="0"/>
                <a:cs typeface="Times New Roman" panose="02020603050405020304" pitchFamily="18" charset="0"/>
              </a:rPr>
              <a:t>());</a:t>
            </a:r>
          </a:p>
          <a:p>
            <a:r>
              <a:rPr lang="en-US" altLang="en-US" sz="2400" dirty="0">
                <a:solidFill>
                  <a:schemeClr val="tx1"/>
                </a:solidFill>
                <a:latin typeface="Times New Roman" panose="02020603050405020304" pitchFamily="18" charset="0"/>
                <a:cs typeface="Times New Roman" panose="02020603050405020304" pitchFamily="18" charset="0"/>
              </a:rPr>
              <a:t>Perform communication with client</a:t>
            </a:r>
          </a:p>
          <a:p>
            <a:pPr lvl="1"/>
            <a:r>
              <a:rPr lang="en-US" altLang="en-US" sz="2000" dirty="0">
                <a:solidFill>
                  <a:srgbClr val="C00000"/>
                </a:solidFill>
                <a:latin typeface="Times New Roman" panose="02020603050405020304" pitchFamily="18" charset="0"/>
                <a:cs typeface="Times New Roman" panose="02020603050405020304" pitchFamily="18" charset="0"/>
              </a:rPr>
              <a:t>Receive from client: String line = </a:t>
            </a:r>
            <a:r>
              <a:rPr lang="en-US" altLang="en-US" sz="2000" dirty="0" err="1">
                <a:solidFill>
                  <a:srgbClr val="C00000"/>
                </a:solidFill>
                <a:latin typeface="Times New Roman" panose="02020603050405020304" pitchFamily="18" charset="0"/>
                <a:cs typeface="Times New Roman" panose="02020603050405020304" pitchFamily="18" charset="0"/>
              </a:rPr>
              <a:t>is.readLine</a:t>
            </a:r>
            <a:r>
              <a:rPr lang="en-US" altLang="en-US" sz="2000" dirty="0">
                <a:solidFill>
                  <a:srgbClr val="C00000"/>
                </a:solidFill>
                <a:latin typeface="Times New Roman" panose="02020603050405020304" pitchFamily="18" charset="0"/>
                <a:cs typeface="Times New Roman" panose="02020603050405020304" pitchFamily="18" charset="0"/>
              </a:rPr>
              <a:t>();</a:t>
            </a:r>
          </a:p>
          <a:p>
            <a:pPr lvl="1"/>
            <a:r>
              <a:rPr lang="en-US" altLang="en-US" sz="2000" dirty="0">
                <a:solidFill>
                  <a:srgbClr val="C00000"/>
                </a:solidFill>
                <a:latin typeface="Times New Roman" panose="02020603050405020304" pitchFamily="18" charset="0"/>
                <a:cs typeface="Times New Roman" panose="02020603050405020304" pitchFamily="18" charset="0"/>
              </a:rPr>
              <a:t>Send to client: </a:t>
            </a:r>
            <a:r>
              <a:rPr lang="en-US" altLang="en-US" sz="2000" dirty="0" err="1">
                <a:solidFill>
                  <a:srgbClr val="C00000"/>
                </a:solidFill>
                <a:latin typeface="Times New Roman" panose="02020603050405020304" pitchFamily="18" charset="0"/>
                <a:cs typeface="Times New Roman" panose="02020603050405020304" pitchFamily="18" charset="0"/>
              </a:rPr>
              <a:t>os.writeBytes</a:t>
            </a:r>
            <a:r>
              <a:rPr lang="en-US" altLang="en-US" sz="2000" dirty="0">
                <a:solidFill>
                  <a:srgbClr val="C00000"/>
                </a:solidFill>
                <a:latin typeface="Times New Roman" panose="02020603050405020304" pitchFamily="18" charset="0"/>
                <a:cs typeface="Times New Roman" panose="02020603050405020304" pitchFamily="18" charset="0"/>
              </a:rPr>
              <a:t>(“Hello\n”);</a:t>
            </a:r>
          </a:p>
          <a:p>
            <a:r>
              <a:rPr lang="en-US" altLang="en-US" sz="2400" dirty="0">
                <a:solidFill>
                  <a:schemeClr val="tx1"/>
                </a:solidFill>
                <a:latin typeface="Times New Roman" panose="02020603050405020304" pitchFamily="18" charset="0"/>
                <a:cs typeface="Times New Roman" panose="02020603050405020304" pitchFamily="18" charset="0"/>
              </a:rPr>
              <a:t>Close socket</a:t>
            </a:r>
          </a:p>
          <a:p>
            <a:pPr lvl="1"/>
            <a:r>
              <a:rPr lang="en-US" altLang="en-US" sz="2000" dirty="0" err="1">
                <a:solidFill>
                  <a:srgbClr val="C00000"/>
                </a:solidFill>
                <a:latin typeface="Times New Roman" panose="02020603050405020304" pitchFamily="18" charset="0"/>
                <a:cs typeface="Times New Roman" panose="02020603050405020304" pitchFamily="18" charset="0"/>
              </a:rPr>
              <a:t>client.close</a:t>
            </a:r>
            <a:r>
              <a:rPr lang="en-US" altLang="en-US" sz="2000" dirty="0">
                <a:solidFill>
                  <a:srgbClr val="C00000"/>
                </a:solidFill>
                <a:latin typeface="Times New Roman" panose="02020603050405020304" pitchFamily="18" charset="0"/>
                <a:cs typeface="Times New Roman" panose="02020603050405020304" pitchFamily="18" charset="0"/>
              </a:rPr>
              <a:t>();</a:t>
            </a:r>
          </a:p>
        </p:txBody>
      </p:sp>
      <p:sp>
        <p:nvSpPr>
          <p:cNvPr id="26628" name="Slide Number Placeholder 3">
            <a:extLst>
              <a:ext uri="{FF2B5EF4-FFF2-40B4-BE49-F238E27FC236}">
                <a16:creationId xmlns:a16="http://schemas.microsoft.com/office/drawing/2014/main" xmlns="" id="{61B0F8C7-23CD-4909-9F82-169C671A0C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264FEF07-4314-425A-A83F-A0B273407FB2}" type="slidenum">
              <a:rPr lang="en-US" altLang="en-US" sz="1400">
                <a:solidFill>
                  <a:schemeClr val="tx1"/>
                </a:solidFill>
                <a:latin typeface="Times New Roman" panose="02020603050405020304" pitchFamily="18" charset="0"/>
              </a:rPr>
              <a:pPr>
                <a:lnSpc>
                  <a:spcPct val="100000"/>
                </a:lnSpc>
                <a:spcBef>
                  <a:spcPct val="0"/>
                </a:spcBef>
                <a:buClrTx/>
                <a:buFontTx/>
                <a:buNone/>
              </a:pPr>
              <a:t>26</a:t>
            </a:fld>
            <a:endParaRPr lang="en-US" altLang="en-US" sz="14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 calcmode="lin" valueType="num">
                                      <p:cBhvr additive="base">
                                        <p:cTn id="12"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8" dur="500"/>
                                        <p:tgtEl>
                                          <p:spTgt spid="20483">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0483">
                                            <p:txEl>
                                              <p:pRg st="3" end="3"/>
                                            </p:txEl>
                                          </p:spTgt>
                                        </p:tgtEl>
                                        <p:attrNameLst>
                                          <p:attrName>style.visibility</p:attrName>
                                        </p:attrNameLst>
                                      </p:cBhvr>
                                      <p:to>
                                        <p:strVal val="visible"/>
                                      </p:to>
                                    </p:set>
                                    <p:anim calcmode="lin" valueType="num">
                                      <p:cBhvr additive="base">
                                        <p:cTn id="23"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29" dur="500"/>
                                        <p:tgtEl>
                                          <p:spTgt spid="20483">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20483">
                                            <p:txEl>
                                              <p:pRg st="5" end="5"/>
                                            </p:txEl>
                                          </p:spTgt>
                                        </p:tgtEl>
                                        <p:attrNameLst>
                                          <p:attrName>style.visibility</p:attrName>
                                        </p:attrNameLst>
                                      </p:cBhvr>
                                      <p:to>
                                        <p:strVal val="visible"/>
                                      </p:to>
                                    </p:set>
                                    <p:anim calcmode="lin" valueType="num">
                                      <p:cBhvr additive="base">
                                        <p:cTn id="34"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20483">
                                            <p:txEl>
                                              <p:pRg st="6" end="6"/>
                                            </p:txEl>
                                          </p:spTgt>
                                        </p:tgtEl>
                                        <p:attrNameLst>
                                          <p:attrName>style.visibility</p:attrName>
                                        </p:attrNameLst>
                                      </p:cBhvr>
                                      <p:to>
                                        <p:strVal val="visible"/>
                                      </p:to>
                                    </p:set>
                                    <p:anim calcmode="lin" valueType="num">
                                      <p:cBhvr additive="base">
                                        <p:cTn id="40"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46" dur="500"/>
                                        <p:tgtEl>
                                          <p:spTgt spid="20483">
                                            <p:txEl>
                                              <p:pRg st="7" end="7"/>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20483">
                                            <p:txEl>
                                              <p:pRg st="8" end="8"/>
                                            </p:txEl>
                                          </p:spTgt>
                                        </p:tgtEl>
                                        <p:attrNameLst>
                                          <p:attrName>style.visibility</p:attrName>
                                        </p:attrNameLst>
                                      </p:cBhvr>
                                      <p:to>
                                        <p:strVal val="visible"/>
                                      </p:to>
                                    </p:set>
                                    <p:anim calcmode="lin" valueType="num">
                                      <p:cBhvr additive="base">
                                        <p:cTn id="51"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20483">
                                            <p:txEl>
                                              <p:pRg st="9" end="9"/>
                                            </p:txEl>
                                          </p:spTgt>
                                        </p:tgtEl>
                                        <p:attrNameLst>
                                          <p:attrName>style.visibility</p:attrName>
                                        </p:attrNameLst>
                                      </p:cBhvr>
                                      <p:to>
                                        <p:strVal val="visible"/>
                                      </p:to>
                                    </p:set>
                                    <p:anim calcmode="lin" valueType="num">
                                      <p:cBhvr additive="base">
                                        <p:cTn id="57" dur="500" fill="hold"/>
                                        <p:tgtEl>
                                          <p:spTgt spid="20483">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048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63" dur="500"/>
                                        <p:tgtEl>
                                          <p:spTgt spid="20483">
                                            <p:txEl>
                                              <p:pRg st="10" end="10"/>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4" fill="hold" nodeType="clickEffect">
                                  <p:stCondLst>
                                    <p:cond delay="0"/>
                                  </p:stCondLst>
                                  <p:childTnLst>
                                    <p:set>
                                      <p:cBhvr>
                                        <p:cTn id="67" dur="1" fill="hold">
                                          <p:stCondLst>
                                            <p:cond delay="0"/>
                                          </p:stCondLst>
                                        </p:cTn>
                                        <p:tgtEl>
                                          <p:spTgt spid="20483">
                                            <p:txEl>
                                              <p:pRg st="11" end="11"/>
                                            </p:txEl>
                                          </p:spTgt>
                                        </p:tgtEl>
                                        <p:attrNameLst>
                                          <p:attrName>style.visibility</p:attrName>
                                        </p:attrNameLst>
                                      </p:cBhvr>
                                      <p:to>
                                        <p:strVal val="visible"/>
                                      </p:to>
                                    </p:set>
                                    <p:anim calcmode="lin" valueType="num">
                                      <p:cBhvr additive="base">
                                        <p:cTn id="68" dur="500" fill="hold"/>
                                        <p:tgtEl>
                                          <p:spTgt spid="20483">
                                            <p:txEl>
                                              <p:pRg st="11" end="11"/>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2048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Server Program</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71450" y="762000"/>
            <a:ext cx="8763000" cy="57912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1:</a:t>
            </a:r>
            <a:r>
              <a:rPr lang="en-US" altLang="en-US" sz="2200" dirty="0">
                <a:solidFill>
                  <a:schemeClr val="tx1"/>
                </a:solidFill>
                <a:latin typeface="Times New Roman" panose="02020603050405020304" pitchFamily="18" charset="0"/>
                <a:cs typeface="Times New Roman" panose="02020603050405020304" pitchFamily="18" charset="0"/>
              </a:rPr>
              <a:t> A simple program where client sends a message to server and then server send a message to client</a:t>
            </a:r>
          </a:p>
          <a:p>
            <a:pPr algn="just"/>
            <a:endParaRPr lang="en-US" altLang="en-US" sz="2200" dirty="0">
              <a:solidFill>
                <a:schemeClr val="tx1"/>
              </a:solidFill>
              <a:latin typeface="Times New Roman" panose="02020603050405020304" pitchFamily="18" charset="0"/>
              <a:cs typeface="Times New Roman" panose="02020603050405020304" pitchFamily="18" charset="0"/>
            </a:endParaRPr>
          </a:p>
          <a:p>
            <a:endParaRPr lang="en-US" altLang="en-US" sz="2200" dirty="0"/>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27</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18167" y="1600200"/>
            <a:ext cx="4312468" cy="49244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 </a:t>
            </a:r>
            <a:r>
              <a:rPr lang="pt-BR" altLang="en-US" sz="1800" dirty="0">
                <a:solidFill>
                  <a:srgbClr val="FF0000"/>
                </a:solidFill>
                <a:latin typeface="Times New Roman" panose="02020603050405020304" pitchFamily="18" charset="0"/>
                <a:cs typeface="Times New Roman" panose="02020603050405020304" pitchFamily="18" charset="0"/>
              </a:rPr>
              <a:t>Server program </a:t>
            </a:r>
            <a:r>
              <a:rPr lang="pt-BR" altLang="en-US" sz="1800" dirty="0">
                <a:latin typeface="Times New Roman" panose="02020603050405020304" pitchFamily="18" charset="0"/>
                <a:cs typeface="Times New Roman" panose="02020603050405020304" pitchFamily="18" charset="0"/>
              </a:rPr>
              <a:t>to send a message to Client receive a message from Client</a:t>
            </a:r>
          </a:p>
          <a:p>
            <a:pPr eaLnBrk="1" hangingPunct="1">
              <a:lnSpc>
                <a:spcPct val="100000"/>
              </a:lnSpc>
              <a:spcBef>
                <a:spcPct val="0"/>
              </a:spcBef>
              <a:buClrTx/>
              <a:buFontTx/>
              <a:buNone/>
            </a:pPr>
            <a:endParaRPr lang="pt-BR" altLang="en-US" sz="7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import java.net.*;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import java.io.*;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public class server1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FontTx/>
              <a:buNone/>
            </a:pPr>
            <a:endParaRPr lang="pt-BR" altLang="en-US" sz="7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Create a server socket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ServerSocket ss = new ServerSocket(4999);</a:t>
            </a:r>
          </a:p>
          <a:p>
            <a:pPr eaLnBrk="1" hangingPunct="1">
              <a:lnSpc>
                <a:spcPct val="100000"/>
              </a:lnSpc>
              <a:spcBef>
                <a:spcPct val="0"/>
              </a:spcBef>
              <a:buClrTx/>
              <a:buFontTx/>
              <a:buNone/>
            </a:pPr>
            <a:endParaRPr lang="pt-BR" altLang="en-US" sz="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//Wait and accept a connection</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Socket s1=ss.accept(); </a:t>
            </a:r>
          </a:p>
          <a:p>
            <a:pPr eaLnBrk="1" hangingPunct="1">
              <a:lnSpc>
                <a:spcPct val="100000"/>
              </a:lnSpc>
              <a:spcBef>
                <a:spcPct val="0"/>
              </a:spcBef>
              <a:buClrTx/>
              <a:buNone/>
            </a:pPr>
            <a:endParaRPr lang="pt-BR" altLang="en-US" sz="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Create data input stream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InputStream s1In = s1.getInputStream();</a:t>
            </a:r>
          </a:p>
          <a:p>
            <a:pPr eaLnBrk="1" hangingPunct="1">
              <a:lnSpc>
                <a:spcPct val="100000"/>
              </a:lnSpc>
              <a:spcBef>
                <a:spcPct val="0"/>
              </a:spcBef>
              <a:buClrTx/>
              <a:buFontTx/>
              <a:buNone/>
            </a:pPr>
            <a:r>
              <a:rPr lang="pt-BR" altLang="en-US" sz="1500" dirty="0">
                <a:latin typeface="Times New Roman" panose="02020603050405020304" pitchFamily="18" charset="0"/>
                <a:cs typeface="Times New Roman" panose="02020603050405020304" pitchFamily="18" charset="0"/>
              </a:rPr>
              <a:t>DataInputStream dis = new DataInputStream(s1In);</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String st = new String (dis.readUTF());</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System.out.println(st);</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599065" y="1600200"/>
            <a:ext cx="4621135" cy="378565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endParaRPr lang="pt-BR" altLang="en-US" sz="10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Create data output stream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OutputStream s1out = s1.getOutputStream();</a:t>
            </a:r>
          </a:p>
          <a:p>
            <a:pPr eaLnBrk="1" hangingPunct="1">
              <a:lnSpc>
                <a:spcPct val="100000"/>
              </a:lnSpc>
              <a:spcBef>
                <a:spcPct val="0"/>
              </a:spcBef>
              <a:buClrTx/>
              <a:buFontTx/>
              <a:buNone/>
            </a:pPr>
            <a:r>
              <a:rPr lang="pt-BR" altLang="en-US" sz="1500" dirty="0">
                <a:latin typeface="Times New Roman" panose="02020603050405020304" pitchFamily="18" charset="0"/>
                <a:cs typeface="Times New Roman" panose="02020603050405020304" pitchFamily="18" charset="0"/>
              </a:rPr>
              <a:t>DataOutputStream dos =  new DataOutputStream (s1out);</a:t>
            </a:r>
          </a:p>
          <a:p>
            <a:pPr eaLnBrk="1" hangingPunct="1">
              <a:lnSpc>
                <a:spcPct val="100000"/>
              </a:lnSpc>
              <a:spcBef>
                <a:spcPct val="0"/>
              </a:spcBef>
              <a:buClrTx/>
              <a:buFontTx/>
              <a:buNone/>
            </a:pPr>
            <a:endParaRPr lang="pt-BR" altLang="en-US" sz="7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Send a string</a:t>
            </a:r>
            <a:r>
              <a:rPr lang="pt-BR" altLang="en-US" sz="18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dos.writeUTF("Hello Client1 from server First Message");</a:t>
            </a:r>
          </a:p>
          <a:p>
            <a:pPr eaLnBrk="1" hangingPunct="1">
              <a:lnSpc>
                <a:spcPct val="100000"/>
              </a:lnSpc>
              <a:spcBef>
                <a:spcPct val="0"/>
              </a:spcBef>
              <a:buClrTx/>
              <a:buFontTx/>
              <a:buNone/>
            </a:pPr>
            <a:endParaRPr lang="pt-BR"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dos.close();</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s1In.close();</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s1out.close();</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s1.close();</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Client Program</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71450" y="762000"/>
            <a:ext cx="8763000" cy="57912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1:</a:t>
            </a:r>
            <a:r>
              <a:rPr lang="en-US" altLang="en-US" sz="2200" dirty="0">
                <a:solidFill>
                  <a:schemeClr val="tx1"/>
                </a:solidFill>
                <a:latin typeface="Times New Roman" panose="02020603050405020304" pitchFamily="18" charset="0"/>
                <a:cs typeface="Times New Roman" panose="02020603050405020304" pitchFamily="18" charset="0"/>
              </a:rPr>
              <a:t> A simple program where client sends a message to server and then server send a message to client</a:t>
            </a:r>
          </a:p>
          <a:p>
            <a:endParaRPr lang="en-US" altLang="en-US" sz="2200" dirty="0"/>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28</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18167" y="1600200"/>
            <a:ext cx="4312468" cy="49244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 </a:t>
            </a:r>
            <a:r>
              <a:rPr lang="pt-BR" altLang="en-US" sz="1800" dirty="0">
                <a:solidFill>
                  <a:srgbClr val="FF0000"/>
                </a:solidFill>
                <a:latin typeface="Times New Roman" panose="02020603050405020304" pitchFamily="18" charset="0"/>
                <a:cs typeface="Times New Roman" panose="02020603050405020304" pitchFamily="18" charset="0"/>
              </a:rPr>
              <a:t>Client program </a:t>
            </a:r>
            <a:r>
              <a:rPr lang="pt-BR" altLang="en-US" sz="1800" dirty="0">
                <a:latin typeface="Times New Roman" panose="02020603050405020304" pitchFamily="18" charset="0"/>
                <a:cs typeface="Times New Roman" panose="02020603050405020304" pitchFamily="18" charset="0"/>
              </a:rPr>
              <a:t>to send a message to server and receive a message from server</a:t>
            </a:r>
          </a:p>
          <a:p>
            <a:pPr eaLnBrk="1" hangingPunct="1">
              <a:lnSpc>
                <a:spcPct val="100000"/>
              </a:lnSpc>
              <a:spcBef>
                <a:spcPct val="0"/>
              </a:spcBef>
              <a:buClrTx/>
              <a:buFontTx/>
              <a:buNone/>
            </a:pPr>
            <a:endParaRPr lang="pt-BR" altLang="en-US" sz="10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import java.net.*;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import java.io.*;</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public class client1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FontTx/>
              <a:buNone/>
            </a:pPr>
            <a:endParaRPr lang="pt-BR" altLang="en-US" sz="10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Create a socket to connect to the server</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Socket s2 = new Socket("localhost",4999);</a:t>
            </a:r>
          </a:p>
          <a:p>
            <a:pPr eaLnBrk="1" hangingPunct="1">
              <a:lnSpc>
                <a:spcPct val="100000"/>
              </a:lnSpc>
              <a:spcBef>
                <a:spcPct val="0"/>
              </a:spcBef>
              <a:buClrTx/>
              <a:buFontTx/>
              <a:buNone/>
            </a:pPr>
            <a:endParaRPr lang="pt-BR" altLang="en-US" sz="10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Create data output stream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OutputStream s1out = s2.getOutputStream();</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DataOutputStream dos = new DataOutputStream (s1out);</a:t>
            </a:r>
          </a:p>
          <a:p>
            <a:pPr eaLnBrk="1" hangingPunct="1">
              <a:lnSpc>
                <a:spcPct val="100000"/>
              </a:lnSpc>
              <a:spcBef>
                <a:spcPct val="0"/>
              </a:spcBef>
              <a:buClrTx/>
              <a:buFontTx/>
              <a:buNone/>
            </a:pPr>
            <a:endParaRPr lang="pt-BR" altLang="en-US" sz="1800" dirty="0">
              <a:solidFill>
                <a:srgbClr val="00B0F0"/>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Send a string</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dos.writeUTF("Hello Server1, this from client Message #1 ");</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724400" y="1905000"/>
            <a:ext cx="4191000" cy="32624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800" dirty="0">
                <a:solidFill>
                  <a:srgbClr val="00B0F0"/>
                </a:solidFill>
                <a:latin typeface="Times New Roman" panose="02020603050405020304" pitchFamily="18" charset="0"/>
                <a:cs typeface="Times New Roman" panose="02020603050405020304" pitchFamily="18" charset="0"/>
              </a:rPr>
              <a:t>// Create data input stream </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InputStream s1In = s2.getInputStream();</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DataInputStream dis = new DataInputStream(s1In);</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String st = new String (dis.readUTF());</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System.out.println(st);</a:t>
            </a:r>
          </a:p>
          <a:p>
            <a:pPr eaLnBrk="1" hangingPunct="1">
              <a:lnSpc>
                <a:spcPct val="100000"/>
              </a:lnSpc>
              <a:spcBef>
                <a:spcPct val="0"/>
              </a:spcBef>
              <a:buClrTx/>
              <a:buNone/>
            </a:pPr>
            <a:endParaRPr lang="pt-BR"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dos.close();</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s1In.close();</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s1out.close();</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s2.close();</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28377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Server and Client Program</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29</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83332" y="892314"/>
            <a:ext cx="4312468" cy="61478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b="1" dirty="0">
                <a:solidFill>
                  <a:srgbClr val="92D050"/>
                </a:solidFill>
                <a:latin typeface="Times New Roman" panose="02020603050405020304" pitchFamily="18" charset="0"/>
                <a:cs typeface="Times New Roman" panose="02020603050405020304" pitchFamily="18" charset="0"/>
              </a:rPr>
              <a:t>// Example 1: </a:t>
            </a:r>
            <a:r>
              <a:rPr lang="pt-BR" altLang="en-US" sz="1800" dirty="0">
                <a:solidFill>
                  <a:srgbClr val="FF0000"/>
                </a:solidFill>
                <a:latin typeface="Times New Roman" panose="02020603050405020304" pitchFamily="18" charset="0"/>
                <a:cs typeface="Times New Roman" panose="02020603050405020304" pitchFamily="18" charset="0"/>
              </a:rPr>
              <a:t>Server program </a:t>
            </a:r>
            <a:r>
              <a:rPr lang="pt-BR" altLang="en-US" sz="1800" dirty="0">
                <a:latin typeface="Times New Roman" panose="02020603050405020304" pitchFamily="18" charset="0"/>
                <a:cs typeface="Times New Roman" panose="02020603050405020304" pitchFamily="18" charset="0"/>
              </a:rPr>
              <a:t>to send ... </a:t>
            </a:r>
          </a:p>
          <a:p>
            <a:pPr eaLnBrk="1" hangingPunct="1">
              <a:lnSpc>
                <a:spcPct val="100000"/>
              </a:lnSpc>
              <a:spcBef>
                <a:spcPct val="0"/>
              </a:spcBef>
              <a:buClrTx/>
              <a:buFontTx/>
              <a:buNone/>
            </a:pPr>
            <a:endParaRPr lang="pt-BR" altLang="en-US" sz="7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import java.net.*;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import java.io.*;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public class server1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FontTx/>
              <a:buNone/>
            </a:pPr>
            <a:endParaRPr lang="pt-BR" altLang="en-US" sz="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200" dirty="0">
                <a:solidFill>
                  <a:srgbClr val="00B0F0"/>
                </a:solidFill>
                <a:latin typeface="Times New Roman" panose="02020603050405020304" pitchFamily="18" charset="0"/>
                <a:cs typeface="Times New Roman" panose="02020603050405020304" pitchFamily="18" charset="0"/>
              </a:rPr>
              <a:t>// Create a server socket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ServerSocket ss = new ServerSocket(4999);</a:t>
            </a:r>
          </a:p>
          <a:p>
            <a:pPr eaLnBrk="1" hangingPunct="1">
              <a:lnSpc>
                <a:spcPct val="100000"/>
              </a:lnSpc>
              <a:spcBef>
                <a:spcPct val="0"/>
              </a:spcBef>
              <a:buClrTx/>
              <a:buFontTx/>
              <a:buNone/>
            </a:pPr>
            <a:endParaRPr lang="pt-BR" altLang="en-US" sz="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Socket s1=ss.accept(); </a:t>
            </a:r>
            <a:r>
              <a:rPr lang="pt-BR" altLang="en-US" sz="1200" dirty="0">
                <a:solidFill>
                  <a:srgbClr val="00B0F0"/>
                </a:solidFill>
                <a:latin typeface="Times New Roman" panose="02020603050405020304" pitchFamily="18" charset="0"/>
                <a:cs typeface="Times New Roman" panose="02020603050405020304" pitchFamily="18" charset="0"/>
              </a:rPr>
              <a:t>//Wait and accept a connection</a:t>
            </a:r>
            <a:endParaRPr lang="pt-BR" altLang="en-US" sz="1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200" dirty="0">
                <a:solidFill>
                  <a:srgbClr val="00B0F0"/>
                </a:solidFill>
                <a:latin typeface="Times New Roman" panose="02020603050405020304" pitchFamily="18" charset="0"/>
                <a:cs typeface="Times New Roman" panose="02020603050405020304" pitchFamily="18" charset="0"/>
              </a:rPr>
              <a:t>// Create data input stream </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InputStream s1In = s1.getInputStream();</a:t>
            </a:r>
          </a:p>
          <a:p>
            <a:pPr eaLnBrk="1" hangingPunct="1">
              <a:lnSpc>
                <a:spcPct val="100000"/>
              </a:lnSpc>
              <a:spcBef>
                <a:spcPct val="0"/>
              </a:spcBef>
              <a:buClrTx/>
              <a:buFontTx/>
              <a:buNone/>
            </a:pPr>
            <a:r>
              <a:rPr lang="pt-BR" altLang="en-US" sz="1500" dirty="0">
                <a:latin typeface="Times New Roman" panose="02020603050405020304" pitchFamily="18" charset="0"/>
                <a:cs typeface="Times New Roman" panose="02020603050405020304" pitchFamily="18" charset="0"/>
              </a:rPr>
              <a:t>DataInputStream dis = new DataInputStream(s1In);</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String st = new String (dis.readUTF());</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System.out.println(st);</a:t>
            </a:r>
          </a:p>
          <a:p>
            <a:pPr eaLnBrk="1" hangingPunct="1">
              <a:lnSpc>
                <a:spcPct val="100000"/>
              </a:lnSpc>
              <a:spcBef>
                <a:spcPct val="0"/>
              </a:spcBef>
              <a:buClrTx/>
              <a:buFontTx/>
              <a:buNone/>
            </a:pPr>
            <a:r>
              <a:rPr lang="pt-BR" altLang="en-US" sz="1100" dirty="0">
                <a:solidFill>
                  <a:srgbClr val="00B0F0"/>
                </a:solidFill>
                <a:latin typeface="Times New Roman" panose="02020603050405020304" pitchFamily="18" charset="0"/>
                <a:cs typeface="Times New Roman" panose="02020603050405020304" pitchFamily="18" charset="0"/>
              </a:rPr>
              <a:t>// Create data output stream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OutputStream s1out = s1.getOutputStream();</a:t>
            </a:r>
          </a:p>
          <a:p>
            <a:pPr eaLnBrk="1" hangingPunct="1">
              <a:lnSpc>
                <a:spcPct val="100000"/>
              </a:lnSpc>
              <a:spcBef>
                <a:spcPct val="0"/>
              </a:spcBef>
              <a:buClrTx/>
              <a:buFontTx/>
              <a:buNone/>
            </a:pPr>
            <a:r>
              <a:rPr lang="pt-BR" altLang="en-US" sz="1500" dirty="0">
                <a:latin typeface="Times New Roman" panose="02020603050405020304" pitchFamily="18" charset="0"/>
                <a:cs typeface="Times New Roman" panose="02020603050405020304" pitchFamily="18" charset="0"/>
              </a:rPr>
              <a:t>DataOutputStream dos =  new DataOutputStream (s1out);</a:t>
            </a:r>
          </a:p>
          <a:p>
            <a:pPr eaLnBrk="1" hangingPunct="1">
              <a:lnSpc>
                <a:spcPct val="100000"/>
              </a:lnSpc>
              <a:spcBef>
                <a:spcPct val="0"/>
              </a:spcBef>
              <a:buClrTx/>
              <a:buFontTx/>
              <a:buNone/>
            </a:pPr>
            <a:endParaRPr lang="pt-BR" altLang="en-US" sz="7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050" dirty="0">
                <a:solidFill>
                  <a:srgbClr val="00B0F0"/>
                </a:solidFill>
                <a:latin typeface="Times New Roman" panose="02020603050405020304" pitchFamily="18" charset="0"/>
                <a:cs typeface="Times New Roman" panose="02020603050405020304" pitchFamily="18" charset="0"/>
              </a:rPr>
              <a:t>// Send a string</a:t>
            </a:r>
            <a:r>
              <a:rPr lang="pt-BR" altLang="en-US" sz="105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dos.writeUTF("</a:t>
            </a:r>
            <a:r>
              <a:rPr lang="pt-BR" altLang="en-US" sz="1100" dirty="0">
                <a:latin typeface="Times New Roman" panose="02020603050405020304" pitchFamily="18" charset="0"/>
                <a:cs typeface="Times New Roman" panose="02020603050405020304" pitchFamily="18" charset="0"/>
              </a:rPr>
              <a:t>Hello Client1 from server First Message</a:t>
            </a:r>
            <a:r>
              <a:rPr lang="pt-BR" altLang="en-US" sz="18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dos.close(); s1In.close(); s1out.close(); s1.close();</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a:t>
            </a:r>
            <a:endParaRPr lang="en-US" altLang="en-US" sz="1200" dirty="0">
              <a:solidFill>
                <a:schemeClr val="tx1"/>
              </a:solidFill>
              <a:latin typeface="Times New Roman" panose="02020603050405020304" pitchFamily="18" charset="0"/>
              <a:cs typeface="Times New Roman" panose="02020603050405020304" pitchFamily="18" charset="0"/>
            </a:endParaRP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572000" y="892314"/>
            <a:ext cx="4621135" cy="60785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600" b="1" dirty="0">
                <a:solidFill>
                  <a:srgbClr val="92D050"/>
                </a:solidFill>
                <a:latin typeface="Times New Roman" panose="02020603050405020304" pitchFamily="18" charset="0"/>
                <a:cs typeface="Times New Roman" panose="02020603050405020304" pitchFamily="18" charset="0"/>
              </a:rPr>
              <a:t>// Example 1: </a:t>
            </a:r>
            <a:r>
              <a:rPr lang="pt-BR" altLang="en-US" sz="1600" dirty="0">
                <a:solidFill>
                  <a:srgbClr val="FF0000"/>
                </a:solidFill>
                <a:latin typeface="Times New Roman" panose="02020603050405020304" pitchFamily="18" charset="0"/>
                <a:cs typeface="Times New Roman" panose="02020603050405020304" pitchFamily="18" charset="0"/>
              </a:rPr>
              <a:t>Client program </a:t>
            </a:r>
            <a:r>
              <a:rPr lang="pt-BR" altLang="en-US" sz="1600" dirty="0">
                <a:latin typeface="Times New Roman" panose="02020603050405020304" pitchFamily="18" charset="0"/>
                <a:cs typeface="Times New Roman" panose="02020603050405020304" pitchFamily="18" charset="0"/>
              </a:rPr>
              <a:t>to send a message</a:t>
            </a:r>
            <a:endParaRPr lang="pt-BR" altLang="en-US" sz="9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import java.net.*;</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import java.io.*;</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public class client1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FontTx/>
              <a:buNone/>
            </a:pPr>
            <a:endParaRPr lang="pt-BR" altLang="en-US" sz="6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 Create a socket to connect to the server</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Socket s2 = new Socket("localhost",4999);</a:t>
            </a:r>
          </a:p>
          <a:p>
            <a:pPr eaLnBrk="1" hangingPunct="1">
              <a:lnSpc>
                <a:spcPct val="100000"/>
              </a:lnSpc>
              <a:spcBef>
                <a:spcPct val="0"/>
              </a:spcBef>
              <a:buClrTx/>
              <a:buFontTx/>
              <a:buNone/>
            </a:pPr>
            <a:endParaRPr lang="pt-BR" altLang="en-US" sz="9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 Create data output stream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OutputStream s1out = s2.getOutputStream();</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DataOutputStream dos = new DataOutputStream (s1out);</a:t>
            </a:r>
          </a:p>
          <a:p>
            <a:pPr eaLnBrk="1" hangingPunct="1">
              <a:lnSpc>
                <a:spcPct val="100000"/>
              </a:lnSpc>
              <a:spcBef>
                <a:spcPct val="0"/>
              </a:spcBef>
              <a:buClrTx/>
              <a:buFontTx/>
              <a:buNone/>
            </a:pPr>
            <a:endParaRPr lang="pt-BR" altLang="en-US" sz="1600" dirty="0">
              <a:solidFill>
                <a:srgbClr val="00B0F0"/>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 Send a string</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dos.writeUTF("Hello Server1, this from client Message #1 ");</a:t>
            </a:r>
          </a:p>
          <a:p>
            <a:pPr eaLnBrk="1" hangingPunct="1">
              <a:lnSpc>
                <a:spcPct val="100000"/>
              </a:lnSpc>
              <a:spcBef>
                <a:spcPct val="0"/>
              </a:spcBef>
              <a:buClrTx/>
              <a:buNone/>
            </a:pPr>
            <a:r>
              <a:rPr lang="pt-BR" altLang="en-US" sz="1600" dirty="0">
                <a:solidFill>
                  <a:srgbClr val="00B0F0"/>
                </a:solidFill>
                <a:latin typeface="Times New Roman" panose="02020603050405020304" pitchFamily="18" charset="0"/>
                <a:cs typeface="Times New Roman" panose="02020603050405020304" pitchFamily="18" charset="0"/>
              </a:rPr>
              <a:t>// Create data input stream </a:t>
            </a:r>
          </a:p>
          <a:p>
            <a:pPr eaLnBrk="1" hangingPunct="1">
              <a:lnSpc>
                <a:spcPct val="100000"/>
              </a:lnSpc>
              <a:spcBef>
                <a:spcPct val="0"/>
              </a:spcBef>
              <a:buClrTx/>
              <a:buNone/>
            </a:pPr>
            <a:r>
              <a:rPr lang="pt-BR" altLang="en-US" sz="1600" dirty="0">
                <a:latin typeface="Times New Roman" panose="02020603050405020304" pitchFamily="18" charset="0"/>
                <a:cs typeface="Times New Roman" panose="02020603050405020304" pitchFamily="18" charset="0"/>
              </a:rPr>
              <a:t>InputStream s1In = s2.getInputStream();</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DataInputStream dis = new DataInputStream(s1In);</a:t>
            </a:r>
          </a:p>
          <a:p>
            <a:pPr eaLnBrk="1" hangingPunct="1">
              <a:lnSpc>
                <a:spcPct val="100000"/>
              </a:lnSpc>
              <a:spcBef>
                <a:spcPct val="0"/>
              </a:spcBef>
              <a:buClrTx/>
              <a:buNone/>
            </a:pPr>
            <a:r>
              <a:rPr lang="pt-BR" altLang="en-US" sz="1600" dirty="0">
                <a:latin typeface="Times New Roman" panose="02020603050405020304" pitchFamily="18" charset="0"/>
                <a:cs typeface="Times New Roman" panose="02020603050405020304" pitchFamily="18" charset="0"/>
              </a:rPr>
              <a:t>String st = new String (dis.readUTF());</a:t>
            </a:r>
          </a:p>
          <a:p>
            <a:pPr eaLnBrk="1" hangingPunct="1">
              <a:lnSpc>
                <a:spcPct val="100000"/>
              </a:lnSpc>
              <a:spcBef>
                <a:spcPct val="0"/>
              </a:spcBef>
              <a:buClrTx/>
              <a:buNone/>
            </a:pPr>
            <a:r>
              <a:rPr lang="pt-BR" altLang="en-US" sz="1600" dirty="0">
                <a:latin typeface="Times New Roman" panose="02020603050405020304" pitchFamily="18" charset="0"/>
                <a:cs typeface="Times New Roman" panose="02020603050405020304" pitchFamily="18" charset="0"/>
              </a:rPr>
              <a:t>System.out.println(st);</a:t>
            </a:r>
          </a:p>
          <a:p>
            <a:pPr eaLnBrk="1" hangingPunct="1">
              <a:lnSpc>
                <a:spcPct val="100000"/>
              </a:lnSpc>
              <a:spcBef>
                <a:spcPct val="0"/>
              </a:spcBef>
              <a:buClrTx/>
              <a:buNone/>
            </a:pPr>
            <a:endParaRPr lang="pt-BR" altLang="en-US" sz="11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600" dirty="0">
                <a:latin typeface="Times New Roman" panose="02020603050405020304" pitchFamily="18" charset="0"/>
                <a:cs typeface="Times New Roman" panose="02020603050405020304" pitchFamily="18" charset="0"/>
              </a:rPr>
              <a:t>dos.close(); s1In.close(); s1out.close(); s2.close();</a:t>
            </a:r>
          </a:p>
          <a:p>
            <a:pPr eaLnBrk="1" hangingPunct="1">
              <a:lnSpc>
                <a:spcPct val="100000"/>
              </a:lnSpc>
              <a:spcBef>
                <a:spcPct val="0"/>
              </a:spcBef>
              <a:buClrTx/>
              <a:buNone/>
            </a:pPr>
            <a:r>
              <a:rPr lang="pt-BR" altLang="en-US" sz="16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None/>
            </a:pPr>
            <a:r>
              <a:rPr lang="pt-BR" alt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968701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Program Output</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71450" y="762000"/>
            <a:ext cx="8763000" cy="57912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1:</a:t>
            </a:r>
            <a:r>
              <a:rPr lang="en-US" altLang="en-US" sz="2200" dirty="0">
                <a:solidFill>
                  <a:schemeClr val="tx1"/>
                </a:solidFill>
                <a:latin typeface="Times New Roman" panose="02020603050405020304" pitchFamily="18" charset="0"/>
                <a:cs typeface="Times New Roman" panose="02020603050405020304" pitchFamily="18" charset="0"/>
              </a:rPr>
              <a:t> A simple program where client sends a message to server and then server send a message to client</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30</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258024" y="2318580"/>
            <a:ext cx="2931815"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//Server cmd window</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820970" y="2341968"/>
            <a:ext cx="3178568"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 Client cmd window </a:t>
            </a:r>
          </a:p>
        </p:txBody>
      </p:sp>
      <p:pic>
        <p:nvPicPr>
          <p:cNvPr id="3" name="Picture 2">
            <a:extLst>
              <a:ext uri="{FF2B5EF4-FFF2-40B4-BE49-F238E27FC236}">
                <a16:creationId xmlns:a16="http://schemas.microsoft.com/office/drawing/2014/main" xmlns="" id="{814B28C0-CE28-F352-A4F2-C5AF430AFBF6}"/>
              </a:ext>
            </a:extLst>
          </p:cNvPr>
          <p:cNvPicPr>
            <a:picLocks noChangeAspect="1"/>
          </p:cNvPicPr>
          <p:nvPr/>
        </p:nvPicPr>
        <p:blipFill>
          <a:blip r:embed="rId3"/>
          <a:stretch>
            <a:fillRect/>
          </a:stretch>
        </p:blipFill>
        <p:spPr>
          <a:xfrm>
            <a:off x="56796" y="2895600"/>
            <a:ext cx="4460883" cy="3382782"/>
          </a:xfrm>
          <a:prstGeom prst="rect">
            <a:avLst/>
          </a:prstGeom>
        </p:spPr>
      </p:pic>
      <p:pic>
        <p:nvPicPr>
          <p:cNvPr id="5" name="Picture 4">
            <a:extLst>
              <a:ext uri="{FF2B5EF4-FFF2-40B4-BE49-F238E27FC236}">
                <a16:creationId xmlns:a16="http://schemas.microsoft.com/office/drawing/2014/main" xmlns="" id="{1B4AC577-6155-DE2C-294E-19AA72E217BA}"/>
              </a:ext>
            </a:extLst>
          </p:cNvPr>
          <p:cNvPicPr>
            <a:picLocks noChangeAspect="1"/>
          </p:cNvPicPr>
          <p:nvPr/>
        </p:nvPicPr>
        <p:blipFill>
          <a:blip r:embed="rId4"/>
          <a:stretch>
            <a:fillRect/>
          </a:stretch>
        </p:blipFill>
        <p:spPr>
          <a:xfrm>
            <a:off x="4596899" y="2940678"/>
            <a:ext cx="4432380" cy="3292625"/>
          </a:xfrm>
          <a:prstGeom prst="rect">
            <a:avLst/>
          </a:prstGeom>
        </p:spPr>
      </p:pic>
      <p:sp>
        <p:nvSpPr>
          <p:cNvPr id="6" name="TextBox 5">
            <a:extLst>
              <a:ext uri="{FF2B5EF4-FFF2-40B4-BE49-F238E27FC236}">
                <a16:creationId xmlns:a16="http://schemas.microsoft.com/office/drawing/2014/main" xmlns="" id="{A5E38555-4E60-5B5E-5FFE-FECB3E5BD4FC}"/>
              </a:ext>
            </a:extLst>
          </p:cNvPr>
          <p:cNvSpPr txBox="1"/>
          <p:nvPr/>
        </p:nvSpPr>
        <p:spPr>
          <a:xfrm>
            <a:off x="258024" y="1519788"/>
            <a:ext cx="3810000" cy="523220"/>
          </a:xfrm>
          <a:prstGeom prst="rect">
            <a:avLst/>
          </a:prstGeom>
          <a:noFill/>
        </p:spPr>
        <p:txBody>
          <a:bodyPr wrap="square" rtlCol="0">
            <a:spAutoFit/>
          </a:bodyPr>
          <a:lstStyle/>
          <a:p>
            <a:r>
              <a:rPr lang="en-US" sz="2800" dirty="0">
                <a:solidFill>
                  <a:srgbClr val="C00000"/>
                </a:solidFill>
                <a:latin typeface="Times New Roman" panose="02020603050405020304" pitchFamily="18" charset="0"/>
                <a:cs typeface="Times New Roman" panose="02020603050405020304" pitchFamily="18" charset="0"/>
              </a:rPr>
              <a:t>Program Output:</a:t>
            </a:r>
          </a:p>
        </p:txBody>
      </p:sp>
    </p:spTree>
    <p:extLst>
      <p:ext uri="{BB962C8B-B14F-4D97-AF65-F5344CB8AC3E}">
        <p14:creationId xmlns:p14="http://schemas.microsoft.com/office/powerpoint/2010/main" val="3830680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Server Program</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71450" y="762000"/>
            <a:ext cx="8763000" cy="57912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2:</a:t>
            </a:r>
            <a:r>
              <a:rPr lang="en-US" altLang="en-US" sz="2200" dirty="0">
                <a:solidFill>
                  <a:schemeClr val="tx1"/>
                </a:solidFill>
                <a:latin typeface="Times New Roman" panose="02020603050405020304" pitchFamily="18" charset="0"/>
                <a:cs typeface="Times New Roman" panose="02020603050405020304" pitchFamily="18" charset="0"/>
              </a:rPr>
              <a:t> A simple program where client sends two messages to server and then server send two messages to client</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31</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18167" y="1600200"/>
            <a:ext cx="4312468" cy="47782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600" dirty="0">
                <a:latin typeface="Times New Roman" panose="02020603050405020304" pitchFamily="18" charset="0"/>
                <a:cs typeface="Times New Roman" panose="02020603050405020304" pitchFamily="18" charset="0"/>
              </a:rPr>
              <a:t>import java.net.*; </a:t>
            </a:r>
            <a:r>
              <a:rPr lang="pt-BR" altLang="en-US" sz="1050" dirty="0">
                <a:latin typeface="Times New Roman" panose="02020603050405020304" pitchFamily="18" charset="0"/>
                <a:cs typeface="Times New Roman" panose="02020603050405020304" pitchFamily="18" charset="0"/>
              </a:rPr>
              <a:t>// </a:t>
            </a:r>
            <a:r>
              <a:rPr lang="pt-BR" altLang="en-US" sz="1200" dirty="0">
                <a:solidFill>
                  <a:srgbClr val="FF0000"/>
                </a:solidFill>
                <a:latin typeface="Times New Roman" panose="02020603050405020304" pitchFamily="18" charset="0"/>
                <a:cs typeface="Times New Roman" panose="02020603050405020304" pitchFamily="18" charset="0"/>
              </a:rPr>
              <a:t>Server program</a:t>
            </a:r>
            <a:endParaRPr lang="pt-BR" altLang="en-US" sz="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import java.io.*;</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public class server2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FontTx/>
              <a:buNone/>
            </a:pPr>
            <a:endParaRPr lang="pt-BR" altLang="en-US" sz="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 Create a server socket</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ServerSocket ss = new ServerSocket(4999);</a:t>
            </a:r>
          </a:p>
          <a:p>
            <a:pPr eaLnBrk="1" hangingPunct="1">
              <a:lnSpc>
                <a:spcPct val="100000"/>
              </a:lnSpc>
              <a:spcBef>
                <a:spcPct val="0"/>
              </a:spcBef>
              <a:buClrTx/>
              <a:buFontTx/>
              <a:buNone/>
            </a:pPr>
            <a:endParaRPr lang="pt-BR" altLang="en-US" sz="9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//Wait and accept a connection</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Socket s1=ss.accept(); </a:t>
            </a:r>
          </a:p>
          <a:p>
            <a:pPr eaLnBrk="1" hangingPunct="1">
              <a:lnSpc>
                <a:spcPct val="100000"/>
              </a:lnSpc>
              <a:spcBef>
                <a:spcPct val="0"/>
              </a:spcBef>
              <a:buClrTx/>
              <a:buFontTx/>
              <a:buNone/>
            </a:pPr>
            <a:endParaRPr lang="pt-BR" altLang="en-US" sz="7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//Receive First Message</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InputStream s1In = s1.getInputStream();</a:t>
            </a:r>
          </a:p>
          <a:p>
            <a:pPr eaLnBrk="1" hangingPunct="1">
              <a:lnSpc>
                <a:spcPct val="100000"/>
              </a:lnSpc>
              <a:spcBef>
                <a:spcPct val="0"/>
              </a:spcBef>
              <a:buClrTx/>
              <a:buFontTx/>
              <a:buNone/>
            </a:pPr>
            <a:r>
              <a:rPr lang="pt-BR" altLang="en-US" sz="1500" dirty="0">
                <a:latin typeface="Times New Roman" panose="02020603050405020304" pitchFamily="18" charset="0"/>
                <a:cs typeface="Times New Roman" panose="02020603050405020304" pitchFamily="18" charset="0"/>
              </a:rPr>
              <a:t>DataInputStream dis = new DataInputStream(s1In);</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String st = new String (dis.readUTF());</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System.out.println(st); </a:t>
            </a:r>
            <a:r>
              <a:rPr lang="pt-BR" altLang="en-US" sz="1600" dirty="0">
                <a:solidFill>
                  <a:srgbClr val="00B0F0"/>
                </a:solidFill>
                <a:latin typeface="Times New Roman" panose="02020603050405020304" pitchFamily="18" charset="0"/>
                <a:cs typeface="Times New Roman" panose="02020603050405020304" pitchFamily="18" charset="0"/>
              </a:rPr>
              <a:t>//First message output</a:t>
            </a:r>
          </a:p>
          <a:p>
            <a:pPr eaLnBrk="1" hangingPunct="1">
              <a:lnSpc>
                <a:spcPct val="100000"/>
              </a:lnSpc>
              <a:spcBef>
                <a:spcPct val="0"/>
              </a:spcBef>
              <a:buClrTx/>
              <a:buFontTx/>
              <a:buNone/>
            </a:pPr>
            <a:endParaRPr lang="pt-BR" altLang="en-US" sz="105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OutputStream s1out = s1.getOutputStream();</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DataOutputStream dos =  new DataOutputStream (s1out);</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483917" y="1524000"/>
            <a:ext cx="4541915" cy="426270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Send First Message</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dos.writeUTF("Hello Client1 from server First Message");</a:t>
            </a:r>
          </a:p>
          <a:p>
            <a:pPr eaLnBrk="1" hangingPunct="1">
              <a:lnSpc>
                <a:spcPct val="100000"/>
              </a:lnSpc>
              <a:spcBef>
                <a:spcPct val="0"/>
              </a:spcBef>
              <a:buClrTx/>
              <a:buFontTx/>
              <a:buNone/>
            </a:pPr>
            <a:endParaRPr lang="pt-BR" altLang="en-US" sz="8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//Receive Second Message</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InputStream s1In2 = s1.getInputStream();</a:t>
            </a:r>
          </a:p>
          <a:p>
            <a:pPr eaLnBrk="1" hangingPunct="1">
              <a:lnSpc>
                <a:spcPct val="100000"/>
              </a:lnSpc>
              <a:spcBef>
                <a:spcPct val="0"/>
              </a:spcBef>
              <a:buClrTx/>
              <a:buFontTx/>
              <a:buNone/>
            </a:pPr>
            <a:r>
              <a:rPr lang="pt-BR" altLang="en-US" sz="1500" dirty="0">
                <a:latin typeface="Times New Roman" panose="02020603050405020304" pitchFamily="18" charset="0"/>
                <a:cs typeface="Times New Roman" panose="02020603050405020304" pitchFamily="18" charset="0"/>
              </a:rPr>
              <a:t>DataInputStream dis2 = new DataInputStream(s1In2);</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String st2 = new String (dis2.readUTF());</a:t>
            </a:r>
          </a:p>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System.out.println(st2); </a:t>
            </a:r>
            <a:r>
              <a:rPr lang="pt-BR" altLang="en-US" sz="1400" dirty="0">
                <a:solidFill>
                  <a:srgbClr val="00B0F0"/>
                </a:solidFill>
                <a:latin typeface="Times New Roman" panose="02020603050405020304" pitchFamily="18" charset="0"/>
                <a:cs typeface="Times New Roman" panose="02020603050405020304" pitchFamily="18" charset="0"/>
              </a:rPr>
              <a:t>//Second message output</a:t>
            </a:r>
            <a:endParaRPr lang="pt-BR" altLang="en-US" sz="1800" dirty="0">
              <a:solidFill>
                <a:srgbClr val="00B0F0"/>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endParaRPr lang="pt-BR" altLang="en-US" sz="800" dirty="0">
              <a:solidFill>
                <a:srgbClr val="00B0F0"/>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OutputStream s1out2 = s1.getOutputStream();</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DataOutputStream dos2 =  new DataOutputStream(s1out2);</a:t>
            </a:r>
          </a:p>
          <a:p>
            <a:pPr eaLnBrk="1" hangingPunct="1">
              <a:lnSpc>
                <a:spcPct val="100000"/>
              </a:lnSpc>
              <a:spcBef>
                <a:spcPct val="0"/>
              </a:spcBef>
              <a:buClrTx/>
              <a:buFontTx/>
              <a:buNone/>
            </a:pPr>
            <a:endParaRPr lang="pt-BR" altLang="en-US" sz="7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800" dirty="0">
                <a:solidFill>
                  <a:srgbClr val="00B0F0"/>
                </a:solidFill>
                <a:latin typeface="Times New Roman" panose="02020603050405020304" pitchFamily="18" charset="0"/>
                <a:cs typeface="Times New Roman" panose="02020603050405020304" pitchFamily="18" charset="0"/>
              </a:rPr>
              <a:t>// Send Second Message</a:t>
            </a:r>
          </a:p>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dos2.writeUTF("Hello Client1 from server Second Message");</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a:t>
            </a:r>
            <a:endParaRPr lang="pt-BR"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513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Client Program</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71450" y="762000"/>
            <a:ext cx="8763000" cy="57912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2:</a:t>
            </a:r>
            <a:r>
              <a:rPr lang="en-US" altLang="en-US" sz="2200" dirty="0">
                <a:solidFill>
                  <a:schemeClr val="tx1"/>
                </a:solidFill>
                <a:latin typeface="Times New Roman" panose="02020603050405020304" pitchFamily="18" charset="0"/>
                <a:cs typeface="Times New Roman" panose="02020603050405020304" pitchFamily="18" charset="0"/>
              </a:rPr>
              <a:t> A simple program where client sends two messages to server and then server send two messages to client</a:t>
            </a:r>
          </a:p>
          <a:p>
            <a:endParaRPr lang="en-US" altLang="en-US" sz="2200" dirty="0"/>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32</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18167" y="1600200"/>
            <a:ext cx="4312468" cy="480900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import java.net.*; // </a:t>
            </a:r>
            <a:r>
              <a:rPr lang="pt-BR" altLang="en-US" sz="1600" dirty="0">
                <a:solidFill>
                  <a:srgbClr val="FF0000"/>
                </a:solidFill>
                <a:latin typeface="Times New Roman" panose="02020603050405020304" pitchFamily="18" charset="0"/>
                <a:cs typeface="Times New Roman" panose="02020603050405020304" pitchFamily="18" charset="0"/>
              </a:rPr>
              <a:t>Client program </a:t>
            </a:r>
            <a:endParaRPr lang="pt-BR" altLang="en-US" sz="16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import java.io.*;</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public class client2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//Create a server socket</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Socket s1 = new Socket("localhost",4999);</a:t>
            </a:r>
          </a:p>
          <a:p>
            <a:pPr eaLnBrk="1" hangingPunct="1">
              <a:lnSpc>
                <a:spcPct val="100000"/>
              </a:lnSpc>
              <a:spcBef>
                <a:spcPct val="0"/>
              </a:spcBef>
              <a:buClrTx/>
              <a:buFontTx/>
              <a:buNone/>
            </a:pPr>
            <a:endParaRPr lang="pt-BR" altLang="en-US" sz="105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 Send First Message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OutputStream s1out = s1.getOutputStream();</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DataOutputStream dos = new DataOutputStream(s1out);</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dos.writeUTF("Hello Server1 from client Message #1 ");</a:t>
            </a:r>
          </a:p>
          <a:p>
            <a:pPr eaLnBrk="1" hangingPunct="1">
              <a:lnSpc>
                <a:spcPct val="100000"/>
              </a:lnSpc>
              <a:spcBef>
                <a:spcPct val="0"/>
              </a:spcBef>
              <a:buClrTx/>
              <a:buFontTx/>
              <a:buNone/>
            </a:pPr>
            <a:endParaRPr lang="pt-BR" altLang="en-US" sz="10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 Receive First Message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InputStream s1In = s1.getInputStream();</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DataInputStream dis = new DataInputStream(s1In);</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String st = new String (dis.readUTF());</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System.out.println(st);  </a:t>
            </a:r>
            <a:r>
              <a:rPr lang="pt-BR" altLang="en-US" sz="1600" dirty="0">
                <a:solidFill>
                  <a:srgbClr val="00B0F0"/>
                </a:solidFill>
                <a:latin typeface="Times New Roman" panose="02020603050405020304" pitchFamily="18" charset="0"/>
                <a:cs typeface="Times New Roman" panose="02020603050405020304" pitchFamily="18" charset="0"/>
              </a:rPr>
              <a:t>//First Message output</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555685" y="1600200"/>
            <a:ext cx="4470148" cy="323165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//Second Second First Message</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OutputStream s1out2 = s1.getOutputStream();</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DataOutputStream dos2 = new DataOutputStream (s1out2);</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dos.writeUTF("Hello Server1 from client Message #2 ");</a:t>
            </a:r>
          </a:p>
          <a:p>
            <a:pPr eaLnBrk="1" hangingPunct="1">
              <a:lnSpc>
                <a:spcPct val="100000"/>
              </a:lnSpc>
              <a:spcBef>
                <a:spcPct val="0"/>
              </a:spcBef>
              <a:buClrTx/>
              <a:buFontTx/>
              <a:buNone/>
            </a:pPr>
            <a:endParaRPr lang="pt-BR" altLang="en-US" sz="16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600" dirty="0">
                <a:solidFill>
                  <a:srgbClr val="00B0F0"/>
                </a:solidFill>
                <a:latin typeface="Times New Roman" panose="02020603050405020304" pitchFamily="18" charset="0"/>
                <a:cs typeface="Times New Roman" panose="02020603050405020304" pitchFamily="18" charset="0"/>
              </a:rPr>
              <a:t>// Receive Second Message </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InputStream s1In2 = s1.getInputStream();</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DataInputStream dis2 = new DataInputStream(s1In2);</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String st2 = new String (dis2.readUTF());</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System.out.println(st2);  </a:t>
            </a:r>
            <a:r>
              <a:rPr lang="pt-BR" altLang="en-US" sz="1400" dirty="0">
                <a:solidFill>
                  <a:srgbClr val="00B0F0"/>
                </a:solidFill>
                <a:latin typeface="Times New Roman" panose="02020603050405020304" pitchFamily="18" charset="0"/>
                <a:cs typeface="Times New Roman" panose="02020603050405020304" pitchFamily="18" charset="0"/>
              </a:rPr>
              <a:t>// Second Message output</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511042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Program Output</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71450" y="762000"/>
            <a:ext cx="8763000" cy="57912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2:</a:t>
            </a:r>
            <a:r>
              <a:rPr lang="en-US" altLang="en-US" sz="2200" dirty="0">
                <a:solidFill>
                  <a:schemeClr val="tx1"/>
                </a:solidFill>
                <a:latin typeface="Times New Roman" panose="02020603050405020304" pitchFamily="18" charset="0"/>
                <a:cs typeface="Times New Roman" panose="02020603050405020304" pitchFamily="18" charset="0"/>
              </a:rPr>
              <a:t> A simple program where client sends two messages to server and then server send two messages to client</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33</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258024" y="2318580"/>
            <a:ext cx="2931815"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//Server cmd window</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820970" y="2341968"/>
            <a:ext cx="3178568"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 Client cmd window </a:t>
            </a:r>
          </a:p>
        </p:txBody>
      </p:sp>
      <p:sp>
        <p:nvSpPr>
          <p:cNvPr id="6" name="TextBox 5">
            <a:extLst>
              <a:ext uri="{FF2B5EF4-FFF2-40B4-BE49-F238E27FC236}">
                <a16:creationId xmlns:a16="http://schemas.microsoft.com/office/drawing/2014/main" xmlns="" id="{A5E38555-4E60-5B5E-5FFE-FECB3E5BD4FC}"/>
              </a:ext>
            </a:extLst>
          </p:cNvPr>
          <p:cNvSpPr txBox="1"/>
          <p:nvPr/>
        </p:nvSpPr>
        <p:spPr>
          <a:xfrm>
            <a:off x="258024" y="1519788"/>
            <a:ext cx="3810000" cy="523220"/>
          </a:xfrm>
          <a:prstGeom prst="rect">
            <a:avLst/>
          </a:prstGeom>
          <a:noFill/>
        </p:spPr>
        <p:txBody>
          <a:bodyPr wrap="square" rtlCol="0">
            <a:spAutoFit/>
          </a:bodyPr>
          <a:lstStyle/>
          <a:p>
            <a:r>
              <a:rPr lang="en-US" sz="2800" dirty="0">
                <a:solidFill>
                  <a:srgbClr val="C00000"/>
                </a:solidFill>
                <a:latin typeface="Times New Roman" panose="02020603050405020304" pitchFamily="18" charset="0"/>
                <a:cs typeface="Times New Roman" panose="02020603050405020304" pitchFamily="18" charset="0"/>
              </a:rPr>
              <a:t>Program Output:</a:t>
            </a:r>
          </a:p>
        </p:txBody>
      </p:sp>
      <p:pic>
        <p:nvPicPr>
          <p:cNvPr id="4" name="Picture 3">
            <a:extLst>
              <a:ext uri="{FF2B5EF4-FFF2-40B4-BE49-F238E27FC236}">
                <a16:creationId xmlns:a16="http://schemas.microsoft.com/office/drawing/2014/main" xmlns="" id="{BC442E01-8ED6-E51F-7527-45FAD4B56902}"/>
              </a:ext>
            </a:extLst>
          </p:cNvPr>
          <p:cNvPicPr>
            <a:picLocks noChangeAspect="1"/>
          </p:cNvPicPr>
          <p:nvPr/>
        </p:nvPicPr>
        <p:blipFill>
          <a:blip r:embed="rId3"/>
          <a:stretch>
            <a:fillRect/>
          </a:stretch>
        </p:blipFill>
        <p:spPr>
          <a:xfrm>
            <a:off x="96516" y="2963484"/>
            <a:ext cx="4432607" cy="3338931"/>
          </a:xfrm>
          <a:prstGeom prst="rect">
            <a:avLst/>
          </a:prstGeom>
        </p:spPr>
      </p:pic>
      <p:pic>
        <p:nvPicPr>
          <p:cNvPr id="8" name="Picture 7">
            <a:extLst>
              <a:ext uri="{FF2B5EF4-FFF2-40B4-BE49-F238E27FC236}">
                <a16:creationId xmlns:a16="http://schemas.microsoft.com/office/drawing/2014/main" xmlns="" id="{06158429-9A93-F354-62BB-D5FE1AD2BDAE}"/>
              </a:ext>
            </a:extLst>
          </p:cNvPr>
          <p:cNvPicPr>
            <a:picLocks noChangeAspect="1"/>
          </p:cNvPicPr>
          <p:nvPr/>
        </p:nvPicPr>
        <p:blipFill>
          <a:blip r:embed="rId4"/>
          <a:stretch>
            <a:fillRect/>
          </a:stretch>
        </p:blipFill>
        <p:spPr>
          <a:xfrm>
            <a:off x="4638929" y="2962085"/>
            <a:ext cx="4483889" cy="3338930"/>
          </a:xfrm>
          <a:prstGeom prst="rect">
            <a:avLst/>
          </a:prstGeom>
        </p:spPr>
      </p:pic>
    </p:spTree>
    <p:extLst>
      <p:ext uri="{BB962C8B-B14F-4D97-AF65-F5344CB8AC3E}">
        <p14:creationId xmlns:p14="http://schemas.microsoft.com/office/powerpoint/2010/main" val="12727626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0" y="-57150"/>
            <a:ext cx="8891730" cy="819150"/>
          </a:xfrm>
        </p:spPr>
        <p:txBody>
          <a:bodyPr/>
          <a:lstStyle/>
          <a:p>
            <a:pPr marL="0" indent="0" algn="just">
              <a:buNone/>
            </a:pPr>
            <a:r>
              <a:rPr lang="en-US" altLang="en-US" sz="2400" dirty="0">
                <a:solidFill>
                  <a:srgbClr val="C00000"/>
                </a:solidFill>
                <a:latin typeface="Times New Roman" panose="02020603050405020304" pitchFamily="18" charset="0"/>
                <a:cs typeface="Times New Roman" panose="02020603050405020304" pitchFamily="18" charset="0"/>
              </a:rPr>
              <a:t>Example 3:</a:t>
            </a:r>
            <a:r>
              <a:rPr lang="en-US" altLang="en-US" sz="2400" dirty="0">
                <a:solidFill>
                  <a:schemeClr val="tx1"/>
                </a:solidFill>
                <a:latin typeface="Times New Roman" panose="02020603050405020304" pitchFamily="18" charset="0"/>
                <a:cs typeface="Times New Roman" panose="02020603050405020304" pitchFamily="18" charset="0"/>
              </a:rPr>
              <a:t> A program where a client sends radius of a circle to server, server then compute the area and send back to client</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34</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18168" y="838200"/>
            <a:ext cx="4312468" cy="617861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100" dirty="0">
                <a:solidFill>
                  <a:srgbClr val="00B050"/>
                </a:solidFill>
                <a:latin typeface="Times New Roman" panose="02020603050405020304" pitchFamily="18" charset="0"/>
                <a:cs typeface="Times New Roman" panose="02020603050405020304" pitchFamily="18" charset="0"/>
              </a:rPr>
              <a:t>// Server Program</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import java.net.*; import java.io.*;</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public class serverArea {</a:t>
            </a:r>
          </a:p>
          <a:p>
            <a:pPr eaLnBrk="1" hangingPunct="1">
              <a:lnSpc>
                <a:spcPct val="100000"/>
              </a:lnSpc>
              <a:spcBef>
                <a:spcPct val="0"/>
              </a:spcBef>
              <a:buClrTx/>
              <a:buNone/>
            </a:pPr>
            <a:r>
              <a:rPr lang="pt-BR" altLang="en-US" sz="135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None/>
            </a:pPr>
            <a:endParaRPr lang="pt-BR" altLang="en-US" sz="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new Thread(() -&gt;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try {</a:t>
            </a:r>
          </a:p>
          <a:p>
            <a:pPr eaLnBrk="1" hangingPunct="1">
              <a:lnSpc>
                <a:spcPct val="100000"/>
              </a:lnSpc>
              <a:spcBef>
                <a:spcPct val="0"/>
              </a:spcBef>
              <a:buClrTx/>
              <a:buNone/>
            </a:pPr>
            <a:r>
              <a:rPr lang="pt-BR" altLang="en-US" sz="1100" dirty="0">
                <a:solidFill>
                  <a:srgbClr val="00B050"/>
                </a:solidFill>
                <a:latin typeface="Times New Roman" panose="02020603050405020304" pitchFamily="18" charset="0"/>
                <a:cs typeface="Times New Roman" panose="02020603050405020304" pitchFamily="18" charset="0"/>
              </a:rPr>
              <a:t> // Create a server socket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ServerSocket ss = new ServerSocket(4999);</a:t>
            </a:r>
          </a:p>
          <a:p>
            <a:pPr eaLnBrk="1" hangingPunct="1">
              <a:lnSpc>
                <a:spcPct val="100000"/>
              </a:lnSpc>
              <a:spcBef>
                <a:spcPct val="0"/>
              </a:spcBef>
              <a:buClrTx/>
              <a:buNone/>
            </a:pPr>
            <a:r>
              <a:rPr lang="pt-BR" altLang="en-US" sz="1100" dirty="0">
                <a:solidFill>
                  <a:srgbClr val="00B050"/>
                </a:solidFill>
                <a:latin typeface="Times New Roman" panose="02020603050405020304" pitchFamily="18" charset="0"/>
                <a:cs typeface="Times New Roman" panose="02020603050405020304" pitchFamily="18" charset="0"/>
              </a:rPr>
              <a:t> // Listen for a connection request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Socket s1=ss.accept(); </a:t>
            </a: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100" dirty="0">
                <a:solidFill>
                  <a:srgbClr val="00B050"/>
                </a:solidFill>
                <a:latin typeface="Times New Roman" panose="02020603050405020304" pitchFamily="18" charset="0"/>
                <a:cs typeface="Times New Roman" panose="02020603050405020304" pitchFamily="18" charset="0"/>
              </a:rPr>
              <a:t> // Create data input and output streams</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 DataInputStream s1In = new DataInputStream(s1.getInputStream());</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 DataOutputStream out = new DataOutputStream(s1.getOutputStream());</a:t>
            </a: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while (true) {  </a:t>
            </a:r>
            <a:r>
              <a:rPr lang="pt-BR" altLang="en-US" sz="1400" dirty="0">
                <a:solidFill>
                  <a:srgbClr val="00B050"/>
                </a:solidFill>
                <a:latin typeface="Times New Roman" panose="02020603050405020304" pitchFamily="18" charset="0"/>
                <a:cs typeface="Times New Roman" panose="02020603050405020304" pitchFamily="18" charset="0"/>
              </a:rPr>
              <a:t>//Infinity loop</a:t>
            </a:r>
          </a:p>
          <a:p>
            <a:pPr eaLnBrk="1" hangingPunct="1">
              <a:lnSpc>
                <a:spcPct val="100000"/>
              </a:lnSpc>
              <a:spcBef>
                <a:spcPct val="0"/>
              </a:spcBef>
              <a:buClrTx/>
              <a:buNone/>
            </a:pPr>
            <a:r>
              <a:rPr lang="pt-BR" altLang="en-US" sz="1100" dirty="0">
                <a:solidFill>
                  <a:srgbClr val="00B050"/>
                </a:solidFill>
                <a:latin typeface="Times New Roman" panose="02020603050405020304" pitchFamily="18" charset="0"/>
                <a:cs typeface="Times New Roman" panose="02020603050405020304" pitchFamily="18" charset="0"/>
              </a:rPr>
              <a:t>   // Receive radius from the client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double radius = s1In.readDouble();</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System.out.println("Radius receive from client is " + radius);</a:t>
            </a:r>
          </a:p>
          <a:p>
            <a:pPr eaLnBrk="1" hangingPunct="1">
              <a:lnSpc>
                <a:spcPct val="100000"/>
              </a:lnSpc>
              <a:spcBef>
                <a:spcPct val="0"/>
              </a:spcBef>
              <a:buClrTx/>
              <a:buNone/>
            </a:pPr>
            <a:r>
              <a:rPr lang="pt-BR" altLang="en-US" sz="1100" dirty="0">
                <a:solidFill>
                  <a:srgbClr val="00B050"/>
                </a:solidFill>
                <a:latin typeface="Times New Roman" panose="02020603050405020304" pitchFamily="18" charset="0"/>
                <a:cs typeface="Times New Roman" panose="02020603050405020304" pitchFamily="18" charset="0"/>
              </a:rPr>
              <a:t>   // Compute area</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double area = radius * radius * Math.PI;</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System.out.println("Area send to client is " + area);</a:t>
            </a:r>
          </a:p>
          <a:p>
            <a:pPr eaLnBrk="1" hangingPunct="1">
              <a:lnSpc>
                <a:spcPct val="100000"/>
              </a:lnSpc>
              <a:spcBef>
                <a:spcPct val="0"/>
              </a:spcBef>
              <a:buClrTx/>
              <a:buNone/>
            </a:pPr>
            <a:r>
              <a:rPr lang="pt-BR" altLang="en-US" sz="1100" dirty="0">
                <a:solidFill>
                  <a:srgbClr val="00B050"/>
                </a:solidFill>
                <a:latin typeface="Times New Roman" panose="02020603050405020304" pitchFamily="18" charset="0"/>
                <a:cs typeface="Times New Roman" panose="02020603050405020304" pitchFamily="18" charset="0"/>
              </a:rPr>
              <a:t>   // Send area back to the client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out.writeDouble(area);</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 catch(IOException ex) {</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 ex.printStackTrace();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}).start();</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495800" y="838200"/>
            <a:ext cx="4541915" cy="641714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000" dirty="0">
                <a:solidFill>
                  <a:srgbClr val="00B050"/>
                </a:solidFill>
                <a:latin typeface="Times New Roman" panose="02020603050405020304" pitchFamily="18" charset="0"/>
                <a:cs typeface="Times New Roman" panose="02020603050405020304" pitchFamily="18" charset="0"/>
              </a:rPr>
              <a:t>// Client program</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import java.net.*;</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import java.io.*;</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import java.util.Scanner;</a:t>
            </a:r>
          </a:p>
          <a:p>
            <a:pPr eaLnBrk="1" hangingPunct="1">
              <a:lnSpc>
                <a:spcPct val="100000"/>
              </a:lnSpc>
              <a:spcBef>
                <a:spcPct val="0"/>
              </a:spcBef>
              <a:buClrTx/>
              <a:buFontTx/>
              <a:buNone/>
            </a:pPr>
            <a:endParaRPr lang="pt-BR" altLang="en-US" sz="3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public class clientArea {</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FontTx/>
              <a:buNone/>
            </a:pPr>
            <a:endParaRPr lang="pt-BR" altLang="en-US" sz="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Socket cs = new Socket("localhost",4999);</a:t>
            </a:r>
          </a:p>
          <a:p>
            <a:pPr eaLnBrk="1" hangingPunct="1">
              <a:lnSpc>
                <a:spcPct val="100000"/>
              </a:lnSpc>
              <a:spcBef>
                <a:spcPct val="0"/>
              </a:spcBef>
              <a:buClrTx/>
              <a:buFontTx/>
              <a:buNone/>
            </a:pPr>
            <a:r>
              <a:rPr lang="pt-BR" altLang="en-US" sz="1100" dirty="0">
                <a:latin typeface="Times New Roman" panose="02020603050405020304" pitchFamily="18" charset="0"/>
                <a:cs typeface="Times New Roman" panose="02020603050405020304" pitchFamily="18" charset="0"/>
              </a:rPr>
              <a:t>//new Thread(() -&gt; {</a:t>
            </a:r>
          </a:p>
          <a:p>
            <a:pPr eaLnBrk="1" hangingPunct="1">
              <a:lnSpc>
                <a:spcPct val="100000"/>
              </a:lnSpc>
              <a:spcBef>
                <a:spcPct val="0"/>
              </a:spcBef>
              <a:buClrTx/>
              <a:buFontTx/>
              <a:buNone/>
            </a:pPr>
            <a:r>
              <a:rPr lang="pt-BR" altLang="en-US" sz="1100" dirty="0">
                <a:latin typeface="Times New Roman" panose="02020603050405020304" pitchFamily="18" charset="0"/>
                <a:cs typeface="Times New Roman" panose="02020603050405020304" pitchFamily="18" charset="0"/>
              </a:rPr>
              <a:t>// try {</a:t>
            </a: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000" dirty="0">
                <a:solidFill>
                  <a:srgbClr val="00B050"/>
                </a:solidFill>
                <a:latin typeface="Times New Roman" panose="02020603050405020304" pitchFamily="18" charset="0"/>
                <a:cs typeface="Times New Roman" panose="02020603050405020304" pitchFamily="18" charset="0"/>
              </a:rPr>
              <a:t> // Create data input and output streams</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 DataInputStream s1In = new DataInputStream(cs.getInputStream());</a:t>
            </a:r>
          </a:p>
          <a:p>
            <a:pPr eaLnBrk="1" hangingPunct="1">
              <a:lnSpc>
                <a:spcPct val="100000"/>
              </a:lnSpc>
              <a:spcBef>
                <a:spcPct val="0"/>
              </a:spcBef>
              <a:buClrTx/>
              <a:buFontTx/>
              <a:buNone/>
            </a:pPr>
            <a:r>
              <a:rPr lang="pt-BR" altLang="en-US" sz="1150" dirty="0">
                <a:latin typeface="Times New Roman" panose="02020603050405020304" pitchFamily="18" charset="0"/>
                <a:cs typeface="Times New Roman" panose="02020603050405020304" pitchFamily="18" charset="0"/>
              </a:rPr>
              <a:t> DataOutputStream out = new DataOutputStream(cs.getOutputStream());</a:t>
            </a:r>
          </a:p>
          <a:p>
            <a:pPr eaLnBrk="1" hangingPunct="1">
              <a:lnSpc>
                <a:spcPct val="100000"/>
              </a:lnSpc>
              <a:spcBef>
                <a:spcPct val="0"/>
              </a:spcBef>
              <a:buClrTx/>
              <a:buFont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 while (true) {</a:t>
            </a:r>
            <a:r>
              <a:rPr lang="pt-BR" altLang="en-US" sz="1400" dirty="0">
                <a:solidFill>
                  <a:srgbClr val="00B050"/>
                </a:solidFill>
                <a:latin typeface="Times New Roman" panose="02020603050405020304" pitchFamily="18" charset="0"/>
                <a:cs typeface="Times New Roman" panose="02020603050405020304" pitchFamily="18" charset="0"/>
              </a:rPr>
              <a:t>// Infinity loop</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100" dirty="0">
                <a:solidFill>
                  <a:srgbClr val="00B050"/>
                </a:solidFill>
                <a:latin typeface="Times New Roman" panose="02020603050405020304" pitchFamily="18" charset="0"/>
                <a:cs typeface="Times New Roman" panose="02020603050405020304" pitchFamily="18" charset="0"/>
              </a:rPr>
              <a:t>   //Input from Keyboard</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   Scanner input = new Scanner(System.in);</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   System.out.print("Enter a number for radius: ");</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   double radius = input.nextDouble();</a:t>
            </a:r>
          </a:p>
          <a:p>
            <a:pPr eaLnBrk="1" hangingPunct="1">
              <a:lnSpc>
                <a:spcPct val="100000"/>
              </a:lnSpc>
              <a:spcBef>
                <a:spcPct val="0"/>
              </a:spcBef>
              <a:buClrTx/>
              <a:buFontTx/>
              <a:buNone/>
            </a:pPr>
            <a:endParaRPr lang="pt-BR" altLang="en-US" sz="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050" dirty="0">
                <a:solidFill>
                  <a:srgbClr val="00B050"/>
                </a:solidFill>
                <a:latin typeface="Times New Roman" panose="02020603050405020304" pitchFamily="18" charset="0"/>
                <a:cs typeface="Times New Roman" panose="02020603050405020304" pitchFamily="18" charset="0"/>
              </a:rPr>
              <a:t>  // Send radius to the server</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  out.writeDouble(radius);</a:t>
            </a:r>
          </a:p>
          <a:p>
            <a:pPr eaLnBrk="1" hangingPunct="1">
              <a:lnSpc>
                <a:spcPct val="100000"/>
              </a:lnSpc>
              <a:spcBef>
                <a:spcPct val="0"/>
              </a:spcBef>
              <a:buClrTx/>
              <a:buFontTx/>
              <a:buNone/>
            </a:pPr>
            <a:endParaRPr lang="pt-BR" altLang="en-US" sz="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pt-BR" altLang="en-US" sz="1100" dirty="0">
                <a:solidFill>
                  <a:srgbClr val="00B050"/>
                </a:solidFill>
                <a:latin typeface="Times New Roman" panose="02020603050405020304" pitchFamily="18" charset="0"/>
                <a:cs typeface="Times New Roman" panose="02020603050405020304" pitchFamily="18" charset="0"/>
              </a:rPr>
              <a:t>  // Receive area from server</a:t>
            </a:r>
          </a:p>
          <a:p>
            <a:pPr eaLnBrk="1" hangingPunct="1">
              <a:lnSpc>
                <a:spcPct val="100000"/>
              </a:lnSpc>
              <a:spcBef>
                <a:spcPct val="0"/>
              </a:spcBef>
              <a:buClrTx/>
              <a:buFontTx/>
              <a:buNone/>
            </a:pPr>
            <a:r>
              <a:rPr lang="pt-BR" altLang="en-US" sz="1400" dirty="0">
                <a:latin typeface="Times New Roman" panose="02020603050405020304" pitchFamily="18" charset="0"/>
                <a:cs typeface="Times New Roman" panose="02020603050405020304" pitchFamily="18" charset="0"/>
              </a:rPr>
              <a:t>  double area= s1In.readDouble();</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  System.out.println("Area received from the server is " + area + " ");</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pt-BR" altLang="en-US" sz="11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pt-BR" altLang="en-US" sz="1100" dirty="0">
                <a:latin typeface="Times New Roman" panose="02020603050405020304" pitchFamily="18" charset="0"/>
                <a:cs typeface="Times New Roman" panose="02020603050405020304" pitchFamily="18" charset="0"/>
              </a:rPr>
              <a:t>// catch(IOException ex) {</a:t>
            </a:r>
          </a:p>
          <a:p>
            <a:pPr eaLnBrk="1" hangingPunct="1">
              <a:lnSpc>
                <a:spcPct val="100000"/>
              </a:lnSpc>
              <a:spcBef>
                <a:spcPct val="0"/>
              </a:spcBef>
              <a:buClrTx/>
              <a:buFontTx/>
              <a:buNone/>
            </a:pPr>
            <a:r>
              <a:rPr lang="pt-BR" altLang="en-US" sz="1100" dirty="0">
                <a:latin typeface="Times New Roman" panose="02020603050405020304" pitchFamily="18" charset="0"/>
                <a:cs typeface="Times New Roman" panose="02020603050405020304" pitchFamily="18" charset="0"/>
              </a:rPr>
              <a:t>// ex.printStackTrace();</a:t>
            </a:r>
          </a:p>
          <a:p>
            <a:pPr eaLnBrk="1" hangingPunct="1">
              <a:lnSpc>
                <a:spcPct val="100000"/>
              </a:lnSpc>
              <a:spcBef>
                <a:spcPct val="0"/>
              </a:spcBef>
              <a:buClrTx/>
              <a:buFontTx/>
              <a:buNone/>
            </a:pPr>
            <a:r>
              <a:rPr lang="pt-BR" altLang="en-US" sz="11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pt-BR" altLang="en-US" sz="1100" dirty="0">
                <a:latin typeface="Times New Roman" panose="02020603050405020304" pitchFamily="18" charset="0"/>
                <a:cs typeface="Times New Roman" panose="02020603050405020304" pitchFamily="18" charset="0"/>
              </a:rPr>
              <a:t>//}).start();</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pt-BR" altLang="en-US" sz="12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endParaRPr lang="pt-BR"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7035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Program Output</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71450" y="762000"/>
            <a:ext cx="8763000" cy="57912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3:</a:t>
            </a:r>
            <a:r>
              <a:rPr lang="en-US" altLang="en-US" sz="2200" dirty="0">
                <a:solidFill>
                  <a:schemeClr val="tx1"/>
                </a:solidFill>
                <a:latin typeface="Times New Roman" panose="02020603050405020304" pitchFamily="18" charset="0"/>
                <a:cs typeface="Times New Roman" panose="02020603050405020304" pitchFamily="18" charset="0"/>
              </a:rPr>
              <a:t> A simple program where client sends radius to server, server computes the area and then sends back the area to client</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35</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258024" y="2318580"/>
            <a:ext cx="2931815"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//Server cmd window</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820970" y="2286000"/>
            <a:ext cx="3178568"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 Client cmd window </a:t>
            </a:r>
          </a:p>
        </p:txBody>
      </p:sp>
      <p:sp>
        <p:nvSpPr>
          <p:cNvPr id="6" name="TextBox 5">
            <a:extLst>
              <a:ext uri="{FF2B5EF4-FFF2-40B4-BE49-F238E27FC236}">
                <a16:creationId xmlns:a16="http://schemas.microsoft.com/office/drawing/2014/main" xmlns="" id="{A5E38555-4E60-5B5E-5FFE-FECB3E5BD4FC}"/>
              </a:ext>
            </a:extLst>
          </p:cNvPr>
          <p:cNvSpPr txBox="1"/>
          <p:nvPr/>
        </p:nvSpPr>
        <p:spPr>
          <a:xfrm>
            <a:off x="258024" y="1519788"/>
            <a:ext cx="3810000" cy="523220"/>
          </a:xfrm>
          <a:prstGeom prst="rect">
            <a:avLst/>
          </a:prstGeom>
          <a:noFill/>
        </p:spPr>
        <p:txBody>
          <a:bodyPr wrap="square" rtlCol="0">
            <a:spAutoFit/>
          </a:bodyPr>
          <a:lstStyle/>
          <a:p>
            <a:r>
              <a:rPr lang="en-US" sz="2800" dirty="0">
                <a:solidFill>
                  <a:srgbClr val="C00000"/>
                </a:solidFill>
                <a:latin typeface="Times New Roman" panose="02020603050405020304" pitchFamily="18" charset="0"/>
                <a:cs typeface="Times New Roman" panose="02020603050405020304" pitchFamily="18" charset="0"/>
              </a:rPr>
              <a:t>Program Output:</a:t>
            </a:r>
          </a:p>
        </p:txBody>
      </p:sp>
      <p:pic>
        <p:nvPicPr>
          <p:cNvPr id="4" name="Picture 3">
            <a:extLst>
              <a:ext uri="{FF2B5EF4-FFF2-40B4-BE49-F238E27FC236}">
                <a16:creationId xmlns:a16="http://schemas.microsoft.com/office/drawing/2014/main" xmlns="" id="{C3E4233D-F34D-2BD8-AFAC-162FA538D180}"/>
              </a:ext>
            </a:extLst>
          </p:cNvPr>
          <p:cNvPicPr>
            <a:picLocks noChangeAspect="1"/>
          </p:cNvPicPr>
          <p:nvPr/>
        </p:nvPicPr>
        <p:blipFill>
          <a:blip r:embed="rId3"/>
          <a:stretch>
            <a:fillRect/>
          </a:stretch>
        </p:blipFill>
        <p:spPr>
          <a:xfrm>
            <a:off x="196915" y="2743200"/>
            <a:ext cx="4146486" cy="3961954"/>
          </a:xfrm>
          <a:prstGeom prst="rect">
            <a:avLst/>
          </a:prstGeom>
        </p:spPr>
      </p:pic>
      <p:pic>
        <p:nvPicPr>
          <p:cNvPr id="8" name="Picture 7">
            <a:extLst>
              <a:ext uri="{FF2B5EF4-FFF2-40B4-BE49-F238E27FC236}">
                <a16:creationId xmlns:a16="http://schemas.microsoft.com/office/drawing/2014/main" xmlns="" id="{14BBD6C3-CCBF-0AFE-BA8A-308ADDF76D13}"/>
              </a:ext>
            </a:extLst>
          </p:cNvPr>
          <p:cNvPicPr>
            <a:picLocks noChangeAspect="1"/>
          </p:cNvPicPr>
          <p:nvPr/>
        </p:nvPicPr>
        <p:blipFill>
          <a:blip r:embed="rId4"/>
          <a:stretch>
            <a:fillRect/>
          </a:stretch>
        </p:blipFill>
        <p:spPr>
          <a:xfrm>
            <a:off x="4478730" y="2743200"/>
            <a:ext cx="4146487" cy="3942741"/>
          </a:xfrm>
          <a:prstGeom prst="rect">
            <a:avLst/>
          </a:prstGeom>
        </p:spPr>
      </p:pic>
    </p:spTree>
    <p:extLst>
      <p:ext uri="{BB962C8B-B14F-4D97-AF65-F5344CB8AC3E}">
        <p14:creationId xmlns:p14="http://schemas.microsoft.com/office/powerpoint/2010/main" val="29647614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0" y="-57150"/>
            <a:ext cx="8891730" cy="819150"/>
          </a:xfrm>
        </p:spPr>
        <p:txBody>
          <a:bodyPr/>
          <a:lstStyle/>
          <a:p>
            <a:pPr marL="0" indent="0" algn="just">
              <a:buNone/>
            </a:pPr>
            <a:r>
              <a:rPr lang="en-US" altLang="en-US" sz="2400" dirty="0">
                <a:solidFill>
                  <a:srgbClr val="C00000"/>
                </a:solidFill>
                <a:latin typeface="Times New Roman" panose="02020603050405020304" pitchFamily="18" charset="0"/>
                <a:cs typeface="Times New Roman" panose="02020603050405020304" pitchFamily="18" charset="0"/>
              </a:rPr>
              <a:t>Example 4:</a:t>
            </a:r>
            <a:r>
              <a:rPr lang="en-US" altLang="en-US" sz="2400" dirty="0">
                <a:solidFill>
                  <a:schemeClr val="tx1"/>
                </a:solidFill>
                <a:latin typeface="Times New Roman" panose="02020603050405020304" pitchFamily="18" charset="0"/>
                <a:cs typeface="Times New Roman" panose="02020603050405020304" pitchFamily="18" charset="0"/>
              </a:rPr>
              <a:t> A program where a server serves multiple client to compute the area of circles</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36</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18168" y="815653"/>
            <a:ext cx="4312468" cy="627094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000" dirty="0">
                <a:solidFill>
                  <a:srgbClr val="00B050"/>
                </a:solidFill>
                <a:latin typeface="Times New Roman" panose="02020603050405020304" pitchFamily="18" charset="0"/>
                <a:cs typeface="Times New Roman" panose="02020603050405020304" pitchFamily="18" charset="0"/>
              </a:rPr>
              <a:t>// Server Program</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import java.net</a:t>
            </a:r>
            <a:r>
              <a:rPr lang="pt-BR" altLang="en-US" sz="1400" dirty="0" smtClean="0">
                <a:latin typeface="Times New Roman" panose="02020603050405020304" pitchFamily="18" charset="0"/>
                <a:cs typeface="Times New Roman" panose="02020603050405020304" pitchFamily="18" charset="0"/>
              </a:rPr>
              <a:t>.*; import </a:t>
            </a:r>
            <a:r>
              <a:rPr lang="pt-BR" altLang="en-US" sz="1400" dirty="0">
                <a:latin typeface="Times New Roman" panose="02020603050405020304" pitchFamily="18" charset="0"/>
                <a:cs typeface="Times New Roman" panose="02020603050405020304" pitchFamily="18" charset="0"/>
              </a:rPr>
              <a:t>java.io.*;</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public class MultiThreadServer {</a:t>
            </a:r>
          </a:p>
          <a:p>
            <a:pPr eaLnBrk="1" hangingPunct="1">
              <a:lnSpc>
                <a:spcPct val="100000"/>
              </a:lnSpc>
              <a:spcBef>
                <a:spcPct val="0"/>
              </a:spcBef>
              <a:buClrTx/>
              <a:buNone/>
            </a:pPr>
            <a:endParaRPr lang="pt-BR" altLang="en-US" sz="6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050" dirty="0">
                <a:solidFill>
                  <a:srgbClr val="00B050"/>
                </a:solidFill>
                <a:latin typeface="Times New Roman" panose="02020603050405020304" pitchFamily="18" charset="0"/>
                <a:cs typeface="Times New Roman" panose="02020603050405020304" pitchFamily="18" charset="0"/>
              </a:rPr>
              <a:t>//Number a client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static int clientNo = 0;</a:t>
            </a: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350" dirty="0">
                <a:latin typeface="Times New Roman" panose="02020603050405020304" pitchFamily="18" charset="0"/>
                <a:cs typeface="Times New Roman" panose="02020603050405020304" pitchFamily="18" charset="0"/>
              </a:rPr>
              <a:t>public static void main(String args[]) throws IOException {</a:t>
            </a: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050" dirty="0">
                <a:solidFill>
                  <a:srgbClr val="00B050"/>
                </a:solidFill>
                <a:latin typeface="Times New Roman" panose="02020603050405020304" pitchFamily="18" charset="0"/>
                <a:cs typeface="Times New Roman" panose="02020603050405020304" pitchFamily="18" charset="0"/>
              </a:rPr>
              <a:t>// Define the thread class for handling new connection</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class HandleAClient implements Runnable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private Socket socket; </a:t>
            </a:r>
            <a:r>
              <a:rPr lang="pt-BR" altLang="en-US" sz="1400" dirty="0">
                <a:solidFill>
                  <a:srgbClr val="00B050"/>
                </a:solidFill>
                <a:latin typeface="Times New Roman" panose="02020603050405020304" pitchFamily="18" charset="0"/>
                <a:cs typeface="Times New Roman" panose="02020603050405020304" pitchFamily="18" charset="0"/>
              </a:rPr>
              <a:t>// A connected socket</a:t>
            </a: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050" dirty="0">
                <a:latin typeface="Times New Roman" panose="02020603050405020304" pitchFamily="18" charset="0"/>
                <a:cs typeface="Times New Roman" panose="02020603050405020304" pitchFamily="18" charset="0"/>
              </a:rPr>
              <a:t> </a:t>
            </a:r>
            <a:r>
              <a:rPr lang="pt-BR" altLang="en-US" sz="1050" dirty="0">
                <a:solidFill>
                  <a:srgbClr val="00B050"/>
                </a:solidFill>
                <a:latin typeface="Times New Roman" panose="02020603050405020304" pitchFamily="18" charset="0"/>
                <a:cs typeface="Times New Roman" panose="02020603050405020304" pitchFamily="18" charset="0"/>
              </a:rPr>
              <a:t>/** Construct a thread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public HandleAClient(Socket socket)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this.socket = socket;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050" dirty="0">
                <a:solidFill>
                  <a:srgbClr val="00B050"/>
                </a:solidFill>
                <a:latin typeface="Times New Roman" panose="02020603050405020304" pitchFamily="18" charset="0"/>
                <a:cs typeface="Times New Roman" panose="02020603050405020304" pitchFamily="18" charset="0"/>
              </a:rPr>
              <a:t> /** Run a thread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public void run()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try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a:t>
            </a:r>
            <a:r>
              <a:rPr lang="pt-BR" altLang="en-US" sz="1050" dirty="0">
                <a:solidFill>
                  <a:srgbClr val="00B050"/>
                </a:solidFill>
                <a:latin typeface="Times New Roman" panose="02020603050405020304" pitchFamily="18" charset="0"/>
                <a:cs typeface="Times New Roman" panose="02020603050405020304" pitchFamily="18" charset="0"/>
              </a:rPr>
              <a:t>// Create data input and output streams</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DataInputStream inputFromClient = new DataInputStream(socket.getInputStream());</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DataOutputStream outputToClient = new DataOutputStream(socket.getOutputStream());</a:t>
            </a: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smtClean="0">
                <a:latin typeface="Times New Roman" panose="02020603050405020304" pitchFamily="18" charset="0"/>
                <a:cs typeface="Times New Roman" panose="02020603050405020304" pitchFamily="18" charset="0"/>
              </a:rPr>
              <a:t>while </a:t>
            </a:r>
            <a:r>
              <a:rPr lang="pt-BR" altLang="en-US" sz="1400" dirty="0">
                <a:latin typeface="Times New Roman" panose="02020603050405020304" pitchFamily="18" charset="0"/>
                <a:cs typeface="Times New Roman" panose="02020603050405020304" pitchFamily="18" charset="0"/>
              </a:rPr>
              <a:t>(true) </a:t>
            </a:r>
            <a:r>
              <a:rPr lang="pt-BR" altLang="en-US" sz="1400" dirty="0" smtClean="0">
                <a:latin typeface="Times New Roman" panose="02020603050405020304" pitchFamily="18" charset="0"/>
                <a:cs typeface="Times New Roman" panose="02020603050405020304" pitchFamily="18" charset="0"/>
              </a:rPr>
              <a:t>{</a:t>
            </a:r>
            <a:r>
              <a:rPr lang="pt-BR" altLang="en-US" sz="1400" dirty="0">
                <a:solidFill>
                  <a:srgbClr val="00B050"/>
                </a:solidFill>
                <a:latin typeface="Times New Roman" panose="02020603050405020304" pitchFamily="18" charset="0"/>
                <a:cs typeface="Times New Roman" panose="02020603050405020304" pitchFamily="18" charset="0"/>
              </a:rPr>
              <a:t>// Continuously serve the </a:t>
            </a:r>
            <a:r>
              <a:rPr lang="pt-BR" altLang="en-US" sz="1400" dirty="0" smtClean="0">
                <a:solidFill>
                  <a:srgbClr val="00B050"/>
                </a:solidFill>
                <a:latin typeface="Times New Roman" panose="02020603050405020304" pitchFamily="18" charset="0"/>
                <a:cs typeface="Times New Roman" panose="02020603050405020304" pitchFamily="18" charset="0"/>
              </a:rPr>
              <a:t>client</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050" dirty="0">
                <a:solidFill>
                  <a:srgbClr val="00B050"/>
                </a:solidFill>
                <a:latin typeface="Times New Roman" panose="02020603050405020304" pitchFamily="18" charset="0"/>
                <a:cs typeface="Times New Roman" panose="02020603050405020304" pitchFamily="18" charset="0"/>
              </a:rPr>
              <a:t> // Receive radius from the client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double radius = inputFromClient.readDouble</a:t>
            </a:r>
            <a:r>
              <a:rPr lang="pt-BR" altLang="en-US" sz="1400" dirty="0" smtClean="0">
                <a:latin typeface="Times New Roman" panose="02020603050405020304" pitchFamily="18" charset="0"/>
                <a:cs typeface="Times New Roman" panose="02020603050405020304" pitchFamily="18" charset="0"/>
              </a:rPr>
              <a:t>();</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900" dirty="0">
                <a:solidFill>
                  <a:srgbClr val="00B050"/>
                </a:solidFill>
                <a:latin typeface="Times New Roman" panose="02020603050405020304" pitchFamily="18" charset="0"/>
                <a:cs typeface="Times New Roman" panose="02020603050405020304" pitchFamily="18" charset="0"/>
              </a:rPr>
              <a:t> // Compute area</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double area = radius * radius * Math.PI;</a:t>
            </a:r>
          </a:p>
          <a:p>
            <a:pPr eaLnBrk="1" hangingPunct="1">
              <a:lnSpc>
                <a:spcPct val="100000"/>
              </a:lnSpc>
              <a:spcBef>
                <a:spcPct val="0"/>
              </a:spcBef>
              <a:buClrTx/>
              <a:buNone/>
            </a:pPr>
            <a:r>
              <a:rPr lang="pt-BR" altLang="en-US" sz="1050" dirty="0" smtClean="0">
                <a:solidFill>
                  <a:srgbClr val="00B050"/>
                </a:solidFill>
                <a:latin typeface="Times New Roman" panose="02020603050405020304" pitchFamily="18" charset="0"/>
                <a:cs typeface="Times New Roman" panose="02020603050405020304" pitchFamily="18" charset="0"/>
              </a:rPr>
              <a:t> </a:t>
            </a:r>
            <a:r>
              <a:rPr lang="pt-BR" altLang="en-US" sz="1050" dirty="0">
                <a:solidFill>
                  <a:srgbClr val="00B050"/>
                </a:solidFill>
                <a:latin typeface="Times New Roman" panose="02020603050405020304" pitchFamily="18" charset="0"/>
                <a:cs typeface="Times New Roman" panose="02020603050405020304" pitchFamily="18" charset="0"/>
              </a:rPr>
              <a:t>// Send area back to the client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outputToClient.writeDouble(area</a:t>
            </a:r>
            <a:r>
              <a:rPr lang="pt-BR" altLang="en-US" sz="1400" dirty="0" smtClean="0">
                <a:latin typeface="Times New Roman" panose="02020603050405020304" pitchFamily="18" charset="0"/>
                <a:cs typeface="Times New Roman" panose="02020603050405020304" pitchFamily="18" charset="0"/>
              </a:rPr>
              <a:t>);</a:t>
            </a:r>
            <a:endParaRPr lang="pt-BR" altLang="en-US" sz="1400" dirty="0">
              <a:latin typeface="Times New Roman" panose="02020603050405020304" pitchFamily="18" charset="0"/>
              <a:cs typeface="Times New Roman" panose="02020603050405020304" pitchFamily="18" charset="0"/>
            </a:endParaRP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495800" y="838200"/>
            <a:ext cx="4541915" cy="620939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200" dirty="0" smtClean="0">
                <a:latin typeface="Times New Roman" panose="02020603050405020304" pitchFamily="18" charset="0"/>
                <a:cs typeface="Times New Roman" panose="02020603050405020304" pitchFamily="18" charset="0"/>
              </a:rPr>
              <a:t>System.out.println</a:t>
            </a:r>
            <a:r>
              <a:rPr lang="pt-BR" altLang="en-US" sz="1200" dirty="0">
                <a:latin typeface="Times New Roman" panose="02020603050405020304" pitchFamily="18" charset="0"/>
                <a:cs typeface="Times New Roman" panose="02020603050405020304" pitchFamily="18" charset="0"/>
              </a:rPr>
              <a:t>("Radius received from client: " + radius + '\n');</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 System.out.println("Area send to client is: " + area + '\n');</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catch(IOException ex) { ex.printStackTrace(); }</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200" dirty="0" smtClean="0">
                <a:latin typeface="Times New Roman" panose="02020603050405020304" pitchFamily="18" charset="0"/>
                <a:cs typeface="Times New Roman" panose="02020603050405020304" pitchFamily="18" charset="0"/>
              </a:rPr>
              <a:t>}</a:t>
            </a:r>
            <a:endParaRPr lang="pt-BR"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new Thread(() -&gt;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try </a:t>
            </a:r>
            <a:r>
              <a:rPr lang="pt-BR" altLang="en-US" sz="1400" dirty="0" smtClean="0">
                <a:latin typeface="Times New Roman" panose="02020603050405020304" pitchFamily="18" charset="0"/>
                <a:cs typeface="Times New Roman" panose="02020603050405020304" pitchFamily="18" charset="0"/>
              </a:rPr>
              <a:t>{</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050" dirty="0">
                <a:solidFill>
                  <a:srgbClr val="00B050"/>
                </a:solidFill>
                <a:latin typeface="Times New Roman" panose="02020603050405020304" pitchFamily="18" charset="0"/>
                <a:cs typeface="Times New Roman" panose="02020603050405020304" pitchFamily="18" charset="0"/>
              </a:rPr>
              <a:t> // Create a server socket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ServerSocket ss = new ServerSocket(4999</a:t>
            </a:r>
            <a:r>
              <a:rPr lang="pt-BR" altLang="en-US" sz="1400" dirty="0" smtClean="0">
                <a:latin typeface="Times New Roman" panose="02020603050405020304" pitchFamily="18" charset="0"/>
                <a:cs typeface="Times New Roman" panose="02020603050405020304" pitchFamily="18" charset="0"/>
              </a:rPr>
              <a:t>);</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while (true) {</a:t>
            </a:r>
          </a:p>
          <a:p>
            <a:pPr eaLnBrk="1" hangingPunct="1">
              <a:lnSpc>
                <a:spcPct val="100000"/>
              </a:lnSpc>
              <a:spcBef>
                <a:spcPct val="0"/>
              </a:spcBef>
              <a:buClrTx/>
              <a:buNone/>
            </a:pPr>
            <a:r>
              <a:rPr lang="pt-BR" altLang="en-US" sz="1050" dirty="0">
                <a:solidFill>
                  <a:srgbClr val="00B050"/>
                </a:solidFill>
                <a:latin typeface="Times New Roman" panose="02020603050405020304" pitchFamily="18" charset="0"/>
                <a:cs typeface="Times New Roman" panose="02020603050405020304" pitchFamily="18" charset="0"/>
              </a:rPr>
              <a:t> // Listen for a connection request</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Socket skt = ss.accept();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clientNo</a:t>
            </a:r>
            <a:r>
              <a:rPr lang="pt-BR" altLang="en-US" sz="1400" dirty="0" smtClean="0">
                <a:latin typeface="Times New Roman" panose="02020603050405020304" pitchFamily="18" charset="0"/>
                <a:cs typeface="Times New Roman" panose="02020603050405020304" pitchFamily="18" charset="0"/>
              </a:rPr>
              <a:t>++</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050" dirty="0">
                <a:solidFill>
                  <a:srgbClr val="00B050"/>
                </a:solidFill>
                <a:latin typeface="Times New Roman" panose="02020603050405020304" pitchFamily="18" charset="0"/>
                <a:cs typeface="Times New Roman" panose="02020603050405020304" pitchFamily="18" charset="0"/>
              </a:rPr>
              <a:t> // Create data input and output streams</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a:t>
            </a:r>
            <a:r>
              <a:rPr lang="pt-BR" altLang="en-US" sz="1100" dirty="0">
                <a:latin typeface="Times New Roman" panose="02020603050405020304" pitchFamily="18" charset="0"/>
                <a:cs typeface="Times New Roman" panose="02020603050405020304" pitchFamily="18" charset="0"/>
              </a:rPr>
              <a:t>DataInputStream s1In = new DataInputStream(skt.getInputStream());</a:t>
            </a:r>
          </a:p>
          <a:p>
            <a:pPr eaLnBrk="1" hangingPunct="1">
              <a:lnSpc>
                <a:spcPct val="100000"/>
              </a:lnSpc>
              <a:spcBef>
                <a:spcPct val="0"/>
              </a:spcBef>
              <a:buClrTx/>
              <a:buNone/>
            </a:pPr>
            <a:r>
              <a:rPr lang="pt-BR" altLang="en-US" sz="1100" dirty="0">
                <a:latin typeface="Times New Roman" panose="02020603050405020304" pitchFamily="18" charset="0"/>
                <a:cs typeface="Times New Roman" panose="02020603050405020304" pitchFamily="18" charset="0"/>
              </a:rPr>
              <a:t> DataOutputStream out = new DataOutputStream(skt.getOutputStream());</a:t>
            </a:r>
          </a:p>
          <a:p>
            <a:pPr eaLnBrk="1" hangingPunct="1">
              <a:lnSpc>
                <a:spcPct val="100000"/>
              </a:lnSpc>
              <a:spcBef>
                <a:spcPct val="0"/>
              </a:spcBef>
              <a:buClrTx/>
              <a:buNone/>
            </a:pPr>
            <a:endParaRPr lang="pt-BR" altLang="en-US" sz="5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InetAddress inetAddress = skt.getInetAddress();</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System.out.println("Client " + clientNo + "'s host name is " + inetAddress.getHostName() + "\n</a:t>
            </a:r>
            <a:r>
              <a:rPr lang="pt-BR" altLang="en-US" sz="1400" dirty="0" smtClean="0">
                <a:latin typeface="Times New Roman" panose="02020603050405020304" pitchFamily="18" charset="0"/>
                <a:cs typeface="Times New Roman" panose="02020603050405020304" pitchFamily="18" charset="0"/>
              </a:rPr>
              <a:t>");</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System.out.println("Client " + clientNo + "'s IP Address is " + inetAddress.getHostAddress() + "\n");</a:t>
            </a:r>
          </a:p>
          <a:p>
            <a:pPr eaLnBrk="1" hangingPunct="1">
              <a:lnSpc>
                <a:spcPct val="100000"/>
              </a:lnSpc>
              <a:spcBef>
                <a:spcPct val="0"/>
              </a:spcBef>
              <a:buClrTx/>
              <a:buNone/>
            </a:pPr>
            <a:endParaRPr lang="pt-BR" altLang="en-US" sz="3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new Thread(new HandleAClient(skt)).start();</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 catch(IOException ex) </a:t>
            </a:r>
            <a:r>
              <a:rPr lang="pt-BR" altLang="en-US" sz="1400" dirty="0" smtClean="0">
                <a:latin typeface="Times New Roman" panose="02020603050405020304" pitchFamily="18" charset="0"/>
                <a:cs typeface="Times New Roman" panose="02020603050405020304" pitchFamily="18" charset="0"/>
              </a:rPr>
              <a:t>{  </a:t>
            </a:r>
            <a:r>
              <a:rPr lang="pt-BR" altLang="en-US" sz="1400" dirty="0">
                <a:latin typeface="Times New Roman" panose="02020603050405020304" pitchFamily="18" charset="0"/>
                <a:cs typeface="Times New Roman" panose="02020603050405020304" pitchFamily="18" charset="0"/>
              </a:rPr>
              <a:t>System.err.println(ex);  }</a:t>
            </a:r>
          </a:p>
          <a:p>
            <a:pPr eaLnBrk="1" hangingPunct="1">
              <a:lnSpc>
                <a:spcPct val="100000"/>
              </a:lnSpc>
              <a:spcBef>
                <a:spcPct val="0"/>
              </a:spcBef>
              <a:buClrTx/>
              <a:buNone/>
            </a:pPr>
            <a:r>
              <a:rPr lang="pt-BR" altLang="en-US" sz="1400" dirty="0">
                <a:latin typeface="Times New Roman" panose="02020603050405020304" pitchFamily="18" charset="0"/>
                <a:cs typeface="Times New Roman" panose="02020603050405020304" pitchFamily="18" charset="0"/>
              </a:rPr>
              <a:t>}).start();</a:t>
            </a:r>
          </a:p>
          <a:p>
            <a:pPr eaLnBrk="1" hangingPunct="1">
              <a:lnSpc>
                <a:spcPct val="100000"/>
              </a:lnSpc>
              <a:spcBef>
                <a:spcPct val="0"/>
              </a:spcBef>
              <a:buClrTx/>
              <a:buNone/>
            </a:pPr>
            <a:r>
              <a:rPr lang="pt-BR" altLang="en-US" sz="1200" dirty="0">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None/>
            </a:pPr>
            <a:r>
              <a:rPr lang="pt-BR" altLang="en-US" sz="1200" dirty="0" smtClean="0">
                <a:latin typeface="Times New Roman" panose="02020603050405020304" pitchFamily="18" charset="0"/>
                <a:cs typeface="Times New Roman" panose="02020603050405020304" pitchFamily="18" charset="0"/>
              </a:rPr>
              <a:t>}</a:t>
            </a:r>
            <a:endParaRPr lang="pt-BR" altLang="en-US" sz="1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endParaRPr lang="pt-BR" altLang="en-US" sz="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4125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23587" y="228600"/>
            <a:ext cx="8763000" cy="533400"/>
          </a:xfrm>
        </p:spPr>
        <p:txBody>
          <a:bodyPr/>
          <a:lstStyle/>
          <a:p>
            <a:pPr algn="just"/>
            <a:r>
              <a:rPr lang="en-US" altLang="en-US" sz="2200" dirty="0">
                <a:solidFill>
                  <a:srgbClr val="C00000"/>
                </a:solidFill>
                <a:latin typeface="Times New Roman" panose="02020603050405020304" pitchFamily="18" charset="0"/>
                <a:cs typeface="Times New Roman" panose="02020603050405020304" pitchFamily="18" charset="0"/>
              </a:rPr>
              <a:t>Example 3:</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smtClean="0">
                <a:solidFill>
                  <a:schemeClr val="tx1"/>
                </a:solidFill>
                <a:latin typeface="Times New Roman" panose="02020603050405020304" pitchFamily="18" charset="0"/>
                <a:cs typeface="Times New Roman" panose="02020603050405020304" pitchFamily="18" charset="0"/>
              </a:rPr>
              <a:t>Program output</a:t>
            </a:r>
            <a:endParaRPr lang="en-US" altLang="en-US" sz="2200" dirty="0">
              <a:solidFill>
                <a:schemeClr val="tx1"/>
              </a:solidFill>
              <a:latin typeface="Times New Roman" panose="02020603050405020304" pitchFamily="18" charset="0"/>
              <a:cs typeface="Times New Roman" panose="02020603050405020304" pitchFamily="18" charset="0"/>
            </a:endParaRP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37</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136170" y="1600200"/>
            <a:ext cx="2931815"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pt-BR" altLang="en-US" sz="1800" dirty="0">
                <a:latin typeface="Times New Roman" panose="02020603050405020304" pitchFamily="18" charset="0"/>
                <a:cs typeface="Times New Roman" panose="02020603050405020304" pitchFamily="18" charset="0"/>
              </a:rPr>
              <a:t>//Server cmd window</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953000" y="532461"/>
            <a:ext cx="3178568"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None/>
            </a:pPr>
            <a:r>
              <a:rPr lang="pt-BR" altLang="en-US" sz="1800" dirty="0">
                <a:latin typeface="Times New Roman" panose="02020603050405020304" pitchFamily="18" charset="0"/>
                <a:cs typeface="Times New Roman" panose="02020603050405020304" pitchFamily="18" charset="0"/>
              </a:rPr>
              <a:t>// Client cmd </a:t>
            </a:r>
            <a:r>
              <a:rPr lang="pt-BR" altLang="en-US" sz="1800" dirty="0" smtClean="0">
                <a:latin typeface="Times New Roman" panose="02020603050405020304" pitchFamily="18" charset="0"/>
                <a:cs typeface="Times New Roman" panose="02020603050405020304" pitchFamily="18" charset="0"/>
              </a:rPr>
              <a:t>windows</a:t>
            </a:r>
            <a:endParaRPr lang="pt-BR" altLang="en-US" sz="1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A5E38555-4E60-5B5E-5FFE-FECB3E5BD4FC}"/>
              </a:ext>
            </a:extLst>
          </p:cNvPr>
          <p:cNvSpPr txBox="1"/>
          <p:nvPr/>
        </p:nvSpPr>
        <p:spPr>
          <a:xfrm>
            <a:off x="136170" y="996568"/>
            <a:ext cx="3810000" cy="523220"/>
          </a:xfrm>
          <a:prstGeom prst="rect">
            <a:avLst/>
          </a:prstGeom>
          <a:noFill/>
        </p:spPr>
        <p:txBody>
          <a:bodyPr wrap="square" rtlCol="0">
            <a:spAutoFit/>
          </a:bodyPr>
          <a:lstStyle/>
          <a:p>
            <a:r>
              <a:rPr lang="en-US" sz="2800" dirty="0">
                <a:solidFill>
                  <a:srgbClr val="C00000"/>
                </a:solidFill>
                <a:latin typeface="Times New Roman" panose="02020603050405020304" pitchFamily="18" charset="0"/>
                <a:cs typeface="Times New Roman" panose="02020603050405020304" pitchFamily="18" charset="0"/>
              </a:rPr>
              <a:t>Program Output:</a:t>
            </a:r>
          </a:p>
        </p:txBody>
      </p:sp>
      <p:pic>
        <p:nvPicPr>
          <p:cNvPr id="2" name="Picture 1">
            <a:extLst>
              <a:ext uri="{FF2B5EF4-FFF2-40B4-BE49-F238E27FC236}">
                <a16:creationId xmlns:a16="http://schemas.microsoft.com/office/drawing/2014/main" xmlns="" id="{04AC95B5-7706-0FB4-50B7-1596F471DA58}"/>
              </a:ext>
            </a:extLst>
          </p:cNvPr>
          <p:cNvPicPr>
            <a:picLocks noChangeAspect="1"/>
          </p:cNvPicPr>
          <p:nvPr/>
        </p:nvPicPr>
        <p:blipFill>
          <a:blip r:embed="rId3"/>
          <a:stretch>
            <a:fillRect/>
          </a:stretch>
        </p:blipFill>
        <p:spPr>
          <a:xfrm>
            <a:off x="0" y="2057400"/>
            <a:ext cx="4435830" cy="3986267"/>
          </a:xfrm>
          <a:prstGeom prst="rect">
            <a:avLst/>
          </a:prstGeom>
        </p:spPr>
      </p:pic>
      <p:pic>
        <p:nvPicPr>
          <p:cNvPr id="5" name="Picture 4">
            <a:extLst>
              <a:ext uri="{FF2B5EF4-FFF2-40B4-BE49-F238E27FC236}">
                <a16:creationId xmlns:a16="http://schemas.microsoft.com/office/drawing/2014/main" xmlns="" id="{B1DED131-19AC-4AC4-F10A-221E2D95400E}"/>
              </a:ext>
            </a:extLst>
          </p:cNvPr>
          <p:cNvPicPr>
            <a:picLocks noChangeAspect="1"/>
          </p:cNvPicPr>
          <p:nvPr/>
        </p:nvPicPr>
        <p:blipFill>
          <a:blip r:embed="rId4"/>
          <a:stretch>
            <a:fillRect/>
          </a:stretch>
        </p:blipFill>
        <p:spPr>
          <a:xfrm>
            <a:off x="4648200" y="999364"/>
            <a:ext cx="4265470" cy="2752089"/>
          </a:xfrm>
          <a:prstGeom prst="rect">
            <a:avLst/>
          </a:prstGeom>
        </p:spPr>
      </p:pic>
      <p:pic>
        <p:nvPicPr>
          <p:cNvPr id="9" name="Picture 8">
            <a:extLst>
              <a:ext uri="{FF2B5EF4-FFF2-40B4-BE49-F238E27FC236}">
                <a16:creationId xmlns:a16="http://schemas.microsoft.com/office/drawing/2014/main" xmlns="" id="{EDC70436-24B5-AF9A-12B0-4EB91C9F952C}"/>
              </a:ext>
            </a:extLst>
          </p:cNvPr>
          <p:cNvPicPr>
            <a:picLocks noChangeAspect="1"/>
          </p:cNvPicPr>
          <p:nvPr/>
        </p:nvPicPr>
        <p:blipFill>
          <a:blip r:embed="rId5"/>
          <a:stretch>
            <a:fillRect/>
          </a:stretch>
        </p:blipFill>
        <p:spPr>
          <a:xfrm>
            <a:off x="4680627" y="3886200"/>
            <a:ext cx="4267298" cy="2895600"/>
          </a:xfrm>
          <a:prstGeom prst="rect">
            <a:avLst/>
          </a:prstGeom>
        </p:spPr>
      </p:pic>
    </p:spTree>
    <p:extLst>
      <p:ext uri="{BB962C8B-B14F-4D97-AF65-F5344CB8AC3E}">
        <p14:creationId xmlns:p14="http://schemas.microsoft.com/office/powerpoint/2010/main" val="616596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Datagram </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52400" y="914400"/>
            <a:ext cx="8763000" cy="5791200"/>
          </a:xfrm>
        </p:spPr>
        <p:txBody>
          <a:bodyPr/>
          <a:lstStyle/>
          <a:p>
            <a:pPr marL="0" indent="0" algn="l">
              <a:buNone/>
            </a:pPr>
            <a:r>
              <a:rPr lang="en-US" sz="2400" b="0" i="0" u="none" strike="noStrike" baseline="0" dirty="0">
                <a:solidFill>
                  <a:schemeClr val="tx1"/>
                </a:solidFill>
                <a:latin typeface="Times New Roman" panose="02020603050405020304" pitchFamily="18" charset="0"/>
                <a:cs typeface="Times New Roman" panose="02020603050405020304" pitchFamily="18" charset="0"/>
              </a:rPr>
              <a:t>TCP/IP-style networking is appropriate for most networking needs. </a:t>
            </a:r>
          </a:p>
          <a:p>
            <a:pPr marL="0" indent="0" algn="l">
              <a:buNone/>
            </a:pPr>
            <a:r>
              <a:rPr lang="en-US" sz="2400" b="0" i="0" u="none" strike="noStrike" baseline="0" dirty="0">
                <a:solidFill>
                  <a:schemeClr val="tx1"/>
                </a:solidFill>
                <a:latin typeface="Times New Roman" panose="02020603050405020304" pitchFamily="18" charset="0"/>
                <a:cs typeface="Times New Roman" panose="02020603050405020304" pitchFamily="18" charset="0"/>
              </a:rPr>
              <a:t>It provides a serialized, predictable, reliable stream of packet data. </a:t>
            </a:r>
          </a:p>
          <a:p>
            <a:pPr marL="0" indent="0" algn="l">
              <a:buNone/>
            </a:pPr>
            <a:r>
              <a:rPr lang="en-US" sz="2400" b="0" i="0" u="none" strike="noStrike" baseline="0" dirty="0">
                <a:solidFill>
                  <a:schemeClr val="tx1"/>
                </a:solidFill>
                <a:latin typeface="Times New Roman" panose="02020603050405020304" pitchFamily="18" charset="0"/>
                <a:cs typeface="Times New Roman" panose="02020603050405020304" pitchFamily="18" charset="0"/>
              </a:rPr>
              <a:t>TCP includes many complicated algorithms for dealing with congestion control on crowded networks, as well as pessimistic expectations about packet loss. </a:t>
            </a:r>
          </a:p>
          <a:p>
            <a:pPr marL="0" indent="0" algn="l">
              <a:buNone/>
            </a:pPr>
            <a:r>
              <a:rPr lang="en-US" sz="2400" b="0" i="0" u="none" strike="noStrike" baseline="0" dirty="0">
                <a:solidFill>
                  <a:schemeClr val="tx1"/>
                </a:solidFill>
                <a:latin typeface="Times New Roman" panose="02020603050405020304" pitchFamily="18" charset="0"/>
                <a:cs typeface="Times New Roman" panose="02020603050405020304" pitchFamily="18" charset="0"/>
              </a:rPr>
              <a:t>This leads to a somewhat inefficient way to transport data. Datagrams provide an alternative.</a:t>
            </a:r>
          </a:p>
          <a:p>
            <a:pPr marL="0" indent="0" algn="l">
              <a:buNone/>
            </a:pPr>
            <a:endParaRPr lang="en-US" sz="2400" b="0" i="0" u="none" strike="noStrike" baseline="0"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dirty="0">
                <a:solidFill>
                  <a:schemeClr val="tx1"/>
                </a:solidFill>
                <a:latin typeface="Times New Roman" panose="02020603050405020304" pitchFamily="18" charset="0"/>
                <a:cs typeface="Times New Roman" panose="02020603050405020304" pitchFamily="18" charset="0"/>
              </a:rPr>
              <a:t>Datagrams are bundles of information passed between machines.  Once the datagram has been released to its intended target, there is no assurance that it will arrive or even that someone will be there to catch it. </a:t>
            </a:r>
          </a:p>
          <a:p>
            <a:endParaRPr lang="en-US" altLang="en-US" sz="2200" dirty="0"/>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38</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311775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Datagram </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52400" y="914400"/>
            <a:ext cx="8763000" cy="5791200"/>
          </a:xfrm>
        </p:spPr>
        <p:txBody>
          <a:bodyPr/>
          <a:lstStyle/>
          <a:p>
            <a:pPr marL="0" indent="0">
              <a:buNone/>
            </a:pPr>
            <a:r>
              <a:rPr lang="en-US" sz="2400" dirty="0">
                <a:solidFill>
                  <a:schemeClr val="tx1"/>
                </a:solidFill>
                <a:latin typeface="Times New Roman" panose="02020603050405020304" pitchFamily="18" charset="0"/>
                <a:cs typeface="Times New Roman" panose="02020603050405020304" pitchFamily="18" charset="0"/>
              </a:rPr>
              <a:t>Likewise, when the datagram is received, there is no assurance that it hasn’t been damaged in transit or that whoever sent it is still there to receive a response.</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dirty="0">
                <a:solidFill>
                  <a:schemeClr val="tx1"/>
                </a:solidFill>
                <a:latin typeface="Times New Roman" panose="02020603050405020304" pitchFamily="18" charset="0"/>
                <a:cs typeface="Times New Roman" panose="02020603050405020304" pitchFamily="18" charset="0"/>
              </a:rPr>
              <a:t>Java implements datagrams on top of the UDP protocol by using two classes: the </a:t>
            </a:r>
            <a:r>
              <a:rPr lang="en-US" sz="2400" dirty="0" err="1">
                <a:solidFill>
                  <a:schemeClr val="tx1"/>
                </a:solidFill>
                <a:latin typeface="Times New Roman" panose="02020603050405020304" pitchFamily="18" charset="0"/>
                <a:cs typeface="Times New Roman" panose="02020603050405020304" pitchFamily="18" charset="0"/>
              </a:rPr>
              <a:t>DatagramPacket</a:t>
            </a:r>
            <a:r>
              <a:rPr lang="en-US" sz="2400" dirty="0">
                <a:solidFill>
                  <a:schemeClr val="tx1"/>
                </a:solidFill>
                <a:latin typeface="Times New Roman" panose="02020603050405020304" pitchFamily="18" charset="0"/>
                <a:cs typeface="Times New Roman" panose="02020603050405020304" pitchFamily="18" charset="0"/>
              </a:rPr>
              <a:t> object is the data container, while the </a:t>
            </a:r>
            <a:r>
              <a:rPr lang="en-US" sz="2400" dirty="0" err="1">
                <a:solidFill>
                  <a:schemeClr val="tx1"/>
                </a:solidFill>
                <a:latin typeface="Times New Roman" panose="02020603050405020304" pitchFamily="18" charset="0"/>
                <a:cs typeface="Times New Roman" panose="02020603050405020304" pitchFamily="18" charset="0"/>
              </a:rPr>
              <a:t>DatagramSocket</a:t>
            </a:r>
            <a:r>
              <a:rPr lang="en-US" sz="2400" dirty="0">
                <a:solidFill>
                  <a:schemeClr val="tx1"/>
                </a:solidFill>
                <a:latin typeface="Times New Roman" panose="02020603050405020304" pitchFamily="18" charset="0"/>
                <a:cs typeface="Times New Roman" panose="02020603050405020304" pitchFamily="18" charset="0"/>
              </a:rPr>
              <a:t> is the mechanism used to send or receive the </a:t>
            </a:r>
            <a:r>
              <a:rPr lang="en-US" sz="2400" dirty="0" err="1">
                <a:solidFill>
                  <a:schemeClr val="tx1"/>
                </a:solidFill>
                <a:latin typeface="Times New Roman" panose="02020603050405020304" pitchFamily="18" charset="0"/>
                <a:cs typeface="Times New Roman" panose="02020603050405020304" pitchFamily="18" charset="0"/>
              </a:rPr>
              <a:t>DatagramPackets</a:t>
            </a:r>
            <a:r>
              <a:rPr lang="en-US" sz="2400" dirty="0">
                <a:solidFill>
                  <a:schemeClr val="tx1"/>
                </a:solidFill>
                <a:latin typeface="Times New Roman" panose="02020603050405020304" pitchFamily="18" charset="0"/>
                <a:cs typeface="Times New Roman" panose="02020603050405020304" pitchFamily="18" charset="0"/>
              </a:rPr>
              <a:t>. </a:t>
            </a:r>
            <a:endParaRPr lang="en-US" altLang="en-US" sz="24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altLang="en-US" sz="2200" dirty="0"/>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39</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076206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Datagram </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52400" y="914400"/>
            <a:ext cx="8763000" cy="5791200"/>
          </a:xfrm>
        </p:spPr>
        <p:txBody>
          <a:bodyPr/>
          <a:lstStyle/>
          <a:p>
            <a:pPr marL="0" indent="0" algn="l">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b="1" dirty="0" err="1">
                <a:solidFill>
                  <a:schemeClr val="tx1"/>
                </a:solidFill>
                <a:latin typeface="Times New Roman" panose="02020603050405020304" pitchFamily="18" charset="0"/>
                <a:cs typeface="Times New Roman" panose="02020603050405020304" pitchFamily="18" charset="0"/>
              </a:rPr>
              <a:t>DatagramSocket</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dirty="0" err="1">
                <a:solidFill>
                  <a:schemeClr val="tx1"/>
                </a:solidFill>
                <a:latin typeface="Times New Roman" panose="02020603050405020304" pitchFamily="18" charset="0"/>
                <a:cs typeface="Times New Roman" panose="02020603050405020304" pitchFamily="18" charset="0"/>
              </a:rPr>
              <a:t>DatagramSocket</a:t>
            </a:r>
            <a:r>
              <a:rPr lang="en-US" sz="2400" dirty="0">
                <a:solidFill>
                  <a:schemeClr val="tx1"/>
                </a:solidFill>
                <a:latin typeface="Times New Roman" panose="02020603050405020304" pitchFamily="18" charset="0"/>
                <a:cs typeface="Times New Roman" panose="02020603050405020304" pitchFamily="18" charset="0"/>
              </a:rPr>
              <a:t> defines four public constructors. They are shown here:</a:t>
            </a:r>
          </a:p>
          <a:p>
            <a:pPr marL="0" indent="0">
              <a:buNone/>
            </a:pPr>
            <a:r>
              <a:rPr lang="en-US" sz="2400" dirty="0" err="1">
                <a:solidFill>
                  <a:srgbClr val="0066FF"/>
                </a:solidFill>
                <a:latin typeface="Times New Roman" panose="02020603050405020304" pitchFamily="18" charset="0"/>
                <a:cs typeface="Times New Roman" panose="02020603050405020304" pitchFamily="18" charset="0"/>
              </a:rPr>
              <a:t>DatagramSocket</a:t>
            </a:r>
            <a:r>
              <a:rPr lang="en-US" sz="2400" dirty="0">
                <a:solidFill>
                  <a:srgbClr val="0066FF"/>
                </a:solidFill>
                <a:latin typeface="Times New Roman" panose="02020603050405020304" pitchFamily="18" charset="0"/>
                <a:cs typeface="Times New Roman" panose="02020603050405020304" pitchFamily="18" charset="0"/>
              </a:rPr>
              <a:t>( ) throws </a:t>
            </a:r>
            <a:r>
              <a:rPr lang="en-US" sz="2400" dirty="0" err="1">
                <a:solidFill>
                  <a:srgbClr val="0066FF"/>
                </a:solidFill>
                <a:latin typeface="Times New Roman" panose="02020603050405020304" pitchFamily="18" charset="0"/>
                <a:cs typeface="Times New Roman" panose="02020603050405020304" pitchFamily="18" charset="0"/>
              </a:rPr>
              <a:t>SocketException</a:t>
            </a:r>
            <a:endParaRPr lang="en-US" sz="2400" dirty="0">
              <a:solidFill>
                <a:srgbClr val="0066FF"/>
              </a:solidFill>
              <a:latin typeface="Times New Roman" panose="02020603050405020304" pitchFamily="18" charset="0"/>
              <a:cs typeface="Times New Roman" panose="02020603050405020304" pitchFamily="18" charset="0"/>
            </a:endParaRPr>
          </a:p>
          <a:p>
            <a:pPr marL="0" indent="0">
              <a:buNone/>
            </a:pPr>
            <a:r>
              <a:rPr lang="en-US" sz="2400" dirty="0" err="1">
                <a:solidFill>
                  <a:srgbClr val="0066FF"/>
                </a:solidFill>
                <a:latin typeface="Times New Roman" panose="02020603050405020304" pitchFamily="18" charset="0"/>
                <a:cs typeface="Times New Roman" panose="02020603050405020304" pitchFamily="18" charset="0"/>
              </a:rPr>
              <a:t>DatagramSocket</a:t>
            </a:r>
            <a:r>
              <a:rPr lang="en-US" sz="2400" dirty="0">
                <a:solidFill>
                  <a:srgbClr val="0066FF"/>
                </a:solidFill>
                <a:latin typeface="Times New Roman" panose="02020603050405020304" pitchFamily="18" charset="0"/>
                <a:cs typeface="Times New Roman" panose="02020603050405020304" pitchFamily="18" charset="0"/>
              </a:rPr>
              <a:t>(int port) throws </a:t>
            </a:r>
            <a:r>
              <a:rPr lang="en-US" sz="2400" dirty="0" err="1">
                <a:solidFill>
                  <a:srgbClr val="0066FF"/>
                </a:solidFill>
                <a:latin typeface="Times New Roman" panose="02020603050405020304" pitchFamily="18" charset="0"/>
                <a:cs typeface="Times New Roman" panose="02020603050405020304" pitchFamily="18" charset="0"/>
              </a:rPr>
              <a:t>SocketException</a:t>
            </a:r>
            <a:endParaRPr lang="en-US" sz="2400" dirty="0">
              <a:solidFill>
                <a:srgbClr val="0066FF"/>
              </a:solidFill>
              <a:latin typeface="Times New Roman" panose="02020603050405020304" pitchFamily="18" charset="0"/>
              <a:cs typeface="Times New Roman" panose="02020603050405020304" pitchFamily="18" charset="0"/>
            </a:endParaRPr>
          </a:p>
          <a:p>
            <a:pPr marL="0" indent="0">
              <a:buNone/>
            </a:pPr>
            <a:r>
              <a:rPr lang="en-US" sz="2200" dirty="0" err="1">
                <a:solidFill>
                  <a:srgbClr val="0066FF"/>
                </a:solidFill>
                <a:latin typeface="Times New Roman" panose="02020603050405020304" pitchFamily="18" charset="0"/>
                <a:cs typeface="Times New Roman" panose="02020603050405020304" pitchFamily="18" charset="0"/>
              </a:rPr>
              <a:t>DatagramSocket</a:t>
            </a:r>
            <a:r>
              <a:rPr lang="en-US" sz="2200" dirty="0">
                <a:solidFill>
                  <a:srgbClr val="0066FF"/>
                </a:solidFill>
                <a:latin typeface="Times New Roman" panose="02020603050405020304" pitchFamily="18" charset="0"/>
                <a:cs typeface="Times New Roman" panose="02020603050405020304" pitchFamily="18" charset="0"/>
              </a:rPr>
              <a:t>(int port, </a:t>
            </a:r>
            <a:r>
              <a:rPr lang="en-US" sz="2200" dirty="0" err="1">
                <a:solidFill>
                  <a:srgbClr val="0066FF"/>
                </a:solidFill>
                <a:latin typeface="Times New Roman" panose="02020603050405020304" pitchFamily="18" charset="0"/>
                <a:cs typeface="Times New Roman" panose="02020603050405020304" pitchFamily="18" charset="0"/>
              </a:rPr>
              <a:t>InetAddress</a:t>
            </a:r>
            <a:r>
              <a:rPr lang="en-US" sz="2200" dirty="0">
                <a:solidFill>
                  <a:srgbClr val="0066FF"/>
                </a:solidFill>
                <a:latin typeface="Times New Roman" panose="02020603050405020304" pitchFamily="18" charset="0"/>
                <a:cs typeface="Times New Roman" panose="02020603050405020304" pitchFamily="18" charset="0"/>
              </a:rPr>
              <a:t> </a:t>
            </a:r>
            <a:r>
              <a:rPr lang="en-US" sz="2200" dirty="0" err="1">
                <a:solidFill>
                  <a:srgbClr val="0066FF"/>
                </a:solidFill>
                <a:latin typeface="Times New Roman" panose="02020603050405020304" pitchFamily="18" charset="0"/>
                <a:cs typeface="Times New Roman" panose="02020603050405020304" pitchFamily="18" charset="0"/>
              </a:rPr>
              <a:t>ipAddress</a:t>
            </a:r>
            <a:r>
              <a:rPr lang="en-US" sz="2200" dirty="0">
                <a:solidFill>
                  <a:srgbClr val="0066FF"/>
                </a:solidFill>
                <a:latin typeface="Times New Roman" panose="02020603050405020304" pitchFamily="18" charset="0"/>
                <a:cs typeface="Times New Roman" panose="02020603050405020304" pitchFamily="18" charset="0"/>
              </a:rPr>
              <a:t>) throws </a:t>
            </a:r>
            <a:r>
              <a:rPr lang="en-US" sz="2200" dirty="0" err="1">
                <a:solidFill>
                  <a:srgbClr val="0066FF"/>
                </a:solidFill>
                <a:latin typeface="Times New Roman" panose="02020603050405020304" pitchFamily="18" charset="0"/>
                <a:cs typeface="Times New Roman" panose="02020603050405020304" pitchFamily="18" charset="0"/>
              </a:rPr>
              <a:t>SocketException</a:t>
            </a:r>
            <a:endParaRPr lang="en-US" sz="2200" dirty="0">
              <a:solidFill>
                <a:srgbClr val="0066FF"/>
              </a:solidFill>
              <a:latin typeface="Times New Roman" panose="02020603050405020304" pitchFamily="18" charset="0"/>
              <a:cs typeface="Times New Roman" panose="02020603050405020304" pitchFamily="18" charset="0"/>
            </a:endParaRPr>
          </a:p>
          <a:p>
            <a:pPr marL="0" indent="0">
              <a:buNone/>
            </a:pPr>
            <a:r>
              <a:rPr lang="en-US" sz="2400" dirty="0" err="1">
                <a:solidFill>
                  <a:srgbClr val="0066FF"/>
                </a:solidFill>
                <a:latin typeface="Times New Roman" panose="02020603050405020304" pitchFamily="18" charset="0"/>
                <a:cs typeface="Times New Roman" panose="02020603050405020304" pitchFamily="18" charset="0"/>
              </a:rPr>
              <a:t>DatagramSocket</a:t>
            </a:r>
            <a:r>
              <a:rPr lang="en-US" sz="2400" dirty="0">
                <a:solidFill>
                  <a:srgbClr val="0066FF"/>
                </a:solidFill>
                <a:latin typeface="Times New Roman" panose="02020603050405020304" pitchFamily="18" charset="0"/>
                <a:cs typeface="Times New Roman" panose="02020603050405020304" pitchFamily="18" charset="0"/>
              </a:rPr>
              <a:t>(</a:t>
            </a:r>
            <a:r>
              <a:rPr lang="en-US" sz="2400" dirty="0" err="1">
                <a:solidFill>
                  <a:srgbClr val="0066FF"/>
                </a:solidFill>
                <a:latin typeface="Times New Roman" panose="02020603050405020304" pitchFamily="18" charset="0"/>
                <a:cs typeface="Times New Roman" panose="02020603050405020304" pitchFamily="18" charset="0"/>
              </a:rPr>
              <a:t>SocketAddress</a:t>
            </a:r>
            <a:r>
              <a:rPr lang="en-US" sz="2400" dirty="0">
                <a:solidFill>
                  <a:srgbClr val="0066FF"/>
                </a:solidFill>
                <a:latin typeface="Times New Roman" panose="02020603050405020304" pitchFamily="18" charset="0"/>
                <a:cs typeface="Times New Roman" panose="02020603050405020304" pitchFamily="18" charset="0"/>
              </a:rPr>
              <a:t> address) throws </a:t>
            </a:r>
            <a:r>
              <a:rPr lang="en-US" sz="2400" dirty="0" err="1">
                <a:solidFill>
                  <a:srgbClr val="0066FF"/>
                </a:solidFill>
                <a:latin typeface="Times New Roman" panose="02020603050405020304" pitchFamily="18" charset="0"/>
                <a:cs typeface="Times New Roman" panose="02020603050405020304" pitchFamily="18" charset="0"/>
              </a:rPr>
              <a:t>SocketException</a:t>
            </a:r>
            <a:endParaRPr lang="en-US" altLang="en-US" sz="2400" dirty="0">
              <a:solidFill>
                <a:srgbClr val="0066FF"/>
              </a:solidFill>
              <a:latin typeface="Times New Roman" panose="02020603050405020304" pitchFamily="18" charset="0"/>
              <a:cs typeface="Times New Roman" panose="02020603050405020304" pitchFamily="18" charset="0"/>
            </a:endParaRPr>
          </a:p>
          <a:p>
            <a:pPr marL="0" indent="0">
              <a:buNone/>
            </a:pPr>
            <a:endParaRPr lang="en-US" altLang="en-US" sz="2200" dirty="0"/>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40</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4378837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Datagram </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52400" y="914400"/>
            <a:ext cx="8763000" cy="5791200"/>
          </a:xfrm>
        </p:spPr>
        <p:txBody>
          <a:bodyPr/>
          <a:lstStyle/>
          <a:p>
            <a:pPr marL="0" indent="0" algn="l">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b="1" dirty="0" err="1">
                <a:solidFill>
                  <a:schemeClr val="tx1"/>
                </a:solidFill>
                <a:latin typeface="Times New Roman" panose="02020603050405020304" pitchFamily="18" charset="0"/>
                <a:cs typeface="Times New Roman" panose="02020603050405020304" pitchFamily="18" charset="0"/>
              </a:rPr>
              <a:t>DatagramSocket</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dirty="0" err="1">
                <a:solidFill>
                  <a:schemeClr val="tx1"/>
                </a:solidFill>
                <a:latin typeface="Times New Roman" panose="02020603050405020304" pitchFamily="18" charset="0"/>
                <a:cs typeface="Times New Roman" panose="02020603050405020304" pitchFamily="18" charset="0"/>
              </a:rPr>
              <a:t>DatagramSocket</a:t>
            </a:r>
            <a:r>
              <a:rPr lang="en-US" sz="2400" dirty="0">
                <a:solidFill>
                  <a:schemeClr val="tx1"/>
                </a:solidFill>
                <a:latin typeface="Times New Roman" panose="02020603050405020304" pitchFamily="18" charset="0"/>
                <a:cs typeface="Times New Roman" panose="02020603050405020304" pitchFamily="18" charset="0"/>
              </a:rPr>
              <a:t> defines many methods. Two of the most important are send( ) and receive( ), which are shown here:</a:t>
            </a:r>
          </a:p>
          <a:p>
            <a:pPr marL="0" indent="0">
              <a:buNone/>
            </a:pPr>
            <a:r>
              <a:rPr lang="en-US" sz="2400" dirty="0">
                <a:solidFill>
                  <a:srgbClr val="0066FF"/>
                </a:solidFill>
                <a:latin typeface="Times New Roman" panose="02020603050405020304" pitchFamily="18" charset="0"/>
                <a:cs typeface="Times New Roman" panose="02020603050405020304" pitchFamily="18" charset="0"/>
              </a:rPr>
              <a:t>void send(</a:t>
            </a:r>
            <a:r>
              <a:rPr lang="en-US" sz="2400" dirty="0" err="1">
                <a:solidFill>
                  <a:srgbClr val="0066FF"/>
                </a:solidFill>
                <a:latin typeface="Times New Roman" panose="02020603050405020304" pitchFamily="18" charset="0"/>
                <a:cs typeface="Times New Roman" panose="02020603050405020304" pitchFamily="18" charset="0"/>
              </a:rPr>
              <a:t>DatagramPacket</a:t>
            </a:r>
            <a:r>
              <a:rPr lang="en-US" sz="2400" dirty="0">
                <a:solidFill>
                  <a:srgbClr val="0066FF"/>
                </a:solidFill>
                <a:latin typeface="Times New Roman" panose="02020603050405020304" pitchFamily="18" charset="0"/>
                <a:cs typeface="Times New Roman" panose="02020603050405020304" pitchFamily="18" charset="0"/>
              </a:rPr>
              <a:t> packet) throws </a:t>
            </a:r>
            <a:r>
              <a:rPr lang="en-US" sz="2400" dirty="0" err="1">
                <a:solidFill>
                  <a:srgbClr val="0066FF"/>
                </a:solidFill>
                <a:latin typeface="Times New Roman" panose="02020603050405020304" pitchFamily="18" charset="0"/>
                <a:cs typeface="Times New Roman" panose="02020603050405020304" pitchFamily="18" charset="0"/>
              </a:rPr>
              <a:t>IOException</a:t>
            </a:r>
            <a:endParaRPr lang="en-US" sz="2400" dirty="0">
              <a:solidFill>
                <a:srgbClr val="0066FF"/>
              </a:solidFill>
              <a:latin typeface="Times New Roman" panose="02020603050405020304" pitchFamily="18" charset="0"/>
              <a:cs typeface="Times New Roman" panose="02020603050405020304" pitchFamily="18" charset="0"/>
            </a:endParaRPr>
          </a:p>
          <a:p>
            <a:pPr marL="0" indent="0">
              <a:buNone/>
            </a:pPr>
            <a:r>
              <a:rPr lang="en-US" sz="2400" dirty="0">
                <a:solidFill>
                  <a:srgbClr val="0066FF"/>
                </a:solidFill>
                <a:latin typeface="Times New Roman" panose="02020603050405020304" pitchFamily="18" charset="0"/>
                <a:cs typeface="Times New Roman" panose="02020603050405020304" pitchFamily="18" charset="0"/>
              </a:rPr>
              <a:t>void receive(</a:t>
            </a:r>
            <a:r>
              <a:rPr lang="en-US" sz="2400" dirty="0" err="1">
                <a:solidFill>
                  <a:srgbClr val="0066FF"/>
                </a:solidFill>
                <a:latin typeface="Times New Roman" panose="02020603050405020304" pitchFamily="18" charset="0"/>
                <a:cs typeface="Times New Roman" panose="02020603050405020304" pitchFamily="18" charset="0"/>
              </a:rPr>
              <a:t>DatagramPacket</a:t>
            </a:r>
            <a:r>
              <a:rPr lang="en-US" sz="2400" dirty="0">
                <a:solidFill>
                  <a:srgbClr val="0066FF"/>
                </a:solidFill>
                <a:latin typeface="Times New Roman" panose="02020603050405020304" pitchFamily="18" charset="0"/>
                <a:cs typeface="Times New Roman" panose="02020603050405020304" pitchFamily="18" charset="0"/>
              </a:rPr>
              <a:t> packet) throws </a:t>
            </a:r>
            <a:r>
              <a:rPr lang="en-US" sz="2400" dirty="0" err="1">
                <a:solidFill>
                  <a:srgbClr val="0066FF"/>
                </a:solidFill>
                <a:latin typeface="Times New Roman" panose="02020603050405020304" pitchFamily="18" charset="0"/>
                <a:cs typeface="Times New Roman" panose="02020603050405020304" pitchFamily="18" charset="0"/>
              </a:rPr>
              <a:t>IOException</a:t>
            </a:r>
            <a:endParaRPr lang="en-US" sz="2400" dirty="0">
              <a:solidFill>
                <a:srgbClr val="0066FF"/>
              </a:solidFill>
              <a:latin typeface="Times New Roman" panose="02020603050405020304" pitchFamily="18" charset="0"/>
              <a:cs typeface="Times New Roman" panose="02020603050405020304" pitchFamily="18" charset="0"/>
            </a:endParaRPr>
          </a:p>
          <a:p>
            <a:pPr marL="0" indent="0">
              <a:buNone/>
            </a:pPr>
            <a:endParaRPr lang="en-US" altLang="en-US" sz="2200" dirty="0"/>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41</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57047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Datagram </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52400" y="914400"/>
            <a:ext cx="8763000" cy="5791200"/>
          </a:xfrm>
        </p:spPr>
        <p:txBody>
          <a:bodyPr/>
          <a:lstStyle/>
          <a:p>
            <a:pPr marL="0" indent="0">
              <a:buNone/>
            </a:pPr>
            <a:r>
              <a:rPr lang="en-US" sz="2400" b="1" dirty="0" err="1">
                <a:solidFill>
                  <a:schemeClr val="tx1"/>
                </a:solidFill>
                <a:latin typeface="Times New Roman" panose="02020603050405020304" pitchFamily="18" charset="0"/>
                <a:cs typeface="Times New Roman" panose="02020603050405020304" pitchFamily="18" charset="0"/>
              </a:rPr>
              <a:t>DatagramSocket</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dirty="0">
                <a:solidFill>
                  <a:schemeClr val="tx1"/>
                </a:solidFill>
                <a:latin typeface="Times New Roman" panose="02020603050405020304" pitchFamily="18" charset="0"/>
                <a:cs typeface="Times New Roman" panose="02020603050405020304" pitchFamily="18" charset="0"/>
              </a:rPr>
              <a:t>Other methods give you access to various attributes associated with a </a:t>
            </a:r>
            <a:r>
              <a:rPr lang="en-US" sz="2400" dirty="0" err="1">
                <a:solidFill>
                  <a:schemeClr val="tx1"/>
                </a:solidFill>
                <a:latin typeface="Times New Roman" panose="02020603050405020304" pitchFamily="18" charset="0"/>
                <a:cs typeface="Times New Roman" panose="02020603050405020304" pitchFamily="18" charset="0"/>
              </a:rPr>
              <a:t>DatagramSocket</a:t>
            </a:r>
            <a:r>
              <a:rPr lang="en-US" sz="2400" dirty="0">
                <a:solidFill>
                  <a:schemeClr val="tx1"/>
                </a:solidFill>
                <a:latin typeface="Times New Roman" panose="02020603050405020304" pitchFamily="18" charset="0"/>
                <a:cs typeface="Times New Roman" panose="02020603050405020304" pitchFamily="18" charset="0"/>
              </a:rPr>
              <a:t>. Here is a sampling:</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42</a:t>
            </a:fld>
            <a:endParaRPr lang="en-US" altLang="en-US" sz="1400">
              <a:solidFill>
                <a:schemeClr val="tx1"/>
              </a:solidFill>
              <a:latin typeface="Times New Roman" panose="02020603050405020304" pitchFamily="18" charset="0"/>
            </a:endParaRPr>
          </a:p>
        </p:txBody>
      </p:sp>
      <p:pic>
        <p:nvPicPr>
          <p:cNvPr id="3" name="Picture 2">
            <a:extLst>
              <a:ext uri="{FF2B5EF4-FFF2-40B4-BE49-F238E27FC236}">
                <a16:creationId xmlns:a16="http://schemas.microsoft.com/office/drawing/2014/main" xmlns="" id="{5083A449-C012-3613-C8AE-DA41C5D87C88}"/>
              </a:ext>
            </a:extLst>
          </p:cNvPr>
          <p:cNvPicPr>
            <a:picLocks noChangeAspect="1"/>
          </p:cNvPicPr>
          <p:nvPr/>
        </p:nvPicPr>
        <p:blipFill>
          <a:blip r:embed="rId3"/>
          <a:stretch>
            <a:fillRect/>
          </a:stretch>
        </p:blipFill>
        <p:spPr>
          <a:xfrm>
            <a:off x="0" y="2667000"/>
            <a:ext cx="9144000" cy="3606837"/>
          </a:xfrm>
          <a:prstGeom prst="rect">
            <a:avLst/>
          </a:prstGeom>
        </p:spPr>
      </p:pic>
    </p:spTree>
    <p:extLst>
      <p:ext uri="{BB962C8B-B14F-4D97-AF65-F5344CB8AC3E}">
        <p14:creationId xmlns:p14="http://schemas.microsoft.com/office/powerpoint/2010/main" val="354363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Datagram </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52400" y="914400"/>
            <a:ext cx="8763000" cy="5791200"/>
          </a:xfrm>
        </p:spPr>
        <p:txBody>
          <a:bodyPr/>
          <a:lstStyle/>
          <a:p>
            <a:pPr marL="0" indent="0">
              <a:buNone/>
            </a:pPr>
            <a:r>
              <a:rPr lang="en-US" sz="2400" b="1" dirty="0" err="1">
                <a:solidFill>
                  <a:schemeClr val="tx1"/>
                </a:solidFill>
                <a:latin typeface="Times New Roman" panose="02020603050405020304" pitchFamily="18" charset="0"/>
                <a:cs typeface="Times New Roman" panose="02020603050405020304" pitchFamily="18" charset="0"/>
              </a:rPr>
              <a:t>DatagramPacket</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dirty="0" err="1">
                <a:solidFill>
                  <a:schemeClr val="tx1"/>
                </a:solidFill>
                <a:latin typeface="Times New Roman" panose="02020603050405020304" pitchFamily="18" charset="0"/>
                <a:cs typeface="Times New Roman" panose="02020603050405020304" pitchFamily="18" charset="0"/>
              </a:rPr>
              <a:t>DatagramPacket</a:t>
            </a:r>
            <a:r>
              <a:rPr lang="en-US" sz="2400" dirty="0">
                <a:solidFill>
                  <a:schemeClr val="tx1"/>
                </a:solidFill>
                <a:latin typeface="Times New Roman" panose="02020603050405020304" pitchFamily="18" charset="0"/>
                <a:cs typeface="Times New Roman" panose="02020603050405020304" pitchFamily="18" charset="0"/>
              </a:rPr>
              <a:t> defines several constructors. Four are shown here:</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buNone/>
            </a:pPr>
            <a:r>
              <a:rPr lang="sv-SE" sz="2400" dirty="0">
                <a:solidFill>
                  <a:srgbClr val="0066FF"/>
                </a:solidFill>
                <a:latin typeface="Times New Roman" panose="02020603050405020304" pitchFamily="18" charset="0"/>
                <a:cs typeface="Times New Roman" panose="02020603050405020304" pitchFamily="18" charset="0"/>
              </a:rPr>
              <a:t>DatagramPacket(byte data [ ], int size)</a:t>
            </a:r>
          </a:p>
          <a:p>
            <a:pPr marL="0" indent="0">
              <a:buNone/>
            </a:pPr>
            <a:r>
              <a:rPr lang="sv-SE" sz="2400" dirty="0">
                <a:solidFill>
                  <a:srgbClr val="0066FF"/>
                </a:solidFill>
                <a:latin typeface="Times New Roman" panose="02020603050405020304" pitchFamily="18" charset="0"/>
                <a:cs typeface="Times New Roman" panose="02020603050405020304" pitchFamily="18" charset="0"/>
              </a:rPr>
              <a:t>DatagramPacket(byte data [ ], int offset, int size)</a:t>
            </a:r>
          </a:p>
          <a:p>
            <a:pPr marL="0" indent="0">
              <a:buNone/>
            </a:pPr>
            <a:r>
              <a:rPr lang="en-US" sz="2400" dirty="0" err="1">
                <a:solidFill>
                  <a:srgbClr val="0066FF"/>
                </a:solidFill>
                <a:latin typeface="Times New Roman" panose="02020603050405020304" pitchFamily="18" charset="0"/>
                <a:cs typeface="Times New Roman" panose="02020603050405020304" pitchFamily="18" charset="0"/>
              </a:rPr>
              <a:t>DatagramPacket</a:t>
            </a:r>
            <a:r>
              <a:rPr lang="en-US" sz="2400" dirty="0">
                <a:solidFill>
                  <a:srgbClr val="0066FF"/>
                </a:solidFill>
                <a:latin typeface="Times New Roman" panose="02020603050405020304" pitchFamily="18" charset="0"/>
                <a:cs typeface="Times New Roman" panose="02020603050405020304" pitchFamily="18" charset="0"/>
              </a:rPr>
              <a:t>(byte data [ ], int size, </a:t>
            </a:r>
            <a:r>
              <a:rPr lang="en-US" sz="2400" dirty="0" err="1">
                <a:solidFill>
                  <a:srgbClr val="0066FF"/>
                </a:solidFill>
                <a:latin typeface="Times New Roman" panose="02020603050405020304" pitchFamily="18" charset="0"/>
                <a:cs typeface="Times New Roman" panose="02020603050405020304" pitchFamily="18" charset="0"/>
              </a:rPr>
              <a:t>InetAddress</a:t>
            </a:r>
            <a:r>
              <a:rPr lang="en-US" sz="2400" dirty="0">
                <a:solidFill>
                  <a:srgbClr val="0066FF"/>
                </a:solidFill>
                <a:latin typeface="Times New Roman" panose="02020603050405020304" pitchFamily="18" charset="0"/>
                <a:cs typeface="Times New Roman" panose="02020603050405020304" pitchFamily="18" charset="0"/>
              </a:rPr>
              <a:t> </a:t>
            </a:r>
            <a:r>
              <a:rPr lang="en-US" sz="2400" dirty="0" err="1">
                <a:solidFill>
                  <a:srgbClr val="0066FF"/>
                </a:solidFill>
                <a:latin typeface="Times New Roman" panose="02020603050405020304" pitchFamily="18" charset="0"/>
                <a:cs typeface="Times New Roman" panose="02020603050405020304" pitchFamily="18" charset="0"/>
              </a:rPr>
              <a:t>ipAddress</a:t>
            </a:r>
            <a:r>
              <a:rPr lang="en-US" sz="2400" dirty="0">
                <a:solidFill>
                  <a:srgbClr val="0066FF"/>
                </a:solidFill>
                <a:latin typeface="Times New Roman" panose="02020603050405020304" pitchFamily="18" charset="0"/>
                <a:cs typeface="Times New Roman" panose="02020603050405020304" pitchFamily="18" charset="0"/>
              </a:rPr>
              <a:t>, int  port)</a:t>
            </a:r>
          </a:p>
          <a:p>
            <a:pPr marL="0" indent="0">
              <a:buNone/>
            </a:pPr>
            <a:r>
              <a:rPr lang="en-US" sz="2400" dirty="0" err="1">
                <a:solidFill>
                  <a:srgbClr val="0066FF"/>
                </a:solidFill>
                <a:latin typeface="Times New Roman" panose="02020603050405020304" pitchFamily="18" charset="0"/>
                <a:cs typeface="Times New Roman" panose="02020603050405020304" pitchFamily="18" charset="0"/>
              </a:rPr>
              <a:t>DatagramPacket</a:t>
            </a:r>
            <a:r>
              <a:rPr lang="en-US" sz="2400" dirty="0">
                <a:solidFill>
                  <a:srgbClr val="0066FF"/>
                </a:solidFill>
                <a:latin typeface="Times New Roman" panose="02020603050405020304" pitchFamily="18" charset="0"/>
                <a:cs typeface="Times New Roman" panose="02020603050405020304" pitchFamily="18" charset="0"/>
              </a:rPr>
              <a:t>(byte data [ ], int offset, int size, </a:t>
            </a:r>
            <a:r>
              <a:rPr lang="en-US" sz="2400" dirty="0" err="1">
                <a:solidFill>
                  <a:srgbClr val="0066FF"/>
                </a:solidFill>
                <a:latin typeface="Times New Roman" panose="02020603050405020304" pitchFamily="18" charset="0"/>
                <a:cs typeface="Times New Roman" panose="02020603050405020304" pitchFamily="18" charset="0"/>
              </a:rPr>
              <a:t>InetAddress</a:t>
            </a:r>
            <a:r>
              <a:rPr lang="en-US" sz="2400" dirty="0">
                <a:solidFill>
                  <a:srgbClr val="0066FF"/>
                </a:solidFill>
                <a:latin typeface="Times New Roman" panose="02020603050405020304" pitchFamily="18" charset="0"/>
                <a:cs typeface="Times New Roman" panose="02020603050405020304" pitchFamily="18" charset="0"/>
              </a:rPr>
              <a:t> </a:t>
            </a:r>
            <a:r>
              <a:rPr lang="en-US" sz="2400" dirty="0" err="1">
                <a:solidFill>
                  <a:srgbClr val="0066FF"/>
                </a:solidFill>
                <a:latin typeface="Times New Roman" panose="02020603050405020304" pitchFamily="18" charset="0"/>
                <a:cs typeface="Times New Roman" panose="02020603050405020304" pitchFamily="18" charset="0"/>
              </a:rPr>
              <a:t>ipAddress</a:t>
            </a:r>
            <a:r>
              <a:rPr lang="en-US" sz="2400" dirty="0">
                <a:solidFill>
                  <a:srgbClr val="0066FF"/>
                </a:solidFill>
                <a:latin typeface="Times New Roman" panose="02020603050405020304" pitchFamily="18" charset="0"/>
                <a:cs typeface="Times New Roman" panose="02020603050405020304" pitchFamily="18" charset="0"/>
              </a:rPr>
              <a:t>, int port)</a:t>
            </a:r>
            <a:endParaRPr lang="en-US" altLang="en-US" sz="2400" dirty="0">
              <a:solidFill>
                <a:srgbClr val="0066FF"/>
              </a:solidFill>
              <a:latin typeface="Times New Roman" panose="02020603050405020304" pitchFamily="18" charset="0"/>
              <a:cs typeface="Times New Roman" panose="02020603050405020304" pitchFamily="18" charset="0"/>
            </a:endParaRP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43</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908635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Datagram </a:t>
            </a:r>
          </a:p>
        </p:txBody>
      </p:sp>
      <p:sp>
        <p:nvSpPr>
          <p:cNvPr id="27651" name="Content Placeholder 2">
            <a:extLst>
              <a:ext uri="{FF2B5EF4-FFF2-40B4-BE49-F238E27FC236}">
                <a16:creationId xmlns:a16="http://schemas.microsoft.com/office/drawing/2014/main" xmlns="" id="{9F525B0E-59DE-439D-B6ED-D0EE32B9DB8D}"/>
              </a:ext>
            </a:extLst>
          </p:cNvPr>
          <p:cNvSpPr>
            <a:spLocks noGrp="1"/>
          </p:cNvSpPr>
          <p:nvPr>
            <p:ph idx="1"/>
          </p:nvPr>
        </p:nvSpPr>
        <p:spPr>
          <a:xfrm>
            <a:off x="152400" y="914400"/>
            <a:ext cx="8763000" cy="5791200"/>
          </a:xfrm>
        </p:spPr>
        <p:txBody>
          <a:bodyPr/>
          <a:lstStyle/>
          <a:p>
            <a:pPr marL="0" indent="0">
              <a:buNone/>
            </a:pPr>
            <a:r>
              <a:rPr lang="en-US" sz="2400" b="1" dirty="0" err="1">
                <a:solidFill>
                  <a:schemeClr val="tx1"/>
                </a:solidFill>
                <a:latin typeface="Times New Roman" panose="02020603050405020304" pitchFamily="18" charset="0"/>
                <a:cs typeface="Times New Roman" panose="02020603050405020304" pitchFamily="18" charset="0"/>
              </a:rPr>
              <a:t>DatagramPacket</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dirty="0" err="1">
                <a:solidFill>
                  <a:schemeClr val="tx1"/>
                </a:solidFill>
                <a:latin typeface="Times New Roman" panose="02020603050405020304" pitchFamily="18" charset="0"/>
                <a:cs typeface="Times New Roman" panose="02020603050405020304" pitchFamily="18" charset="0"/>
              </a:rPr>
              <a:t>DatagramPacket</a:t>
            </a:r>
            <a:r>
              <a:rPr lang="en-US" sz="2400" dirty="0">
                <a:solidFill>
                  <a:schemeClr val="tx1"/>
                </a:solidFill>
                <a:latin typeface="Times New Roman" panose="02020603050405020304" pitchFamily="18" charset="0"/>
                <a:cs typeface="Times New Roman" panose="02020603050405020304" pitchFamily="18" charset="0"/>
              </a:rPr>
              <a:t> defines several methods, including those shown here, that give access to the address and port number of a packet, as well as the raw data and its length.</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44</a:t>
            </a:fld>
            <a:endParaRPr lang="en-US" altLang="en-US" sz="1400">
              <a:solidFill>
                <a:schemeClr val="tx1"/>
              </a:solidFill>
              <a:latin typeface="Times New Roman" panose="02020603050405020304" pitchFamily="18" charset="0"/>
            </a:endParaRPr>
          </a:p>
        </p:txBody>
      </p:sp>
      <p:pic>
        <p:nvPicPr>
          <p:cNvPr id="3" name="Picture 2">
            <a:extLst>
              <a:ext uri="{FF2B5EF4-FFF2-40B4-BE49-F238E27FC236}">
                <a16:creationId xmlns:a16="http://schemas.microsoft.com/office/drawing/2014/main" xmlns="" id="{BEA8B31F-A770-F722-3992-5BB3B3380165}"/>
              </a:ext>
            </a:extLst>
          </p:cNvPr>
          <p:cNvPicPr>
            <a:picLocks noChangeAspect="1"/>
          </p:cNvPicPr>
          <p:nvPr/>
        </p:nvPicPr>
        <p:blipFill>
          <a:blip r:embed="rId3"/>
          <a:stretch>
            <a:fillRect/>
          </a:stretch>
        </p:blipFill>
        <p:spPr>
          <a:xfrm>
            <a:off x="228600" y="2590800"/>
            <a:ext cx="7086600" cy="4312435"/>
          </a:xfrm>
          <a:prstGeom prst="rect">
            <a:avLst/>
          </a:prstGeom>
        </p:spPr>
      </p:pic>
    </p:spTree>
    <p:extLst>
      <p:ext uri="{BB962C8B-B14F-4D97-AF65-F5344CB8AC3E}">
        <p14:creationId xmlns:p14="http://schemas.microsoft.com/office/powerpoint/2010/main" val="12366280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Server Program</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45</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76200" y="1920875"/>
            <a:ext cx="4724400" cy="440120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en-US" altLang="en-US" sz="2000" dirty="0">
                <a:latin typeface="Times New Roman" panose="02020603050405020304" pitchFamily="18" charset="0"/>
                <a:cs typeface="Times New Roman" panose="02020603050405020304" pitchFamily="18" charset="0"/>
              </a:rPr>
              <a:t>// A server that sends messages to the client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import java.net.*;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class </a:t>
            </a:r>
            <a:r>
              <a:rPr lang="en-US" altLang="en-US" sz="2000" dirty="0" err="1">
                <a:solidFill>
                  <a:schemeClr val="tx1"/>
                </a:solidFill>
                <a:latin typeface="Times New Roman" panose="02020603050405020304" pitchFamily="18" charset="0"/>
                <a:cs typeface="Times New Roman" panose="02020603050405020304" pitchFamily="18" charset="0"/>
              </a:rPr>
              <a:t>UDPServerEx</a:t>
            </a: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public static </a:t>
            </a:r>
            <a:r>
              <a:rPr lang="en-US" altLang="en-US" sz="2000" dirty="0" err="1">
                <a:solidFill>
                  <a:schemeClr val="tx1"/>
                </a:solidFill>
                <a:latin typeface="Times New Roman" panose="02020603050405020304" pitchFamily="18" charset="0"/>
                <a:cs typeface="Times New Roman" panose="02020603050405020304" pitchFamily="18" charset="0"/>
              </a:rPr>
              <a:t>DatagramSocket</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mySocket</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public static byte </a:t>
            </a:r>
            <a:r>
              <a:rPr lang="en-US" altLang="en-US" sz="2000" dirty="0" err="1">
                <a:solidFill>
                  <a:schemeClr val="tx1"/>
                </a:solidFill>
                <a:latin typeface="Times New Roman" panose="02020603050405020304" pitchFamily="18" charset="0"/>
                <a:cs typeface="Times New Roman" panose="02020603050405020304" pitchFamily="18" charset="0"/>
              </a:rPr>
              <a:t>myBuffer</a:t>
            </a:r>
            <a:r>
              <a:rPr lang="en-US" altLang="en-US" sz="2000" dirty="0">
                <a:solidFill>
                  <a:schemeClr val="tx1"/>
                </a:solidFill>
                <a:latin typeface="Times New Roman" panose="02020603050405020304" pitchFamily="18" charset="0"/>
                <a:cs typeface="Times New Roman" panose="02020603050405020304" pitchFamily="18" charset="0"/>
              </a:rPr>
              <a:t>[] = new byte[2000];</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public static void </a:t>
            </a:r>
            <a:r>
              <a:rPr lang="en-US" altLang="en-US" sz="2000" dirty="0" err="1">
                <a:solidFill>
                  <a:schemeClr val="tx1"/>
                </a:solidFill>
                <a:latin typeface="Times New Roman" panose="02020603050405020304" pitchFamily="18" charset="0"/>
                <a:cs typeface="Times New Roman" panose="02020603050405020304" pitchFamily="18" charset="0"/>
              </a:rPr>
              <a:t>serverMethod</a:t>
            </a:r>
            <a:r>
              <a:rPr lang="en-US" altLang="en-US" sz="2000" dirty="0">
                <a:solidFill>
                  <a:schemeClr val="tx1"/>
                </a:solidFill>
                <a:latin typeface="Times New Roman" panose="02020603050405020304" pitchFamily="18" charset="0"/>
                <a:cs typeface="Times New Roman" panose="02020603050405020304" pitchFamily="18" charset="0"/>
              </a:rPr>
              <a:t>() throws Exception</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int position = 0;</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while (true)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int </a:t>
            </a:r>
            <a:r>
              <a:rPr lang="en-US" altLang="en-US" sz="2000" dirty="0" err="1">
                <a:solidFill>
                  <a:schemeClr val="tx1"/>
                </a:solidFill>
                <a:latin typeface="Times New Roman" panose="02020603050405020304" pitchFamily="18" charset="0"/>
                <a:cs typeface="Times New Roman" panose="02020603050405020304" pitchFamily="18" charset="0"/>
              </a:rPr>
              <a:t>charData</a:t>
            </a:r>
            <a:r>
              <a:rPr lang="en-US" altLang="en-US" sz="2000" dirty="0">
                <a:solidFill>
                  <a:schemeClr val="tx1"/>
                </a:solidFill>
                <a:latin typeface="Times New Roman" panose="02020603050405020304" pitchFamily="18" charset="0"/>
                <a:cs typeface="Times New Roman" panose="02020603050405020304" pitchFamily="18" charset="0"/>
              </a:rPr>
              <a:t> = </a:t>
            </a:r>
            <a:r>
              <a:rPr lang="en-US" altLang="en-US" sz="2000" dirty="0" err="1">
                <a:solidFill>
                  <a:schemeClr val="tx1"/>
                </a:solidFill>
                <a:latin typeface="Times New Roman" panose="02020603050405020304" pitchFamily="18" charset="0"/>
                <a:cs typeface="Times New Roman" panose="02020603050405020304" pitchFamily="18" charset="0"/>
              </a:rPr>
              <a:t>System.in.read</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switch (</a:t>
            </a:r>
            <a:r>
              <a:rPr lang="en-US" altLang="en-US" sz="2000" dirty="0" err="1">
                <a:solidFill>
                  <a:schemeClr val="tx1"/>
                </a:solidFill>
                <a:latin typeface="Times New Roman" panose="02020603050405020304" pitchFamily="18" charset="0"/>
                <a:cs typeface="Times New Roman" panose="02020603050405020304" pitchFamily="18" charset="0"/>
              </a:rPr>
              <a:t>charData</a:t>
            </a: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853035" y="914400"/>
            <a:ext cx="4076700" cy="59400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case -1:</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System.out.println</a:t>
            </a:r>
            <a:r>
              <a:rPr lang="en-US" altLang="en-US" sz="2000" dirty="0">
                <a:solidFill>
                  <a:schemeClr val="tx1"/>
                </a:solidFill>
                <a:latin typeface="Times New Roman" panose="02020603050405020304" pitchFamily="18" charset="0"/>
                <a:cs typeface="Times New Roman" panose="02020603050405020304" pitchFamily="18" charset="0"/>
              </a:rPr>
              <a:t>("The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execution of the server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has been terminated");</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return;</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case '\r':</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break;</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case '\n':</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mySocket.send</a:t>
            </a:r>
            <a:r>
              <a:rPr lang="en-US" altLang="en-US" sz="2000" dirty="0">
                <a:solidFill>
                  <a:schemeClr val="tx1"/>
                </a:solidFill>
                <a:latin typeface="Times New Roman" panose="02020603050405020304" pitchFamily="18" charset="0"/>
                <a:cs typeface="Times New Roman" panose="02020603050405020304" pitchFamily="18" charset="0"/>
              </a:rPr>
              <a:t>(new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DatagramPacket</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US" sz="2000" dirty="0" err="1">
                <a:solidFill>
                  <a:schemeClr val="tx1"/>
                </a:solidFill>
                <a:latin typeface="Times New Roman" panose="02020603050405020304" pitchFamily="18" charset="0"/>
                <a:cs typeface="Times New Roman" panose="02020603050405020304" pitchFamily="18" charset="0"/>
              </a:rPr>
              <a:t>myBuffer</a:t>
            </a: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position,</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InetAddress.getLocalHost</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777));</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position = 0;</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break;</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default: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myBuffer</a:t>
            </a:r>
            <a:r>
              <a:rPr lang="en-US" altLang="en-US" sz="2000" dirty="0">
                <a:solidFill>
                  <a:schemeClr val="tx1"/>
                </a:solidFill>
                <a:latin typeface="Times New Roman" panose="02020603050405020304" pitchFamily="18" charset="0"/>
                <a:cs typeface="Times New Roman" panose="02020603050405020304" pitchFamily="18" charset="0"/>
              </a:rPr>
              <a:t>[position++] = (byte)</a:t>
            </a:r>
            <a:r>
              <a:rPr lang="en-US" altLang="en-US" sz="2000" dirty="0" err="1">
                <a:solidFill>
                  <a:schemeClr val="tx1"/>
                </a:solidFill>
                <a:latin typeface="Times New Roman" panose="02020603050405020304" pitchFamily="18" charset="0"/>
                <a:cs typeface="Times New Roman" panose="02020603050405020304" pitchFamily="18" charset="0"/>
              </a:rPr>
              <a:t>charData</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         }     } </a:t>
            </a:r>
          </a:p>
        </p:txBody>
      </p:sp>
      <p:sp>
        <p:nvSpPr>
          <p:cNvPr id="2" name="TextBox 1">
            <a:extLst>
              <a:ext uri="{FF2B5EF4-FFF2-40B4-BE49-F238E27FC236}">
                <a16:creationId xmlns:a16="http://schemas.microsoft.com/office/drawing/2014/main" xmlns="" id="{7D539766-BFCA-EE3B-6D80-31A2954F782B}"/>
              </a:ext>
            </a:extLst>
          </p:cNvPr>
          <p:cNvSpPr txBox="1"/>
          <p:nvPr/>
        </p:nvSpPr>
        <p:spPr>
          <a:xfrm>
            <a:off x="228600" y="990600"/>
            <a:ext cx="4572000" cy="707886"/>
          </a:xfrm>
          <a:prstGeom prst="rect">
            <a:avLst/>
          </a:prstGeom>
          <a:noFill/>
        </p:spPr>
        <p:txBody>
          <a:bodyPr wrap="square" rtlCol="0">
            <a:spAutoFit/>
          </a:bodyPr>
          <a:lstStyle/>
          <a:p>
            <a:r>
              <a:rPr lang="en-US" sz="2000" b="1" dirty="0">
                <a:solidFill>
                  <a:srgbClr val="C00000"/>
                </a:solidFill>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rPr>
              <a:t>A server send a message packet to client </a:t>
            </a:r>
          </a:p>
        </p:txBody>
      </p:sp>
    </p:spTree>
    <p:extLst>
      <p:ext uri="{BB962C8B-B14F-4D97-AF65-F5344CB8AC3E}">
        <p14:creationId xmlns:p14="http://schemas.microsoft.com/office/powerpoint/2010/main" val="17998256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Server Program</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46</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76200" y="1920875"/>
            <a:ext cx="6629400" cy="317009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en-US" altLang="en-US" sz="2000" dirty="0">
                <a:latin typeface="Times New Roman" panose="02020603050405020304" pitchFamily="18" charset="0"/>
                <a:cs typeface="Times New Roman" panose="02020603050405020304" pitchFamily="18" charset="0"/>
              </a:rPr>
              <a:t>// A server that sends messages to the client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public static void main(String </a:t>
            </a:r>
            <a:r>
              <a:rPr lang="en-US" altLang="en-US" sz="2000" dirty="0" err="1">
                <a:solidFill>
                  <a:schemeClr val="tx1"/>
                </a:solidFill>
                <a:latin typeface="Times New Roman" panose="02020603050405020304" pitchFamily="18" charset="0"/>
                <a:cs typeface="Times New Roman" panose="02020603050405020304" pitchFamily="18" charset="0"/>
              </a:rPr>
              <a:t>args</a:t>
            </a:r>
            <a:r>
              <a:rPr lang="en-US" altLang="en-US" sz="2000" dirty="0">
                <a:solidFill>
                  <a:schemeClr val="tx1"/>
                </a:solidFill>
                <a:latin typeface="Times New Roman" panose="02020603050405020304" pitchFamily="18" charset="0"/>
                <a:cs typeface="Times New Roman" panose="02020603050405020304" pitchFamily="18" charset="0"/>
              </a:rPr>
              <a:t>[]) throws Exception</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System.out.println</a:t>
            </a:r>
            <a:r>
              <a:rPr lang="en-US" altLang="en-US" sz="2000" dirty="0">
                <a:solidFill>
                  <a:schemeClr val="tx1"/>
                </a:solidFill>
                <a:latin typeface="Times New Roman" panose="02020603050405020304" pitchFamily="18" charset="0"/>
                <a:cs typeface="Times New Roman" panose="02020603050405020304" pitchFamily="18" charset="0"/>
              </a:rPr>
              <a:t>("Please enter some text here");</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mySocket</a:t>
            </a:r>
            <a:r>
              <a:rPr lang="en-US" altLang="en-US" sz="2000" dirty="0">
                <a:solidFill>
                  <a:schemeClr val="tx1"/>
                </a:solidFill>
                <a:latin typeface="Times New Roman" panose="02020603050405020304" pitchFamily="18" charset="0"/>
                <a:cs typeface="Times New Roman" panose="02020603050405020304" pitchFamily="18" charset="0"/>
              </a:rPr>
              <a:t> = new </a:t>
            </a:r>
            <a:r>
              <a:rPr lang="en-US" altLang="en-US" sz="2000" dirty="0" err="1">
                <a:solidFill>
                  <a:schemeClr val="tx1"/>
                </a:solidFill>
                <a:latin typeface="Times New Roman" panose="02020603050405020304" pitchFamily="18" charset="0"/>
                <a:cs typeface="Times New Roman" panose="02020603050405020304" pitchFamily="18" charset="0"/>
              </a:rPr>
              <a:t>DatagramSocket</a:t>
            </a:r>
            <a:r>
              <a:rPr lang="en-US" altLang="en-US" sz="2000" dirty="0">
                <a:solidFill>
                  <a:schemeClr val="tx1"/>
                </a:solidFill>
                <a:latin typeface="Times New Roman" panose="02020603050405020304" pitchFamily="18" charset="0"/>
                <a:cs typeface="Times New Roman" panose="02020603050405020304" pitchFamily="18" charset="0"/>
              </a:rPr>
              <a:t>(888);</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serverMethod</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60716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7AF458E4-5A7D-4686-A418-95162A010C89}"/>
              </a:ext>
            </a:extLst>
          </p:cNvPr>
          <p:cNvSpPr>
            <a:spLocks noGrp="1"/>
          </p:cNvSpPr>
          <p:nvPr>
            <p:ph type="title"/>
          </p:nvPr>
        </p:nvSpPr>
        <p:spPr/>
        <p:txBody>
          <a:bodyPr/>
          <a:lstStyle/>
          <a:p>
            <a:r>
              <a:rPr lang="en-US" altLang="en-US" dirty="0" smtClean="0">
                <a:latin typeface="Times New Roman" panose="02020603050405020304" pitchFamily="18" charset="0"/>
                <a:cs typeface="Times New Roman" panose="02020603050405020304" pitchFamily="18" charset="0"/>
              </a:rPr>
              <a:t>Client </a:t>
            </a:r>
            <a:r>
              <a:rPr lang="en-US" altLang="en-US" dirty="0">
                <a:latin typeface="Times New Roman" panose="02020603050405020304" pitchFamily="18" charset="0"/>
                <a:cs typeface="Times New Roman" panose="02020603050405020304" pitchFamily="18" charset="0"/>
              </a:rPr>
              <a:t>Program</a:t>
            </a:r>
          </a:p>
        </p:txBody>
      </p:sp>
      <p:sp>
        <p:nvSpPr>
          <p:cNvPr id="27652" name="Slide Number Placeholder 3">
            <a:extLst>
              <a:ext uri="{FF2B5EF4-FFF2-40B4-BE49-F238E27FC236}">
                <a16:creationId xmlns:a16="http://schemas.microsoft.com/office/drawing/2014/main" xmlns="" id="{7BAEF965-4A5A-46AA-9CA5-1149A74254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a:lnSpc>
                <a:spcPct val="100000"/>
              </a:lnSpc>
              <a:spcBef>
                <a:spcPct val="0"/>
              </a:spcBef>
              <a:buClrTx/>
              <a:buFontTx/>
              <a:buNone/>
            </a:pPr>
            <a:fld id="{AC55044B-D4B7-4999-854D-DB82976765A7}" type="slidenum">
              <a:rPr lang="en-US" altLang="en-US" sz="1400">
                <a:solidFill>
                  <a:schemeClr val="tx1"/>
                </a:solidFill>
                <a:latin typeface="Times New Roman" panose="02020603050405020304" pitchFamily="18" charset="0"/>
              </a:rPr>
              <a:pPr>
                <a:lnSpc>
                  <a:spcPct val="100000"/>
                </a:lnSpc>
                <a:spcBef>
                  <a:spcPct val="0"/>
                </a:spcBef>
                <a:buClrTx/>
                <a:buFontTx/>
                <a:buNone/>
              </a:pPr>
              <a:t>47</a:t>
            </a:fld>
            <a:endParaRPr lang="en-US" altLang="en-US" sz="1400">
              <a:solidFill>
                <a:schemeClr val="tx1"/>
              </a:solidFill>
              <a:latin typeface="Times New Roman" panose="02020603050405020304" pitchFamily="18" charset="0"/>
            </a:endParaRPr>
          </a:p>
        </p:txBody>
      </p:sp>
      <p:sp>
        <p:nvSpPr>
          <p:cNvPr id="22533" name="Rectangle 4">
            <a:extLst>
              <a:ext uri="{FF2B5EF4-FFF2-40B4-BE49-F238E27FC236}">
                <a16:creationId xmlns:a16="http://schemas.microsoft.com/office/drawing/2014/main" xmlns="" id="{6B205D69-9BA5-4CF9-9B00-BF02E1096F12}"/>
              </a:ext>
            </a:extLst>
          </p:cNvPr>
          <p:cNvSpPr>
            <a:spLocks noChangeArrowheads="1"/>
          </p:cNvSpPr>
          <p:nvPr/>
        </p:nvSpPr>
        <p:spPr bwMode="auto">
          <a:xfrm>
            <a:off x="58093" y="1219200"/>
            <a:ext cx="4724400" cy="570925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UDPClient</a:t>
            </a:r>
            <a:r>
              <a:rPr lang="en-US" altLang="en-US" sz="2000" dirty="0">
                <a:latin typeface="Times New Roman" panose="02020603050405020304" pitchFamily="18" charset="0"/>
                <a:cs typeface="Times New Roman" panose="02020603050405020304" pitchFamily="18" charset="0"/>
              </a:rPr>
              <a:t> that receives messages</a:t>
            </a:r>
          </a:p>
          <a:p>
            <a:pPr eaLnBrk="1" hangingPunct="1">
              <a:lnSpc>
                <a:spcPct val="100000"/>
              </a:lnSpc>
              <a:spcBef>
                <a:spcPct val="0"/>
              </a:spcBef>
              <a:buClrTx/>
              <a:buFontTx/>
              <a:buNone/>
            </a:pPr>
            <a:endParaRPr lang="en-US" altLang="en-US" sz="900" dirty="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import java.net.*;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class </a:t>
            </a:r>
            <a:r>
              <a:rPr lang="en-US" altLang="en-US" sz="2000" dirty="0" err="1">
                <a:solidFill>
                  <a:schemeClr val="tx1"/>
                </a:solidFill>
                <a:latin typeface="Times New Roman" panose="02020603050405020304" pitchFamily="18" charset="0"/>
                <a:cs typeface="Times New Roman" panose="02020603050405020304" pitchFamily="18" charset="0"/>
              </a:rPr>
              <a:t>UDPClient</a:t>
            </a: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11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public static </a:t>
            </a:r>
            <a:r>
              <a:rPr lang="en-US" altLang="en-US" sz="2000" dirty="0" err="1">
                <a:solidFill>
                  <a:schemeClr val="tx1"/>
                </a:solidFill>
                <a:latin typeface="Times New Roman" panose="02020603050405020304" pitchFamily="18" charset="0"/>
                <a:cs typeface="Times New Roman" panose="02020603050405020304" pitchFamily="18" charset="0"/>
              </a:rPr>
              <a:t>DatagramSocket</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mySocket</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public static byte </a:t>
            </a:r>
            <a:r>
              <a:rPr lang="en-US" altLang="en-US" sz="2000" dirty="0" err="1">
                <a:solidFill>
                  <a:schemeClr val="tx1"/>
                </a:solidFill>
                <a:latin typeface="Times New Roman" panose="02020603050405020304" pitchFamily="18" charset="0"/>
                <a:cs typeface="Times New Roman" panose="02020603050405020304" pitchFamily="18" charset="0"/>
              </a:rPr>
              <a:t>myBuffer</a:t>
            </a:r>
            <a:r>
              <a:rPr lang="en-US" altLang="en-US" sz="2000" dirty="0">
                <a:solidFill>
                  <a:schemeClr val="tx1"/>
                </a:solidFill>
                <a:latin typeface="Times New Roman" panose="02020603050405020304" pitchFamily="18" charset="0"/>
                <a:cs typeface="Times New Roman" panose="02020603050405020304" pitchFamily="18" charset="0"/>
              </a:rPr>
              <a:t>[] = new byte[2000];</a:t>
            </a:r>
          </a:p>
          <a:p>
            <a:pPr eaLnBrk="1" hangingPunct="1">
              <a:lnSpc>
                <a:spcPct val="100000"/>
              </a:lnSpc>
              <a:spcBef>
                <a:spcPct val="0"/>
              </a:spcBef>
              <a:buClrTx/>
              <a:buFontTx/>
              <a:buNone/>
            </a:pPr>
            <a:r>
              <a:rPr lang="en-US" altLang="en-US" sz="12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public static void </a:t>
            </a:r>
            <a:r>
              <a:rPr lang="en-US" altLang="en-US" sz="2000" dirty="0" err="1">
                <a:solidFill>
                  <a:schemeClr val="tx1"/>
                </a:solidFill>
                <a:latin typeface="Times New Roman" panose="02020603050405020304" pitchFamily="18" charset="0"/>
                <a:cs typeface="Times New Roman" panose="02020603050405020304" pitchFamily="18" charset="0"/>
              </a:rPr>
              <a:t>clientMethod</a:t>
            </a:r>
            <a:r>
              <a:rPr lang="en-US" altLang="en-US" sz="2000" dirty="0">
                <a:solidFill>
                  <a:schemeClr val="tx1"/>
                </a:solidFill>
                <a:latin typeface="Times New Roman" panose="02020603050405020304" pitchFamily="18" charset="0"/>
                <a:cs typeface="Times New Roman" panose="02020603050405020304" pitchFamily="18" charset="0"/>
              </a:rPr>
              <a:t>() throws Exception</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while (true)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DatagramPacket</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dataPacket</a:t>
            </a:r>
            <a:endParaRPr lang="en-US" altLang="en-US" sz="2000" dirty="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 new </a:t>
            </a:r>
            <a:r>
              <a:rPr lang="en-US" altLang="en-US" sz="2000" dirty="0" err="1">
                <a:solidFill>
                  <a:schemeClr val="tx1"/>
                </a:solidFill>
                <a:latin typeface="Times New Roman" panose="02020603050405020304" pitchFamily="18" charset="0"/>
                <a:cs typeface="Times New Roman" panose="02020603050405020304" pitchFamily="18" charset="0"/>
              </a:rPr>
              <a:t>DatagramPacket</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US" sz="2000" dirty="0" err="1">
                <a:solidFill>
                  <a:schemeClr val="tx1"/>
                </a:solidFill>
                <a:latin typeface="Times New Roman" panose="02020603050405020304" pitchFamily="18" charset="0"/>
                <a:cs typeface="Times New Roman" panose="02020603050405020304" pitchFamily="18" charset="0"/>
              </a:rPr>
              <a:t>myBuffer</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myBuffer.length</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mySocket.receive</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US" sz="2000" dirty="0" err="1">
                <a:solidFill>
                  <a:schemeClr val="tx1"/>
                </a:solidFill>
                <a:latin typeface="Times New Roman" panose="02020603050405020304" pitchFamily="18" charset="0"/>
                <a:cs typeface="Times New Roman" panose="02020603050405020304" pitchFamily="18" charset="0"/>
              </a:rPr>
              <a:t>dataPacket</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System.out.println</a:t>
            </a:r>
            <a:r>
              <a:rPr lang="en-US" altLang="en-US" sz="2000" dirty="0">
                <a:solidFill>
                  <a:schemeClr val="tx1"/>
                </a:solidFill>
                <a:latin typeface="Times New Roman" panose="02020603050405020304" pitchFamily="18" charset="0"/>
                <a:cs typeface="Times New Roman" panose="02020603050405020304" pitchFamily="18" charset="0"/>
              </a:rPr>
              <a:t>("Message Received :");</a:t>
            </a:r>
          </a:p>
        </p:txBody>
      </p:sp>
      <p:sp>
        <p:nvSpPr>
          <p:cNvPr id="22534" name="Rectangle 5">
            <a:extLst>
              <a:ext uri="{FF2B5EF4-FFF2-40B4-BE49-F238E27FC236}">
                <a16:creationId xmlns:a16="http://schemas.microsoft.com/office/drawing/2014/main" xmlns="" id="{E3088C74-DABC-4741-8BA9-DE157F504B17}"/>
              </a:ext>
            </a:extLst>
          </p:cNvPr>
          <p:cNvSpPr>
            <a:spLocks noChangeArrowheads="1"/>
          </p:cNvSpPr>
          <p:nvPr/>
        </p:nvSpPr>
        <p:spPr bwMode="auto">
          <a:xfrm>
            <a:off x="4853034" y="914400"/>
            <a:ext cx="4138565" cy="563231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05000"/>
              </a:lnSpc>
              <a:spcBef>
                <a:spcPct val="30000"/>
              </a:spcBef>
              <a:buClr>
                <a:srgbClr val="CC3300"/>
              </a:buClr>
              <a:buFont typeface="Wingdings" panose="05000000000000000000" pitchFamily="2" charset="2"/>
              <a:buBlip>
                <a:blip r:embed="rId2"/>
              </a:buBlip>
              <a:defRPr sz="2600">
                <a:solidFill>
                  <a:srgbClr val="0000FF"/>
                </a:solidFill>
                <a:latin typeface="Arial" panose="020B0604020202020204" pitchFamily="34" charset="0"/>
              </a:defRPr>
            </a:lvl1pPr>
            <a:lvl2pPr marL="742950" indent="-285750">
              <a:lnSpc>
                <a:spcPct val="105000"/>
              </a:lnSpc>
              <a:spcBef>
                <a:spcPct val="30000"/>
              </a:spcBef>
              <a:buClr>
                <a:srgbClr val="990000"/>
              </a:buClr>
              <a:buFont typeface="Wingdings" panose="05000000000000000000" pitchFamily="2" charset="2"/>
              <a:buChar char="§"/>
              <a:defRPr sz="2300">
                <a:solidFill>
                  <a:schemeClr val="tx1"/>
                </a:solidFill>
                <a:latin typeface="Arial" panose="020B0604020202020204" pitchFamily="34" charset="0"/>
              </a:defRPr>
            </a:lvl2pPr>
            <a:lvl3pPr marL="1143000" indent="-228600">
              <a:lnSpc>
                <a:spcPct val="105000"/>
              </a:lnSpc>
              <a:spcBef>
                <a:spcPct val="30000"/>
              </a:spcBef>
              <a:buClr>
                <a:srgbClr val="FF9900"/>
              </a:buClr>
              <a:buSzPct val="120000"/>
              <a:buChar char="•"/>
              <a:defRPr sz="2100">
                <a:solidFill>
                  <a:schemeClr val="tx1"/>
                </a:solidFill>
                <a:latin typeface="Arial" panose="020B0604020202020204" pitchFamily="34" charset="0"/>
              </a:defRPr>
            </a:lvl3pPr>
            <a:lvl4pPr marL="1600200" indent="-228600">
              <a:lnSpc>
                <a:spcPct val="105000"/>
              </a:lnSpc>
              <a:spcBef>
                <a:spcPct val="30000"/>
              </a:spcBef>
              <a:buChar char="–"/>
              <a:defRPr sz="2100">
                <a:solidFill>
                  <a:schemeClr val="tx1"/>
                </a:solidFill>
                <a:latin typeface="Arial" panose="020B0604020202020204" pitchFamily="34" charset="0"/>
              </a:defRPr>
            </a:lvl4pPr>
            <a:lvl5pPr marL="2057400" indent="-228600">
              <a:lnSpc>
                <a:spcPct val="105000"/>
              </a:lnSpc>
              <a:spcBef>
                <a:spcPct val="30000"/>
              </a:spcBef>
              <a:buChar char="»"/>
              <a:defRPr sz="2000">
                <a:solidFill>
                  <a:schemeClr val="tx1"/>
                </a:solidFill>
                <a:latin typeface="Arial" panose="020B0604020202020204" pitchFamily="34" charset="0"/>
              </a:defRPr>
            </a:lvl5pPr>
            <a:lvl6pPr marL="25146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6pPr>
            <a:lvl7pPr marL="29718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7pPr>
            <a:lvl8pPr marL="34290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8pPr>
            <a:lvl9pPr marL="3886200" indent="-228600" eaLnBrk="0" fontAlgn="base" hangingPunct="0">
              <a:lnSpc>
                <a:spcPct val="105000"/>
              </a:lnSpc>
              <a:spcBef>
                <a:spcPct val="3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System.out.println</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new String(</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dataPacket.getData</a:t>
            </a:r>
            <a:r>
              <a:rPr lang="en-US" altLang="en-US" sz="2000" dirty="0">
                <a:solidFill>
                  <a:schemeClr val="tx1"/>
                </a:solidFill>
                <a:latin typeface="Times New Roman" panose="02020603050405020304" pitchFamily="18" charset="0"/>
                <a:cs typeface="Times New Roman" panose="02020603050405020304" pitchFamily="18" charset="0"/>
              </a:rPr>
              <a:t>(), 0,</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dataPacket.getLength</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public static void main(String </a:t>
            </a:r>
            <a:r>
              <a:rPr lang="en-US" altLang="en-US" sz="2000" dirty="0" err="1">
                <a:solidFill>
                  <a:schemeClr val="tx1"/>
                </a:solidFill>
                <a:latin typeface="Times New Roman" panose="02020603050405020304" pitchFamily="18" charset="0"/>
                <a:cs typeface="Times New Roman" panose="02020603050405020304" pitchFamily="18" charset="0"/>
              </a:rPr>
              <a:t>args</a:t>
            </a:r>
            <a:r>
              <a:rPr lang="en-US" altLang="en-US" sz="2000" dirty="0">
                <a:solidFill>
                  <a:schemeClr val="tx1"/>
                </a:solidFill>
                <a:latin typeface="Times New Roman" panose="02020603050405020304" pitchFamily="18" charset="0"/>
                <a:cs typeface="Times New Roman" panose="02020603050405020304" pitchFamily="18" charset="0"/>
              </a:rPr>
              <a:t>[]) throws Exception</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System.out.println</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"You need to press CTRL+C"</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 " in order to quit.");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1800" dirty="0" err="1">
                <a:solidFill>
                  <a:schemeClr val="tx1"/>
                </a:solidFill>
                <a:latin typeface="Times New Roman" panose="02020603050405020304" pitchFamily="18" charset="0"/>
                <a:cs typeface="Times New Roman" panose="02020603050405020304" pitchFamily="18" charset="0"/>
              </a:rPr>
              <a:t>mySocket</a:t>
            </a:r>
            <a:r>
              <a:rPr lang="en-US" altLang="en-US" sz="1800" dirty="0">
                <a:solidFill>
                  <a:schemeClr val="tx1"/>
                </a:solidFill>
                <a:latin typeface="Times New Roman" panose="02020603050405020304" pitchFamily="18" charset="0"/>
                <a:cs typeface="Times New Roman" panose="02020603050405020304" pitchFamily="18" charset="0"/>
              </a:rPr>
              <a:t> = new </a:t>
            </a:r>
            <a:r>
              <a:rPr lang="en-US" altLang="en-US" sz="1800" dirty="0" err="1">
                <a:solidFill>
                  <a:schemeClr val="tx1"/>
                </a:solidFill>
                <a:latin typeface="Times New Roman" panose="02020603050405020304" pitchFamily="18" charset="0"/>
                <a:cs typeface="Times New Roman" panose="02020603050405020304" pitchFamily="18" charset="0"/>
              </a:rPr>
              <a:t>DatagramSocket</a:t>
            </a:r>
            <a:r>
              <a:rPr lang="en-US" altLang="en-US" sz="1800" dirty="0">
                <a:solidFill>
                  <a:schemeClr val="tx1"/>
                </a:solidFill>
                <a:latin typeface="Times New Roman" panose="02020603050405020304" pitchFamily="18" charset="0"/>
                <a:cs typeface="Times New Roman" panose="02020603050405020304" pitchFamily="18" charset="0"/>
              </a:rPr>
              <a:t>(777);</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clientMethod</a:t>
            </a:r>
            <a:r>
              <a:rPr lang="en-US" altLang="en-US" sz="2000" dirty="0">
                <a:solidFill>
                  <a:schemeClr val="tx1"/>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a:p>
            <a:pPr eaLnBrk="1" hangingPunct="1">
              <a:lnSpc>
                <a:spcPct val="100000"/>
              </a:lnSpc>
              <a:spcBef>
                <a:spcPct val="0"/>
              </a:spcBef>
              <a:buClrTx/>
              <a:buFontTx/>
              <a:buNone/>
            </a:pPr>
            <a:r>
              <a:rPr lang="en-US" altLang="en-US" sz="20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62843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ppt_x"/>
                                          </p:val>
                                        </p:tav>
                                        <p:tav tm="100000">
                                          <p:val>
                                            <p:strVal val="#ppt_x"/>
                                          </p:val>
                                        </p:tav>
                                      </p:tavLst>
                                    </p:anim>
                                    <p:anim calcmode="lin" valueType="num">
                                      <p:cBhvr additive="base">
                                        <p:cTn id="1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0000"/>
        </a:solidFill>
        <a:ln w="9525">
          <a:solidFill>
            <a:schemeClr val="tx1"/>
          </a:solidFill>
          <a:round/>
          <a:headEnd/>
          <a:tailEnd/>
        </a:ln>
      </a:spPr>
      <a:bodyPr wrap="none" anchor="ctr"/>
      <a:lstStyle>
        <a:defPPr>
          <a:buFont typeface="Monotype Sorts" pitchFamily="2" charset="2"/>
          <a:buNone/>
          <a:defRPr b="1">
            <a:solidFill>
              <a:srgbClr val="FF0000"/>
            </a:solidFill>
            <a:latin typeface="Times New Roman" pitchFamily="18" charset="0"/>
            <a:ea typeface="Gulim" pitchFamily="34" charset="-127"/>
            <a:cs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Crayons</Template>
  <TotalTime>62638</TotalTime>
  <Words>3851</Words>
  <Application>Microsoft Office PowerPoint</Application>
  <PresentationFormat>On-screen Show (4:3)</PresentationFormat>
  <Paragraphs>679</Paragraphs>
  <Slides>47</Slides>
  <Notes>2</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Default Design</vt:lpstr>
      <vt:lpstr>Socket Programming</vt:lpstr>
      <vt:lpstr>Outlines of Presentation</vt:lpstr>
      <vt:lpstr>Socket Programming</vt:lpstr>
      <vt:lpstr>Introduction</vt:lpstr>
      <vt:lpstr>Introduction</vt:lpstr>
      <vt:lpstr>Socket Programming</vt:lpstr>
      <vt:lpstr>Socket Programming</vt:lpstr>
      <vt:lpstr>Socket Programming</vt:lpstr>
      <vt:lpstr>Socket Programming</vt:lpstr>
      <vt:lpstr>Socket Programming</vt:lpstr>
      <vt:lpstr>Socket Programming</vt:lpstr>
      <vt:lpstr>Socket Programming</vt:lpstr>
      <vt:lpstr>Socket</vt:lpstr>
      <vt:lpstr>Socket Description</vt:lpstr>
      <vt:lpstr>Types of Socket</vt:lpstr>
      <vt:lpstr>Types of Socket</vt:lpstr>
      <vt:lpstr>Types of Socket</vt:lpstr>
      <vt:lpstr>TCP vs. UDP</vt:lpstr>
      <vt:lpstr>TCP vs. UDP</vt:lpstr>
      <vt:lpstr>Java Sockets</vt:lpstr>
      <vt:lpstr>Client/Server Communication</vt:lpstr>
      <vt:lpstr>Client/Server Communication</vt:lpstr>
      <vt:lpstr>Sockets and Socket-based Communication</vt:lpstr>
      <vt:lpstr>SOCKET PROGRAMMING AND JAVA.NET CLASS</vt:lpstr>
      <vt:lpstr>TCP/IP SOCKET PROGRAMMING</vt:lpstr>
      <vt:lpstr>Steps for Creating a Simple Server Program</vt:lpstr>
      <vt:lpstr>Server Program</vt:lpstr>
      <vt:lpstr>Client Program</vt:lpstr>
      <vt:lpstr>Server and Client Program</vt:lpstr>
      <vt:lpstr>Program Output</vt:lpstr>
      <vt:lpstr>Server Program</vt:lpstr>
      <vt:lpstr>Client Program</vt:lpstr>
      <vt:lpstr>Program Output</vt:lpstr>
      <vt:lpstr>PowerPoint Presentation</vt:lpstr>
      <vt:lpstr>Program Output</vt:lpstr>
      <vt:lpstr>PowerPoint Presentation</vt:lpstr>
      <vt:lpstr>PowerPoint Presentation</vt:lpstr>
      <vt:lpstr>Datagram </vt:lpstr>
      <vt:lpstr>Datagram </vt:lpstr>
      <vt:lpstr>Datagram </vt:lpstr>
      <vt:lpstr>Datagram </vt:lpstr>
      <vt:lpstr>Datagram </vt:lpstr>
      <vt:lpstr>Datagram </vt:lpstr>
      <vt:lpstr>Datagram </vt:lpstr>
      <vt:lpstr>Server Program</vt:lpstr>
      <vt:lpstr>Server Program</vt:lpstr>
      <vt:lpstr>Client Program</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DELL</cp:lastModifiedBy>
  <cp:revision>1999</cp:revision>
  <dcterms:created xsi:type="dcterms:W3CDTF">2006-05-23T11:30:02Z</dcterms:created>
  <dcterms:modified xsi:type="dcterms:W3CDTF">2024-09-29T03:10:14Z</dcterms:modified>
</cp:coreProperties>
</file>