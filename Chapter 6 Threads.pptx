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7" r:id="rId2"/>
    <p:sldId id="258" r:id="rId3"/>
    <p:sldId id="267" r:id="rId4"/>
    <p:sldId id="268" r:id="rId5"/>
    <p:sldId id="269" r:id="rId6"/>
    <p:sldId id="270" r:id="rId7"/>
    <p:sldId id="259" r:id="rId8"/>
    <p:sldId id="271" r:id="rId9"/>
    <p:sldId id="260" r:id="rId10"/>
    <p:sldId id="272" r:id="rId11"/>
    <p:sldId id="273" r:id="rId12"/>
    <p:sldId id="274" r:id="rId13"/>
    <p:sldId id="275" r:id="rId14"/>
    <p:sldId id="276" r:id="rId15"/>
    <p:sldId id="277" r:id="rId16"/>
    <p:sldId id="278" r:id="rId17"/>
    <p:sldId id="279" r:id="rId18"/>
    <p:sldId id="261" r:id="rId19"/>
    <p:sldId id="262" r:id="rId20"/>
    <p:sldId id="280" r:id="rId21"/>
    <p:sldId id="263" r:id="rId22"/>
    <p:sldId id="281" r:id="rId23"/>
    <p:sldId id="264" r:id="rId24"/>
    <p:sldId id="282" r:id="rId25"/>
    <p:sldId id="265" r:id="rId26"/>
    <p:sldId id="289" r:id="rId27"/>
    <p:sldId id="266" r:id="rId28"/>
    <p:sldId id="283" r:id="rId29"/>
    <p:sldId id="290" r:id="rId30"/>
    <p:sldId id="284" r:id="rId31"/>
    <p:sldId id="291" r:id="rId32"/>
    <p:sldId id="285" r:id="rId33"/>
    <p:sldId id="292" r:id="rId34"/>
    <p:sldId id="293" r:id="rId35"/>
    <p:sldId id="295" r:id="rId36"/>
    <p:sldId id="296" r:id="rId37"/>
    <p:sldId id="286" r:id="rId38"/>
    <p:sldId id="297" r:id="rId39"/>
    <p:sldId id="298" r:id="rId40"/>
    <p:sldId id="299" r:id="rId41"/>
    <p:sldId id="300" r:id="rId42"/>
    <p:sldId id="301" r:id="rId43"/>
    <p:sldId id="287" r:id="rId44"/>
    <p:sldId id="302" r:id="rId45"/>
    <p:sldId id="308" r:id="rId46"/>
    <p:sldId id="309" r:id="rId47"/>
    <p:sldId id="310" r:id="rId48"/>
    <p:sldId id="311" r:id="rId49"/>
    <p:sldId id="303" r:id="rId50"/>
    <p:sldId id="312" r:id="rId51"/>
    <p:sldId id="304" r:id="rId52"/>
    <p:sldId id="305" r:id="rId53"/>
    <p:sldId id="306" r:id="rId54"/>
    <p:sldId id="307" r:id="rId55"/>
    <p:sldId id="288"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 initials="W" lastIdx="1" clrIdx="0">
    <p:extLst>
      <p:ext uri="{19B8F6BF-5375-455C-9EA6-DF929625EA0E}">
        <p15:presenceInfo xmlns:p15="http://schemas.microsoft.com/office/powerpoint/2012/main" userId="W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3584" autoAdjust="0"/>
    <p:restoredTop sz="94660"/>
  </p:normalViewPr>
  <p:slideViewPr>
    <p:cSldViewPr snapToGrid="0">
      <p:cViewPr varScale="1">
        <p:scale>
          <a:sx n="108" d="100"/>
          <a:sy n="108" d="100"/>
        </p:scale>
        <p:origin x="1302" y="144"/>
      </p:cViewPr>
      <p:guideLst>
        <p:guide orient="horz" pos="216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8F03B-060A-4569-A79F-455CA74843CE}" type="datetimeFigureOut">
              <a:rPr lang="en-US" smtClean="0"/>
              <a:t>6/6/2024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49B832-4AA8-4BC8-92F7-0FB34D5EEF9D}" type="slidenum">
              <a:rPr lang="en-US" smtClean="0"/>
              <a:t>‹#›</a:t>
            </a:fld>
            <a:endParaRPr lang="en-US"/>
          </a:p>
        </p:txBody>
      </p:sp>
    </p:spTree>
    <p:extLst>
      <p:ext uri="{BB962C8B-B14F-4D97-AF65-F5344CB8AC3E}">
        <p14:creationId xmlns:p14="http://schemas.microsoft.com/office/powerpoint/2010/main" val="4203444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a:t>
            </a:fld>
            <a:endParaRPr lang="en-US"/>
          </a:p>
        </p:txBody>
      </p:sp>
    </p:spTree>
    <p:extLst>
      <p:ext uri="{BB962C8B-B14F-4D97-AF65-F5344CB8AC3E}">
        <p14:creationId xmlns:p14="http://schemas.microsoft.com/office/powerpoint/2010/main" val="1923459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a:t>
            </a:fld>
            <a:endParaRPr lang="en-US"/>
          </a:p>
        </p:txBody>
      </p:sp>
    </p:spTree>
    <p:extLst>
      <p:ext uri="{BB962C8B-B14F-4D97-AF65-F5344CB8AC3E}">
        <p14:creationId xmlns:p14="http://schemas.microsoft.com/office/powerpoint/2010/main" val="883879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a:t>
            </a:fld>
            <a:endParaRPr lang="en-US"/>
          </a:p>
        </p:txBody>
      </p:sp>
    </p:spTree>
    <p:extLst>
      <p:ext uri="{BB962C8B-B14F-4D97-AF65-F5344CB8AC3E}">
        <p14:creationId xmlns:p14="http://schemas.microsoft.com/office/powerpoint/2010/main" val="139695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a:t>
            </a:fld>
            <a:endParaRPr lang="en-US"/>
          </a:p>
        </p:txBody>
      </p:sp>
    </p:spTree>
    <p:extLst>
      <p:ext uri="{BB962C8B-B14F-4D97-AF65-F5344CB8AC3E}">
        <p14:creationId xmlns:p14="http://schemas.microsoft.com/office/powerpoint/2010/main" val="3000632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5</a:t>
            </a:fld>
            <a:endParaRPr lang="en-US"/>
          </a:p>
        </p:txBody>
      </p:sp>
    </p:spTree>
    <p:extLst>
      <p:ext uri="{BB962C8B-B14F-4D97-AF65-F5344CB8AC3E}">
        <p14:creationId xmlns:p14="http://schemas.microsoft.com/office/powerpoint/2010/main" val="3550729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6</a:t>
            </a:fld>
            <a:endParaRPr lang="en-US"/>
          </a:p>
        </p:txBody>
      </p:sp>
    </p:spTree>
    <p:extLst>
      <p:ext uri="{BB962C8B-B14F-4D97-AF65-F5344CB8AC3E}">
        <p14:creationId xmlns:p14="http://schemas.microsoft.com/office/powerpoint/2010/main" val="2688338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7</a:t>
            </a:fld>
            <a:endParaRPr lang="en-US"/>
          </a:p>
        </p:txBody>
      </p:sp>
    </p:spTree>
    <p:extLst>
      <p:ext uri="{BB962C8B-B14F-4D97-AF65-F5344CB8AC3E}">
        <p14:creationId xmlns:p14="http://schemas.microsoft.com/office/powerpoint/2010/main" val="1566973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8</a:t>
            </a:fld>
            <a:endParaRPr lang="en-US"/>
          </a:p>
        </p:txBody>
      </p:sp>
    </p:spTree>
    <p:extLst>
      <p:ext uri="{BB962C8B-B14F-4D97-AF65-F5344CB8AC3E}">
        <p14:creationId xmlns:p14="http://schemas.microsoft.com/office/powerpoint/2010/main" val="364575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9</a:t>
            </a:fld>
            <a:endParaRPr lang="en-US"/>
          </a:p>
        </p:txBody>
      </p:sp>
    </p:spTree>
    <p:extLst>
      <p:ext uri="{BB962C8B-B14F-4D97-AF65-F5344CB8AC3E}">
        <p14:creationId xmlns:p14="http://schemas.microsoft.com/office/powerpoint/2010/main" val="4146241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10</a:t>
            </a:fld>
            <a:endParaRPr lang="en-US"/>
          </a:p>
        </p:txBody>
      </p:sp>
    </p:spTree>
    <p:extLst>
      <p:ext uri="{BB962C8B-B14F-4D97-AF65-F5344CB8AC3E}">
        <p14:creationId xmlns:p14="http://schemas.microsoft.com/office/powerpoint/2010/main" val="187462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11</a:t>
            </a:fld>
            <a:endParaRPr lang="en-US"/>
          </a:p>
        </p:txBody>
      </p:sp>
    </p:spTree>
    <p:extLst>
      <p:ext uri="{BB962C8B-B14F-4D97-AF65-F5344CB8AC3E}">
        <p14:creationId xmlns:p14="http://schemas.microsoft.com/office/powerpoint/2010/main" val="802599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12</a:t>
            </a:fld>
            <a:endParaRPr lang="en-US"/>
          </a:p>
        </p:txBody>
      </p:sp>
    </p:spTree>
    <p:extLst>
      <p:ext uri="{BB962C8B-B14F-4D97-AF65-F5344CB8AC3E}">
        <p14:creationId xmlns:p14="http://schemas.microsoft.com/office/powerpoint/2010/main" val="143901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13</a:t>
            </a:fld>
            <a:endParaRPr lang="en-US"/>
          </a:p>
        </p:txBody>
      </p:sp>
    </p:spTree>
    <p:extLst>
      <p:ext uri="{BB962C8B-B14F-4D97-AF65-F5344CB8AC3E}">
        <p14:creationId xmlns:p14="http://schemas.microsoft.com/office/powerpoint/2010/main" val="832761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14</a:t>
            </a:fld>
            <a:endParaRPr lang="en-US"/>
          </a:p>
        </p:txBody>
      </p:sp>
    </p:spTree>
    <p:extLst>
      <p:ext uri="{BB962C8B-B14F-4D97-AF65-F5344CB8AC3E}">
        <p14:creationId xmlns:p14="http://schemas.microsoft.com/office/powerpoint/2010/main" val="3004573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15</a:t>
            </a:fld>
            <a:endParaRPr lang="en-US"/>
          </a:p>
        </p:txBody>
      </p:sp>
    </p:spTree>
    <p:extLst>
      <p:ext uri="{BB962C8B-B14F-4D97-AF65-F5344CB8AC3E}">
        <p14:creationId xmlns:p14="http://schemas.microsoft.com/office/powerpoint/2010/main" val="3995973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16</a:t>
            </a:fld>
            <a:endParaRPr lang="en-US"/>
          </a:p>
        </p:txBody>
      </p:sp>
    </p:spTree>
    <p:extLst>
      <p:ext uri="{BB962C8B-B14F-4D97-AF65-F5344CB8AC3E}">
        <p14:creationId xmlns:p14="http://schemas.microsoft.com/office/powerpoint/2010/main" val="4137180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17</a:t>
            </a:fld>
            <a:endParaRPr lang="en-US"/>
          </a:p>
        </p:txBody>
      </p:sp>
    </p:spTree>
    <p:extLst>
      <p:ext uri="{BB962C8B-B14F-4D97-AF65-F5344CB8AC3E}">
        <p14:creationId xmlns:p14="http://schemas.microsoft.com/office/powerpoint/2010/main" val="3787844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18</a:t>
            </a:fld>
            <a:endParaRPr lang="en-US"/>
          </a:p>
        </p:txBody>
      </p:sp>
    </p:spTree>
    <p:extLst>
      <p:ext uri="{BB962C8B-B14F-4D97-AF65-F5344CB8AC3E}">
        <p14:creationId xmlns:p14="http://schemas.microsoft.com/office/powerpoint/2010/main" val="2752288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19</a:t>
            </a:fld>
            <a:endParaRPr lang="en-US"/>
          </a:p>
        </p:txBody>
      </p:sp>
    </p:spTree>
    <p:extLst>
      <p:ext uri="{BB962C8B-B14F-4D97-AF65-F5344CB8AC3E}">
        <p14:creationId xmlns:p14="http://schemas.microsoft.com/office/powerpoint/2010/main" val="977670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20</a:t>
            </a:fld>
            <a:endParaRPr lang="en-US"/>
          </a:p>
        </p:txBody>
      </p:sp>
    </p:spTree>
    <p:extLst>
      <p:ext uri="{BB962C8B-B14F-4D97-AF65-F5344CB8AC3E}">
        <p14:creationId xmlns:p14="http://schemas.microsoft.com/office/powerpoint/2010/main" val="486584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21</a:t>
            </a:fld>
            <a:endParaRPr lang="en-US"/>
          </a:p>
        </p:txBody>
      </p:sp>
    </p:spTree>
    <p:extLst>
      <p:ext uri="{BB962C8B-B14F-4D97-AF65-F5344CB8AC3E}">
        <p14:creationId xmlns:p14="http://schemas.microsoft.com/office/powerpoint/2010/main" val="204371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22</a:t>
            </a:fld>
            <a:endParaRPr lang="en-US"/>
          </a:p>
        </p:txBody>
      </p:sp>
    </p:spTree>
    <p:extLst>
      <p:ext uri="{BB962C8B-B14F-4D97-AF65-F5344CB8AC3E}">
        <p14:creationId xmlns:p14="http://schemas.microsoft.com/office/powerpoint/2010/main" val="1177464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23</a:t>
            </a:fld>
            <a:endParaRPr lang="en-US"/>
          </a:p>
        </p:txBody>
      </p:sp>
    </p:spTree>
    <p:extLst>
      <p:ext uri="{BB962C8B-B14F-4D97-AF65-F5344CB8AC3E}">
        <p14:creationId xmlns:p14="http://schemas.microsoft.com/office/powerpoint/2010/main" val="5471028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24</a:t>
            </a:fld>
            <a:endParaRPr lang="en-US"/>
          </a:p>
        </p:txBody>
      </p:sp>
    </p:spTree>
    <p:extLst>
      <p:ext uri="{BB962C8B-B14F-4D97-AF65-F5344CB8AC3E}">
        <p14:creationId xmlns:p14="http://schemas.microsoft.com/office/powerpoint/2010/main" val="27885709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25</a:t>
            </a:fld>
            <a:endParaRPr lang="en-US"/>
          </a:p>
        </p:txBody>
      </p:sp>
    </p:spTree>
    <p:extLst>
      <p:ext uri="{BB962C8B-B14F-4D97-AF65-F5344CB8AC3E}">
        <p14:creationId xmlns:p14="http://schemas.microsoft.com/office/powerpoint/2010/main" val="1596939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26</a:t>
            </a:fld>
            <a:endParaRPr lang="en-US"/>
          </a:p>
        </p:txBody>
      </p:sp>
    </p:spTree>
    <p:extLst>
      <p:ext uri="{BB962C8B-B14F-4D97-AF65-F5344CB8AC3E}">
        <p14:creationId xmlns:p14="http://schemas.microsoft.com/office/powerpoint/2010/main" val="35405838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27</a:t>
            </a:fld>
            <a:endParaRPr lang="en-US"/>
          </a:p>
        </p:txBody>
      </p:sp>
    </p:spTree>
    <p:extLst>
      <p:ext uri="{BB962C8B-B14F-4D97-AF65-F5344CB8AC3E}">
        <p14:creationId xmlns:p14="http://schemas.microsoft.com/office/powerpoint/2010/main" val="3009132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28</a:t>
            </a:fld>
            <a:endParaRPr lang="en-US"/>
          </a:p>
        </p:txBody>
      </p:sp>
    </p:spTree>
    <p:extLst>
      <p:ext uri="{BB962C8B-B14F-4D97-AF65-F5344CB8AC3E}">
        <p14:creationId xmlns:p14="http://schemas.microsoft.com/office/powerpoint/2010/main" val="2210491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29</a:t>
            </a:fld>
            <a:endParaRPr lang="en-US"/>
          </a:p>
        </p:txBody>
      </p:sp>
    </p:spTree>
    <p:extLst>
      <p:ext uri="{BB962C8B-B14F-4D97-AF65-F5344CB8AC3E}">
        <p14:creationId xmlns:p14="http://schemas.microsoft.com/office/powerpoint/2010/main" val="8848431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30</a:t>
            </a:fld>
            <a:endParaRPr lang="en-US"/>
          </a:p>
        </p:txBody>
      </p:sp>
    </p:spTree>
    <p:extLst>
      <p:ext uri="{BB962C8B-B14F-4D97-AF65-F5344CB8AC3E}">
        <p14:creationId xmlns:p14="http://schemas.microsoft.com/office/powerpoint/2010/main" val="24011734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31</a:t>
            </a:fld>
            <a:endParaRPr lang="en-US"/>
          </a:p>
        </p:txBody>
      </p:sp>
    </p:spTree>
    <p:extLst>
      <p:ext uri="{BB962C8B-B14F-4D97-AF65-F5344CB8AC3E}">
        <p14:creationId xmlns:p14="http://schemas.microsoft.com/office/powerpoint/2010/main" val="21155873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32</a:t>
            </a:fld>
            <a:endParaRPr lang="en-US"/>
          </a:p>
        </p:txBody>
      </p:sp>
    </p:spTree>
    <p:extLst>
      <p:ext uri="{BB962C8B-B14F-4D97-AF65-F5344CB8AC3E}">
        <p14:creationId xmlns:p14="http://schemas.microsoft.com/office/powerpoint/2010/main" val="4013546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33</a:t>
            </a:fld>
            <a:endParaRPr lang="en-US"/>
          </a:p>
        </p:txBody>
      </p:sp>
    </p:spTree>
    <p:extLst>
      <p:ext uri="{BB962C8B-B14F-4D97-AF65-F5344CB8AC3E}">
        <p14:creationId xmlns:p14="http://schemas.microsoft.com/office/powerpoint/2010/main" val="2342954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34</a:t>
            </a:fld>
            <a:endParaRPr lang="en-US"/>
          </a:p>
        </p:txBody>
      </p:sp>
    </p:spTree>
    <p:extLst>
      <p:ext uri="{BB962C8B-B14F-4D97-AF65-F5344CB8AC3E}">
        <p14:creationId xmlns:p14="http://schemas.microsoft.com/office/powerpoint/2010/main" val="2832595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35</a:t>
            </a:fld>
            <a:endParaRPr lang="en-US"/>
          </a:p>
        </p:txBody>
      </p:sp>
    </p:spTree>
    <p:extLst>
      <p:ext uri="{BB962C8B-B14F-4D97-AF65-F5344CB8AC3E}">
        <p14:creationId xmlns:p14="http://schemas.microsoft.com/office/powerpoint/2010/main" val="22577987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36</a:t>
            </a:fld>
            <a:endParaRPr lang="en-US"/>
          </a:p>
        </p:txBody>
      </p:sp>
    </p:spTree>
    <p:extLst>
      <p:ext uri="{BB962C8B-B14F-4D97-AF65-F5344CB8AC3E}">
        <p14:creationId xmlns:p14="http://schemas.microsoft.com/office/powerpoint/2010/main" val="23880969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37</a:t>
            </a:fld>
            <a:endParaRPr lang="en-US"/>
          </a:p>
        </p:txBody>
      </p:sp>
    </p:spTree>
    <p:extLst>
      <p:ext uri="{BB962C8B-B14F-4D97-AF65-F5344CB8AC3E}">
        <p14:creationId xmlns:p14="http://schemas.microsoft.com/office/powerpoint/2010/main" val="34486185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38</a:t>
            </a:fld>
            <a:endParaRPr lang="en-US"/>
          </a:p>
        </p:txBody>
      </p:sp>
    </p:spTree>
    <p:extLst>
      <p:ext uri="{BB962C8B-B14F-4D97-AF65-F5344CB8AC3E}">
        <p14:creationId xmlns:p14="http://schemas.microsoft.com/office/powerpoint/2010/main" val="4039899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39</a:t>
            </a:fld>
            <a:endParaRPr lang="en-US"/>
          </a:p>
        </p:txBody>
      </p:sp>
    </p:spTree>
    <p:extLst>
      <p:ext uri="{BB962C8B-B14F-4D97-AF65-F5344CB8AC3E}">
        <p14:creationId xmlns:p14="http://schemas.microsoft.com/office/powerpoint/2010/main" val="28177854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40</a:t>
            </a:fld>
            <a:endParaRPr lang="en-US"/>
          </a:p>
        </p:txBody>
      </p:sp>
    </p:spTree>
    <p:extLst>
      <p:ext uri="{BB962C8B-B14F-4D97-AF65-F5344CB8AC3E}">
        <p14:creationId xmlns:p14="http://schemas.microsoft.com/office/powerpoint/2010/main" val="27618061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41</a:t>
            </a:fld>
            <a:endParaRPr lang="en-US"/>
          </a:p>
        </p:txBody>
      </p:sp>
    </p:spTree>
    <p:extLst>
      <p:ext uri="{BB962C8B-B14F-4D97-AF65-F5344CB8AC3E}">
        <p14:creationId xmlns:p14="http://schemas.microsoft.com/office/powerpoint/2010/main" val="7805529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42</a:t>
            </a:fld>
            <a:endParaRPr lang="en-US"/>
          </a:p>
        </p:txBody>
      </p:sp>
    </p:spTree>
    <p:extLst>
      <p:ext uri="{BB962C8B-B14F-4D97-AF65-F5344CB8AC3E}">
        <p14:creationId xmlns:p14="http://schemas.microsoft.com/office/powerpoint/2010/main" val="19015191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43</a:t>
            </a:fld>
            <a:endParaRPr lang="en-US"/>
          </a:p>
        </p:txBody>
      </p:sp>
    </p:spTree>
    <p:extLst>
      <p:ext uri="{BB962C8B-B14F-4D97-AF65-F5344CB8AC3E}">
        <p14:creationId xmlns:p14="http://schemas.microsoft.com/office/powerpoint/2010/main" val="27845108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44</a:t>
            </a:fld>
            <a:endParaRPr lang="en-US"/>
          </a:p>
        </p:txBody>
      </p:sp>
    </p:spTree>
    <p:extLst>
      <p:ext uri="{BB962C8B-B14F-4D97-AF65-F5344CB8AC3E}">
        <p14:creationId xmlns:p14="http://schemas.microsoft.com/office/powerpoint/2010/main" val="12711921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45</a:t>
            </a:fld>
            <a:endParaRPr lang="en-US"/>
          </a:p>
        </p:txBody>
      </p:sp>
    </p:spTree>
    <p:extLst>
      <p:ext uri="{BB962C8B-B14F-4D97-AF65-F5344CB8AC3E}">
        <p14:creationId xmlns:p14="http://schemas.microsoft.com/office/powerpoint/2010/main" val="126575665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46</a:t>
            </a:fld>
            <a:endParaRPr lang="en-US"/>
          </a:p>
        </p:txBody>
      </p:sp>
    </p:spTree>
    <p:extLst>
      <p:ext uri="{BB962C8B-B14F-4D97-AF65-F5344CB8AC3E}">
        <p14:creationId xmlns:p14="http://schemas.microsoft.com/office/powerpoint/2010/main" val="9141781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47</a:t>
            </a:fld>
            <a:endParaRPr lang="en-US"/>
          </a:p>
        </p:txBody>
      </p:sp>
    </p:spTree>
    <p:extLst>
      <p:ext uri="{BB962C8B-B14F-4D97-AF65-F5344CB8AC3E}">
        <p14:creationId xmlns:p14="http://schemas.microsoft.com/office/powerpoint/2010/main" val="28531535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48</a:t>
            </a:fld>
            <a:endParaRPr lang="en-US"/>
          </a:p>
        </p:txBody>
      </p:sp>
    </p:spTree>
    <p:extLst>
      <p:ext uri="{BB962C8B-B14F-4D97-AF65-F5344CB8AC3E}">
        <p14:creationId xmlns:p14="http://schemas.microsoft.com/office/powerpoint/2010/main" val="29454212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D49B832-4AA8-4BC8-92F7-0FB34D5EEF9D}" type="slidenum">
              <a:rPr lang="en-US" smtClean="0"/>
              <a:t>55</a:t>
            </a:fld>
            <a:endParaRPr lang="en-US"/>
          </a:p>
        </p:txBody>
      </p:sp>
    </p:spTree>
    <p:extLst>
      <p:ext uri="{BB962C8B-B14F-4D97-AF65-F5344CB8AC3E}">
        <p14:creationId xmlns:p14="http://schemas.microsoft.com/office/powerpoint/2010/main" val="1807336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a:prstGeom prst="rect">
            <a:avLst/>
          </a:prstGeo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a:prstGeom prst="rect">
            <a:avLst/>
          </a:prstGeo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4A1227-2710-4146-AA55-7FBFBEFA0D91}" type="datetime1">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B7DBD-EAFA-4393-9BBA-2D358FF94BB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322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07DCE68-5233-42EC-9F41-11490624A115}" type="datetime1">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627816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a:prstGeom prst="rect">
            <a:avLst/>
          </a:prstGeo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a:prstGeom prst="rect">
            <a:avLst/>
          </a:prstGeo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0B7659-D891-4696-81A3-01149FE600B4}" type="datetime1">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B7DBD-EAFA-4393-9BBA-2D358FF94BB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2606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E09F03F0-6EEB-427F-815E-01A4E0FE2F52}" type="datetime1">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461781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a:prstGeom prst="rect">
            <a:avLst/>
          </a:prstGeo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a:prstGeom prst="rect">
            <a:avLst/>
          </a:prstGeo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06ECB2-E872-4A0B-8C3B-98175283D361}" type="datetime1">
              <a:rPr lang="en-US" smtClean="0"/>
              <a:t>6/6/2024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899004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0FD4C29-60CD-41C3-8969-EDCBDA33FEDF}" type="datetime1">
              <a:rPr lang="en-US" smtClean="0"/>
              <a:t>6/6/2024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3831055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F83DBFF-7C67-40FA-8B16-0E42C71EE609}" type="datetime1">
              <a:rPr lang="en-US" smtClean="0"/>
              <a:t>6/6/2024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3239113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a:prstGeom prst="rect">
            <a:avLst/>
          </a:prstGeo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a:prstGeom prst="rect">
            <a:avLst/>
          </a:prstGeo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EA63A758-91C9-4AD2-A948-6DB7ED7ECCE8}" type="datetime1">
              <a:rPr lang="en-US" smtClean="0"/>
              <a:t>6/6/2024</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FEB7DBD-EAFA-4393-9BBA-2D358FF94BB4}" type="slidenum">
              <a:rPr lang="en-US" smtClean="0"/>
              <a:t>‹#›</a:t>
            </a:fld>
            <a:endParaRPr lang="en-US"/>
          </a:p>
        </p:txBody>
      </p:sp>
    </p:spTree>
    <p:extLst>
      <p:ext uri="{BB962C8B-B14F-4D97-AF65-F5344CB8AC3E}">
        <p14:creationId xmlns:p14="http://schemas.microsoft.com/office/powerpoint/2010/main" val="2873774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a:prstGeom prst="rect">
            <a:avLst/>
          </a:prstGeo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prstGeom prst="rect">
            <a:avLst/>
          </a:prstGeo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a:prstGeom prst="rect">
            <a:avLst/>
          </a:prstGeo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05F870-5CBC-4D09-9373-CEFE29D10745}" type="datetime1">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33722997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4"/>
            <a:ext cx="7543800" cy="1450757"/>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22959" y="1845734"/>
            <a:ext cx="7543801" cy="4023360"/>
          </a:xfrm>
          <a:prstGeom prst="rect">
            <a:avLst/>
          </a:prstGeo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AEE11-917B-44A9-AA23-71BB9D264B0F}" type="datetime1">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3949933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a:prstGeom prst="rect">
            <a:avLst/>
          </a:prstGeo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32D417-7726-497B-A525-9974B934DA36}" type="datetime1">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EB7DBD-EAFA-4393-9BBA-2D358FF94BB4}" type="slidenum">
              <a:rPr lang="en-US" smtClean="0"/>
              <a:t>‹#›</a:t>
            </a:fld>
            <a:endParaRPr lang="en-US"/>
          </a:p>
        </p:txBody>
      </p:sp>
    </p:spTree>
    <p:extLst>
      <p:ext uri="{BB962C8B-B14F-4D97-AF65-F5344CB8AC3E}">
        <p14:creationId xmlns:p14="http://schemas.microsoft.com/office/powerpoint/2010/main" val="2586950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rot="5400000">
            <a:off x="-3363468" y="3371636"/>
            <a:ext cx="6824911" cy="8164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B062275D-F86F-41E6-9E3F-5F3979A13155}" type="datetime1">
              <a:rPr lang="en-US" smtClean="0"/>
              <a:t>6/6/2024</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FFEB7DBD-EAFA-4393-9BBA-2D358FF94BB4}" type="slidenum">
              <a:rPr lang="en-US" smtClean="0"/>
              <a:t>‹#›</a:t>
            </a:fld>
            <a:endParaRPr lang="en-US"/>
          </a:p>
        </p:txBody>
      </p:sp>
      <p:sp>
        <p:nvSpPr>
          <p:cNvPr id="11" name="Rectangle 10"/>
          <p:cNvSpPr/>
          <p:nvPr userDrawn="1"/>
        </p:nvSpPr>
        <p:spPr>
          <a:xfrm rot="5400000">
            <a:off x="-1499091" y="5172059"/>
            <a:ext cx="3254396" cy="6492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userDrawn="1"/>
        </p:nvSpPr>
        <p:spPr>
          <a:xfrm rot="5400000">
            <a:off x="-350774" y="6235617"/>
            <a:ext cx="1113663" cy="6492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621634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29245" y="1887739"/>
            <a:ext cx="4916775" cy="1846659"/>
          </a:xfrm>
          <a:prstGeom prst="rect">
            <a:avLst/>
          </a:prstGeom>
          <a:noFill/>
        </p:spPr>
        <p:txBody>
          <a:bodyPr wrap="square" rtlCol="0">
            <a:spAutoFit/>
          </a:bodyPr>
          <a:lstStyle/>
          <a:p>
            <a:r>
              <a:rPr lang="en-US" sz="2800" dirty="0">
                <a:solidFill>
                  <a:srgbClr val="7030A0"/>
                </a:solidFill>
                <a:latin typeface="Times New Roman" panose="02020603050405020304" pitchFamily="18" charset="0"/>
                <a:cs typeface="Times New Roman" panose="02020603050405020304" pitchFamily="18" charset="0"/>
              </a:rPr>
              <a:t>Chapter 6</a:t>
            </a:r>
          </a:p>
          <a:p>
            <a:endParaRPr lang="en-US" sz="3200" b="1" dirty="0">
              <a:solidFill>
                <a:srgbClr val="7030A0"/>
              </a:solidFill>
              <a:latin typeface="Times New Roman" panose="02020603050405020304" pitchFamily="18" charset="0"/>
              <a:cs typeface="Times New Roman" panose="02020603050405020304" pitchFamily="18" charset="0"/>
            </a:endParaRPr>
          </a:p>
          <a:p>
            <a:r>
              <a:rPr lang="en-US" sz="5400" b="1" dirty="0">
                <a:solidFill>
                  <a:srgbClr val="7030A0"/>
                </a:solidFill>
                <a:latin typeface="Times New Roman" panose="02020603050405020304" pitchFamily="18" charset="0"/>
                <a:cs typeface="Times New Roman" panose="02020603050405020304" pitchFamily="18" charset="0"/>
              </a:rPr>
              <a:t>Threads </a:t>
            </a:r>
          </a:p>
        </p:txBody>
      </p:sp>
      <p:sp>
        <p:nvSpPr>
          <p:cNvPr id="8" name="Slide Number Placeholder 7"/>
          <p:cNvSpPr>
            <a:spLocks noGrp="1"/>
          </p:cNvSpPr>
          <p:nvPr>
            <p:ph type="sldNum" sz="quarter" idx="12"/>
          </p:nvPr>
        </p:nvSpPr>
        <p:spPr/>
        <p:txBody>
          <a:bodyPr/>
          <a:lstStyle/>
          <a:p>
            <a:fld id="{FFEB7DBD-EAFA-4393-9BBA-2D358FF94BB4}" type="slidenum">
              <a:rPr lang="en-US" smtClean="0"/>
              <a:t>1</a:t>
            </a:fld>
            <a:endParaRPr lang="en-US"/>
          </a:p>
        </p:txBody>
      </p:sp>
    </p:spTree>
    <p:extLst>
      <p:ext uri="{BB962C8B-B14F-4D97-AF65-F5344CB8AC3E}">
        <p14:creationId xmlns:p14="http://schemas.microsoft.com/office/powerpoint/2010/main" val="4053380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a:t>
            </a:fld>
            <a:endParaRPr lang="en-US"/>
          </a:p>
        </p:txBody>
      </p:sp>
      <p:sp>
        <p:nvSpPr>
          <p:cNvPr id="2" name="Content Placeholder 2">
            <a:extLst>
              <a:ext uri="{FF2B5EF4-FFF2-40B4-BE49-F238E27FC236}">
                <a16:creationId xmlns:a16="http://schemas.microsoft.com/office/drawing/2014/main" id="{1E4670CD-6B9E-3F85-80BA-9393F1E978F5}"/>
              </a:ext>
            </a:extLst>
          </p:cNvPr>
          <p:cNvSpPr txBox="1">
            <a:spLocks/>
          </p:cNvSpPr>
          <p:nvPr/>
        </p:nvSpPr>
        <p:spPr>
          <a:xfrm>
            <a:off x="210659" y="635497"/>
            <a:ext cx="8722681" cy="582428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a:r>
              <a:rPr lang="en-US" altLang="en-US" sz="2600" b="1" dirty="0">
                <a:solidFill>
                  <a:srgbClr val="7030A0"/>
                </a:solidFill>
                <a:latin typeface="Times New Roman" panose="02020603050405020304" pitchFamily="18" charset="0"/>
                <a:cs typeface="Times New Roman" panose="02020603050405020304" pitchFamily="18" charset="0"/>
              </a:rPr>
              <a:t>Definition: </a:t>
            </a:r>
          </a:p>
          <a:p>
            <a:pPr algn="l">
              <a:lnSpc>
                <a:spcPct val="100000"/>
              </a:lnSpc>
              <a:spcBef>
                <a:spcPts val="0"/>
              </a:spcBef>
              <a:spcAft>
                <a:spcPts val="0"/>
              </a:spcAft>
            </a:pPr>
            <a:endParaRPr lang="en-US" sz="2400" b="0" i="0" u="none" strike="noStrike" baseline="0" dirty="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400" b="0" i="0" u="none" strike="noStrike" baseline="0" dirty="0">
                <a:latin typeface="Times New Roman" panose="02020603050405020304" pitchFamily="18" charset="0"/>
                <a:cs typeface="Times New Roman" panose="02020603050405020304" pitchFamily="18" charset="0"/>
              </a:rPr>
              <a:t>A multithreaded program contains two or more parts that can run concurrently. Each part of such a program is called a </a:t>
            </a:r>
            <a:r>
              <a:rPr lang="en-US" sz="2400" b="0" i="1" u="none" strike="noStrike" baseline="0" dirty="0">
                <a:latin typeface="Times New Roman" panose="02020603050405020304" pitchFamily="18" charset="0"/>
                <a:cs typeface="Times New Roman" panose="02020603050405020304" pitchFamily="18" charset="0"/>
              </a:rPr>
              <a:t>thread</a:t>
            </a:r>
            <a:r>
              <a:rPr lang="en-US" sz="2400" b="0" i="0" u="none" strike="noStrike" baseline="0" dirty="0">
                <a:latin typeface="Times New Roman" panose="02020603050405020304" pitchFamily="18" charset="0"/>
                <a:cs typeface="Times New Roman" panose="02020603050405020304" pitchFamily="18" charset="0"/>
              </a:rPr>
              <a:t>, and each thread defines a separate path of execution. Thus, multithreading is a specialized form of multitasking.</a:t>
            </a:r>
          </a:p>
          <a:p>
            <a:pPr algn="l">
              <a:lnSpc>
                <a:spcPct val="100000"/>
              </a:lnSpc>
              <a:spcBef>
                <a:spcPts val="0"/>
              </a:spcBef>
              <a:spcAft>
                <a:spcPts val="0"/>
              </a:spcAft>
            </a:pPr>
            <a:endParaRPr lang="en-US" sz="2400" dirty="0">
              <a:solidFill>
                <a:schemeClr val="tx1"/>
              </a:solidFill>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400" b="0" i="0" u="none" strike="noStrike" baseline="0" dirty="0">
                <a:latin typeface="Times New Roman" panose="02020603050405020304" pitchFamily="18" charset="0"/>
                <a:cs typeface="Times New Roman" panose="02020603050405020304" pitchFamily="18" charset="0"/>
              </a:rPr>
              <a:t>However, there are two distinct types of multitasking: </a:t>
            </a:r>
            <a:r>
              <a:rPr lang="en-US" sz="2400" b="0" i="0" u="none" strike="noStrike" baseline="0" dirty="0">
                <a:solidFill>
                  <a:srgbClr val="7030A0"/>
                </a:solidFill>
                <a:latin typeface="Times New Roman" panose="02020603050405020304" pitchFamily="18" charset="0"/>
                <a:cs typeface="Times New Roman" panose="02020603050405020304" pitchFamily="18" charset="0"/>
              </a:rPr>
              <a:t>process-based and thread-based. </a:t>
            </a:r>
          </a:p>
          <a:p>
            <a:pPr>
              <a:lnSpc>
                <a:spcPct val="100000"/>
              </a:lnSpc>
              <a:spcBef>
                <a:spcPts val="0"/>
              </a:spcBef>
              <a:spcAft>
                <a:spcPts val="0"/>
              </a:spcAft>
            </a:pPr>
            <a:endParaRPr lang="en-US" sz="24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507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a:t>
            </a:fld>
            <a:endParaRPr lang="en-US"/>
          </a:p>
        </p:txBody>
      </p:sp>
      <p:sp>
        <p:nvSpPr>
          <p:cNvPr id="2" name="Content Placeholder 2">
            <a:extLst>
              <a:ext uri="{FF2B5EF4-FFF2-40B4-BE49-F238E27FC236}">
                <a16:creationId xmlns:a16="http://schemas.microsoft.com/office/drawing/2014/main" id="{1E4670CD-6B9E-3F85-80BA-9393F1E978F5}"/>
              </a:ext>
            </a:extLst>
          </p:cNvPr>
          <p:cNvSpPr txBox="1">
            <a:spLocks/>
          </p:cNvSpPr>
          <p:nvPr/>
        </p:nvSpPr>
        <p:spPr>
          <a:xfrm>
            <a:off x="210659" y="516855"/>
            <a:ext cx="8722681" cy="582428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a:r>
              <a:rPr lang="en-US" altLang="en-US" sz="2600" b="1" dirty="0">
                <a:solidFill>
                  <a:srgbClr val="7030A0"/>
                </a:solidFill>
                <a:latin typeface="Times New Roman" panose="02020603050405020304" pitchFamily="18" charset="0"/>
                <a:cs typeface="Times New Roman" panose="02020603050405020304" pitchFamily="18" charset="0"/>
              </a:rPr>
              <a:t>Definition: </a:t>
            </a:r>
          </a:p>
          <a:p>
            <a:pPr algn="l">
              <a:lnSpc>
                <a:spcPct val="100000"/>
              </a:lnSpc>
              <a:spcBef>
                <a:spcPts val="0"/>
              </a:spcBef>
              <a:spcAft>
                <a:spcPts val="0"/>
              </a:spcAft>
            </a:pPr>
            <a:endParaRPr lang="en-US" sz="2400" b="0" i="0" u="none" strike="noStrike" baseline="0" dirty="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400" b="0" i="0" u="none" strike="noStrike" baseline="0" dirty="0">
                <a:latin typeface="Times New Roman" panose="02020603050405020304" pitchFamily="18" charset="0"/>
                <a:cs typeface="Times New Roman" panose="02020603050405020304" pitchFamily="18" charset="0"/>
              </a:rPr>
              <a:t>A </a:t>
            </a:r>
            <a:r>
              <a:rPr lang="en-US" sz="2400" b="0" i="1" u="none" strike="noStrike" baseline="0" dirty="0">
                <a:latin typeface="Times New Roman" panose="02020603050405020304" pitchFamily="18" charset="0"/>
                <a:cs typeface="Times New Roman" panose="02020603050405020304" pitchFamily="18" charset="0"/>
              </a:rPr>
              <a:t>process </a:t>
            </a:r>
            <a:r>
              <a:rPr lang="en-US" sz="2400" b="0" i="0" u="none" strike="noStrike" baseline="0" dirty="0">
                <a:latin typeface="Times New Roman" panose="02020603050405020304" pitchFamily="18" charset="0"/>
                <a:cs typeface="Times New Roman" panose="02020603050405020304" pitchFamily="18" charset="0"/>
              </a:rPr>
              <a:t>is, in essence, a program that is executing. Thus, </a:t>
            </a:r>
            <a:r>
              <a:rPr lang="en-US" sz="2400" b="0" i="1" u="none" strike="noStrike" baseline="0" dirty="0">
                <a:latin typeface="Times New Roman" panose="02020603050405020304" pitchFamily="18" charset="0"/>
                <a:cs typeface="Times New Roman" panose="02020603050405020304" pitchFamily="18" charset="0"/>
              </a:rPr>
              <a:t>process-based </a:t>
            </a:r>
            <a:r>
              <a:rPr lang="en-US" sz="2400" b="0" i="0" u="none" strike="noStrike" baseline="0" dirty="0">
                <a:latin typeface="Times New Roman" panose="02020603050405020304" pitchFamily="18" charset="0"/>
                <a:cs typeface="Times New Roman" panose="02020603050405020304" pitchFamily="18" charset="0"/>
              </a:rPr>
              <a:t>multitasking is the feature that allows computer to run two or more programs concurrently. </a:t>
            </a:r>
          </a:p>
          <a:p>
            <a:pPr algn="l">
              <a:lnSpc>
                <a:spcPct val="100000"/>
              </a:lnSpc>
              <a:spcBef>
                <a:spcPts val="0"/>
              </a:spcBef>
              <a:spcAft>
                <a:spcPts val="0"/>
              </a:spcAft>
            </a:pPr>
            <a:endParaRPr lang="en-US" sz="2400" b="0" i="0" u="none" strike="noStrike" baseline="0" dirty="0">
              <a:latin typeface="Times New Roman" panose="02020603050405020304" pitchFamily="18" charset="0"/>
              <a:cs typeface="Times New Roman" panose="02020603050405020304" pitchFamily="18" charset="0"/>
            </a:endParaRPr>
          </a:p>
          <a:p>
            <a:pPr algn="l">
              <a:lnSpc>
                <a:spcPct val="100000"/>
              </a:lnSpc>
              <a:spcBef>
                <a:spcPts val="0"/>
              </a:spcBef>
              <a:spcAft>
                <a:spcPts val="0"/>
              </a:spcAft>
            </a:pPr>
            <a:r>
              <a:rPr lang="en-US" sz="2400" b="0" i="0" u="none" strike="noStrike" baseline="0" dirty="0">
                <a:latin typeface="Times New Roman" panose="02020603050405020304" pitchFamily="18" charset="0"/>
                <a:cs typeface="Times New Roman" panose="02020603050405020304" pitchFamily="18" charset="0"/>
              </a:rPr>
              <a:t>For example, you are running the Java compiler at the same time that you are using a text editor or visiting a web site. </a:t>
            </a:r>
          </a:p>
          <a:p>
            <a:pPr algn="l">
              <a:lnSpc>
                <a:spcPct val="100000"/>
              </a:lnSpc>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buClr>
                <a:srgbClr val="2D14E2"/>
              </a:buClr>
              <a:buFont typeface="Wingdings" panose="05000000000000000000" pitchFamily="2" charset="2"/>
              <a:buChar char="Ø"/>
            </a:pPr>
            <a:r>
              <a:rPr lang="en-US" sz="2400" b="0" i="0" u="none" strike="noStrike" baseline="0" dirty="0">
                <a:latin typeface="Times New Roman" panose="02020603050405020304" pitchFamily="18" charset="0"/>
                <a:cs typeface="Times New Roman" panose="02020603050405020304" pitchFamily="18" charset="0"/>
              </a:rPr>
              <a:t>In process-based multitasking, a program is the smallest unit of code that can be dispatched by the scheduler.</a:t>
            </a:r>
          </a:p>
          <a:p>
            <a:pPr>
              <a:lnSpc>
                <a:spcPct val="100000"/>
              </a:lnSpc>
              <a:spcBef>
                <a:spcPts val="0"/>
              </a:spcBef>
              <a:spcAft>
                <a:spcPts val="0"/>
              </a:spcAft>
            </a:pPr>
            <a:endParaRPr lang="en-US" sz="24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5378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a:t>
            </a:fld>
            <a:endParaRPr lang="en-US"/>
          </a:p>
        </p:txBody>
      </p:sp>
      <p:sp>
        <p:nvSpPr>
          <p:cNvPr id="2" name="Content Placeholder 2">
            <a:extLst>
              <a:ext uri="{FF2B5EF4-FFF2-40B4-BE49-F238E27FC236}">
                <a16:creationId xmlns:a16="http://schemas.microsoft.com/office/drawing/2014/main" id="{1E4670CD-6B9E-3F85-80BA-9393F1E978F5}"/>
              </a:ext>
            </a:extLst>
          </p:cNvPr>
          <p:cNvSpPr txBox="1">
            <a:spLocks/>
          </p:cNvSpPr>
          <p:nvPr/>
        </p:nvSpPr>
        <p:spPr>
          <a:xfrm>
            <a:off x="210659" y="516855"/>
            <a:ext cx="8722681" cy="582428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a:r>
              <a:rPr lang="en-US" altLang="en-US" sz="2600" b="1" dirty="0">
                <a:solidFill>
                  <a:srgbClr val="7030A0"/>
                </a:solidFill>
                <a:latin typeface="Times New Roman" panose="02020603050405020304" pitchFamily="18" charset="0"/>
                <a:cs typeface="Times New Roman" panose="02020603050405020304" pitchFamily="18" charset="0"/>
              </a:rPr>
              <a:t>Definition: </a:t>
            </a:r>
          </a:p>
          <a:p>
            <a:pPr>
              <a:lnSpc>
                <a:spcPct val="100000"/>
              </a:lnSpc>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2400" dirty="0">
                <a:latin typeface="Times New Roman" panose="02020603050405020304" pitchFamily="18" charset="0"/>
                <a:cs typeface="Times New Roman" panose="02020603050405020304" pitchFamily="18" charset="0"/>
              </a:rPr>
              <a:t>In a </a:t>
            </a:r>
            <a:r>
              <a:rPr lang="en-US" sz="2400" i="1" dirty="0">
                <a:latin typeface="Times New Roman" panose="02020603050405020304" pitchFamily="18" charset="0"/>
                <a:cs typeface="Times New Roman" panose="02020603050405020304" pitchFamily="18" charset="0"/>
              </a:rPr>
              <a:t>thread-based</a:t>
            </a:r>
            <a:r>
              <a:rPr lang="en-US" sz="2400" dirty="0">
                <a:latin typeface="Times New Roman" panose="02020603050405020304" pitchFamily="18" charset="0"/>
                <a:cs typeface="Times New Roman" panose="02020603050405020304" pitchFamily="18" charset="0"/>
              </a:rPr>
              <a:t> multitasking environment, the thread is the smallest unit of dispatchable code. This means that a single program can perform two or more tasks simultaneously. </a:t>
            </a:r>
          </a:p>
          <a:p>
            <a:pPr>
              <a:lnSpc>
                <a:spcPct val="100000"/>
              </a:lnSpc>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2400" dirty="0">
                <a:latin typeface="Times New Roman" panose="02020603050405020304" pitchFamily="18" charset="0"/>
                <a:cs typeface="Times New Roman" panose="02020603050405020304" pitchFamily="18" charset="0"/>
              </a:rPr>
              <a:t>For instance, a text editor can format text at the same time that it is printing, as long as these two actions are being performed by two separate threads. </a:t>
            </a:r>
          </a:p>
          <a:p>
            <a:pPr>
              <a:lnSpc>
                <a:spcPct val="100000"/>
              </a:lnSpc>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buClr>
                <a:srgbClr val="7030A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Thus, process-based multitasking deals with the “big picture,” and thread-based multitasking handles the details.</a:t>
            </a:r>
          </a:p>
          <a:p>
            <a:pPr>
              <a:lnSpc>
                <a:spcPct val="100000"/>
              </a:lnSpc>
              <a:spcBef>
                <a:spcPts val="0"/>
              </a:spcBef>
              <a:spcAft>
                <a:spcPts val="0"/>
              </a:spcAft>
              <a:buClr>
                <a:srgbClr val="7030A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buClr>
                <a:srgbClr val="7030A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Multitasking threads require less overhead than multitasking processes.</a:t>
            </a:r>
          </a:p>
        </p:txBody>
      </p:sp>
    </p:spTree>
    <p:extLst>
      <p:ext uri="{BB962C8B-B14F-4D97-AF65-F5344CB8AC3E}">
        <p14:creationId xmlns:p14="http://schemas.microsoft.com/office/powerpoint/2010/main" val="457893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5</a:t>
            </a:fld>
            <a:endParaRPr lang="en-US"/>
          </a:p>
        </p:txBody>
      </p:sp>
      <p:sp>
        <p:nvSpPr>
          <p:cNvPr id="2" name="Content Placeholder 2">
            <a:extLst>
              <a:ext uri="{FF2B5EF4-FFF2-40B4-BE49-F238E27FC236}">
                <a16:creationId xmlns:a16="http://schemas.microsoft.com/office/drawing/2014/main" id="{1E4670CD-6B9E-3F85-80BA-9393F1E978F5}"/>
              </a:ext>
            </a:extLst>
          </p:cNvPr>
          <p:cNvSpPr txBox="1">
            <a:spLocks/>
          </p:cNvSpPr>
          <p:nvPr/>
        </p:nvSpPr>
        <p:spPr>
          <a:xfrm>
            <a:off x="210659" y="516855"/>
            <a:ext cx="8722681" cy="607037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a:r>
              <a:rPr lang="en-US" altLang="en-US" sz="2600" b="1" dirty="0">
                <a:solidFill>
                  <a:srgbClr val="7030A0"/>
                </a:solidFill>
                <a:latin typeface="Times New Roman" panose="02020603050405020304" pitchFamily="18" charset="0"/>
                <a:cs typeface="Times New Roman" panose="02020603050405020304" pitchFamily="18" charset="0"/>
              </a:rPr>
              <a:t>Definition: </a:t>
            </a:r>
          </a:p>
          <a:p>
            <a:pPr>
              <a:lnSpc>
                <a:spcPct val="100000"/>
              </a:lnSpc>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buClr>
                <a:srgbClr val="7030A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Processes are heavyweight tasks that require their own separate address spaces. </a:t>
            </a:r>
            <a:r>
              <a:rPr lang="en-US" sz="2400" dirty="0" err="1">
                <a:latin typeface="Times New Roman" panose="02020603050405020304" pitchFamily="18" charset="0"/>
                <a:cs typeface="Times New Roman" panose="02020603050405020304" pitchFamily="18" charset="0"/>
              </a:rPr>
              <a:t>Interprocess</a:t>
            </a:r>
            <a:r>
              <a:rPr lang="en-US" sz="2400" dirty="0">
                <a:latin typeface="Times New Roman" panose="02020603050405020304" pitchFamily="18" charset="0"/>
                <a:cs typeface="Times New Roman" panose="02020603050405020304" pitchFamily="18" charset="0"/>
              </a:rPr>
              <a:t> communication is expensive and limited. Context switching from one process to another is also costly. </a:t>
            </a:r>
          </a:p>
          <a:p>
            <a:pPr>
              <a:lnSpc>
                <a:spcPct val="100000"/>
              </a:lnSpc>
              <a:spcBef>
                <a:spcPts val="0"/>
              </a:spcBef>
              <a:spcAft>
                <a:spcPts val="0"/>
              </a:spcAft>
              <a:buClr>
                <a:srgbClr val="7030A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buClr>
                <a:srgbClr val="7030A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Threads, on the other hand, are lighter weight. They share the same address space and cooperatively share the same heavyweight process. </a:t>
            </a:r>
          </a:p>
          <a:p>
            <a:pPr>
              <a:lnSpc>
                <a:spcPct val="100000"/>
              </a:lnSpc>
              <a:spcBef>
                <a:spcPts val="0"/>
              </a:spcBef>
              <a:spcAft>
                <a:spcPts val="0"/>
              </a:spcAft>
              <a:buClr>
                <a:srgbClr val="7030A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Interthread communication is inexpensive, and context switching from one thread to the next is lower in cost.</a:t>
            </a:r>
          </a:p>
          <a:p>
            <a:pPr>
              <a:lnSpc>
                <a:spcPct val="100000"/>
              </a:lnSpc>
              <a:spcBef>
                <a:spcPts val="0"/>
              </a:spcBef>
              <a:spcAft>
                <a:spcPts val="0"/>
              </a:spcAft>
              <a:buClr>
                <a:srgbClr val="7030A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7185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6</a:t>
            </a:fld>
            <a:endParaRPr lang="en-US"/>
          </a:p>
        </p:txBody>
      </p:sp>
      <p:sp>
        <p:nvSpPr>
          <p:cNvPr id="2" name="Content Placeholder 2">
            <a:extLst>
              <a:ext uri="{FF2B5EF4-FFF2-40B4-BE49-F238E27FC236}">
                <a16:creationId xmlns:a16="http://schemas.microsoft.com/office/drawing/2014/main" id="{1E4670CD-6B9E-3F85-80BA-9393F1E978F5}"/>
              </a:ext>
            </a:extLst>
          </p:cNvPr>
          <p:cNvSpPr txBox="1">
            <a:spLocks/>
          </p:cNvSpPr>
          <p:nvPr/>
        </p:nvSpPr>
        <p:spPr>
          <a:xfrm>
            <a:off x="210659" y="516855"/>
            <a:ext cx="8722681" cy="582428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l"/>
            <a:r>
              <a:rPr lang="en-US" altLang="en-US" sz="2600" b="1" dirty="0">
                <a:solidFill>
                  <a:srgbClr val="7030A0"/>
                </a:solidFill>
                <a:latin typeface="Times New Roman" panose="02020603050405020304" pitchFamily="18" charset="0"/>
                <a:cs typeface="Times New Roman" panose="02020603050405020304" pitchFamily="18" charset="0"/>
              </a:rPr>
              <a:t>Definition: </a:t>
            </a:r>
          </a:p>
          <a:p>
            <a:pPr>
              <a:lnSpc>
                <a:spcPct val="100000"/>
              </a:lnSpc>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buClr>
                <a:srgbClr val="7030A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Multithreading enables you to write efficient programs that make maximum use of the processing power available in the system. One important way multithreading achieves this is by keeping idle time to a minimum.</a:t>
            </a:r>
          </a:p>
          <a:p>
            <a:pPr>
              <a:lnSpc>
                <a:spcPct val="100000"/>
              </a:lnSpc>
              <a:spcBef>
                <a:spcPts val="0"/>
              </a:spcBef>
              <a:spcAft>
                <a:spcPts val="0"/>
              </a:spcAft>
            </a:pPr>
            <a:endParaRPr lang="en-US" sz="24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buClr>
                <a:srgbClr val="7030A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For example, the transmission rate of data over a network is much slower than the rate at which the computer can process it.</a:t>
            </a:r>
          </a:p>
        </p:txBody>
      </p:sp>
    </p:spTree>
    <p:extLst>
      <p:ext uri="{BB962C8B-B14F-4D97-AF65-F5344CB8AC3E}">
        <p14:creationId xmlns:p14="http://schemas.microsoft.com/office/powerpoint/2010/main" val="3495335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7</a:t>
            </a:fld>
            <a:endParaRPr lang="en-US"/>
          </a:p>
        </p:txBody>
      </p:sp>
      <p:sp>
        <p:nvSpPr>
          <p:cNvPr id="3" name="TextBox 2">
            <a:extLst>
              <a:ext uri="{FF2B5EF4-FFF2-40B4-BE49-F238E27FC236}">
                <a16:creationId xmlns:a16="http://schemas.microsoft.com/office/drawing/2014/main" id="{D6B60C05-A68D-C053-0339-E30BF698586A}"/>
              </a:ext>
            </a:extLst>
          </p:cNvPr>
          <p:cNvSpPr txBox="1"/>
          <p:nvPr/>
        </p:nvSpPr>
        <p:spPr>
          <a:xfrm>
            <a:off x="332913" y="618179"/>
            <a:ext cx="7355150" cy="5632311"/>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The Java Thread Model</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Single-threaded systems use an approach called an </a:t>
            </a:r>
            <a:r>
              <a:rPr lang="en-US" sz="2400" b="0" i="1" u="none" strike="noStrike" baseline="0" dirty="0">
                <a:latin typeface="Times New Roman" panose="02020603050405020304" pitchFamily="18" charset="0"/>
                <a:cs typeface="Times New Roman" panose="02020603050405020304" pitchFamily="18" charset="0"/>
              </a:rPr>
              <a:t>event loop </a:t>
            </a:r>
            <a:r>
              <a:rPr lang="en-US" sz="2400" b="0" i="0" u="none" strike="noStrike" baseline="0" dirty="0">
                <a:latin typeface="Times New Roman" panose="02020603050405020304" pitchFamily="18" charset="0"/>
                <a:cs typeface="Times New Roman" panose="02020603050405020304" pitchFamily="18" charset="0"/>
              </a:rPr>
              <a:t>with </a:t>
            </a:r>
            <a:r>
              <a:rPr lang="en-US" sz="2400" b="0" i="1" u="none" strike="noStrike" baseline="0" dirty="0">
                <a:latin typeface="Times New Roman" panose="02020603050405020304" pitchFamily="18" charset="0"/>
                <a:cs typeface="Times New Roman" panose="02020603050405020304" pitchFamily="18" charset="0"/>
              </a:rPr>
              <a:t>polling</a:t>
            </a:r>
            <a:r>
              <a:rPr lang="en-US" sz="2400" b="0" i="0" u="none" strike="noStrike" baseline="0" dirty="0">
                <a:latin typeface="Times New Roman" panose="02020603050405020304" pitchFamily="18" charset="0"/>
                <a:cs typeface="Times New Roman" panose="02020603050405020304" pitchFamily="18" charset="0"/>
              </a:rPr>
              <a:t>. </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In this model, a single thread of control runs in an infinite loop, polling a single event queue to decide what to do next. </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Once this polling mechanism returns with, say, a signal that a network file is ready to be read, then the event loop dispatches control to the appropriate event handler. Until this event handler returns, nothing else can happen in the program. </a:t>
            </a:r>
          </a:p>
          <a:p>
            <a:pPr algn="l"/>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18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8</a:t>
            </a:fld>
            <a:endParaRPr lang="en-US"/>
          </a:p>
        </p:txBody>
      </p:sp>
      <p:sp>
        <p:nvSpPr>
          <p:cNvPr id="3" name="TextBox 2">
            <a:extLst>
              <a:ext uri="{FF2B5EF4-FFF2-40B4-BE49-F238E27FC236}">
                <a16:creationId xmlns:a16="http://schemas.microsoft.com/office/drawing/2014/main" id="{D6B60C05-A68D-C053-0339-E30BF698586A}"/>
              </a:ext>
            </a:extLst>
          </p:cNvPr>
          <p:cNvSpPr txBox="1"/>
          <p:nvPr/>
        </p:nvSpPr>
        <p:spPr>
          <a:xfrm>
            <a:off x="332913" y="618179"/>
            <a:ext cx="7355150" cy="3046988"/>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The Java Thread Model</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This wastes CPU time. </a:t>
            </a:r>
          </a:p>
          <a:p>
            <a:pPr algn="l"/>
            <a:endParaRPr lang="en-US" sz="240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In general, in a single-threaded environment, when a thread </a:t>
            </a:r>
            <a:r>
              <a:rPr lang="en-US" sz="2400" b="0" i="1" u="none" strike="noStrike" baseline="0" dirty="0">
                <a:latin typeface="Times New Roman" panose="02020603050405020304" pitchFamily="18" charset="0"/>
                <a:cs typeface="Times New Roman" panose="02020603050405020304" pitchFamily="18" charset="0"/>
              </a:rPr>
              <a:t>blocks </a:t>
            </a:r>
            <a:r>
              <a:rPr lang="en-US" sz="2400" b="0" i="0" u="none" strike="noStrike" baseline="0" dirty="0">
                <a:latin typeface="Times New Roman" panose="02020603050405020304" pitchFamily="18" charset="0"/>
                <a:cs typeface="Times New Roman" panose="02020603050405020304" pitchFamily="18" charset="0"/>
              </a:rPr>
              <a:t>(that is, suspends execution) because it is waiting for some resource, the entire program stops running.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2680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9</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22783"/>
            <a:ext cx="8180774" cy="5262979"/>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The Java Thread Model</a:t>
            </a:r>
          </a:p>
          <a:p>
            <a:pPr algn="l"/>
            <a:r>
              <a:rPr lang="en-US" sz="2400" b="0" i="0" u="none" strike="noStrike" baseline="0" dirty="0">
                <a:latin typeface="Times New Roman" panose="02020603050405020304" pitchFamily="18" charset="0"/>
                <a:cs typeface="Times New Roman" panose="02020603050405020304" pitchFamily="18" charset="0"/>
              </a:rPr>
              <a:t> </a:t>
            </a:r>
          </a:p>
          <a:p>
            <a:pPr algn="l"/>
            <a:r>
              <a:rPr lang="en-US" sz="2400" b="0" i="0" u="none" strike="noStrike" baseline="0" dirty="0">
                <a:latin typeface="Times New Roman" panose="02020603050405020304" pitchFamily="18" charset="0"/>
                <a:cs typeface="Times New Roman" panose="02020603050405020304" pitchFamily="18" charset="0"/>
              </a:rPr>
              <a:t>The Java’s multithreading eliminates the main loop/polling mechanism. </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One thread can pause without stopping other parts of your program. </a:t>
            </a:r>
          </a:p>
          <a:p>
            <a:pPr algn="l"/>
            <a:endParaRPr lang="en-US" sz="240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Threads exist in several states. Here is a general description. A thread can be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running</a:t>
            </a:r>
            <a:r>
              <a:rPr lang="en-US" sz="2400" b="0" i="0" u="none" strike="noStrike" baseline="0" dirty="0">
                <a:latin typeface="Times New Roman" panose="02020603050405020304" pitchFamily="18" charset="0"/>
                <a:cs typeface="Times New Roman" panose="02020603050405020304" pitchFamily="18" charset="0"/>
              </a:rPr>
              <a:t>. It can be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ready to run </a:t>
            </a:r>
            <a:r>
              <a:rPr lang="en-US" sz="2400" b="0" i="0" u="none" strike="noStrike" baseline="0" dirty="0">
                <a:solidFill>
                  <a:srgbClr val="7030A0"/>
                </a:solidFill>
                <a:latin typeface="Times New Roman" panose="02020603050405020304" pitchFamily="18" charset="0"/>
                <a:cs typeface="Times New Roman" panose="02020603050405020304" pitchFamily="18" charset="0"/>
              </a:rPr>
              <a:t>as </a:t>
            </a:r>
            <a:r>
              <a:rPr lang="en-US" sz="2400" b="0" i="0" u="none" strike="noStrike" baseline="0" dirty="0">
                <a:latin typeface="Times New Roman" panose="02020603050405020304" pitchFamily="18" charset="0"/>
                <a:cs typeface="Times New Roman" panose="02020603050405020304" pitchFamily="18" charset="0"/>
              </a:rPr>
              <a:t>soon as it gets CPU time. A running thread can be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suspended</a:t>
            </a:r>
            <a:r>
              <a:rPr lang="en-US" sz="2400" b="0" i="0" u="none" strike="noStrike" baseline="0" dirty="0">
                <a:latin typeface="Times New Roman" panose="02020603050405020304" pitchFamily="18" charset="0"/>
                <a:cs typeface="Times New Roman" panose="02020603050405020304" pitchFamily="18" charset="0"/>
              </a:rPr>
              <a:t>, which temporarily halts its activity. A suspended thread can then be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resumed</a:t>
            </a:r>
            <a:r>
              <a:rPr lang="en-US" sz="2400" b="0" i="0" u="none" strike="noStrike" baseline="0" dirty="0">
                <a:latin typeface="Times New Roman" panose="02020603050405020304" pitchFamily="18" charset="0"/>
                <a:cs typeface="Times New Roman" panose="02020603050405020304" pitchFamily="18" charset="0"/>
              </a:rPr>
              <a:t>, allowing it to pick up where it left off. A thread can be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blocked</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when waiting for a resource.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15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10</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22783"/>
            <a:ext cx="8180774" cy="6247864"/>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Thread Priorities </a:t>
            </a:r>
          </a:p>
          <a:p>
            <a:pPr algn="l"/>
            <a:r>
              <a:rPr lang="en-US" sz="2400" b="0" i="0" u="none" strike="noStrike" baseline="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Thread priorities are integers that specify the relative priority</a:t>
            </a:r>
          </a:p>
          <a:p>
            <a:r>
              <a:rPr lang="en-US" sz="2400" dirty="0">
                <a:latin typeface="Times New Roman" panose="02020603050405020304" pitchFamily="18" charset="0"/>
                <a:cs typeface="Times New Roman" panose="02020603050405020304" pitchFamily="18" charset="0"/>
              </a:rPr>
              <a:t>of one thread to another. As an absolute value, a priority is meaningless; a higher-priority thread doesn’t run any faster than a lower-priority thread. </a:t>
            </a:r>
          </a:p>
          <a:p>
            <a:endParaRPr lang="en-US" sz="16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Instead, a thread’s priority is used to decide when to switch from one running thread to the next. This is called a context switch. The rules that determine when a context switch takes place are simple:</a:t>
            </a:r>
          </a:p>
          <a:p>
            <a:pPr marL="342900" indent="-342900">
              <a:buFont typeface="Arial" panose="020B0604020202020204" pitchFamily="34" charset="0"/>
              <a:buChar char="•"/>
            </a:pPr>
            <a:r>
              <a:rPr lang="en-US" sz="2400" dirty="0">
                <a:solidFill>
                  <a:srgbClr val="0070C0"/>
                </a:solidFill>
                <a:latin typeface="Times New Roman" panose="02020603050405020304" pitchFamily="18" charset="0"/>
                <a:cs typeface="Times New Roman" panose="02020603050405020304" pitchFamily="18" charset="0"/>
              </a:rPr>
              <a:t>A thread can voluntarily relinquish control: </a:t>
            </a:r>
            <a:r>
              <a:rPr lang="en-US" sz="2400" dirty="0">
                <a:latin typeface="Times New Roman" panose="02020603050405020304" pitchFamily="18" charset="0"/>
                <a:cs typeface="Times New Roman" panose="02020603050405020304" pitchFamily="18" charset="0"/>
              </a:rPr>
              <a:t>This is done by explicitly yielding, sleeping, or blocking on pending I/O. </a:t>
            </a:r>
          </a:p>
          <a:p>
            <a:pPr marL="342900" indent="-342900">
              <a:buFont typeface="Arial" panose="020B0604020202020204" pitchFamily="34" charset="0"/>
              <a:buChar char="•"/>
            </a:pPr>
            <a:r>
              <a:rPr lang="en-US" sz="2400" dirty="0">
                <a:solidFill>
                  <a:srgbClr val="0070C0"/>
                </a:solidFill>
                <a:latin typeface="Times New Roman" panose="02020603050405020304" pitchFamily="18" charset="0"/>
                <a:cs typeface="Times New Roman" panose="02020603050405020304" pitchFamily="18" charset="0"/>
              </a:rPr>
              <a:t>A thread can be preempted by a higher-priority thread: </a:t>
            </a:r>
            <a:r>
              <a:rPr lang="en-US" sz="2400" dirty="0">
                <a:latin typeface="Times New Roman" panose="02020603050405020304" pitchFamily="18" charset="0"/>
                <a:cs typeface="Times New Roman" panose="02020603050405020304" pitchFamily="18" charset="0"/>
              </a:rPr>
              <a:t>In this case, a lower-priority thread is simply preempted—no matter what it is doing. As soon as a higher-priority thread wants to run, it does. This is called preemptive multitasking.</a:t>
            </a:r>
          </a:p>
        </p:txBody>
      </p:sp>
    </p:spTree>
    <p:extLst>
      <p:ext uri="{BB962C8B-B14F-4D97-AF65-F5344CB8AC3E}">
        <p14:creationId xmlns:p14="http://schemas.microsoft.com/office/powerpoint/2010/main" val="184828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11</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22783"/>
            <a:ext cx="8180774" cy="5632311"/>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Synchronization  </a:t>
            </a:r>
          </a:p>
          <a:p>
            <a:pPr algn="l"/>
            <a:r>
              <a:rPr lang="en-US" sz="2400" b="0" i="0" u="none" strike="noStrike" baseline="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Multithreading has asynchronous behavior, so there must be a way to enforce synchronicity when you need it.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example, if you want two threads to communicate and share a complicated data structure, such as a linked list, you need some way to ensure that they don’t conflict with each other.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That is, you must prevent one thread from writing data while another thread is in the middle of reading it.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this purpose, Java implements an age-old model of </a:t>
            </a:r>
            <a:r>
              <a:rPr lang="en-US" sz="2400" dirty="0" err="1">
                <a:latin typeface="Times New Roman" panose="02020603050405020304" pitchFamily="18" charset="0"/>
                <a:cs typeface="Times New Roman" panose="02020603050405020304" pitchFamily="18" charset="0"/>
              </a:rPr>
              <a:t>interprocess</a:t>
            </a:r>
            <a:r>
              <a:rPr lang="en-US" sz="2400" dirty="0">
                <a:latin typeface="Times New Roman" panose="02020603050405020304" pitchFamily="18" charset="0"/>
                <a:cs typeface="Times New Roman" panose="02020603050405020304" pitchFamily="18" charset="0"/>
              </a:rPr>
              <a:t> synchronization: the monitor.</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56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12</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22783"/>
            <a:ext cx="8180774" cy="4524315"/>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Synchronization  </a:t>
            </a:r>
          </a:p>
          <a:p>
            <a:pPr algn="l"/>
            <a:r>
              <a:rPr lang="en-US" sz="2400" b="0" i="0" u="none" strike="noStrike" baseline="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You can think of a monitor as a very small box that can hold only one thread. Once a thread enters a monitor, all other threads must wait until that thread exits the monitor.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 Java, there is no class “Monitor”; instead, each object has its own implicit monitor that is automatically entered when one of the object’s synchronized methods is called.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Once a thread is inside a synchronized method, no other thread can call any other synchronized method on the same object. </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7948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13</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31661"/>
            <a:ext cx="8180774" cy="3785652"/>
          </a:xfrm>
          <a:prstGeom prst="rect">
            <a:avLst/>
          </a:prstGeom>
          <a:noFill/>
        </p:spPr>
        <p:txBody>
          <a:bodyPr wrap="square">
            <a:spAutoFit/>
          </a:bodyPr>
          <a:lstStyle/>
          <a:p>
            <a:r>
              <a:rPr lang="en-US" sz="2400" b="1" dirty="0">
                <a:solidFill>
                  <a:srgbClr val="7030A0"/>
                </a:solidFill>
                <a:latin typeface="Times New Roman" panose="02020603050405020304" pitchFamily="18" charset="0"/>
                <a:cs typeface="Times New Roman" panose="02020603050405020304" pitchFamily="18" charset="0"/>
              </a:rPr>
              <a:t>The Thread Class and the Runnable Interface</a:t>
            </a:r>
          </a:p>
          <a:p>
            <a:pPr algn="l"/>
            <a:endParaRPr lang="en-US" sz="2400" b="0" i="0" u="none" strike="noStrike" baseline="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Java’s multithreading system is built upon the Thread class, its methods, and its companion interface, </a:t>
            </a:r>
            <a:r>
              <a:rPr lang="en-US" sz="2400" dirty="0">
                <a:solidFill>
                  <a:srgbClr val="7030A0"/>
                </a:solidFill>
                <a:latin typeface="Times New Roman" panose="02020603050405020304" pitchFamily="18" charset="0"/>
                <a:cs typeface="Times New Roman" panose="02020603050405020304" pitchFamily="18" charset="0"/>
              </a:rPr>
              <a:t>Runnable</a:t>
            </a: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To create a new thread, your program will either extend </a:t>
            </a:r>
            <a:r>
              <a:rPr lang="en-US" sz="2400" dirty="0">
                <a:solidFill>
                  <a:srgbClr val="7030A0"/>
                </a:solidFill>
                <a:latin typeface="Times New Roman" panose="02020603050405020304" pitchFamily="18" charset="0"/>
                <a:cs typeface="Times New Roman" panose="02020603050405020304" pitchFamily="18" charset="0"/>
              </a:rPr>
              <a:t>Thread</a:t>
            </a:r>
            <a:r>
              <a:rPr lang="en-US" sz="2400" dirty="0">
                <a:latin typeface="Times New Roman" panose="02020603050405020304" pitchFamily="18" charset="0"/>
                <a:cs typeface="Times New Roman" panose="02020603050405020304" pitchFamily="18" charset="0"/>
              </a:rPr>
              <a:t> or implement the </a:t>
            </a:r>
            <a:r>
              <a:rPr lang="en-US" sz="2400" dirty="0">
                <a:solidFill>
                  <a:srgbClr val="7030A0"/>
                </a:solidFill>
                <a:latin typeface="Times New Roman" panose="02020603050405020304" pitchFamily="18" charset="0"/>
                <a:cs typeface="Times New Roman" panose="02020603050405020304" pitchFamily="18" charset="0"/>
              </a:rPr>
              <a:t>Runnable</a:t>
            </a:r>
            <a:r>
              <a:rPr lang="en-US" sz="2400" dirty="0">
                <a:latin typeface="Times New Roman" panose="02020603050405020304" pitchFamily="18" charset="0"/>
                <a:cs typeface="Times New Roman" panose="02020603050405020304" pitchFamily="18" charset="0"/>
              </a:rPr>
              <a:t> interface.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Thread class defines several methods that help manage threads. Several of those used in this chapter are shown here:</a:t>
            </a:r>
          </a:p>
        </p:txBody>
      </p:sp>
    </p:spTree>
    <p:extLst>
      <p:ext uri="{BB962C8B-B14F-4D97-AF65-F5344CB8AC3E}">
        <p14:creationId xmlns:p14="http://schemas.microsoft.com/office/powerpoint/2010/main" val="3390112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14</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31661"/>
            <a:ext cx="8180774" cy="1569660"/>
          </a:xfrm>
          <a:prstGeom prst="rect">
            <a:avLst/>
          </a:prstGeom>
          <a:noFill/>
        </p:spPr>
        <p:txBody>
          <a:bodyPr wrap="square">
            <a:spAutoFit/>
          </a:bodyPr>
          <a:lstStyle/>
          <a:p>
            <a:r>
              <a:rPr lang="en-US" sz="2400" b="1" dirty="0">
                <a:solidFill>
                  <a:srgbClr val="7030A0"/>
                </a:solidFill>
                <a:latin typeface="Times New Roman" panose="02020603050405020304" pitchFamily="18" charset="0"/>
                <a:cs typeface="Times New Roman" panose="02020603050405020304" pitchFamily="18" charset="0"/>
              </a:rPr>
              <a:t>The Thread Class and the Runnable Interface</a:t>
            </a:r>
          </a:p>
          <a:p>
            <a:pPr algn="l"/>
            <a:endParaRPr lang="en-US" sz="2400" b="0" i="0" u="none" strike="noStrike" baseline="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Thread class defines several methods that help manage threads. Several of those used in this chapter are shown here:</a:t>
            </a:r>
          </a:p>
        </p:txBody>
      </p:sp>
      <p:pic>
        <p:nvPicPr>
          <p:cNvPr id="4" name="Picture 3">
            <a:extLst>
              <a:ext uri="{FF2B5EF4-FFF2-40B4-BE49-F238E27FC236}">
                <a16:creationId xmlns:a16="http://schemas.microsoft.com/office/drawing/2014/main" id="{93DFACC8-D16C-69F5-394F-67B93AB72B35}"/>
              </a:ext>
            </a:extLst>
          </p:cNvPr>
          <p:cNvPicPr>
            <a:picLocks noChangeAspect="1"/>
          </p:cNvPicPr>
          <p:nvPr/>
        </p:nvPicPr>
        <p:blipFill>
          <a:blip r:embed="rId3"/>
          <a:stretch>
            <a:fillRect/>
          </a:stretch>
        </p:blipFill>
        <p:spPr>
          <a:xfrm>
            <a:off x="51608" y="2460904"/>
            <a:ext cx="9074636" cy="3709078"/>
          </a:xfrm>
          <a:prstGeom prst="rect">
            <a:avLst/>
          </a:prstGeom>
        </p:spPr>
      </p:pic>
    </p:spTree>
    <p:extLst>
      <p:ext uri="{BB962C8B-B14F-4D97-AF65-F5344CB8AC3E}">
        <p14:creationId xmlns:p14="http://schemas.microsoft.com/office/powerpoint/2010/main" val="3107724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15</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31661"/>
            <a:ext cx="8180774" cy="5632311"/>
          </a:xfrm>
          <a:prstGeom prst="rect">
            <a:avLst/>
          </a:prstGeom>
          <a:noFill/>
        </p:spPr>
        <p:txBody>
          <a:bodyPr wrap="square">
            <a:spAutoFit/>
          </a:bodyPr>
          <a:lstStyle/>
          <a:p>
            <a:r>
              <a:rPr lang="en-US" sz="2400" b="1" dirty="0">
                <a:solidFill>
                  <a:srgbClr val="7030A0"/>
                </a:solidFill>
                <a:latin typeface="Times New Roman" panose="02020603050405020304" pitchFamily="18" charset="0"/>
                <a:cs typeface="Times New Roman" panose="02020603050405020304" pitchFamily="18" charset="0"/>
              </a:rPr>
              <a:t>The Main Thread</a:t>
            </a:r>
            <a:endParaRPr lang="en-US" sz="2400" b="0" i="0" u="none" strike="noStrike" baseline="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When a Java program starts up, one thread begins running immediately. This is usually called the main thread. The main thread is important for two reasons: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It is the thread from which other “child” threads will be spawned.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Often, it must be the last thread to finish execution because it performs various shutdown actions.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main thread can be controlled through a method, </a:t>
            </a:r>
            <a:r>
              <a:rPr lang="en-US" sz="2400" dirty="0" err="1">
                <a:latin typeface="Times New Roman" panose="02020603050405020304" pitchFamily="18" charset="0"/>
                <a:cs typeface="Times New Roman" panose="02020603050405020304" pitchFamily="18" charset="0"/>
              </a:rPr>
              <a:t>currentThread</a:t>
            </a:r>
            <a:r>
              <a:rPr lang="en-US" sz="2400" dirty="0">
                <a:latin typeface="Times New Roman" panose="02020603050405020304" pitchFamily="18" charset="0"/>
                <a:cs typeface="Times New Roman" panose="02020603050405020304" pitchFamily="18" charset="0"/>
              </a:rPr>
              <a:t>( ), which is a public static member of Thread. Its general form is shown here:</a:t>
            </a:r>
          </a:p>
          <a:p>
            <a:r>
              <a:rPr lang="en-US" sz="2400" dirty="0">
                <a:latin typeface="Times New Roman" panose="02020603050405020304" pitchFamily="18" charset="0"/>
                <a:cs typeface="Times New Roman" panose="02020603050405020304" pitchFamily="18" charset="0"/>
              </a:rPr>
              <a:t>static Thread </a:t>
            </a:r>
            <a:r>
              <a:rPr lang="en-US" sz="2400" dirty="0" err="1">
                <a:latin typeface="Times New Roman" panose="02020603050405020304" pitchFamily="18" charset="0"/>
                <a:cs typeface="Times New Roman" panose="02020603050405020304" pitchFamily="18" charset="0"/>
              </a:rPr>
              <a:t>currentThread</a:t>
            </a: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5066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16</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31661"/>
            <a:ext cx="5224510" cy="6101670"/>
          </a:xfrm>
          <a:prstGeom prst="rect">
            <a:avLst/>
          </a:prstGeom>
          <a:noFill/>
        </p:spPr>
        <p:txBody>
          <a:bodyPr wrap="square">
            <a:spAutoFit/>
          </a:bodyPr>
          <a:lstStyle/>
          <a:p>
            <a:r>
              <a:rPr lang="en-US" sz="2400" b="1" dirty="0">
                <a:solidFill>
                  <a:srgbClr val="7030A0"/>
                </a:solidFill>
                <a:latin typeface="Times New Roman" panose="02020603050405020304" pitchFamily="18" charset="0"/>
                <a:cs typeface="Times New Roman" panose="02020603050405020304" pitchFamily="18" charset="0"/>
              </a:rPr>
              <a:t>The Main Thread</a:t>
            </a:r>
            <a:endParaRPr lang="en-US" sz="2400" b="0" i="0" u="none" strike="noStrike" baseline="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2400" dirty="0">
                <a:solidFill>
                  <a:srgbClr val="7030A0"/>
                </a:solidFill>
                <a:latin typeface="Times New Roman" panose="02020603050405020304" pitchFamily="18" charset="0"/>
                <a:cs typeface="Times New Roman" panose="02020603050405020304" pitchFamily="18" charset="0"/>
              </a:rPr>
              <a:t>Example:</a:t>
            </a:r>
          </a:p>
          <a:p>
            <a:endParaRPr lang="en-US" sz="105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Controlling the main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CurrentThreadDemo</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public static void main(String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args</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Thread t =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Thread.currentThread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("Current thread: " + 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change the name of the thread</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t.setName</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("My Thread");</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("After name change: " + 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try {</a:t>
            </a:r>
          </a:p>
          <a:p>
            <a:pPr algn="l"/>
            <a:r>
              <a:rPr lang="pt-BR" sz="2000" b="0" i="0" u="none" strike="noStrike" baseline="0" dirty="0">
                <a:solidFill>
                  <a:srgbClr val="0070C0"/>
                </a:solidFill>
                <a:latin typeface="Times New Roman" panose="02020603050405020304" pitchFamily="18" charset="0"/>
                <a:cs typeface="Times New Roman" panose="02020603050405020304" pitchFamily="18" charset="0"/>
              </a:rPr>
              <a:t>for(int n = 5; n &gt; 0; n--)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(n);</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Thread.sleep</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(1000);</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catch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e)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("Main thread interrupted");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  }</a:t>
            </a:r>
            <a:endParaRPr lang="en-US" sz="2000" dirty="0">
              <a:solidFill>
                <a:srgbClr val="0070C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185BFAF-4DFE-B723-5D05-E76BF74B25E6}"/>
              </a:ext>
            </a:extLst>
          </p:cNvPr>
          <p:cNvSpPr txBox="1"/>
          <p:nvPr/>
        </p:nvSpPr>
        <p:spPr>
          <a:xfrm>
            <a:off x="5495279" y="3429000"/>
            <a:ext cx="3648722" cy="3139321"/>
          </a:xfrm>
          <a:prstGeom prst="rect">
            <a:avLst/>
          </a:prstGeom>
          <a:noFill/>
        </p:spPr>
        <p:txBody>
          <a:bodyPr wrap="square">
            <a:spAutoFit/>
          </a:bodyPr>
          <a:lstStyle/>
          <a:p>
            <a:pPr algn="l"/>
            <a:r>
              <a:rPr lang="en-US" sz="2400" b="1" dirty="0">
                <a:latin typeface="Times New Roman" panose="02020603050405020304" pitchFamily="18" charset="0"/>
                <a:cs typeface="Times New Roman" panose="02020603050405020304" pitchFamily="18" charset="0"/>
              </a:rPr>
              <a:t>Output</a:t>
            </a:r>
          </a:p>
          <a:p>
            <a:pPr algn="l"/>
            <a:endParaRPr lang="en-US" sz="2000" dirty="0">
              <a:latin typeface="Times New Roman" panose="02020603050405020304" pitchFamily="18" charset="0"/>
              <a:cs typeface="Times New Roman" panose="02020603050405020304" pitchFamily="18" charset="0"/>
            </a:endParaRPr>
          </a:p>
          <a:p>
            <a:pPr algn="l"/>
            <a:r>
              <a:rPr lang="en-US" b="0" i="0" u="none" strike="noStrike" baseline="0" dirty="0">
                <a:solidFill>
                  <a:srgbClr val="0070C0"/>
                </a:solidFill>
                <a:latin typeface="Times New Roman" panose="02020603050405020304" pitchFamily="18" charset="0"/>
                <a:cs typeface="Times New Roman" panose="02020603050405020304" pitchFamily="18" charset="0"/>
              </a:rPr>
              <a:t>Current thread: Thread[main,5,main]</a:t>
            </a:r>
          </a:p>
          <a:p>
            <a:pPr algn="l"/>
            <a:r>
              <a:rPr lang="en-US" b="0" i="0" u="none" strike="noStrike" baseline="0" dirty="0">
                <a:solidFill>
                  <a:srgbClr val="0070C0"/>
                </a:solidFill>
                <a:latin typeface="Times New Roman" panose="02020603050405020304" pitchFamily="18" charset="0"/>
                <a:cs typeface="Times New Roman" panose="02020603050405020304" pitchFamily="18" charset="0"/>
              </a:rPr>
              <a:t>After name change: Thread[My Thread,5,main]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5</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4</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3</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2</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1</a:t>
            </a:r>
            <a:endParaRPr lang="en-US"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1967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17</a:t>
            </a:fld>
            <a:endParaRPr lang="en-US"/>
          </a:p>
        </p:txBody>
      </p:sp>
      <p:sp>
        <p:nvSpPr>
          <p:cNvPr id="3" name="TextBox 2">
            <a:extLst>
              <a:ext uri="{FF2B5EF4-FFF2-40B4-BE49-F238E27FC236}">
                <a16:creationId xmlns:a16="http://schemas.microsoft.com/office/drawing/2014/main" id="{6666E202-0093-882E-75A4-F9EB4B8FD593}"/>
              </a:ext>
            </a:extLst>
          </p:cNvPr>
          <p:cNvSpPr txBox="1"/>
          <p:nvPr/>
        </p:nvSpPr>
        <p:spPr>
          <a:xfrm>
            <a:off x="350667" y="531661"/>
            <a:ext cx="8180774" cy="6001643"/>
          </a:xfrm>
          <a:prstGeom prst="rect">
            <a:avLst/>
          </a:prstGeom>
          <a:noFill/>
        </p:spPr>
        <p:txBody>
          <a:bodyPr wrap="square">
            <a:spAutoFit/>
          </a:bodyPr>
          <a:lstStyle/>
          <a:p>
            <a:r>
              <a:rPr lang="en-US" sz="2400" b="1" dirty="0">
                <a:solidFill>
                  <a:srgbClr val="7030A0"/>
                </a:solidFill>
                <a:latin typeface="Times New Roman" panose="02020603050405020304" pitchFamily="18" charset="0"/>
                <a:cs typeface="Times New Roman" panose="02020603050405020304" pitchFamily="18" charset="0"/>
              </a:rPr>
              <a:t>The Main Thread</a:t>
            </a:r>
            <a:endParaRPr lang="en-US" sz="2400" b="0" i="0" u="none" strike="noStrike" baseline="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2400" dirty="0">
                <a:solidFill>
                  <a:srgbClr val="7030A0"/>
                </a:solidFill>
                <a:latin typeface="Times New Roman" panose="02020603050405020304" pitchFamily="18" charset="0"/>
                <a:cs typeface="Times New Roman" panose="02020603050405020304" pitchFamily="18" charset="0"/>
              </a:rPr>
              <a:t>Example:</a:t>
            </a:r>
          </a:p>
          <a:p>
            <a:endParaRPr lang="en-US" sz="2400" dirty="0">
              <a:solidFill>
                <a:srgbClr val="7030A0"/>
              </a:solidFill>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By default, the name of the main thread is </a:t>
            </a:r>
            <a:r>
              <a:rPr lang="en-US" sz="2400" b="1" i="0" u="none" strike="noStrike" baseline="0" dirty="0">
                <a:latin typeface="Times New Roman" panose="02020603050405020304" pitchFamily="18" charset="0"/>
                <a:cs typeface="Times New Roman" panose="02020603050405020304" pitchFamily="18" charset="0"/>
              </a:rPr>
              <a:t>main</a:t>
            </a:r>
            <a:r>
              <a:rPr lang="en-US" sz="2400" b="0" i="0" u="none" strike="noStrike" baseline="0" dirty="0">
                <a:latin typeface="Times New Roman" panose="02020603050405020304" pitchFamily="18" charset="0"/>
                <a:cs typeface="Times New Roman" panose="02020603050405020304" pitchFamily="18" charset="0"/>
              </a:rPr>
              <a:t>. Its priority is 5, which is the default value, and </a:t>
            </a:r>
            <a:r>
              <a:rPr lang="en-US" sz="2400" b="1" i="0" u="none" strike="noStrike" baseline="0" dirty="0">
                <a:latin typeface="Times New Roman" panose="02020603050405020304" pitchFamily="18" charset="0"/>
                <a:cs typeface="Times New Roman" panose="02020603050405020304" pitchFamily="18" charset="0"/>
              </a:rPr>
              <a:t>main </a:t>
            </a:r>
            <a:r>
              <a:rPr lang="en-US" sz="2400" b="0" i="0" u="none" strike="noStrike" baseline="0" dirty="0">
                <a:latin typeface="Times New Roman" panose="02020603050405020304" pitchFamily="18" charset="0"/>
                <a:cs typeface="Times New Roman" panose="02020603050405020304" pitchFamily="18" charset="0"/>
              </a:rPr>
              <a:t>is also the name of the group of threads to which this thread belongs. A </a:t>
            </a:r>
            <a:r>
              <a:rPr lang="en-US" sz="2400" b="0" i="1" u="none" strike="noStrike" baseline="0" dirty="0">
                <a:latin typeface="Times New Roman" panose="02020603050405020304" pitchFamily="18" charset="0"/>
                <a:cs typeface="Times New Roman" panose="02020603050405020304" pitchFamily="18" charset="0"/>
              </a:rPr>
              <a:t>thread group </a:t>
            </a:r>
            <a:r>
              <a:rPr lang="en-US" sz="2400" b="0" i="0" u="none" strike="noStrike" baseline="0" dirty="0">
                <a:latin typeface="Times New Roman" panose="02020603050405020304" pitchFamily="18" charset="0"/>
                <a:cs typeface="Times New Roman" panose="02020603050405020304" pitchFamily="18" charset="0"/>
              </a:rPr>
              <a:t>is a data structure that controls the state of a collection of threads as a whole.</a:t>
            </a:r>
            <a:endParaRPr lang="en-US" sz="2400" b="0" i="0" u="none" strike="noStrike" baseline="0" dirty="0">
              <a:solidFill>
                <a:srgbClr val="7030A0"/>
              </a:solidFill>
              <a:latin typeface="Times New Roman" panose="02020603050405020304" pitchFamily="18" charset="0"/>
              <a:cs typeface="Times New Roman" panose="02020603050405020304" pitchFamily="18" charset="0"/>
            </a:endParaRPr>
          </a:p>
          <a:p>
            <a:pPr algn="l"/>
            <a:endParaRPr lang="en-US" sz="1200" dirty="0">
              <a:solidFill>
                <a:srgbClr val="7030A0"/>
              </a:solidFill>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Its general form of </a:t>
            </a:r>
            <a:r>
              <a:rPr lang="en-US" sz="2400" b="1" i="0" u="none" strike="noStrike" baseline="0" dirty="0">
                <a:latin typeface="Times New Roman" panose="02020603050405020304" pitchFamily="18" charset="0"/>
                <a:cs typeface="Times New Roman" panose="02020603050405020304" pitchFamily="18" charset="0"/>
              </a:rPr>
              <a:t>sleep( ) </a:t>
            </a:r>
            <a:r>
              <a:rPr lang="en-US" sz="2400" b="0" i="0" u="none" strike="noStrike" baseline="0" dirty="0">
                <a:latin typeface="Times New Roman" panose="02020603050405020304" pitchFamily="18" charset="0"/>
                <a:cs typeface="Times New Roman" panose="02020603050405020304" pitchFamily="18" charset="0"/>
              </a:rPr>
              <a:t>:</a:t>
            </a:r>
          </a:p>
          <a:p>
            <a:pPr algn="l"/>
            <a:r>
              <a:rPr lang="en-US" sz="2400" b="0" i="0" u="none" strike="noStrike" baseline="0" dirty="0">
                <a:solidFill>
                  <a:srgbClr val="0070C0"/>
                </a:solidFill>
                <a:latin typeface="Times New Roman" panose="02020603050405020304" pitchFamily="18" charset="0"/>
                <a:cs typeface="Times New Roman" panose="02020603050405020304" pitchFamily="18" charset="0"/>
              </a:rPr>
              <a:t>static void sleep(long </a:t>
            </a:r>
            <a:r>
              <a:rPr lang="en-US" sz="2400" b="0" i="1" u="none" strike="noStrike" baseline="0" dirty="0">
                <a:solidFill>
                  <a:srgbClr val="0070C0"/>
                </a:solidFill>
                <a:latin typeface="Times New Roman" panose="02020603050405020304" pitchFamily="18" charset="0"/>
                <a:cs typeface="Times New Roman" panose="02020603050405020304" pitchFamily="18" charset="0"/>
              </a:rPr>
              <a:t>milliseconds</a:t>
            </a:r>
            <a:r>
              <a:rPr lang="en-US" sz="2400" b="0" i="0" u="none" strike="noStrike" baseline="0" dirty="0">
                <a:solidFill>
                  <a:srgbClr val="0070C0"/>
                </a:solidFill>
                <a:latin typeface="Times New Roman" panose="02020603050405020304" pitchFamily="18" charset="0"/>
                <a:cs typeface="Times New Roman" panose="02020603050405020304" pitchFamily="18" charset="0"/>
              </a:rPr>
              <a:t>) throws </a:t>
            </a:r>
            <a:r>
              <a:rPr lang="en-US" sz="24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endParaRPr lang="en-US" sz="2400" b="0" i="0" u="none" strike="noStrike" baseline="0" dirty="0">
              <a:solidFill>
                <a:srgbClr val="0070C0"/>
              </a:solidFill>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The </a:t>
            </a:r>
            <a:r>
              <a:rPr lang="en-US" sz="2400" b="1" i="0" u="none" strike="noStrike" baseline="0" dirty="0">
                <a:latin typeface="Times New Roman" panose="02020603050405020304" pitchFamily="18" charset="0"/>
                <a:cs typeface="Times New Roman" panose="02020603050405020304" pitchFamily="18" charset="0"/>
              </a:rPr>
              <a:t>sleep( ) </a:t>
            </a:r>
            <a:r>
              <a:rPr lang="en-US" sz="2400" b="0" i="0" u="none" strike="noStrike" baseline="0" dirty="0">
                <a:latin typeface="Times New Roman" panose="02020603050405020304" pitchFamily="18" charset="0"/>
                <a:cs typeface="Times New Roman" panose="02020603050405020304" pitchFamily="18" charset="0"/>
              </a:rPr>
              <a:t>method has a second form as:</a:t>
            </a:r>
          </a:p>
          <a:p>
            <a:pPr algn="l"/>
            <a:r>
              <a:rPr lang="en-US" sz="2400" b="0" i="0" u="none" strike="noStrike" baseline="0" dirty="0">
                <a:solidFill>
                  <a:srgbClr val="0070C0"/>
                </a:solidFill>
                <a:latin typeface="Times New Roman" panose="02020603050405020304" pitchFamily="18" charset="0"/>
                <a:cs typeface="Times New Roman" panose="02020603050405020304" pitchFamily="18" charset="0"/>
              </a:rPr>
              <a:t>static void sleep(long </a:t>
            </a:r>
            <a:r>
              <a:rPr lang="en-US" sz="2400" b="0" i="1" u="none" strike="noStrike" baseline="0" dirty="0">
                <a:solidFill>
                  <a:srgbClr val="0070C0"/>
                </a:solidFill>
                <a:latin typeface="Times New Roman" panose="02020603050405020304" pitchFamily="18" charset="0"/>
                <a:cs typeface="Times New Roman" panose="02020603050405020304" pitchFamily="18" charset="0"/>
              </a:rPr>
              <a:t>milliseconds</a:t>
            </a:r>
            <a:r>
              <a:rPr lang="en-US" sz="2400" b="0" i="0" u="none" strike="noStrike" baseline="0" dirty="0">
                <a:solidFill>
                  <a:srgbClr val="0070C0"/>
                </a:solidFill>
                <a:latin typeface="Times New Roman" panose="02020603050405020304" pitchFamily="18" charset="0"/>
                <a:cs typeface="Times New Roman" panose="02020603050405020304" pitchFamily="18" charset="0"/>
              </a:rPr>
              <a:t>, int </a:t>
            </a:r>
            <a:r>
              <a:rPr lang="en-US" sz="2400" b="0" i="1" u="none" strike="noStrike" baseline="0" dirty="0">
                <a:solidFill>
                  <a:srgbClr val="0070C0"/>
                </a:solidFill>
                <a:latin typeface="Times New Roman" panose="02020603050405020304" pitchFamily="18" charset="0"/>
                <a:cs typeface="Times New Roman" panose="02020603050405020304" pitchFamily="18" charset="0"/>
              </a:rPr>
              <a:t>nanoseconds</a:t>
            </a:r>
            <a:r>
              <a:rPr lang="en-US" sz="2400" b="0" i="0" u="none" strike="noStrike" baseline="0" dirty="0">
                <a:solidFill>
                  <a:srgbClr val="0070C0"/>
                </a:solidFill>
                <a:latin typeface="Times New Roman" panose="02020603050405020304" pitchFamily="18" charset="0"/>
                <a:cs typeface="Times New Roman" panose="02020603050405020304" pitchFamily="18" charset="0"/>
              </a:rPr>
              <a:t>) throws </a:t>
            </a:r>
            <a:r>
              <a:rPr lang="en-US" sz="24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endParaRPr lang="en-US" sz="2400" dirty="0">
              <a:solidFill>
                <a:srgbClr val="0070C0"/>
              </a:solidFill>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0070C0"/>
                </a:solidFill>
                <a:latin typeface="Times New Roman" panose="02020603050405020304" pitchFamily="18" charset="0"/>
                <a:cs typeface="Times New Roman" panose="02020603050405020304" pitchFamily="18" charset="0"/>
              </a:rPr>
              <a:t>//</a:t>
            </a:r>
            <a:endParaRPr lang="en-US" sz="24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207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18</a:t>
            </a:fld>
            <a:endParaRPr lang="en-US"/>
          </a:p>
        </p:txBody>
      </p:sp>
      <p:sp>
        <p:nvSpPr>
          <p:cNvPr id="3" name="TextBox 2">
            <a:extLst>
              <a:ext uri="{FF2B5EF4-FFF2-40B4-BE49-F238E27FC236}">
                <a16:creationId xmlns:a16="http://schemas.microsoft.com/office/drawing/2014/main" id="{360706D5-06FB-77D7-3FCB-B1D80240DB7A}"/>
              </a:ext>
            </a:extLst>
          </p:cNvPr>
          <p:cNvSpPr txBox="1"/>
          <p:nvPr/>
        </p:nvSpPr>
        <p:spPr>
          <a:xfrm>
            <a:off x="341789" y="274892"/>
            <a:ext cx="8438227" cy="3847207"/>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Creating a Thread</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In the most general sense, you can create a thread by instantiating an object of type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Thread</a:t>
            </a:r>
            <a:r>
              <a:rPr lang="en-US" sz="2400" b="0" i="0" u="none" strike="noStrike" baseline="0" dirty="0">
                <a:latin typeface="Times New Roman" panose="02020603050405020304" pitchFamily="18" charset="0"/>
                <a:cs typeface="Times New Roman" panose="02020603050405020304" pitchFamily="18" charset="0"/>
              </a:rPr>
              <a:t>. Java defines two ways in which this can be accomplished:</a:t>
            </a:r>
          </a:p>
          <a:p>
            <a:pPr algn="l"/>
            <a:endParaRPr lang="en-US" sz="2400" b="0" i="0" u="none" strike="noStrike" baseline="0"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You can implement the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Runnable</a:t>
            </a:r>
            <a:r>
              <a:rPr lang="en-US" sz="2400" b="1" i="0"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interface.</a:t>
            </a:r>
          </a:p>
          <a:p>
            <a:pPr marL="457200" indent="-457200" algn="l">
              <a:buFont typeface="Arial" panose="020B0604020202020204" pitchFamily="34" charset="0"/>
              <a:buChar char="•"/>
            </a:pPr>
            <a:r>
              <a:rPr lang="en-US" sz="2400" b="0" i="0" u="none" strike="noStrike" baseline="0" dirty="0">
                <a:latin typeface="Times New Roman" panose="02020603050405020304" pitchFamily="18" charset="0"/>
                <a:cs typeface="Times New Roman" panose="02020603050405020304" pitchFamily="18" charset="0"/>
              </a:rPr>
              <a:t>You can extend the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Thread</a:t>
            </a:r>
            <a:r>
              <a:rPr lang="en-US" sz="2400" b="1" i="0"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class, itself.</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The following two sections look at each method, in turn.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04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19</a:t>
            </a:fld>
            <a:endParaRPr lang="en-US"/>
          </a:p>
        </p:txBody>
      </p:sp>
      <p:sp>
        <p:nvSpPr>
          <p:cNvPr id="3" name="TextBox 2">
            <a:extLst>
              <a:ext uri="{FF2B5EF4-FFF2-40B4-BE49-F238E27FC236}">
                <a16:creationId xmlns:a16="http://schemas.microsoft.com/office/drawing/2014/main" id="{DD399B28-58E3-583E-0DD6-0333B763CCD1}"/>
              </a:ext>
            </a:extLst>
          </p:cNvPr>
          <p:cNvSpPr txBox="1"/>
          <p:nvPr/>
        </p:nvSpPr>
        <p:spPr>
          <a:xfrm>
            <a:off x="366194" y="398850"/>
            <a:ext cx="8396065" cy="6401753"/>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Implementing Runnable</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The easiest way to create a thread is to create a class that implements the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Runnable</a:t>
            </a:r>
            <a:r>
              <a:rPr lang="en-US" sz="2400" b="1" i="0"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interface. To implement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Runnable</a:t>
            </a:r>
            <a:r>
              <a:rPr lang="en-US" sz="2400" b="0" i="0" u="none" strike="noStrike" baseline="0" dirty="0">
                <a:latin typeface="Times New Roman" panose="02020603050405020304" pitchFamily="18" charset="0"/>
                <a:cs typeface="Times New Roman" panose="02020603050405020304" pitchFamily="18" charset="0"/>
              </a:rPr>
              <a:t>, a class need only implement a single method called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 )</a:t>
            </a:r>
            <a:r>
              <a:rPr lang="en-US" sz="24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which is declared like this:</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endParaRPr lang="en-US" sz="12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Inside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 )</a:t>
            </a:r>
            <a:r>
              <a:rPr lang="en-US" sz="24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you will define the code that constitutes the new thread. It is important to understand that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 ) </a:t>
            </a:r>
            <a:r>
              <a:rPr lang="en-US" sz="2400" b="0" i="0" u="none" strike="noStrike" baseline="0" dirty="0">
                <a:latin typeface="Times New Roman" panose="02020603050405020304" pitchFamily="18" charset="0"/>
                <a:cs typeface="Times New Roman" panose="02020603050405020304" pitchFamily="18" charset="0"/>
              </a:rPr>
              <a:t>can call other methods, use other classes, and declare variables, just like</a:t>
            </a:r>
          </a:p>
          <a:p>
            <a:pPr algn="l"/>
            <a:r>
              <a:rPr lang="en-US" sz="2400" b="0" i="0" u="none" strike="noStrike" baseline="0" dirty="0">
                <a:latin typeface="Times New Roman" panose="02020603050405020304" pitchFamily="18" charset="0"/>
                <a:cs typeface="Times New Roman" panose="02020603050405020304" pitchFamily="18" charset="0"/>
              </a:rPr>
              <a:t>the main thread can. This thread will end when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 ) </a:t>
            </a:r>
            <a:r>
              <a:rPr lang="en-US" sz="2400" b="0" i="0" u="none" strike="noStrike" baseline="0" dirty="0">
                <a:latin typeface="Times New Roman" panose="02020603050405020304" pitchFamily="18" charset="0"/>
                <a:cs typeface="Times New Roman" panose="02020603050405020304" pitchFamily="18" charset="0"/>
              </a:rPr>
              <a:t>returns.</a:t>
            </a:r>
          </a:p>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Thread</a:t>
            </a:r>
            <a:r>
              <a:rPr lang="en-US" sz="2400" b="1" i="0"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defines several constructors. The one is shown here:</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0070C0"/>
                </a:solidFill>
                <a:latin typeface="Times New Roman" panose="02020603050405020304" pitchFamily="18" charset="0"/>
                <a:cs typeface="Times New Roman" panose="02020603050405020304" pitchFamily="18" charset="0"/>
              </a:rPr>
              <a:t>Thread(Runnable </a:t>
            </a:r>
            <a:r>
              <a:rPr lang="en-US" sz="2400" b="0" i="1" u="none" strike="noStrike" baseline="0" dirty="0" err="1">
                <a:solidFill>
                  <a:srgbClr val="0070C0"/>
                </a:solidFill>
                <a:latin typeface="Times New Roman" panose="02020603050405020304" pitchFamily="18" charset="0"/>
                <a:cs typeface="Times New Roman" panose="02020603050405020304" pitchFamily="18" charset="0"/>
              </a:rPr>
              <a:t>threadOb</a:t>
            </a:r>
            <a:r>
              <a:rPr lang="en-US" sz="2400" b="0" i="0" u="none" strike="noStrike" baseline="0" dirty="0">
                <a:solidFill>
                  <a:srgbClr val="0070C0"/>
                </a:solidFill>
                <a:latin typeface="Times New Roman" panose="02020603050405020304" pitchFamily="18" charset="0"/>
                <a:cs typeface="Times New Roman" panose="02020603050405020304" pitchFamily="18" charset="0"/>
              </a:rPr>
              <a:t>, String </a:t>
            </a:r>
            <a:r>
              <a:rPr lang="en-US" sz="2400" b="0" i="1" u="none" strike="noStrike" baseline="0" dirty="0" err="1">
                <a:solidFill>
                  <a:srgbClr val="0070C0"/>
                </a:solidFill>
                <a:latin typeface="Times New Roman" panose="02020603050405020304" pitchFamily="18" charset="0"/>
                <a:cs typeface="Times New Roman" panose="02020603050405020304" pitchFamily="18" charset="0"/>
              </a:rPr>
              <a:t>threadName</a:t>
            </a:r>
            <a:r>
              <a:rPr lang="en-US" sz="2400" b="0" i="0" u="none" strike="noStrike" baseline="0" dirty="0">
                <a:solidFill>
                  <a:srgbClr val="0070C0"/>
                </a:solidFill>
                <a:latin typeface="Times New Roman" panose="02020603050405020304" pitchFamily="18" charset="0"/>
                <a:cs typeface="Times New Roman" panose="02020603050405020304" pitchFamily="18" charset="0"/>
              </a:rPr>
              <a:t>)</a:t>
            </a:r>
          </a:p>
          <a:p>
            <a:pPr algn="l"/>
            <a:endParaRPr lang="en-US" sz="12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In this constructor, </a:t>
            </a:r>
            <a:r>
              <a:rPr lang="en-US" sz="2400" b="0" i="1" u="none" strike="noStrike" baseline="0" dirty="0" err="1">
                <a:latin typeface="Times New Roman" panose="02020603050405020304" pitchFamily="18" charset="0"/>
                <a:cs typeface="Times New Roman" panose="02020603050405020304" pitchFamily="18" charset="0"/>
              </a:rPr>
              <a:t>threadOb</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is an instance of a class that implements the </a:t>
            </a:r>
            <a:r>
              <a:rPr lang="en-US" sz="2400" b="1" i="0" u="none" strike="noStrike" baseline="0" dirty="0">
                <a:latin typeface="Times New Roman" panose="02020603050405020304" pitchFamily="18" charset="0"/>
                <a:cs typeface="Times New Roman" panose="02020603050405020304" pitchFamily="18" charset="0"/>
              </a:rPr>
              <a:t>Runnable </a:t>
            </a:r>
            <a:r>
              <a:rPr lang="en-US" sz="2400" b="0" i="0" u="none" strike="noStrike" baseline="0" dirty="0">
                <a:latin typeface="Times New Roman" panose="02020603050405020304" pitchFamily="18" charset="0"/>
                <a:cs typeface="Times New Roman" panose="02020603050405020304" pitchFamily="18" charset="0"/>
              </a:rPr>
              <a:t>interface.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927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20</a:t>
            </a:fld>
            <a:endParaRPr lang="en-US"/>
          </a:p>
        </p:txBody>
      </p:sp>
      <p:sp>
        <p:nvSpPr>
          <p:cNvPr id="3" name="TextBox 2">
            <a:extLst>
              <a:ext uri="{FF2B5EF4-FFF2-40B4-BE49-F238E27FC236}">
                <a16:creationId xmlns:a16="http://schemas.microsoft.com/office/drawing/2014/main" id="{DD399B28-58E3-583E-0DD6-0333B763CCD1}"/>
              </a:ext>
            </a:extLst>
          </p:cNvPr>
          <p:cNvSpPr txBox="1"/>
          <p:nvPr/>
        </p:nvSpPr>
        <p:spPr>
          <a:xfrm>
            <a:off x="366195" y="398850"/>
            <a:ext cx="8191880" cy="3108543"/>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Implementing Runnable</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After the new thread is created, it will not start running until you call its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start( ) </a:t>
            </a:r>
            <a:r>
              <a:rPr lang="en-US" sz="2400" b="0" i="0" u="none" strike="noStrike" baseline="0" dirty="0">
                <a:latin typeface="Times New Roman" panose="02020603050405020304" pitchFamily="18" charset="0"/>
                <a:cs typeface="Times New Roman" panose="02020603050405020304" pitchFamily="18" charset="0"/>
              </a:rPr>
              <a:t>method, which is declared within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Thread</a:t>
            </a:r>
            <a:r>
              <a:rPr lang="en-US" sz="2400" b="0" i="0" u="none" strike="noStrike" baseline="0" dirty="0">
                <a:latin typeface="Times New Roman" panose="02020603050405020304" pitchFamily="18" charset="0"/>
                <a:cs typeface="Times New Roman" panose="02020603050405020304" pitchFamily="18" charset="0"/>
              </a:rPr>
              <a:t>. In essence,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start( ) </a:t>
            </a:r>
            <a:r>
              <a:rPr lang="en-US" sz="2400" b="0" i="0" u="none" strike="noStrike" baseline="0" dirty="0">
                <a:latin typeface="Times New Roman" panose="02020603050405020304" pitchFamily="18" charset="0"/>
                <a:cs typeface="Times New Roman" panose="02020603050405020304" pitchFamily="18" charset="0"/>
              </a:rPr>
              <a:t>executes a call to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run( )</a:t>
            </a:r>
            <a:r>
              <a:rPr lang="en-US" sz="2400" b="0" i="0" u="none" strike="noStrike" baseline="0" dirty="0">
                <a:solidFill>
                  <a:srgbClr val="7030A0"/>
                </a:solidFill>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The </a:t>
            </a:r>
            <a:r>
              <a:rPr lang="en-US" sz="2400" b="1" i="0" u="none" strike="noStrike" baseline="0" dirty="0">
                <a:solidFill>
                  <a:srgbClr val="7030A0"/>
                </a:solidFill>
                <a:latin typeface="Times New Roman" panose="02020603050405020304" pitchFamily="18" charset="0"/>
                <a:cs typeface="Times New Roman" panose="02020603050405020304" pitchFamily="18" charset="0"/>
              </a:rPr>
              <a:t>start( )</a:t>
            </a:r>
          </a:p>
          <a:p>
            <a:pPr algn="l"/>
            <a:r>
              <a:rPr lang="en-US" sz="2400" b="0" i="0" u="none" strike="noStrike" baseline="0" dirty="0">
                <a:latin typeface="Times New Roman" panose="02020603050405020304" pitchFamily="18" charset="0"/>
                <a:cs typeface="Times New Roman" panose="02020603050405020304" pitchFamily="18" charset="0"/>
              </a:rPr>
              <a:t>method is shown here:</a:t>
            </a:r>
          </a:p>
          <a:p>
            <a:pPr algn="l"/>
            <a:endParaRPr lang="en-US" sz="2400" b="0" i="0" u="none" strike="noStrike" baseline="0" dirty="0">
              <a:latin typeface="Times New Roman" panose="02020603050405020304" pitchFamily="18" charset="0"/>
              <a:cs typeface="Times New Roman" panose="02020603050405020304" pitchFamily="18" charset="0"/>
            </a:endParaRPr>
          </a:p>
          <a:p>
            <a:r>
              <a:rPr lang="en-US" sz="2400" dirty="0">
                <a:solidFill>
                  <a:srgbClr val="0070C0"/>
                </a:solidFill>
                <a:latin typeface="Times New Roman" panose="02020603050405020304" pitchFamily="18" charset="0"/>
                <a:cs typeface="Times New Roman" panose="02020603050405020304" pitchFamily="18" charset="0"/>
              </a:rPr>
              <a:t>void start( )</a:t>
            </a:r>
          </a:p>
        </p:txBody>
      </p:sp>
    </p:spTree>
    <p:extLst>
      <p:ext uri="{BB962C8B-B14F-4D97-AF65-F5344CB8AC3E}">
        <p14:creationId xmlns:p14="http://schemas.microsoft.com/office/powerpoint/2010/main" val="3919306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21</a:t>
            </a:fld>
            <a:endParaRPr lang="en-US"/>
          </a:p>
        </p:txBody>
      </p:sp>
      <p:sp>
        <p:nvSpPr>
          <p:cNvPr id="3" name="TextBox 2">
            <a:extLst>
              <a:ext uri="{FF2B5EF4-FFF2-40B4-BE49-F238E27FC236}">
                <a16:creationId xmlns:a16="http://schemas.microsoft.com/office/drawing/2014/main" id="{A40BADF4-63D5-BE95-4E53-30C0F8EF4BB6}"/>
              </a:ext>
            </a:extLst>
          </p:cNvPr>
          <p:cNvSpPr txBox="1"/>
          <p:nvPr/>
        </p:nvSpPr>
        <p:spPr>
          <a:xfrm>
            <a:off x="430567" y="333137"/>
            <a:ext cx="8282866" cy="6524863"/>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Implementing Runnable (Example)</a:t>
            </a:r>
          </a:p>
          <a:p>
            <a:pPr algn="l"/>
            <a:endParaRPr lang="en-US" sz="1000" b="0" i="0" u="none" strike="noStrike" baseline="0" dirty="0">
              <a:solidFill>
                <a:srgbClr val="0070C0"/>
              </a:solidFill>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Create a second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implements Runnable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Thread t;</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r>
              <a:rPr lang="en-US" sz="2000" b="0" i="0" u="none" strike="noStrike" baseline="0" dirty="0">
                <a:solidFill>
                  <a:srgbClr val="0070C0"/>
                </a:solidFill>
                <a:latin typeface="Times New Roman" panose="02020603050405020304" pitchFamily="18" charset="0"/>
                <a:cs typeface="Times New Roman" panose="02020603050405020304" pitchFamily="18" charset="0"/>
              </a:rPr>
              <a:t>    t = new Thread(this, "Demo Thread"); // Create a new, second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 + 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t.start</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Start the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r>
              <a:rPr lang="en-US" sz="2000" b="0" i="0" u="none" strike="noStrike" baseline="0" dirty="0">
                <a:solidFill>
                  <a:srgbClr val="0070C0"/>
                </a:solidFill>
                <a:latin typeface="Times New Roman" panose="02020603050405020304" pitchFamily="18" charset="0"/>
                <a:cs typeface="Times New Roman" panose="02020603050405020304" pitchFamily="18" charset="0"/>
              </a:rPr>
              <a:t>public void run() {// This is the entry point for the second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try {</a:t>
            </a:r>
          </a:p>
          <a:p>
            <a:pPr algn="l"/>
            <a:r>
              <a:rPr lang="nn-NO" sz="2000" b="0" i="0" u="none" strike="noStrike" baseline="0" dirty="0">
                <a:solidFill>
                  <a:srgbClr val="0070C0"/>
                </a:solidFill>
                <a:latin typeface="Times New Roman" panose="02020603050405020304" pitchFamily="18" charset="0"/>
                <a:cs typeface="Times New Roman" panose="02020603050405020304" pitchFamily="18" charset="0"/>
              </a:rPr>
              <a:t>    for(int i = 5; i &gt; 0; i--)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 +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i</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Thread.sleep</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(500);</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catch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e)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interrupted.");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("Exiting child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endParaRPr lang="en-US"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521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22</a:t>
            </a:fld>
            <a:endParaRPr lang="en-US"/>
          </a:p>
        </p:txBody>
      </p:sp>
      <p:sp>
        <p:nvSpPr>
          <p:cNvPr id="3" name="TextBox 2">
            <a:extLst>
              <a:ext uri="{FF2B5EF4-FFF2-40B4-BE49-F238E27FC236}">
                <a16:creationId xmlns:a16="http://schemas.microsoft.com/office/drawing/2014/main" id="{A40BADF4-63D5-BE95-4E53-30C0F8EF4BB6}"/>
              </a:ext>
            </a:extLst>
          </p:cNvPr>
          <p:cNvSpPr txBox="1"/>
          <p:nvPr/>
        </p:nvSpPr>
        <p:spPr>
          <a:xfrm>
            <a:off x="430567" y="333137"/>
            <a:ext cx="5224509" cy="5232202"/>
          </a:xfrm>
          <a:prstGeom prst="rect">
            <a:avLst/>
          </a:prstGeom>
          <a:noFill/>
        </p:spPr>
        <p:txBody>
          <a:bodyPr wrap="square">
            <a:spAutoFit/>
          </a:bodyPr>
          <a:lstStyle/>
          <a:p>
            <a:r>
              <a:rPr lang="en-US" sz="2400" b="1" i="0" u="none" strike="noStrike" baseline="0" dirty="0">
                <a:solidFill>
                  <a:srgbClr val="7030A0"/>
                </a:solidFill>
                <a:latin typeface="Times New Roman" panose="02020603050405020304" pitchFamily="18" charset="0"/>
                <a:cs typeface="Times New Roman" panose="02020603050405020304" pitchFamily="18" charset="0"/>
              </a:rPr>
              <a:t>Implementing Runnable (Example)</a:t>
            </a:r>
          </a:p>
          <a:p>
            <a:pPr algn="l"/>
            <a:endParaRPr lang="en-US" sz="1000" b="0" i="0" u="none" strike="noStrike" baseline="0" dirty="0">
              <a:solidFill>
                <a:srgbClr val="0070C0"/>
              </a:solidFill>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class </a:t>
            </a:r>
            <a:r>
              <a:rPr lang="en-US" sz="2000" dirty="0" err="1">
                <a:solidFill>
                  <a:srgbClr val="0070C0"/>
                </a:solidFill>
                <a:latin typeface="Times New Roman" panose="02020603050405020304" pitchFamily="18" charset="0"/>
                <a:cs typeface="Times New Roman" panose="02020603050405020304" pitchFamily="18" charset="0"/>
              </a:rPr>
              <a:t>ThreadDemo</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public static void main(String </a:t>
            </a:r>
            <a:r>
              <a:rPr lang="en-US" sz="2000" dirty="0" err="1">
                <a:solidFill>
                  <a:srgbClr val="0070C0"/>
                </a:solidFill>
                <a:latin typeface="Times New Roman" panose="02020603050405020304" pitchFamily="18" charset="0"/>
                <a:cs typeface="Times New Roman" panose="02020603050405020304" pitchFamily="18" charset="0"/>
              </a:rPr>
              <a:t>args</a:t>
            </a:r>
            <a:r>
              <a:rPr lang="en-US" sz="2000" dirty="0">
                <a:solidFill>
                  <a:srgbClr val="0070C0"/>
                </a:solidFill>
                <a:latin typeface="Times New Roman" panose="02020603050405020304" pitchFamily="18" charset="0"/>
                <a:cs typeface="Times New Roman" panose="02020603050405020304" pitchFamily="18" charset="0"/>
              </a:rPr>
              <a:t>[ ] ) {</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 // create a new thread</a:t>
            </a:r>
          </a:p>
          <a:p>
            <a:r>
              <a:rPr lang="en-US" sz="2000" dirty="0">
                <a:solidFill>
                  <a:srgbClr val="0070C0"/>
                </a:solidFill>
                <a:latin typeface="Times New Roman" panose="02020603050405020304" pitchFamily="18" charset="0"/>
                <a:cs typeface="Times New Roman" panose="02020603050405020304" pitchFamily="18" charset="0"/>
              </a:rPr>
              <a:t>try {</a:t>
            </a:r>
          </a:p>
          <a:p>
            <a:r>
              <a:rPr lang="nn-NO" sz="2000" dirty="0">
                <a:solidFill>
                  <a:srgbClr val="0070C0"/>
                </a:solidFill>
                <a:latin typeface="Times New Roman" panose="02020603050405020304" pitchFamily="18" charset="0"/>
                <a:cs typeface="Times New Roman" panose="02020603050405020304" pitchFamily="18" charset="0"/>
              </a:rPr>
              <a:t>for(int i = 5; i &gt; 0; i--)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 + </a:t>
            </a:r>
            <a:r>
              <a:rPr lang="en-US" sz="2000" dirty="0" err="1">
                <a:solidFill>
                  <a:srgbClr val="0070C0"/>
                </a:solidFill>
                <a:latin typeface="Times New Roman" panose="02020603050405020304" pitchFamily="18" charset="0"/>
                <a:cs typeface="Times New Roman" panose="02020603050405020304" pitchFamily="18" charset="0"/>
              </a:rPr>
              <a:t>i</a:t>
            </a:r>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err="1">
                <a:solidFill>
                  <a:srgbClr val="0070C0"/>
                </a:solidFill>
                <a:latin typeface="Times New Roman" panose="02020603050405020304" pitchFamily="18" charset="0"/>
                <a:cs typeface="Times New Roman" panose="02020603050405020304" pitchFamily="18" charset="0"/>
              </a:rPr>
              <a:t>Thread.sleep</a:t>
            </a:r>
            <a:r>
              <a:rPr lang="en-US" sz="2000" dirty="0">
                <a:solidFill>
                  <a:srgbClr val="0070C0"/>
                </a:solidFill>
                <a:latin typeface="Times New Roman" panose="02020603050405020304" pitchFamily="18" charset="0"/>
                <a:cs typeface="Times New Roman" panose="02020603050405020304" pitchFamily="18" charset="0"/>
              </a:rPr>
              <a:t>(1000);</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 catch (</a:t>
            </a:r>
            <a:r>
              <a:rPr lang="en-US" sz="2000" dirty="0" err="1">
                <a:solidFill>
                  <a:srgbClr val="0070C0"/>
                </a:solidFill>
                <a:latin typeface="Times New Roman" panose="02020603050405020304" pitchFamily="18" charset="0"/>
                <a:cs typeface="Times New Roman" panose="02020603050405020304" pitchFamily="18" charset="0"/>
              </a:rPr>
              <a:t>InterruptedException</a:t>
            </a:r>
            <a:r>
              <a:rPr lang="en-US" sz="2000" dirty="0">
                <a:solidFill>
                  <a:srgbClr val="0070C0"/>
                </a:solidFill>
                <a:latin typeface="Times New Roman" panose="02020603050405020304" pitchFamily="18" charset="0"/>
                <a:cs typeface="Times New Roman" panose="02020603050405020304" pitchFamily="18" charset="0"/>
              </a:rPr>
              <a:t> e)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interrupted.");</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exiting.");</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24097299-D59B-08B0-A14D-97FB13BBC8C8}"/>
              </a:ext>
            </a:extLst>
          </p:cNvPr>
          <p:cNvSpPr txBox="1"/>
          <p:nvPr/>
        </p:nvSpPr>
        <p:spPr>
          <a:xfrm>
            <a:off x="5925845" y="955201"/>
            <a:ext cx="3111623" cy="4770537"/>
          </a:xfrm>
          <a:prstGeom prst="rect">
            <a:avLst/>
          </a:prstGeom>
          <a:noFill/>
        </p:spPr>
        <p:txBody>
          <a:bodyPr wrap="square">
            <a:spAutoFit/>
          </a:bodyPr>
          <a:lstStyle/>
          <a:p>
            <a:pPr algn="l"/>
            <a:r>
              <a:rPr lang="en-US" sz="2400" b="1" dirty="0">
                <a:latin typeface="Times New Roman" panose="02020603050405020304" pitchFamily="18" charset="0"/>
                <a:cs typeface="Times New Roman" panose="02020603050405020304" pitchFamily="18" charset="0"/>
              </a:rPr>
              <a:t>Output </a:t>
            </a:r>
            <a:endParaRPr lang="en-US" sz="2400" b="1" i="0" u="none" strike="noStrike" baseline="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Thread[Demo Thread,5,main]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Main Thread: 5</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5</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4</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Main Thread: 4</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3</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2</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Main Thread: 3</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1</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Exiting child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Main Thread: 2</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Main Thread: 1</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Main thread exiting.</a:t>
            </a:r>
            <a:endParaRPr lang="en-US"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6038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23</a:t>
            </a:fld>
            <a:endParaRPr lang="en-US"/>
          </a:p>
        </p:txBody>
      </p:sp>
      <p:sp>
        <p:nvSpPr>
          <p:cNvPr id="3" name="TextBox 2">
            <a:extLst>
              <a:ext uri="{FF2B5EF4-FFF2-40B4-BE49-F238E27FC236}">
                <a16:creationId xmlns:a16="http://schemas.microsoft.com/office/drawing/2014/main" id="{393D6EE4-E80E-FC40-186C-2985E385CAFE}"/>
              </a:ext>
            </a:extLst>
          </p:cNvPr>
          <p:cNvSpPr txBox="1"/>
          <p:nvPr/>
        </p:nvSpPr>
        <p:spPr>
          <a:xfrm>
            <a:off x="466077" y="505123"/>
            <a:ext cx="7943286" cy="4770537"/>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Extending Thread</a:t>
            </a:r>
          </a:p>
          <a:p>
            <a:pPr algn="l"/>
            <a:endParaRPr lang="en-US" sz="12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The second way to create a thread is to create a new class that extends </a:t>
            </a:r>
            <a:r>
              <a:rPr lang="en-US" sz="2400" b="1" i="0" u="none" strike="noStrike" baseline="0" dirty="0">
                <a:latin typeface="Times New Roman" panose="02020603050405020304" pitchFamily="18" charset="0"/>
                <a:cs typeface="Times New Roman" panose="02020603050405020304" pitchFamily="18" charset="0"/>
              </a:rPr>
              <a:t>Thread</a:t>
            </a:r>
            <a:r>
              <a:rPr lang="en-US" sz="2400" b="0" i="0" u="none" strike="noStrike" baseline="0" dirty="0">
                <a:latin typeface="Times New Roman" panose="02020603050405020304" pitchFamily="18" charset="0"/>
                <a:cs typeface="Times New Roman" panose="02020603050405020304" pitchFamily="18" charset="0"/>
              </a:rPr>
              <a:t>, and then to create an instance of that class. Here is the preceding program rewritten to extend </a:t>
            </a:r>
            <a:r>
              <a:rPr lang="en-US" sz="2400" b="1" i="0" u="none" strike="noStrike" baseline="0" dirty="0">
                <a:latin typeface="Times New Roman" panose="02020603050405020304" pitchFamily="18" charset="0"/>
                <a:cs typeface="Times New Roman" panose="02020603050405020304" pitchFamily="18" charset="0"/>
              </a:rPr>
              <a:t>Thread</a:t>
            </a:r>
            <a:r>
              <a:rPr lang="en-US" sz="2400" b="0" i="0" u="none" strike="noStrike" baseline="0" dirty="0">
                <a:latin typeface="Times New Roman" panose="02020603050405020304" pitchFamily="18" charset="0"/>
                <a:cs typeface="Times New Roman" panose="02020603050405020304" pitchFamily="18" charset="0"/>
              </a:rPr>
              <a:t>:</a:t>
            </a:r>
          </a:p>
          <a:p>
            <a:pPr algn="l"/>
            <a:endParaRPr lang="en-US" sz="120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Create a second thread by extending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extends Thread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Create a new, second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super("Demo Thread");</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("Child thread: “</a:t>
            </a:r>
          </a:p>
          <a:p>
            <a:pPr algn="l"/>
            <a:r>
              <a:rPr lang="en-US" sz="2000" dirty="0">
                <a:solidFill>
                  <a:srgbClr val="0070C0"/>
                </a:solidFill>
                <a:latin typeface="Times New Roman" panose="02020603050405020304" pitchFamily="18" charset="0"/>
                <a:cs typeface="Times New Roman" panose="02020603050405020304" pitchFamily="18" charset="0"/>
              </a:rPr>
              <a:t>                              </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this);</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start(); // Start the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87192769-18EF-E2DB-D430-03994F0D2D5F}"/>
              </a:ext>
            </a:extLst>
          </p:cNvPr>
          <p:cNvSpPr txBox="1"/>
          <p:nvPr/>
        </p:nvSpPr>
        <p:spPr>
          <a:xfrm>
            <a:off x="4665216" y="3131592"/>
            <a:ext cx="4572000" cy="3693319"/>
          </a:xfrm>
          <a:prstGeom prst="rect">
            <a:avLst/>
          </a:prstGeom>
          <a:noFill/>
        </p:spPr>
        <p:txBody>
          <a:bodyPr wrap="square">
            <a:spAutoFit/>
          </a:bodyPr>
          <a:lstStyle/>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 This is the entry point for the second thread.</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try {</a:t>
            </a:r>
          </a:p>
          <a:p>
            <a:pPr algn="l"/>
            <a:r>
              <a:rPr lang="nn-NO" sz="1800" b="0" i="0" u="none" strike="noStrike" baseline="0" dirty="0">
                <a:solidFill>
                  <a:srgbClr val="0070C0"/>
                </a:solidFill>
                <a:latin typeface="Times New Roman" panose="02020603050405020304" pitchFamily="18" charset="0"/>
                <a:cs typeface="Times New Roman" panose="02020603050405020304" pitchFamily="18" charset="0"/>
              </a:rPr>
              <a:t>for(int i = 5; i &gt; 0; i--)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("Child Thread: " +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Thread.sleep</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(500);</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 catch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e)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("Child interrupted.");</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("Exiting child thread.");</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endParaRPr lang="en-US" sz="18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4369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24</a:t>
            </a:fld>
            <a:endParaRPr lang="en-US"/>
          </a:p>
        </p:txBody>
      </p:sp>
      <p:sp>
        <p:nvSpPr>
          <p:cNvPr id="3" name="TextBox 2">
            <a:extLst>
              <a:ext uri="{FF2B5EF4-FFF2-40B4-BE49-F238E27FC236}">
                <a16:creationId xmlns:a16="http://schemas.microsoft.com/office/drawing/2014/main" id="{393D6EE4-E80E-FC40-186C-2985E385CAFE}"/>
              </a:ext>
            </a:extLst>
          </p:cNvPr>
          <p:cNvSpPr txBox="1"/>
          <p:nvPr/>
        </p:nvSpPr>
        <p:spPr>
          <a:xfrm>
            <a:off x="466077" y="505123"/>
            <a:ext cx="7943286" cy="5201424"/>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Extending Thread</a:t>
            </a:r>
          </a:p>
          <a:p>
            <a:pPr algn="l"/>
            <a:endParaRPr lang="en-US" sz="1200" b="0" i="0" u="none" strike="noStrike" baseline="0" dirty="0">
              <a:latin typeface="Times New Roman" panose="02020603050405020304" pitchFamily="18" charset="0"/>
              <a:cs typeface="Times New Roman" panose="02020603050405020304" pitchFamily="18" charset="0"/>
            </a:endParaRPr>
          </a:p>
          <a:p>
            <a:pPr algn="l"/>
            <a:endParaRPr lang="en-US" sz="1200" dirty="0">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class </a:t>
            </a:r>
            <a:r>
              <a:rPr lang="en-US" sz="2000" dirty="0" err="1">
                <a:solidFill>
                  <a:srgbClr val="0070C0"/>
                </a:solidFill>
                <a:latin typeface="Times New Roman" panose="02020603050405020304" pitchFamily="18" charset="0"/>
                <a:cs typeface="Times New Roman" panose="02020603050405020304" pitchFamily="18" charset="0"/>
              </a:rPr>
              <a:t>ExtendThread</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public static void main(String </a:t>
            </a:r>
            <a:r>
              <a:rPr lang="en-US" sz="2000" dirty="0" err="1">
                <a:solidFill>
                  <a:srgbClr val="0070C0"/>
                </a:solidFill>
                <a:latin typeface="Times New Roman" panose="02020603050405020304" pitchFamily="18" charset="0"/>
                <a:cs typeface="Times New Roman" panose="02020603050405020304" pitchFamily="18" charset="0"/>
              </a:rPr>
              <a:t>args</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 // create a new thread</a:t>
            </a:r>
          </a:p>
          <a:p>
            <a:r>
              <a:rPr lang="en-US" sz="2000" dirty="0">
                <a:solidFill>
                  <a:srgbClr val="0070C0"/>
                </a:solidFill>
                <a:latin typeface="Times New Roman" panose="02020603050405020304" pitchFamily="18" charset="0"/>
                <a:cs typeface="Times New Roman" panose="02020603050405020304" pitchFamily="18" charset="0"/>
              </a:rPr>
              <a:t>try {</a:t>
            </a:r>
          </a:p>
          <a:p>
            <a:r>
              <a:rPr lang="nn-NO" sz="2000" dirty="0">
                <a:solidFill>
                  <a:srgbClr val="0070C0"/>
                </a:solidFill>
                <a:latin typeface="Times New Roman" panose="02020603050405020304" pitchFamily="18" charset="0"/>
                <a:cs typeface="Times New Roman" panose="02020603050405020304" pitchFamily="18" charset="0"/>
              </a:rPr>
              <a:t>for(int i = 5; i &gt; 0; i--)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 + </a:t>
            </a:r>
            <a:r>
              <a:rPr lang="en-US" sz="2000" dirty="0" err="1">
                <a:solidFill>
                  <a:srgbClr val="0070C0"/>
                </a:solidFill>
                <a:latin typeface="Times New Roman" panose="02020603050405020304" pitchFamily="18" charset="0"/>
                <a:cs typeface="Times New Roman" panose="02020603050405020304" pitchFamily="18" charset="0"/>
              </a:rPr>
              <a:t>i</a:t>
            </a:r>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err="1">
                <a:solidFill>
                  <a:srgbClr val="0070C0"/>
                </a:solidFill>
                <a:latin typeface="Times New Roman" panose="02020603050405020304" pitchFamily="18" charset="0"/>
                <a:cs typeface="Times New Roman" panose="02020603050405020304" pitchFamily="18" charset="0"/>
              </a:rPr>
              <a:t>Thread.sleep</a:t>
            </a:r>
            <a:r>
              <a:rPr lang="en-US" sz="2000" dirty="0">
                <a:solidFill>
                  <a:srgbClr val="0070C0"/>
                </a:solidFill>
                <a:latin typeface="Times New Roman" panose="02020603050405020304" pitchFamily="18" charset="0"/>
                <a:cs typeface="Times New Roman" panose="02020603050405020304" pitchFamily="18" charset="0"/>
              </a:rPr>
              <a:t>(1000);</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 catch (</a:t>
            </a:r>
            <a:r>
              <a:rPr lang="en-US" sz="2000" dirty="0" err="1">
                <a:solidFill>
                  <a:srgbClr val="0070C0"/>
                </a:solidFill>
                <a:latin typeface="Times New Roman" panose="02020603050405020304" pitchFamily="18" charset="0"/>
                <a:cs typeface="Times New Roman" panose="02020603050405020304" pitchFamily="18" charset="0"/>
              </a:rPr>
              <a:t>InterruptedException</a:t>
            </a:r>
            <a:r>
              <a:rPr lang="en-US" sz="2000" dirty="0">
                <a:solidFill>
                  <a:srgbClr val="0070C0"/>
                </a:solidFill>
                <a:latin typeface="Times New Roman" panose="02020603050405020304" pitchFamily="18" charset="0"/>
                <a:cs typeface="Times New Roman" panose="02020603050405020304" pitchFamily="18" charset="0"/>
              </a:rPr>
              <a:t> e)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interrupted.");</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exiting.");</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09485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25</a:t>
            </a:fld>
            <a:endParaRPr lang="en-US"/>
          </a:p>
        </p:txBody>
      </p:sp>
      <p:sp>
        <p:nvSpPr>
          <p:cNvPr id="3" name="TextBox 2">
            <a:extLst>
              <a:ext uri="{FF2B5EF4-FFF2-40B4-BE49-F238E27FC236}">
                <a16:creationId xmlns:a16="http://schemas.microsoft.com/office/drawing/2014/main" id="{ACEAAF35-D608-CE0D-6C22-D5DD8CDDBA82}"/>
              </a:ext>
            </a:extLst>
          </p:cNvPr>
          <p:cNvSpPr txBox="1"/>
          <p:nvPr/>
        </p:nvSpPr>
        <p:spPr>
          <a:xfrm>
            <a:off x="403933" y="470732"/>
            <a:ext cx="8225161" cy="5816977"/>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Creating Multiple Threads</a:t>
            </a:r>
          </a:p>
          <a:p>
            <a:pPr algn="l"/>
            <a:endParaRPr lang="en-US" sz="1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So far, you have been using only two threads: the main thread and one child thread. However, your program can spawn as many threads as it needs. For example, the following program creates three child threads:</a:t>
            </a:r>
          </a:p>
          <a:p>
            <a:pPr algn="l"/>
            <a:endParaRPr lang="en-US" sz="100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Create multiple threads.</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implements Runnable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String name; // name of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Thread t;</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(String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threadname</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name =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threadname</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 = new Thread(this, name);</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("New thread: " + t);</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t.start</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Start the thread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F62476A-260F-EF83-9727-BB234803EF8C}"/>
              </a:ext>
            </a:extLst>
          </p:cNvPr>
          <p:cNvSpPr txBox="1"/>
          <p:nvPr/>
        </p:nvSpPr>
        <p:spPr>
          <a:xfrm>
            <a:off x="5139344" y="2693949"/>
            <a:ext cx="4084555" cy="3693319"/>
          </a:xfrm>
          <a:prstGeom prst="rect">
            <a:avLst/>
          </a:prstGeom>
          <a:noFill/>
        </p:spPr>
        <p:txBody>
          <a:bodyPr wrap="square">
            <a:spAutoFit/>
          </a:bodyPr>
          <a:lstStyle/>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 This is the entry point for thread.</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try {</a:t>
            </a:r>
          </a:p>
          <a:p>
            <a:pPr algn="l"/>
            <a:r>
              <a:rPr lang="nn-NO" sz="1800" b="0" i="0" u="none" strike="noStrike" baseline="0" dirty="0">
                <a:solidFill>
                  <a:srgbClr val="0070C0"/>
                </a:solidFill>
                <a:latin typeface="Times New Roman" panose="02020603050405020304" pitchFamily="18" charset="0"/>
                <a:cs typeface="Times New Roman" panose="02020603050405020304" pitchFamily="18" charset="0"/>
              </a:rPr>
              <a:t>for(int i = 5; i &gt; 0; i--)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(name + ": " +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Thread.sleep</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(1000);</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 catch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e)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(name + "Interrupted");</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(name + " exiting.");</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endParaRPr lang="en-US" sz="18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20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26</a:t>
            </a:fld>
            <a:endParaRPr lang="en-US"/>
          </a:p>
        </p:txBody>
      </p:sp>
      <p:sp>
        <p:nvSpPr>
          <p:cNvPr id="3" name="TextBox 2">
            <a:extLst>
              <a:ext uri="{FF2B5EF4-FFF2-40B4-BE49-F238E27FC236}">
                <a16:creationId xmlns:a16="http://schemas.microsoft.com/office/drawing/2014/main" id="{ACEAAF35-D608-CE0D-6C22-D5DD8CDDBA82}"/>
              </a:ext>
            </a:extLst>
          </p:cNvPr>
          <p:cNvSpPr txBox="1"/>
          <p:nvPr/>
        </p:nvSpPr>
        <p:spPr>
          <a:xfrm>
            <a:off x="403933" y="470732"/>
            <a:ext cx="4984813" cy="5663089"/>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Creating Multiple Threads</a:t>
            </a:r>
          </a:p>
          <a:p>
            <a:pPr algn="l"/>
            <a:endParaRPr lang="en-US" sz="1000" dirty="0">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 main program</a:t>
            </a:r>
          </a:p>
          <a:p>
            <a:r>
              <a:rPr lang="en-US" sz="2000" dirty="0">
                <a:solidFill>
                  <a:srgbClr val="0070C0"/>
                </a:solidFill>
                <a:latin typeface="Times New Roman" panose="02020603050405020304" pitchFamily="18" charset="0"/>
                <a:cs typeface="Times New Roman" panose="02020603050405020304" pitchFamily="18" charset="0"/>
              </a:rPr>
              <a:t>class </a:t>
            </a:r>
            <a:r>
              <a:rPr lang="en-US" sz="2000" dirty="0" err="1">
                <a:solidFill>
                  <a:srgbClr val="0070C0"/>
                </a:solidFill>
                <a:latin typeface="Times New Roman" panose="02020603050405020304" pitchFamily="18" charset="0"/>
                <a:cs typeface="Times New Roman" panose="02020603050405020304" pitchFamily="18" charset="0"/>
              </a:rPr>
              <a:t>MultiThreadDemo</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public static void main(String </a:t>
            </a:r>
            <a:r>
              <a:rPr lang="en-US" sz="2000" dirty="0" err="1">
                <a:solidFill>
                  <a:srgbClr val="0070C0"/>
                </a:solidFill>
                <a:latin typeface="Times New Roman" panose="02020603050405020304" pitchFamily="18" charset="0"/>
                <a:cs typeface="Times New Roman" panose="02020603050405020304" pitchFamily="18" charset="0"/>
              </a:rPr>
              <a:t>args</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("One"); // start threads</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("Two");</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("Three");</a:t>
            </a:r>
          </a:p>
          <a:p>
            <a:r>
              <a:rPr lang="en-US" sz="2000" dirty="0">
                <a:solidFill>
                  <a:srgbClr val="0070C0"/>
                </a:solidFill>
                <a:latin typeface="Times New Roman" panose="02020603050405020304" pitchFamily="18" charset="0"/>
                <a:cs typeface="Times New Roman" panose="02020603050405020304" pitchFamily="18" charset="0"/>
              </a:rPr>
              <a:t>try {</a:t>
            </a:r>
          </a:p>
          <a:p>
            <a:r>
              <a:rPr lang="en-US" sz="2000" dirty="0">
                <a:solidFill>
                  <a:srgbClr val="0070C0"/>
                </a:solidFill>
                <a:latin typeface="Times New Roman" panose="02020603050405020304" pitchFamily="18" charset="0"/>
                <a:cs typeface="Times New Roman" panose="02020603050405020304" pitchFamily="18" charset="0"/>
              </a:rPr>
              <a:t>// wait for other threads to end</a:t>
            </a:r>
          </a:p>
          <a:p>
            <a:r>
              <a:rPr lang="en-US" sz="2000" dirty="0" err="1">
                <a:solidFill>
                  <a:srgbClr val="0070C0"/>
                </a:solidFill>
                <a:latin typeface="Times New Roman" panose="02020603050405020304" pitchFamily="18" charset="0"/>
                <a:cs typeface="Times New Roman" panose="02020603050405020304" pitchFamily="18" charset="0"/>
              </a:rPr>
              <a:t>Thread.sleep</a:t>
            </a:r>
            <a:r>
              <a:rPr lang="en-US" sz="2000" dirty="0">
                <a:solidFill>
                  <a:srgbClr val="0070C0"/>
                </a:solidFill>
                <a:latin typeface="Times New Roman" panose="02020603050405020304" pitchFamily="18" charset="0"/>
                <a:cs typeface="Times New Roman" panose="02020603050405020304" pitchFamily="18" charset="0"/>
              </a:rPr>
              <a:t>(10000);</a:t>
            </a:r>
          </a:p>
          <a:p>
            <a:r>
              <a:rPr lang="en-US" sz="2000" dirty="0">
                <a:solidFill>
                  <a:srgbClr val="0070C0"/>
                </a:solidFill>
                <a:latin typeface="Times New Roman" panose="02020603050405020304" pitchFamily="18" charset="0"/>
                <a:cs typeface="Times New Roman" panose="02020603050405020304" pitchFamily="18" charset="0"/>
              </a:rPr>
              <a:t>} catch (</a:t>
            </a:r>
            <a:r>
              <a:rPr lang="en-US" sz="2000" dirty="0" err="1">
                <a:solidFill>
                  <a:srgbClr val="0070C0"/>
                </a:solidFill>
                <a:latin typeface="Times New Roman" panose="02020603050405020304" pitchFamily="18" charset="0"/>
                <a:cs typeface="Times New Roman" panose="02020603050405020304" pitchFamily="18" charset="0"/>
              </a:rPr>
              <a:t>InterruptedException</a:t>
            </a:r>
            <a:r>
              <a:rPr lang="en-US" sz="2000" dirty="0">
                <a:solidFill>
                  <a:srgbClr val="0070C0"/>
                </a:solidFill>
                <a:latin typeface="Times New Roman" panose="02020603050405020304" pitchFamily="18" charset="0"/>
                <a:cs typeface="Times New Roman" panose="02020603050405020304" pitchFamily="18" charset="0"/>
              </a:rPr>
              <a:t> e)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Interrupted");</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exiting.");</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a:p>
            <a:pPr algn="l"/>
            <a:endParaRPr lang="en-US"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5FCE4F7-00FF-A682-19CB-6C4A234A31E2}"/>
              </a:ext>
            </a:extLst>
          </p:cNvPr>
          <p:cNvSpPr txBox="1"/>
          <p:nvPr/>
        </p:nvSpPr>
        <p:spPr>
          <a:xfrm>
            <a:off x="5486400" y="346440"/>
            <a:ext cx="3480047" cy="6463308"/>
          </a:xfrm>
          <a:prstGeom prst="rect">
            <a:avLst/>
          </a:prstGeom>
          <a:noFill/>
        </p:spPr>
        <p:txBody>
          <a:bodyPr wrap="square">
            <a:spAutoFit/>
          </a:bodyPr>
          <a:lstStyle/>
          <a:p>
            <a:r>
              <a:rPr lang="en-US" b="1" dirty="0">
                <a:solidFill>
                  <a:srgbClr val="7030A0"/>
                </a:solidFill>
                <a:latin typeface="Times New Roman" panose="02020603050405020304" pitchFamily="18" charset="0"/>
                <a:cs typeface="Times New Roman" panose="02020603050405020304" pitchFamily="18" charset="0"/>
              </a:rPr>
              <a:t>Output</a:t>
            </a:r>
          </a:p>
          <a:p>
            <a:r>
              <a:rPr lang="en-US" dirty="0">
                <a:solidFill>
                  <a:srgbClr val="0070C0"/>
                </a:solidFill>
                <a:latin typeface="Times New Roman" panose="02020603050405020304" pitchFamily="18" charset="0"/>
                <a:cs typeface="Times New Roman" panose="02020603050405020304" pitchFamily="18" charset="0"/>
              </a:rPr>
              <a:t>New thread: Thread[One,5,main]</a:t>
            </a:r>
          </a:p>
          <a:p>
            <a:r>
              <a:rPr lang="en-US" dirty="0">
                <a:solidFill>
                  <a:srgbClr val="0070C0"/>
                </a:solidFill>
                <a:latin typeface="Times New Roman" panose="02020603050405020304" pitchFamily="18" charset="0"/>
                <a:cs typeface="Times New Roman" panose="02020603050405020304" pitchFamily="18" charset="0"/>
              </a:rPr>
              <a:t>New thread: Thread[Two,5,main]</a:t>
            </a:r>
          </a:p>
          <a:p>
            <a:r>
              <a:rPr lang="en-US" dirty="0">
                <a:solidFill>
                  <a:srgbClr val="0070C0"/>
                </a:solidFill>
                <a:latin typeface="Times New Roman" panose="02020603050405020304" pitchFamily="18" charset="0"/>
                <a:cs typeface="Times New Roman" panose="02020603050405020304" pitchFamily="18" charset="0"/>
              </a:rPr>
              <a:t>New thread: Thread[Three,5,main]</a:t>
            </a:r>
          </a:p>
          <a:p>
            <a:r>
              <a:rPr lang="en-US" dirty="0">
                <a:solidFill>
                  <a:srgbClr val="0070C0"/>
                </a:solidFill>
                <a:latin typeface="Times New Roman" panose="02020603050405020304" pitchFamily="18" charset="0"/>
                <a:cs typeface="Times New Roman" panose="02020603050405020304" pitchFamily="18" charset="0"/>
              </a:rPr>
              <a:t>One: 5</a:t>
            </a:r>
          </a:p>
          <a:p>
            <a:r>
              <a:rPr lang="en-US" dirty="0">
                <a:solidFill>
                  <a:srgbClr val="0070C0"/>
                </a:solidFill>
                <a:latin typeface="Times New Roman" panose="02020603050405020304" pitchFamily="18" charset="0"/>
                <a:cs typeface="Times New Roman" panose="02020603050405020304" pitchFamily="18" charset="0"/>
              </a:rPr>
              <a:t>Two: 5</a:t>
            </a:r>
          </a:p>
          <a:p>
            <a:r>
              <a:rPr lang="en-US" dirty="0">
                <a:solidFill>
                  <a:srgbClr val="0070C0"/>
                </a:solidFill>
                <a:latin typeface="Times New Roman" panose="02020603050405020304" pitchFamily="18" charset="0"/>
                <a:cs typeface="Times New Roman" panose="02020603050405020304" pitchFamily="18" charset="0"/>
              </a:rPr>
              <a:t>Three: 5</a:t>
            </a:r>
          </a:p>
          <a:p>
            <a:r>
              <a:rPr lang="en-US" dirty="0">
                <a:solidFill>
                  <a:srgbClr val="0070C0"/>
                </a:solidFill>
                <a:latin typeface="Times New Roman" panose="02020603050405020304" pitchFamily="18" charset="0"/>
                <a:cs typeface="Times New Roman" panose="02020603050405020304" pitchFamily="18" charset="0"/>
              </a:rPr>
              <a:t>One: 4</a:t>
            </a:r>
          </a:p>
          <a:p>
            <a:r>
              <a:rPr lang="en-US" dirty="0">
                <a:solidFill>
                  <a:srgbClr val="0070C0"/>
                </a:solidFill>
                <a:latin typeface="Times New Roman" panose="02020603050405020304" pitchFamily="18" charset="0"/>
                <a:cs typeface="Times New Roman" panose="02020603050405020304" pitchFamily="18" charset="0"/>
              </a:rPr>
              <a:t>Two: 4</a:t>
            </a:r>
          </a:p>
          <a:p>
            <a:r>
              <a:rPr lang="en-US" dirty="0">
                <a:solidFill>
                  <a:srgbClr val="0070C0"/>
                </a:solidFill>
                <a:latin typeface="Times New Roman" panose="02020603050405020304" pitchFamily="18" charset="0"/>
                <a:cs typeface="Times New Roman" panose="02020603050405020304" pitchFamily="18" charset="0"/>
              </a:rPr>
              <a:t>Three: 4</a:t>
            </a:r>
          </a:p>
          <a:p>
            <a:r>
              <a:rPr lang="en-US" dirty="0">
                <a:solidFill>
                  <a:srgbClr val="0070C0"/>
                </a:solidFill>
                <a:latin typeface="Times New Roman" panose="02020603050405020304" pitchFamily="18" charset="0"/>
                <a:cs typeface="Times New Roman" panose="02020603050405020304" pitchFamily="18" charset="0"/>
              </a:rPr>
              <a:t>One: 3</a:t>
            </a:r>
          </a:p>
          <a:p>
            <a:r>
              <a:rPr lang="en-US" dirty="0">
                <a:solidFill>
                  <a:srgbClr val="0070C0"/>
                </a:solidFill>
                <a:latin typeface="Times New Roman" panose="02020603050405020304" pitchFamily="18" charset="0"/>
                <a:cs typeface="Times New Roman" panose="02020603050405020304" pitchFamily="18" charset="0"/>
              </a:rPr>
              <a:t>Three: 3</a:t>
            </a:r>
          </a:p>
          <a:p>
            <a:r>
              <a:rPr lang="en-US" dirty="0">
                <a:solidFill>
                  <a:srgbClr val="0070C0"/>
                </a:solidFill>
                <a:latin typeface="Times New Roman" panose="02020603050405020304" pitchFamily="18" charset="0"/>
                <a:cs typeface="Times New Roman" panose="02020603050405020304" pitchFamily="18" charset="0"/>
              </a:rPr>
              <a:t>Two: 3</a:t>
            </a:r>
          </a:p>
          <a:p>
            <a:r>
              <a:rPr lang="en-US" dirty="0">
                <a:solidFill>
                  <a:srgbClr val="0070C0"/>
                </a:solidFill>
                <a:latin typeface="Times New Roman" panose="02020603050405020304" pitchFamily="18" charset="0"/>
                <a:cs typeface="Times New Roman" panose="02020603050405020304" pitchFamily="18" charset="0"/>
              </a:rPr>
              <a:t>One: 2</a:t>
            </a:r>
          </a:p>
          <a:p>
            <a:r>
              <a:rPr lang="en-US" dirty="0">
                <a:solidFill>
                  <a:srgbClr val="0070C0"/>
                </a:solidFill>
                <a:latin typeface="Times New Roman" panose="02020603050405020304" pitchFamily="18" charset="0"/>
                <a:cs typeface="Times New Roman" panose="02020603050405020304" pitchFamily="18" charset="0"/>
              </a:rPr>
              <a:t>Three: 2</a:t>
            </a:r>
          </a:p>
          <a:p>
            <a:r>
              <a:rPr lang="en-US" dirty="0">
                <a:solidFill>
                  <a:srgbClr val="0070C0"/>
                </a:solidFill>
                <a:latin typeface="Times New Roman" panose="02020603050405020304" pitchFamily="18" charset="0"/>
                <a:cs typeface="Times New Roman" panose="02020603050405020304" pitchFamily="18" charset="0"/>
              </a:rPr>
              <a:t>Two: 2</a:t>
            </a:r>
          </a:p>
          <a:p>
            <a:r>
              <a:rPr lang="en-US" dirty="0">
                <a:solidFill>
                  <a:srgbClr val="0070C0"/>
                </a:solidFill>
                <a:latin typeface="Times New Roman" panose="02020603050405020304" pitchFamily="18" charset="0"/>
                <a:cs typeface="Times New Roman" panose="02020603050405020304" pitchFamily="18" charset="0"/>
              </a:rPr>
              <a:t>One: 1</a:t>
            </a:r>
          </a:p>
          <a:p>
            <a:r>
              <a:rPr lang="en-US" dirty="0">
                <a:solidFill>
                  <a:srgbClr val="0070C0"/>
                </a:solidFill>
                <a:latin typeface="Times New Roman" panose="02020603050405020304" pitchFamily="18" charset="0"/>
                <a:cs typeface="Times New Roman" panose="02020603050405020304" pitchFamily="18" charset="0"/>
              </a:rPr>
              <a:t>Three: 1</a:t>
            </a:r>
          </a:p>
          <a:p>
            <a:r>
              <a:rPr lang="en-US" dirty="0">
                <a:solidFill>
                  <a:srgbClr val="0070C0"/>
                </a:solidFill>
                <a:latin typeface="Times New Roman" panose="02020603050405020304" pitchFamily="18" charset="0"/>
                <a:cs typeface="Times New Roman" panose="02020603050405020304" pitchFamily="18" charset="0"/>
              </a:rPr>
              <a:t>Two: 1</a:t>
            </a:r>
          </a:p>
          <a:p>
            <a:r>
              <a:rPr lang="en-US" dirty="0">
                <a:solidFill>
                  <a:srgbClr val="0070C0"/>
                </a:solidFill>
                <a:latin typeface="Times New Roman" panose="02020603050405020304" pitchFamily="18" charset="0"/>
                <a:cs typeface="Times New Roman" panose="02020603050405020304" pitchFamily="18" charset="0"/>
              </a:rPr>
              <a:t>One exiting.</a:t>
            </a:r>
          </a:p>
          <a:p>
            <a:r>
              <a:rPr lang="en-US" dirty="0">
                <a:solidFill>
                  <a:srgbClr val="0070C0"/>
                </a:solidFill>
                <a:latin typeface="Times New Roman" panose="02020603050405020304" pitchFamily="18" charset="0"/>
                <a:cs typeface="Times New Roman" panose="02020603050405020304" pitchFamily="18" charset="0"/>
              </a:rPr>
              <a:t>Two exiting.</a:t>
            </a:r>
          </a:p>
          <a:p>
            <a:r>
              <a:rPr lang="en-US" dirty="0">
                <a:solidFill>
                  <a:srgbClr val="0070C0"/>
                </a:solidFill>
                <a:latin typeface="Times New Roman" panose="02020603050405020304" pitchFamily="18" charset="0"/>
                <a:cs typeface="Times New Roman" panose="02020603050405020304" pitchFamily="18" charset="0"/>
              </a:rPr>
              <a:t>Three exiting.</a:t>
            </a:r>
          </a:p>
          <a:p>
            <a:r>
              <a:rPr lang="en-US" dirty="0">
                <a:solidFill>
                  <a:srgbClr val="0070C0"/>
                </a:solidFill>
                <a:latin typeface="Times New Roman" panose="02020603050405020304" pitchFamily="18" charset="0"/>
                <a:cs typeface="Times New Roman" panose="02020603050405020304" pitchFamily="18" charset="0"/>
              </a:rPr>
              <a:t>Main thread exiting.</a:t>
            </a:r>
          </a:p>
        </p:txBody>
      </p:sp>
    </p:spTree>
    <p:extLst>
      <p:ext uri="{BB962C8B-B14F-4D97-AF65-F5344CB8AC3E}">
        <p14:creationId xmlns:p14="http://schemas.microsoft.com/office/powerpoint/2010/main" val="6452673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27</a:t>
            </a:fld>
            <a:endParaRPr lang="en-US"/>
          </a:p>
        </p:txBody>
      </p:sp>
      <p:sp>
        <p:nvSpPr>
          <p:cNvPr id="3" name="TextBox 2">
            <a:extLst>
              <a:ext uri="{FF2B5EF4-FFF2-40B4-BE49-F238E27FC236}">
                <a16:creationId xmlns:a16="http://schemas.microsoft.com/office/drawing/2014/main" id="{35335A33-02ED-6C8C-44A5-607A833D1E85}"/>
              </a:ext>
            </a:extLst>
          </p:cNvPr>
          <p:cNvSpPr txBox="1"/>
          <p:nvPr/>
        </p:nvSpPr>
        <p:spPr>
          <a:xfrm>
            <a:off x="292963" y="548841"/>
            <a:ext cx="8460420" cy="1877437"/>
          </a:xfrm>
          <a:prstGeom prst="rect">
            <a:avLst/>
          </a:prstGeom>
          <a:noFill/>
        </p:spPr>
        <p:txBody>
          <a:bodyPr wrap="square">
            <a:spAutoFit/>
          </a:bodyPr>
          <a:lstStyle/>
          <a:p>
            <a:pPr algn="l"/>
            <a:r>
              <a:rPr lang="en-US" sz="4400" b="1" i="0" u="none" strike="noStrike" baseline="0" dirty="0">
                <a:latin typeface="DINMittelEFOP-Bold"/>
              </a:rPr>
              <a:t>Using </a:t>
            </a:r>
            <a:r>
              <a:rPr lang="en-US" sz="4400" b="1" i="0" u="none" strike="noStrike" baseline="0" dirty="0" err="1">
                <a:latin typeface="DINMittelEFOP-Bold"/>
              </a:rPr>
              <a:t>isAlive</a:t>
            </a:r>
            <a:r>
              <a:rPr lang="en-US" sz="4400" b="1" i="0" u="none" strike="noStrike" baseline="0" dirty="0">
                <a:latin typeface="DINMittelEFOP-Bold"/>
              </a:rPr>
              <a:t>( ) and join( )</a:t>
            </a:r>
          </a:p>
          <a:p>
            <a:pPr algn="l"/>
            <a:r>
              <a:rPr lang="en-US" sz="1800" b="0" i="0" u="none" strike="noStrike" baseline="0" dirty="0">
                <a:latin typeface="NewBaskervilleStd-Roman"/>
              </a:rPr>
              <a:t>As mentioned, often you will want the main thread to finish last. In the preceding examples,</a:t>
            </a:r>
          </a:p>
          <a:p>
            <a:pPr algn="l"/>
            <a:r>
              <a:rPr lang="en-US" sz="1800" b="0" i="0" u="none" strike="noStrike" baseline="0" dirty="0">
                <a:latin typeface="NewBaskervilleStd-Roman"/>
              </a:rPr>
              <a:t>this is accomplished by calling </a:t>
            </a:r>
            <a:r>
              <a:rPr lang="en-US" sz="1800" b="1" i="0" u="none" strike="noStrike" baseline="0" dirty="0">
                <a:latin typeface="NewBaskervilleStd-Bold"/>
              </a:rPr>
              <a:t>sleep( ) </a:t>
            </a:r>
            <a:r>
              <a:rPr lang="en-US" sz="1800" b="0" i="0" u="none" strike="noStrike" baseline="0" dirty="0">
                <a:latin typeface="NewBaskervilleStd-Roman"/>
              </a:rPr>
              <a:t>within </a:t>
            </a:r>
            <a:r>
              <a:rPr lang="en-US" sz="1800" b="1" i="0" u="none" strike="noStrike" baseline="0" dirty="0">
                <a:latin typeface="NewBaskervilleStd-Bold"/>
              </a:rPr>
              <a:t>main( )</a:t>
            </a:r>
            <a:r>
              <a:rPr lang="en-US" sz="1800" b="0" i="0" u="none" strike="noStrike" baseline="0" dirty="0">
                <a:latin typeface="NewBaskervilleStd-Roman"/>
              </a:rPr>
              <a:t>, with a long enough delay to ensure</a:t>
            </a:r>
          </a:p>
          <a:p>
            <a:pPr algn="l"/>
            <a:r>
              <a:rPr lang="en-US" sz="1800" b="0" i="0" u="none" strike="noStrike" baseline="0" dirty="0">
                <a:latin typeface="NewBaskervilleStd-Roman"/>
              </a:rPr>
              <a:t>that all child threads terminate prior to the main thread. However, this is hardly a</a:t>
            </a:r>
            <a:endParaRPr lang="en-US" dirty="0"/>
          </a:p>
        </p:txBody>
      </p:sp>
    </p:spTree>
    <p:extLst>
      <p:ext uri="{BB962C8B-B14F-4D97-AF65-F5344CB8AC3E}">
        <p14:creationId xmlns:p14="http://schemas.microsoft.com/office/powerpoint/2010/main" val="3684719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28</a:t>
            </a:fld>
            <a:endParaRPr lang="en-US"/>
          </a:p>
        </p:txBody>
      </p:sp>
      <p:sp>
        <p:nvSpPr>
          <p:cNvPr id="3" name="TextBox 2">
            <a:extLst>
              <a:ext uri="{FF2B5EF4-FFF2-40B4-BE49-F238E27FC236}">
                <a16:creationId xmlns:a16="http://schemas.microsoft.com/office/drawing/2014/main" id="{6E5BEAFE-FB34-41DF-5EB5-E6528AC0C975}"/>
              </a:ext>
            </a:extLst>
          </p:cNvPr>
          <p:cNvSpPr txBox="1"/>
          <p:nvPr/>
        </p:nvSpPr>
        <p:spPr>
          <a:xfrm>
            <a:off x="497150" y="553508"/>
            <a:ext cx="8220722" cy="3785652"/>
          </a:xfrm>
          <a:prstGeom prst="rect">
            <a:avLst/>
          </a:prstGeom>
          <a:noFill/>
        </p:spPr>
        <p:txBody>
          <a:bodyPr wrap="square">
            <a:spAutoFit/>
          </a:bodyPr>
          <a:lstStyle/>
          <a:p>
            <a:pPr algn="l"/>
            <a:r>
              <a:rPr lang="en-US" sz="2400" b="1" i="0" u="none" strike="noStrike" baseline="0" dirty="0">
                <a:solidFill>
                  <a:srgbClr val="0070C0"/>
                </a:solidFill>
                <a:latin typeface="Times New Roman" panose="02020603050405020304" pitchFamily="18" charset="0"/>
                <a:cs typeface="Times New Roman" panose="02020603050405020304" pitchFamily="18" charset="0"/>
              </a:rPr>
              <a:t>Thread Priorities</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Thread priorities are used by the thread scheduler to decide when each thread should be allowed to run. In theory, over a given period of time, higher-priority threads get more CPU time than lower-priority threads. In practice, the amount of CPU time that a thread gets often depends on several factors besides its priority. </a:t>
            </a:r>
          </a:p>
          <a:p>
            <a:pPr algn="l"/>
            <a:endParaRPr lang="en-US" sz="240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A higher-priority thread can also preempt a lower-priority one. </a:t>
            </a:r>
          </a:p>
          <a:p>
            <a:pPr algn="l"/>
            <a:endParaRPr lang="en-US" sz="2400"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1518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29</a:t>
            </a:fld>
            <a:endParaRPr lang="en-US"/>
          </a:p>
        </p:txBody>
      </p:sp>
      <p:sp>
        <p:nvSpPr>
          <p:cNvPr id="3" name="TextBox 2">
            <a:extLst>
              <a:ext uri="{FF2B5EF4-FFF2-40B4-BE49-F238E27FC236}">
                <a16:creationId xmlns:a16="http://schemas.microsoft.com/office/drawing/2014/main" id="{6E5BEAFE-FB34-41DF-5EB5-E6528AC0C975}"/>
              </a:ext>
            </a:extLst>
          </p:cNvPr>
          <p:cNvSpPr txBox="1"/>
          <p:nvPr/>
        </p:nvSpPr>
        <p:spPr>
          <a:xfrm>
            <a:off x="497150" y="553508"/>
            <a:ext cx="8220722" cy="6155531"/>
          </a:xfrm>
          <a:prstGeom prst="rect">
            <a:avLst/>
          </a:prstGeom>
          <a:noFill/>
        </p:spPr>
        <p:txBody>
          <a:bodyPr wrap="square">
            <a:spAutoFit/>
          </a:bodyPr>
          <a:lstStyle/>
          <a:p>
            <a:pPr algn="l"/>
            <a:r>
              <a:rPr lang="en-US" sz="2400" b="1" i="0" u="none" strike="noStrike" baseline="0" dirty="0">
                <a:solidFill>
                  <a:srgbClr val="0070C0"/>
                </a:solidFill>
                <a:latin typeface="Times New Roman" panose="02020603050405020304" pitchFamily="18" charset="0"/>
                <a:cs typeface="Times New Roman" panose="02020603050405020304" pitchFamily="18" charset="0"/>
              </a:rPr>
              <a:t>Thread Priorities</a:t>
            </a:r>
          </a:p>
          <a:p>
            <a:pPr algn="l"/>
            <a:endParaRPr lang="en-US" sz="2400" b="0" i="0" u="none" strike="noStrike" baseline="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To set a thread’s priority, use the </a:t>
            </a:r>
            <a:r>
              <a:rPr lang="en-US" sz="2400" dirty="0" err="1">
                <a:solidFill>
                  <a:srgbClr val="0070C0"/>
                </a:solidFill>
                <a:latin typeface="Times New Roman" panose="02020603050405020304" pitchFamily="18" charset="0"/>
                <a:cs typeface="Times New Roman" panose="02020603050405020304" pitchFamily="18" charset="0"/>
              </a:rPr>
              <a:t>setPriority</a:t>
            </a:r>
            <a:r>
              <a:rPr lang="en-US" sz="2400" dirty="0">
                <a:solidFill>
                  <a:srgbClr val="0070C0"/>
                </a:solidFill>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method, which is a member of Thread. This is its general form: </a:t>
            </a:r>
          </a:p>
          <a:p>
            <a:endParaRPr lang="en-US" sz="1200" dirty="0">
              <a:latin typeface="Times New Roman" panose="02020603050405020304" pitchFamily="18" charset="0"/>
              <a:cs typeface="Times New Roman" panose="02020603050405020304" pitchFamily="18" charset="0"/>
            </a:endParaRPr>
          </a:p>
          <a:p>
            <a:r>
              <a:rPr lang="en-US" sz="2400" dirty="0">
                <a:solidFill>
                  <a:srgbClr val="0070C0"/>
                </a:solidFill>
                <a:latin typeface="Times New Roman" panose="02020603050405020304" pitchFamily="18" charset="0"/>
                <a:cs typeface="Times New Roman" panose="02020603050405020304" pitchFamily="18" charset="0"/>
              </a:rPr>
              <a:t>final void </a:t>
            </a:r>
            <a:r>
              <a:rPr lang="en-US" sz="2400" dirty="0" err="1">
                <a:solidFill>
                  <a:srgbClr val="0070C0"/>
                </a:solidFill>
                <a:latin typeface="Times New Roman" panose="02020603050405020304" pitchFamily="18" charset="0"/>
                <a:cs typeface="Times New Roman" panose="02020603050405020304" pitchFamily="18" charset="0"/>
              </a:rPr>
              <a:t>setPriority</a:t>
            </a:r>
            <a:r>
              <a:rPr lang="en-US" sz="2400" dirty="0">
                <a:solidFill>
                  <a:srgbClr val="0070C0"/>
                </a:solidFill>
                <a:latin typeface="Times New Roman" panose="02020603050405020304" pitchFamily="18" charset="0"/>
                <a:cs typeface="Times New Roman" panose="02020603050405020304" pitchFamily="18" charset="0"/>
              </a:rPr>
              <a:t>(int level)</a:t>
            </a:r>
          </a:p>
          <a:p>
            <a:endParaRPr lang="en-US" sz="1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Here, level specifies the new priority setting for the calling thread. The value of level as follows:</a:t>
            </a:r>
          </a:p>
          <a:p>
            <a:endParaRPr lang="en-US" sz="1200" dirty="0">
              <a:solidFill>
                <a:srgbClr val="0070C0"/>
              </a:solidFill>
              <a:latin typeface="Times New Roman" panose="02020603050405020304" pitchFamily="18" charset="0"/>
              <a:cs typeface="Times New Roman" panose="02020603050405020304" pitchFamily="18" charset="0"/>
            </a:endParaRPr>
          </a:p>
          <a:p>
            <a:r>
              <a:rPr lang="en-US" sz="2400" dirty="0">
                <a:solidFill>
                  <a:srgbClr val="0070C0"/>
                </a:solidFill>
                <a:latin typeface="Times New Roman" panose="02020603050405020304" pitchFamily="18" charset="0"/>
                <a:cs typeface="Times New Roman" panose="02020603050405020304" pitchFamily="18" charset="0"/>
              </a:rPr>
              <a:t>MIN_PRIORITY = 1 </a:t>
            </a:r>
          </a:p>
          <a:p>
            <a:r>
              <a:rPr lang="en-US" sz="2400" dirty="0">
                <a:solidFill>
                  <a:srgbClr val="0070C0"/>
                </a:solidFill>
                <a:latin typeface="Times New Roman" panose="02020603050405020304" pitchFamily="18" charset="0"/>
                <a:cs typeface="Times New Roman" panose="02020603050405020304" pitchFamily="18" charset="0"/>
              </a:rPr>
              <a:t>NORM_PRIORITY = 5</a:t>
            </a:r>
          </a:p>
          <a:p>
            <a:r>
              <a:rPr lang="en-US" sz="2400" dirty="0">
                <a:solidFill>
                  <a:srgbClr val="0070C0"/>
                </a:solidFill>
                <a:latin typeface="Times New Roman" panose="02020603050405020304" pitchFamily="18" charset="0"/>
                <a:cs typeface="Times New Roman" panose="02020603050405020304" pitchFamily="18" charset="0"/>
              </a:rPr>
              <a:t>MAX_PRIORITY = 10 </a:t>
            </a:r>
          </a:p>
          <a:p>
            <a:endParaRPr lang="en-US" sz="16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You can obtain the current priority setting by calling the </a:t>
            </a:r>
            <a:r>
              <a:rPr lang="en-US" sz="2400" dirty="0" err="1">
                <a:solidFill>
                  <a:srgbClr val="0070C0"/>
                </a:solidFill>
                <a:latin typeface="Times New Roman" panose="02020603050405020304" pitchFamily="18" charset="0"/>
                <a:cs typeface="Times New Roman" panose="02020603050405020304" pitchFamily="18" charset="0"/>
              </a:rPr>
              <a:t>getPriority</a:t>
            </a:r>
            <a:r>
              <a:rPr lang="en-US" sz="2400" dirty="0">
                <a:solidFill>
                  <a:srgbClr val="0070C0"/>
                </a:solidFill>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method of Thread, shown here:</a:t>
            </a:r>
          </a:p>
          <a:p>
            <a:endParaRPr lang="en-US" dirty="0">
              <a:latin typeface="Times New Roman" panose="02020603050405020304" pitchFamily="18" charset="0"/>
              <a:cs typeface="Times New Roman" panose="02020603050405020304" pitchFamily="18" charset="0"/>
            </a:endParaRPr>
          </a:p>
          <a:p>
            <a:r>
              <a:rPr lang="en-US" sz="2400" dirty="0">
                <a:solidFill>
                  <a:srgbClr val="0070C0"/>
                </a:solidFill>
                <a:latin typeface="Times New Roman" panose="02020603050405020304" pitchFamily="18" charset="0"/>
                <a:cs typeface="Times New Roman" panose="02020603050405020304" pitchFamily="18" charset="0"/>
              </a:rPr>
              <a:t>final int </a:t>
            </a:r>
            <a:r>
              <a:rPr lang="en-US" sz="2400" dirty="0" err="1">
                <a:solidFill>
                  <a:srgbClr val="0070C0"/>
                </a:solidFill>
                <a:latin typeface="Times New Roman" panose="02020603050405020304" pitchFamily="18" charset="0"/>
                <a:cs typeface="Times New Roman" panose="02020603050405020304" pitchFamily="18" charset="0"/>
              </a:rPr>
              <a:t>getPriority</a:t>
            </a:r>
            <a:r>
              <a:rPr lang="en-US" sz="2400" dirty="0">
                <a:solidFill>
                  <a:srgbClr val="0070C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232294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30</a:t>
            </a:fld>
            <a:endParaRPr lang="en-US"/>
          </a:p>
        </p:txBody>
      </p:sp>
      <p:sp>
        <p:nvSpPr>
          <p:cNvPr id="3" name="TextBox 2">
            <a:extLst>
              <a:ext uri="{FF2B5EF4-FFF2-40B4-BE49-F238E27FC236}">
                <a16:creationId xmlns:a16="http://schemas.microsoft.com/office/drawing/2014/main" id="{0AE61E3F-E749-3A3C-4723-587D7E73108A}"/>
              </a:ext>
            </a:extLst>
          </p:cNvPr>
          <p:cNvSpPr txBox="1"/>
          <p:nvPr/>
        </p:nvSpPr>
        <p:spPr>
          <a:xfrm>
            <a:off x="319596" y="382297"/>
            <a:ext cx="4785064" cy="5078313"/>
          </a:xfrm>
          <a:prstGeom prst="rect">
            <a:avLst/>
          </a:prstGeom>
          <a:noFill/>
        </p:spPr>
        <p:txBody>
          <a:bodyPr wrap="square">
            <a:spAutoFit/>
          </a:bodyPr>
          <a:lstStyle/>
          <a:p>
            <a:r>
              <a:rPr lang="en-US" sz="2400" b="1" dirty="0">
                <a:solidFill>
                  <a:srgbClr val="7030A0"/>
                </a:solidFill>
                <a:latin typeface="Times New Roman" panose="02020603050405020304" pitchFamily="18" charset="0"/>
                <a:cs typeface="Times New Roman" panose="02020603050405020304" pitchFamily="18" charset="0"/>
              </a:rPr>
              <a:t>Example</a:t>
            </a:r>
          </a:p>
          <a:p>
            <a:endParaRPr lang="en-US" sz="2000" dirty="0">
              <a:solidFill>
                <a:srgbClr val="0070C0"/>
              </a:solidFill>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 Create multiple threads.</a:t>
            </a:r>
          </a:p>
          <a:p>
            <a:r>
              <a:rPr lang="en-US" sz="2000" dirty="0">
                <a:solidFill>
                  <a:srgbClr val="0070C0"/>
                </a:solidFill>
                <a:latin typeface="Times New Roman" panose="02020603050405020304" pitchFamily="18" charset="0"/>
                <a:cs typeface="Times New Roman" panose="02020603050405020304" pitchFamily="18" charset="0"/>
              </a:rPr>
              <a:t>class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 implements Runnable {</a:t>
            </a:r>
          </a:p>
          <a:p>
            <a:r>
              <a:rPr lang="en-US" sz="2000" dirty="0">
                <a:solidFill>
                  <a:srgbClr val="0070C0"/>
                </a:solidFill>
                <a:latin typeface="Times New Roman" panose="02020603050405020304" pitchFamily="18" charset="0"/>
                <a:cs typeface="Times New Roman" panose="02020603050405020304" pitchFamily="18" charset="0"/>
              </a:rPr>
              <a:t>String name; // name of thread</a:t>
            </a:r>
          </a:p>
          <a:p>
            <a:r>
              <a:rPr lang="en-US" sz="2000" dirty="0">
                <a:solidFill>
                  <a:srgbClr val="0070C0"/>
                </a:solidFill>
                <a:latin typeface="Times New Roman" panose="02020603050405020304" pitchFamily="18" charset="0"/>
                <a:cs typeface="Times New Roman" panose="02020603050405020304" pitchFamily="18" charset="0"/>
              </a:rPr>
              <a:t>Thread t;</a:t>
            </a:r>
          </a:p>
          <a:p>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(String </a:t>
            </a:r>
            <a:r>
              <a:rPr lang="en-US" sz="2000" dirty="0" err="1">
                <a:solidFill>
                  <a:srgbClr val="0070C0"/>
                </a:solidFill>
                <a:latin typeface="Times New Roman" panose="02020603050405020304" pitchFamily="18" charset="0"/>
                <a:cs typeface="Times New Roman" panose="02020603050405020304" pitchFamily="18" charset="0"/>
              </a:rPr>
              <a:t>threadname</a:t>
            </a:r>
            <a:r>
              <a:rPr lang="en-US" sz="2000" dirty="0">
                <a:solidFill>
                  <a:srgbClr val="0070C0"/>
                </a:solidFill>
                <a:latin typeface="Times New Roman" panose="02020603050405020304" pitchFamily="18" charset="0"/>
                <a:cs typeface="Times New Roman" panose="02020603050405020304" pitchFamily="18" charset="0"/>
              </a:rPr>
              <a:t>, int level) {</a:t>
            </a:r>
          </a:p>
          <a:p>
            <a:r>
              <a:rPr lang="en-US" sz="2000" dirty="0">
                <a:solidFill>
                  <a:srgbClr val="0070C0"/>
                </a:solidFill>
                <a:latin typeface="Times New Roman" panose="02020603050405020304" pitchFamily="18" charset="0"/>
                <a:cs typeface="Times New Roman" panose="02020603050405020304" pitchFamily="18" charset="0"/>
              </a:rPr>
              <a:t>name = </a:t>
            </a:r>
            <a:r>
              <a:rPr lang="en-US" sz="2000" dirty="0" err="1">
                <a:solidFill>
                  <a:srgbClr val="0070C0"/>
                </a:solidFill>
                <a:latin typeface="Times New Roman" panose="02020603050405020304" pitchFamily="18" charset="0"/>
                <a:cs typeface="Times New Roman" panose="02020603050405020304" pitchFamily="18" charset="0"/>
              </a:rPr>
              <a:t>threadname</a:t>
            </a:r>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t = new Thread(this, name);</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("New thread: " + t);</a:t>
            </a:r>
          </a:p>
          <a:p>
            <a:endParaRPr lang="en-US" sz="2000" dirty="0">
              <a:solidFill>
                <a:srgbClr val="0070C0"/>
              </a:solidFill>
              <a:latin typeface="Times New Roman" panose="02020603050405020304" pitchFamily="18" charset="0"/>
              <a:cs typeface="Times New Roman" panose="02020603050405020304" pitchFamily="18" charset="0"/>
            </a:endParaRPr>
          </a:p>
          <a:p>
            <a:r>
              <a:rPr lang="en-US" sz="2000" dirty="0" err="1">
                <a:solidFill>
                  <a:srgbClr val="0070C0"/>
                </a:solidFill>
                <a:latin typeface="Times New Roman" panose="02020603050405020304" pitchFamily="18" charset="0"/>
                <a:cs typeface="Times New Roman" panose="02020603050405020304" pitchFamily="18" charset="0"/>
              </a:rPr>
              <a:t>t.setPriority</a:t>
            </a:r>
            <a:r>
              <a:rPr lang="en-US" sz="2000" dirty="0">
                <a:solidFill>
                  <a:srgbClr val="0070C0"/>
                </a:solidFill>
                <a:latin typeface="Times New Roman" panose="02020603050405020304" pitchFamily="18" charset="0"/>
                <a:cs typeface="Times New Roman" panose="02020603050405020304" pitchFamily="18" charset="0"/>
              </a:rPr>
              <a:t>(level);</a:t>
            </a:r>
          </a:p>
          <a:p>
            <a:endParaRPr lang="en-US" sz="2000" dirty="0">
              <a:solidFill>
                <a:srgbClr val="0070C0"/>
              </a:solidFill>
              <a:latin typeface="Times New Roman" panose="02020603050405020304" pitchFamily="18" charset="0"/>
              <a:cs typeface="Times New Roman" panose="02020603050405020304" pitchFamily="18" charset="0"/>
            </a:endParaRPr>
          </a:p>
          <a:p>
            <a:r>
              <a:rPr lang="en-US" sz="2000" dirty="0" err="1">
                <a:solidFill>
                  <a:srgbClr val="0070C0"/>
                </a:solidFill>
                <a:latin typeface="Times New Roman" panose="02020603050405020304" pitchFamily="18" charset="0"/>
                <a:cs typeface="Times New Roman" panose="02020603050405020304" pitchFamily="18" charset="0"/>
              </a:rPr>
              <a:t>t.start</a:t>
            </a:r>
            <a:r>
              <a:rPr lang="en-US" sz="2000" dirty="0">
                <a:solidFill>
                  <a:srgbClr val="0070C0"/>
                </a:solidFill>
                <a:latin typeface="Times New Roman" panose="02020603050405020304" pitchFamily="18" charset="0"/>
                <a:cs typeface="Times New Roman" panose="02020603050405020304" pitchFamily="18" charset="0"/>
              </a:rPr>
              <a:t>(); // Start the thread</a:t>
            </a:r>
          </a:p>
          <a:p>
            <a:r>
              <a:rPr lang="en-US" sz="2000" dirty="0">
                <a:solidFill>
                  <a:srgbClr val="0070C0"/>
                </a:solidFill>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1D675B-284A-B605-E803-C92C6DCB0091}"/>
              </a:ext>
            </a:extLst>
          </p:cNvPr>
          <p:cNvSpPr txBox="1"/>
          <p:nvPr/>
        </p:nvSpPr>
        <p:spPr>
          <a:xfrm>
            <a:off x="5029200" y="1865102"/>
            <a:ext cx="4052656" cy="3693319"/>
          </a:xfrm>
          <a:prstGeom prst="rect">
            <a:avLst/>
          </a:prstGeom>
          <a:noFill/>
        </p:spPr>
        <p:txBody>
          <a:bodyPr wrap="square">
            <a:spAutoFit/>
          </a:bodyPr>
          <a:lstStyle/>
          <a:p>
            <a:r>
              <a:rPr lang="en-US" sz="1800" dirty="0">
                <a:solidFill>
                  <a:srgbClr val="0070C0"/>
                </a:solidFill>
                <a:latin typeface="Times New Roman" panose="02020603050405020304" pitchFamily="18" charset="0"/>
                <a:cs typeface="Times New Roman" panose="02020603050405020304" pitchFamily="18" charset="0"/>
              </a:rPr>
              <a:t>// This is the entry point for thread.</a:t>
            </a:r>
          </a:p>
          <a:p>
            <a:r>
              <a:rPr lang="en-US" sz="1800" dirty="0">
                <a:solidFill>
                  <a:srgbClr val="0070C0"/>
                </a:solidFill>
                <a:latin typeface="Times New Roman" panose="02020603050405020304" pitchFamily="18" charset="0"/>
                <a:cs typeface="Times New Roman" panose="02020603050405020304" pitchFamily="18" charset="0"/>
              </a:rPr>
              <a:t>public void run() {</a:t>
            </a:r>
          </a:p>
          <a:p>
            <a:r>
              <a:rPr lang="en-US" sz="1800" dirty="0">
                <a:solidFill>
                  <a:srgbClr val="0070C0"/>
                </a:solidFill>
                <a:latin typeface="Times New Roman" panose="02020603050405020304" pitchFamily="18" charset="0"/>
                <a:cs typeface="Times New Roman" panose="02020603050405020304" pitchFamily="18" charset="0"/>
              </a:rPr>
              <a:t>try {</a:t>
            </a:r>
          </a:p>
          <a:p>
            <a:r>
              <a:rPr lang="en-US" sz="1800" dirty="0">
                <a:solidFill>
                  <a:srgbClr val="0070C0"/>
                </a:solidFill>
                <a:latin typeface="Times New Roman" panose="02020603050405020304" pitchFamily="18" charset="0"/>
                <a:cs typeface="Times New Roman" panose="02020603050405020304" pitchFamily="18" charset="0"/>
              </a:rPr>
              <a:t>for(int </a:t>
            </a:r>
            <a:r>
              <a:rPr lang="en-US" sz="1800" dirty="0" err="1">
                <a:solidFill>
                  <a:srgbClr val="0070C0"/>
                </a:solidFill>
                <a:latin typeface="Times New Roman" panose="02020603050405020304" pitchFamily="18" charset="0"/>
                <a:cs typeface="Times New Roman" panose="02020603050405020304" pitchFamily="18" charset="0"/>
              </a:rPr>
              <a:t>i</a:t>
            </a:r>
            <a:r>
              <a:rPr lang="en-US" sz="1800" dirty="0">
                <a:solidFill>
                  <a:srgbClr val="0070C0"/>
                </a:solidFill>
                <a:latin typeface="Times New Roman" panose="02020603050405020304" pitchFamily="18" charset="0"/>
                <a:cs typeface="Times New Roman" panose="02020603050405020304" pitchFamily="18" charset="0"/>
              </a:rPr>
              <a:t> = 5; </a:t>
            </a:r>
            <a:r>
              <a:rPr lang="en-US" sz="1800" dirty="0" err="1">
                <a:solidFill>
                  <a:srgbClr val="0070C0"/>
                </a:solidFill>
                <a:latin typeface="Times New Roman" panose="02020603050405020304" pitchFamily="18" charset="0"/>
                <a:cs typeface="Times New Roman" panose="02020603050405020304" pitchFamily="18" charset="0"/>
              </a:rPr>
              <a:t>i</a:t>
            </a:r>
            <a:r>
              <a:rPr lang="en-US" sz="1800" dirty="0">
                <a:solidFill>
                  <a:srgbClr val="0070C0"/>
                </a:solidFill>
                <a:latin typeface="Times New Roman" panose="02020603050405020304" pitchFamily="18" charset="0"/>
                <a:cs typeface="Times New Roman" panose="02020603050405020304" pitchFamily="18" charset="0"/>
              </a:rPr>
              <a:t> &gt; 0; </a:t>
            </a:r>
            <a:r>
              <a:rPr lang="en-US" sz="1800" dirty="0" err="1">
                <a:solidFill>
                  <a:srgbClr val="0070C0"/>
                </a:solidFill>
                <a:latin typeface="Times New Roman" panose="02020603050405020304" pitchFamily="18" charset="0"/>
                <a:cs typeface="Times New Roman" panose="02020603050405020304" pitchFamily="18" charset="0"/>
              </a:rPr>
              <a:t>i</a:t>
            </a:r>
            <a:r>
              <a:rPr lang="en-US" sz="1800" dirty="0">
                <a:solidFill>
                  <a:srgbClr val="0070C0"/>
                </a:solidFill>
                <a:latin typeface="Times New Roman" panose="02020603050405020304" pitchFamily="18" charset="0"/>
                <a:cs typeface="Times New Roman" panose="02020603050405020304" pitchFamily="18" charset="0"/>
              </a:rPr>
              <a:t>--) {</a:t>
            </a:r>
          </a:p>
          <a:p>
            <a:r>
              <a:rPr lang="en-US" sz="1800" dirty="0" err="1">
                <a:solidFill>
                  <a:srgbClr val="0070C0"/>
                </a:solidFill>
                <a:latin typeface="Times New Roman" panose="02020603050405020304" pitchFamily="18" charset="0"/>
                <a:cs typeface="Times New Roman" panose="02020603050405020304" pitchFamily="18" charset="0"/>
              </a:rPr>
              <a:t>System.out.println</a:t>
            </a:r>
            <a:r>
              <a:rPr lang="en-US" sz="1800" dirty="0">
                <a:solidFill>
                  <a:srgbClr val="0070C0"/>
                </a:solidFill>
                <a:latin typeface="Times New Roman" panose="02020603050405020304" pitchFamily="18" charset="0"/>
                <a:cs typeface="Times New Roman" panose="02020603050405020304" pitchFamily="18" charset="0"/>
              </a:rPr>
              <a:t>(name + ": " + </a:t>
            </a:r>
            <a:r>
              <a:rPr lang="en-US" sz="1800" dirty="0" err="1">
                <a:solidFill>
                  <a:srgbClr val="0070C0"/>
                </a:solidFill>
                <a:latin typeface="Times New Roman" panose="02020603050405020304" pitchFamily="18" charset="0"/>
                <a:cs typeface="Times New Roman" panose="02020603050405020304" pitchFamily="18" charset="0"/>
              </a:rPr>
              <a:t>i</a:t>
            </a:r>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err="1">
                <a:solidFill>
                  <a:srgbClr val="0070C0"/>
                </a:solidFill>
                <a:latin typeface="Times New Roman" panose="02020603050405020304" pitchFamily="18" charset="0"/>
                <a:cs typeface="Times New Roman" panose="02020603050405020304" pitchFamily="18" charset="0"/>
              </a:rPr>
              <a:t>Thread.sleep</a:t>
            </a:r>
            <a:r>
              <a:rPr lang="en-US" sz="1800" dirty="0">
                <a:solidFill>
                  <a:srgbClr val="0070C0"/>
                </a:solidFill>
                <a:latin typeface="Times New Roman" panose="02020603050405020304" pitchFamily="18" charset="0"/>
                <a:cs typeface="Times New Roman" panose="02020603050405020304" pitchFamily="18" charset="0"/>
              </a:rPr>
              <a:t>(1000);</a:t>
            </a:r>
          </a:p>
          <a:p>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a:solidFill>
                  <a:srgbClr val="0070C0"/>
                </a:solidFill>
                <a:latin typeface="Times New Roman" panose="02020603050405020304" pitchFamily="18" charset="0"/>
                <a:cs typeface="Times New Roman" panose="02020603050405020304" pitchFamily="18" charset="0"/>
              </a:rPr>
              <a:t>} catch (</a:t>
            </a:r>
            <a:r>
              <a:rPr lang="en-US" sz="1800" dirty="0" err="1">
                <a:solidFill>
                  <a:srgbClr val="0070C0"/>
                </a:solidFill>
                <a:latin typeface="Times New Roman" panose="02020603050405020304" pitchFamily="18" charset="0"/>
                <a:cs typeface="Times New Roman" panose="02020603050405020304" pitchFamily="18" charset="0"/>
              </a:rPr>
              <a:t>InterruptedException</a:t>
            </a:r>
            <a:r>
              <a:rPr lang="en-US" sz="1800" dirty="0">
                <a:solidFill>
                  <a:srgbClr val="0070C0"/>
                </a:solidFill>
                <a:latin typeface="Times New Roman" panose="02020603050405020304" pitchFamily="18" charset="0"/>
                <a:cs typeface="Times New Roman" panose="02020603050405020304" pitchFamily="18" charset="0"/>
              </a:rPr>
              <a:t> e) {</a:t>
            </a:r>
          </a:p>
          <a:p>
            <a:r>
              <a:rPr lang="en-US" sz="1800" dirty="0" err="1">
                <a:solidFill>
                  <a:srgbClr val="0070C0"/>
                </a:solidFill>
                <a:latin typeface="Times New Roman" panose="02020603050405020304" pitchFamily="18" charset="0"/>
                <a:cs typeface="Times New Roman" panose="02020603050405020304" pitchFamily="18" charset="0"/>
              </a:rPr>
              <a:t>System.out.println</a:t>
            </a:r>
            <a:r>
              <a:rPr lang="en-US" sz="1800" dirty="0">
                <a:solidFill>
                  <a:srgbClr val="0070C0"/>
                </a:solidFill>
                <a:latin typeface="Times New Roman" panose="02020603050405020304" pitchFamily="18" charset="0"/>
                <a:cs typeface="Times New Roman" panose="02020603050405020304" pitchFamily="18" charset="0"/>
              </a:rPr>
              <a:t>(name + "Interrupted");</a:t>
            </a:r>
          </a:p>
          <a:p>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err="1">
                <a:solidFill>
                  <a:srgbClr val="0070C0"/>
                </a:solidFill>
                <a:latin typeface="Times New Roman" panose="02020603050405020304" pitchFamily="18" charset="0"/>
                <a:cs typeface="Times New Roman" panose="02020603050405020304" pitchFamily="18" charset="0"/>
              </a:rPr>
              <a:t>System.out.println</a:t>
            </a:r>
            <a:r>
              <a:rPr lang="en-US" sz="1800" dirty="0">
                <a:solidFill>
                  <a:srgbClr val="0070C0"/>
                </a:solidFill>
                <a:latin typeface="Times New Roman" panose="02020603050405020304" pitchFamily="18" charset="0"/>
                <a:cs typeface="Times New Roman" panose="02020603050405020304" pitchFamily="18" charset="0"/>
              </a:rPr>
              <a:t>(name + " exiting.");</a:t>
            </a:r>
          </a:p>
          <a:p>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a:solidFill>
                  <a:srgbClr val="0070C0"/>
                </a:solidFill>
                <a:latin typeface="Times New Roman" panose="02020603050405020304" pitchFamily="18" charset="0"/>
                <a:cs typeface="Times New Roman" panose="02020603050405020304" pitchFamily="18" charset="0"/>
              </a:rPr>
              <a:t>}</a:t>
            </a:r>
            <a:endParaRPr lang="en-US" dirty="0">
              <a:solidFill>
                <a:srgbClr val="0070C0"/>
              </a:solidFill>
            </a:endParaRPr>
          </a:p>
        </p:txBody>
      </p:sp>
    </p:spTree>
    <p:extLst>
      <p:ext uri="{BB962C8B-B14F-4D97-AF65-F5344CB8AC3E}">
        <p14:creationId xmlns:p14="http://schemas.microsoft.com/office/powerpoint/2010/main" val="34174308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31</a:t>
            </a:fld>
            <a:endParaRPr lang="en-US"/>
          </a:p>
        </p:txBody>
      </p:sp>
      <p:sp>
        <p:nvSpPr>
          <p:cNvPr id="3" name="TextBox 2">
            <a:extLst>
              <a:ext uri="{FF2B5EF4-FFF2-40B4-BE49-F238E27FC236}">
                <a16:creationId xmlns:a16="http://schemas.microsoft.com/office/drawing/2014/main" id="{0AE61E3F-E749-3A3C-4723-587D7E73108A}"/>
              </a:ext>
            </a:extLst>
          </p:cNvPr>
          <p:cNvSpPr txBox="1"/>
          <p:nvPr/>
        </p:nvSpPr>
        <p:spPr>
          <a:xfrm>
            <a:off x="474955" y="337909"/>
            <a:ext cx="5490839" cy="5016758"/>
          </a:xfrm>
          <a:prstGeom prst="rect">
            <a:avLst/>
          </a:prstGeom>
          <a:noFill/>
        </p:spPr>
        <p:txBody>
          <a:bodyPr wrap="square">
            <a:spAutoFit/>
          </a:bodyPr>
          <a:lstStyle/>
          <a:p>
            <a:r>
              <a:rPr lang="en-US" sz="2000" b="1" dirty="0">
                <a:solidFill>
                  <a:srgbClr val="7030A0"/>
                </a:solidFill>
                <a:latin typeface="Times New Roman" panose="02020603050405020304" pitchFamily="18" charset="0"/>
                <a:cs typeface="Times New Roman" panose="02020603050405020304" pitchFamily="18" charset="0"/>
              </a:rPr>
              <a:t>Example</a:t>
            </a:r>
          </a:p>
          <a:p>
            <a:endParaRPr lang="en-US" sz="2000" dirty="0">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class </a:t>
            </a:r>
            <a:r>
              <a:rPr lang="en-US" sz="2000" dirty="0" err="1">
                <a:solidFill>
                  <a:srgbClr val="0070C0"/>
                </a:solidFill>
                <a:latin typeface="Times New Roman" panose="02020603050405020304" pitchFamily="18" charset="0"/>
                <a:cs typeface="Times New Roman" panose="02020603050405020304" pitchFamily="18" charset="0"/>
              </a:rPr>
              <a:t>MultiThreadDemo</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public static void main(String </a:t>
            </a:r>
            <a:r>
              <a:rPr lang="en-US" sz="2000" dirty="0" err="1">
                <a:solidFill>
                  <a:srgbClr val="0070C0"/>
                </a:solidFill>
                <a:latin typeface="Times New Roman" panose="02020603050405020304" pitchFamily="18" charset="0"/>
                <a:cs typeface="Times New Roman" panose="02020603050405020304" pitchFamily="18" charset="0"/>
              </a:rPr>
              <a:t>args</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("One",1); // start threads</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("Two",5);</a:t>
            </a:r>
          </a:p>
          <a:p>
            <a:r>
              <a:rPr lang="en-US" sz="2000" dirty="0">
                <a:solidFill>
                  <a:srgbClr val="0070C0"/>
                </a:solidFill>
                <a:latin typeface="Times New Roman" panose="02020603050405020304" pitchFamily="18" charset="0"/>
                <a:cs typeface="Times New Roman" panose="02020603050405020304" pitchFamily="18" charset="0"/>
              </a:rPr>
              <a:t>new </a:t>
            </a:r>
            <a:r>
              <a:rPr lang="en-US" sz="2000" dirty="0" err="1">
                <a:solidFill>
                  <a:srgbClr val="0070C0"/>
                </a:solidFill>
                <a:latin typeface="Times New Roman" panose="02020603050405020304" pitchFamily="18" charset="0"/>
                <a:cs typeface="Times New Roman" panose="02020603050405020304" pitchFamily="18" charset="0"/>
              </a:rPr>
              <a:t>NewThread</a:t>
            </a:r>
            <a:r>
              <a:rPr lang="en-US" sz="2000" dirty="0">
                <a:solidFill>
                  <a:srgbClr val="0070C0"/>
                </a:solidFill>
                <a:latin typeface="Times New Roman" panose="02020603050405020304" pitchFamily="18" charset="0"/>
                <a:cs typeface="Times New Roman" panose="02020603050405020304" pitchFamily="18" charset="0"/>
              </a:rPr>
              <a:t>("Three",10);</a:t>
            </a:r>
          </a:p>
          <a:p>
            <a:r>
              <a:rPr lang="en-US" sz="2000" dirty="0">
                <a:solidFill>
                  <a:srgbClr val="0070C0"/>
                </a:solidFill>
                <a:latin typeface="Times New Roman" panose="02020603050405020304" pitchFamily="18" charset="0"/>
                <a:cs typeface="Times New Roman" panose="02020603050405020304" pitchFamily="18" charset="0"/>
              </a:rPr>
              <a:t>try {</a:t>
            </a:r>
          </a:p>
          <a:p>
            <a:r>
              <a:rPr lang="en-US" sz="2000" dirty="0">
                <a:solidFill>
                  <a:srgbClr val="0070C0"/>
                </a:solidFill>
                <a:latin typeface="Times New Roman" panose="02020603050405020304" pitchFamily="18" charset="0"/>
                <a:cs typeface="Times New Roman" panose="02020603050405020304" pitchFamily="18" charset="0"/>
              </a:rPr>
              <a:t>// wait for other threads to end</a:t>
            </a:r>
          </a:p>
          <a:p>
            <a:r>
              <a:rPr lang="en-US" sz="2000" dirty="0" err="1">
                <a:solidFill>
                  <a:srgbClr val="0070C0"/>
                </a:solidFill>
                <a:latin typeface="Times New Roman" panose="02020603050405020304" pitchFamily="18" charset="0"/>
                <a:cs typeface="Times New Roman" panose="02020603050405020304" pitchFamily="18" charset="0"/>
              </a:rPr>
              <a:t>Thread.sleep</a:t>
            </a:r>
            <a:r>
              <a:rPr lang="en-US" sz="2000" dirty="0">
                <a:solidFill>
                  <a:srgbClr val="0070C0"/>
                </a:solidFill>
                <a:latin typeface="Times New Roman" panose="02020603050405020304" pitchFamily="18" charset="0"/>
                <a:cs typeface="Times New Roman" panose="02020603050405020304" pitchFamily="18" charset="0"/>
              </a:rPr>
              <a:t>(10000);</a:t>
            </a:r>
          </a:p>
          <a:p>
            <a:r>
              <a:rPr lang="en-US" sz="2000" dirty="0">
                <a:solidFill>
                  <a:srgbClr val="0070C0"/>
                </a:solidFill>
                <a:latin typeface="Times New Roman" panose="02020603050405020304" pitchFamily="18" charset="0"/>
                <a:cs typeface="Times New Roman" panose="02020603050405020304" pitchFamily="18" charset="0"/>
              </a:rPr>
              <a:t>} catch (</a:t>
            </a:r>
            <a:r>
              <a:rPr lang="en-US" sz="2000" dirty="0" err="1">
                <a:solidFill>
                  <a:srgbClr val="0070C0"/>
                </a:solidFill>
                <a:latin typeface="Times New Roman" panose="02020603050405020304" pitchFamily="18" charset="0"/>
                <a:cs typeface="Times New Roman" panose="02020603050405020304" pitchFamily="18" charset="0"/>
              </a:rPr>
              <a:t>InterruptedException</a:t>
            </a:r>
            <a:r>
              <a:rPr lang="en-US" sz="2000" dirty="0">
                <a:solidFill>
                  <a:srgbClr val="0070C0"/>
                </a:solidFill>
                <a:latin typeface="Times New Roman" panose="02020603050405020304" pitchFamily="18" charset="0"/>
                <a:cs typeface="Times New Roman" panose="02020603050405020304" pitchFamily="18" charset="0"/>
              </a:rPr>
              <a:t> e)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Interrupted");</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("Main thread exiting.");</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4E017B9C-1A27-1735-DCDD-93873EFAAA6C}"/>
              </a:ext>
            </a:extLst>
          </p:cNvPr>
          <p:cNvSpPr txBox="1"/>
          <p:nvPr/>
        </p:nvSpPr>
        <p:spPr>
          <a:xfrm>
            <a:off x="5366551" y="33647"/>
            <a:ext cx="3537752" cy="6463308"/>
          </a:xfrm>
          <a:prstGeom prst="rect">
            <a:avLst/>
          </a:prstGeom>
          <a:noFill/>
        </p:spPr>
        <p:txBody>
          <a:bodyPr wrap="square">
            <a:spAutoFit/>
          </a:bodyPr>
          <a:lstStyle/>
          <a:p>
            <a:r>
              <a:rPr lang="en-US" sz="2000" b="1" dirty="0">
                <a:solidFill>
                  <a:srgbClr val="7030A0"/>
                </a:solidFill>
                <a:latin typeface="Times New Roman" panose="02020603050405020304" pitchFamily="18" charset="0"/>
                <a:cs typeface="Times New Roman" panose="02020603050405020304" pitchFamily="18" charset="0"/>
              </a:rPr>
              <a:t>Output</a:t>
            </a:r>
          </a:p>
          <a:p>
            <a:r>
              <a:rPr lang="en-US" dirty="0">
                <a:solidFill>
                  <a:srgbClr val="0070C0"/>
                </a:solidFill>
                <a:latin typeface="Times New Roman" panose="02020603050405020304" pitchFamily="18" charset="0"/>
                <a:cs typeface="Times New Roman" panose="02020603050405020304" pitchFamily="18" charset="0"/>
              </a:rPr>
              <a:t>New thread: Thread[One,5,main]</a:t>
            </a:r>
          </a:p>
          <a:p>
            <a:r>
              <a:rPr lang="en-US" dirty="0">
                <a:solidFill>
                  <a:srgbClr val="0070C0"/>
                </a:solidFill>
                <a:latin typeface="Times New Roman" panose="02020603050405020304" pitchFamily="18" charset="0"/>
                <a:cs typeface="Times New Roman" panose="02020603050405020304" pitchFamily="18" charset="0"/>
              </a:rPr>
              <a:t>New thread: Thread[Two,5,main]</a:t>
            </a:r>
          </a:p>
          <a:p>
            <a:r>
              <a:rPr lang="en-US" dirty="0">
                <a:solidFill>
                  <a:srgbClr val="0070C0"/>
                </a:solidFill>
                <a:latin typeface="Times New Roman" panose="02020603050405020304" pitchFamily="18" charset="0"/>
                <a:cs typeface="Times New Roman" panose="02020603050405020304" pitchFamily="18" charset="0"/>
              </a:rPr>
              <a:t>New thread: Thread[Three,5,main]</a:t>
            </a:r>
          </a:p>
          <a:p>
            <a:r>
              <a:rPr lang="en-US" dirty="0">
                <a:solidFill>
                  <a:srgbClr val="0070C0"/>
                </a:solidFill>
                <a:latin typeface="Times New Roman" panose="02020603050405020304" pitchFamily="18" charset="0"/>
                <a:cs typeface="Times New Roman" panose="02020603050405020304" pitchFamily="18" charset="0"/>
              </a:rPr>
              <a:t>Three: 5</a:t>
            </a:r>
          </a:p>
          <a:p>
            <a:r>
              <a:rPr lang="en-US" dirty="0">
                <a:solidFill>
                  <a:srgbClr val="0070C0"/>
                </a:solidFill>
                <a:latin typeface="Times New Roman" panose="02020603050405020304" pitchFamily="18" charset="0"/>
                <a:cs typeface="Times New Roman" panose="02020603050405020304" pitchFamily="18" charset="0"/>
              </a:rPr>
              <a:t>Two: 5</a:t>
            </a:r>
          </a:p>
          <a:p>
            <a:r>
              <a:rPr lang="en-US" dirty="0">
                <a:solidFill>
                  <a:srgbClr val="0070C0"/>
                </a:solidFill>
                <a:latin typeface="Times New Roman" panose="02020603050405020304" pitchFamily="18" charset="0"/>
                <a:cs typeface="Times New Roman" panose="02020603050405020304" pitchFamily="18" charset="0"/>
              </a:rPr>
              <a:t>One: 5</a:t>
            </a:r>
          </a:p>
          <a:p>
            <a:r>
              <a:rPr lang="en-US" dirty="0">
                <a:solidFill>
                  <a:srgbClr val="0070C0"/>
                </a:solidFill>
                <a:latin typeface="Times New Roman" panose="02020603050405020304" pitchFamily="18" charset="0"/>
                <a:cs typeface="Times New Roman" panose="02020603050405020304" pitchFamily="18" charset="0"/>
              </a:rPr>
              <a:t>Three: 4</a:t>
            </a:r>
          </a:p>
          <a:p>
            <a:r>
              <a:rPr lang="en-US" dirty="0">
                <a:solidFill>
                  <a:srgbClr val="0070C0"/>
                </a:solidFill>
                <a:latin typeface="Times New Roman" panose="02020603050405020304" pitchFamily="18" charset="0"/>
                <a:cs typeface="Times New Roman" panose="02020603050405020304" pitchFamily="18" charset="0"/>
              </a:rPr>
              <a:t>Two: 4</a:t>
            </a:r>
          </a:p>
          <a:p>
            <a:r>
              <a:rPr lang="en-US" dirty="0">
                <a:solidFill>
                  <a:srgbClr val="0070C0"/>
                </a:solidFill>
                <a:latin typeface="Times New Roman" panose="02020603050405020304" pitchFamily="18" charset="0"/>
                <a:cs typeface="Times New Roman" panose="02020603050405020304" pitchFamily="18" charset="0"/>
              </a:rPr>
              <a:t>One: 4</a:t>
            </a:r>
          </a:p>
          <a:p>
            <a:r>
              <a:rPr lang="en-US" dirty="0">
                <a:solidFill>
                  <a:srgbClr val="0070C0"/>
                </a:solidFill>
                <a:latin typeface="Times New Roman" panose="02020603050405020304" pitchFamily="18" charset="0"/>
                <a:cs typeface="Times New Roman" panose="02020603050405020304" pitchFamily="18" charset="0"/>
              </a:rPr>
              <a:t>Three: 3</a:t>
            </a:r>
          </a:p>
          <a:p>
            <a:r>
              <a:rPr lang="en-US" dirty="0">
                <a:solidFill>
                  <a:srgbClr val="0070C0"/>
                </a:solidFill>
                <a:latin typeface="Times New Roman" panose="02020603050405020304" pitchFamily="18" charset="0"/>
                <a:cs typeface="Times New Roman" panose="02020603050405020304" pitchFamily="18" charset="0"/>
              </a:rPr>
              <a:t>Two: 3</a:t>
            </a:r>
          </a:p>
          <a:p>
            <a:r>
              <a:rPr lang="en-US" dirty="0">
                <a:solidFill>
                  <a:srgbClr val="0070C0"/>
                </a:solidFill>
                <a:latin typeface="Times New Roman" panose="02020603050405020304" pitchFamily="18" charset="0"/>
                <a:cs typeface="Times New Roman" panose="02020603050405020304" pitchFamily="18" charset="0"/>
              </a:rPr>
              <a:t>One: 3</a:t>
            </a:r>
          </a:p>
          <a:p>
            <a:r>
              <a:rPr lang="en-US" dirty="0">
                <a:solidFill>
                  <a:srgbClr val="0070C0"/>
                </a:solidFill>
                <a:latin typeface="Times New Roman" panose="02020603050405020304" pitchFamily="18" charset="0"/>
                <a:cs typeface="Times New Roman" panose="02020603050405020304" pitchFamily="18" charset="0"/>
              </a:rPr>
              <a:t>Three: 2</a:t>
            </a:r>
          </a:p>
          <a:p>
            <a:r>
              <a:rPr lang="en-US" dirty="0">
                <a:solidFill>
                  <a:srgbClr val="0070C0"/>
                </a:solidFill>
                <a:latin typeface="Times New Roman" panose="02020603050405020304" pitchFamily="18" charset="0"/>
                <a:cs typeface="Times New Roman" panose="02020603050405020304" pitchFamily="18" charset="0"/>
              </a:rPr>
              <a:t>Two: 2</a:t>
            </a:r>
          </a:p>
          <a:p>
            <a:r>
              <a:rPr lang="en-US" dirty="0">
                <a:solidFill>
                  <a:srgbClr val="0070C0"/>
                </a:solidFill>
                <a:latin typeface="Times New Roman" panose="02020603050405020304" pitchFamily="18" charset="0"/>
                <a:cs typeface="Times New Roman" panose="02020603050405020304" pitchFamily="18" charset="0"/>
              </a:rPr>
              <a:t>One: 2</a:t>
            </a:r>
          </a:p>
          <a:p>
            <a:r>
              <a:rPr lang="en-US" dirty="0">
                <a:solidFill>
                  <a:srgbClr val="0070C0"/>
                </a:solidFill>
                <a:latin typeface="Times New Roman" panose="02020603050405020304" pitchFamily="18" charset="0"/>
                <a:cs typeface="Times New Roman" panose="02020603050405020304" pitchFamily="18" charset="0"/>
              </a:rPr>
              <a:t>Three: 1</a:t>
            </a:r>
          </a:p>
          <a:p>
            <a:r>
              <a:rPr lang="en-US" dirty="0">
                <a:solidFill>
                  <a:srgbClr val="0070C0"/>
                </a:solidFill>
                <a:latin typeface="Times New Roman" panose="02020603050405020304" pitchFamily="18" charset="0"/>
                <a:cs typeface="Times New Roman" panose="02020603050405020304" pitchFamily="18" charset="0"/>
              </a:rPr>
              <a:t>Two: 1</a:t>
            </a:r>
          </a:p>
          <a:p>
            <a:r>
              <a:rPr lang="en-US" dirty="0">
                <a:solidFill>
                  <a:srgbClr val="0070C0"/>
                </a:solidFill>
                <a:latin typeface="Times New Roman" panose="02020603050405020304" pitchFamily="18" charset="0"/>
                <a:cs typeface="Times New Roman" panose="02020603050405020304" pitchFamily="18" charset="0"/>
              </a:rPr>
              <a:t>One: 1</a:t>
            </a:r>
          </a:p>
          <a:p>
            <a:r>
              <a:rPr lang="en-US" dirty="0">
                <a:solidFill>
                  <a:srgbClr val="0070C0"/>
                </a:solidFill>
                <a:latin typeface="Times New Roman" panose="02020603050405020304" pitchFamily="18" charset="0"/>
                <a:cs typeface="Times New Roman" panose="02020603050405020304" pitchFamily="18" charset="0"/>
              </a:rPr>
              <a:t>Three exiting.</a:t>
            </a:r>
          </a:p>
          <a:p>
            <a:r>
              <a:rPr lang="en-US" dirty="0">
                <a:solidFill>
                  <a:srgbClr val="0070C0"/>
                </a:solidFill>
                <a:latin typeface="Times New Roman" panose="02020603050405020304" pitchFamily="18" charset="0"/>
                <a:cs typeface="Times New Roman" panose="02020603050405020304" pitchFamily="18" charset="0"/>
              </a:rPr>
              <a:t>Two exiting.</a:t>
            </a:r>
          </a:p>
          <a:p>
            <a:r>
              <a:rPr lang="en-US" dirty="0">
                <a:solidFill>
                  <a:srgbClr val="0070C0"/>
                </a:solidFill>
                <a:latin typeface="Times New Roman" panose="02020603050405020304" pitchFamily="18" charset="0"/>
                <a:cs typeface="Times New Roman" panose="02020603050405020304" pitchFamily="18" charset="0"/>
              </a:rPr>
              <a:t>One exiting.</a:t>
            </a:r>
          </a:p>
          <a:p>
            <a:r>
              <a:rPr lang="en-US" dirty="0">
                <a:solidFill>
                  <a:srgbClr val="0070C0"/>
                </a:solidFill>
                <a:latin typeface="Times New Roman" panose="02020603050405020304" pitchFamily="18" charset="0"/>
                <a:cs typeface="Times New Roman" panose="02020603050405020304" pitchFamily="18" charset="0"/>
              </a:rPr>
              <a:t>Main thread exiting.</a:t>
            </a:r>
          </a:p>
        </p:txBody>
      </p:sp>
    </p:spTree>
    <p:extLst>
      <p:ext uri="{BB962C8B-B14F-4D97-AF65-F5344CB8AC3E}">
        <p14:creationId xmlns:p14="http://schemas.microsoft.com/office/powerpoint/2010/main" val="1606521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32</a:t>
            </a:fld>
            <a:endParaRPr lang="en-US"/>
          </a:p>
        </p:txBody>
      </p:sp>
      <p:sp>
        <p:nvSpPr>
          <p:cNvPr id="3" name="TextBox 2">
            <a:extLst>
              <a:ext uri="{FF2B5EF4-FFF2-40B4-BE49-F238E27FC236}">
                <a16:creationId xmlns:a16="http://schemas.microsoft.com/office/drawing/2014/main" id="{259243D7-056D-9922-AED0-820EF967C15F}"/>
              </a:ext>
            </a:extLst>
          </p:cNvPr>
          <p:cNvSpPr txBox="1"/>
          <p:nvPr/>
        </p:nvSpPr>
        <p:spPr>
          <a:xfrm>
            <a:off x="461639" y="276509"/>
            <a:ext cx="8105312" cy="6063198"/>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Synchronization</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When two or more threads need access to a shared resource, they need some way to ensure that the resource will be used by only one thread at a time. The process by which this is achieved is called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synchronization</a:t>
            </a:r>
            <a:r>
              <a:rPr lang="en-US" sz="2400" b="0" i="0" u="none" strike="noStrike" baseline="0" dirty="0">
                <a:latin typeface="Times New Roman" panose="02020603050405020304" pitchFamily="18" charset="0"/>
                <a:cs typeface="Times New Roman" panose="02020603050405020304" pitchFamily="18" charset="0"/>
              </a:rPr>
              <a:t>. As you will see, Java provides unique, language-level support for it.</a:t>
            </a:r>
          </a:p>
          <a:p>
            <a:pPr algn="l"/>
            <a:endParaRPr lang="en-US" sz="2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Key to synchronization is the concept of the monitor. A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monitor</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is an object that is used as a mutually exclusive lock. Only one thread can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own</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a monitor at a given time. When a thread acquires a lock, it is said to have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entered</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the monitor. All other threads attempting to enter the locked monitor will be suspended until the first thread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exits</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the monitor. These other threads are said to be </a:t>
            </a:r>
            <a:r>
              <a:rPr lang="en-US" sz="2400" b="1" i="1" u="none" strike="noStrike" baseline="0" dirty="0">
                <a:solidFill>
                  <a:srgbClr val="7030A0"/>
                </a:solidFill>
                <a:latin typeface="Times New Roman" panose="02020603050405020304" pitchFamily="18" charset="0"/>
                <a:cs typeface="Times New Roman" panose="02020603050405020304" pitchFamily="18" charset="0"/>
              </a:rPr>
              <a:t>waiting</a:t>
            </a:r>
            <a:r>
              <a:rPr lang="en-US" sz="2400" b="0" i="1" u="none" strike="noStrike" baseline="0" dirty="0">
                <a:latin typeface="Times New Roman" panose="02020603050405020304" pitchFamily="18" charset="0"/>
                <a:cs typeface="Times New Roman" panose="02020603050405020304" pitchFamily="18" charset="0"/>
              </a:rPr>
              <a:t> </a:t>
            </a:r>
            <a:r>
              <a:rPr lang="en-US" sz="2400" b="0" i="0" u="none" strike="noStrike" baseline="0" dirty="0">
                <a:latin typeface="Times New Roman" panose="02020603050405020304" pitchFamily="18" charset="0"/>
                <a:cs typeface="Times New Roman" panose="02020603050405020304" pitchFamily="18" charset="0"/>
              </a:rPr>
              <a:t>for the monitor. A thread that owns a monitor can reenter the same monitor if it so desires.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1612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33</a:t>
            </a:fld>
            <a:endParaRPr lang="en-US"/>
          </a:p>
        </p:txBody>
      </p:sp>
      <p:sp>
        <p:nvSpPr>
          <p:cNvPr id="3" name="TextBox 2">
            <a:extLst>
              <a:ext uri="{FF2B5EF4-FFF2-40B4-BE49-F238E27FC236}">
                <a16:creationId xmlns:a16="http://schemas.microsoft.com/office/drawing/2014/main" id="{259243D7-056D-9922-AED0-820EF967C15F}"/>
              </a:ext>
            </a:extLst>
          </p:cNvPr>
          <p:cNvSpPr txBox="1"/>
          <p:nvPr/>
        </p:nvSpPr>
        <p:spPr>
          <a:xfrm>
            <a:off x="461639" y="363984"/>
            <a:ext cx="4270159" cy="4755148"/>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Synchronization</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Example</a:t>
            </a:r>
          </a:p>
          <a:p>
            <a:pPr algn="l"/>
            <a:endParaRPr lang="en-US" sz="200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This program is not synchronized.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Callme</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void call(String msg)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msg);</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try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Thread.sleep</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(1000);</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catch(</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e)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("Interrupted");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7E7C49CA-4C3E-E2EA-C200-9057BE07BD58}"/>
              </a:ext>
            </a:extLst>
          </p:cNvPr>
          <p:cNvSpPr txBox="1"/>
          <p:nvPr/>
        </p:nvSpPr>
        <p:spPr>
          <a:xfrm>
            <a:off x="4798380" y="1925454"/>
            <a:ext cx="4150311" cy="3970318"/>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c</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lass Caller implements Runnable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String msg;</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Callme</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target;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Thread 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Caller(</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Callme</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targ</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String s)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target =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targ</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msg = s;</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t = new Thread(this);</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t.start</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target.call</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(msg);</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63072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34</a:t>
            </a:fld>
            <a:endParaRPr lang="en-US"/>
          </a:p>
        </p:txBody>
      </p:sp>
      <p:sp>
        <p:nvSpPr>
          <p:cNvPr id="3" name="TextBox 2">
            <a:extLst>
              <a:ext uri="{FF2B5EF4-FFF2-40B4-BE49-F238E27FC236}">
                <a16:creationId xmlns:a16="http://schemas.microsoft.com/office/drawing/2014/main" id="{259243D7-056D-9922-AED0-820EF967C15F}"/>
              </a:ext>
            </a:extLst>
          </p:cNvPr>
          <p:cNvSpPr txBox="1"/>
          <p:nvPr/>
        </p:nvSpPr>
        <p:spPr>
          <a:xfrm>
            <a:off x="461639" y="363984"/>
            <a:ext cx="4651899" cy="5847755"/>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Synchronization</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Example</a:t>
            </a:r>
          </a:p>
          <a:p>
            <a:pPr algn="l"/>
            <a:endParaRPr lang="en-US" sz="110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Synch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public static void main(String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args</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Callme</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target = new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Callme</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Caller ob1 = new Caller(target, "Hello");</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Caller ob2 = new Caller(target, "Synchronized");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Caller ob3 = new Caller(target, "World");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wait for threads to end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try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ob1.t.join();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ob2.t.join();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ob3.t.join();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catch(</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e)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("Interrupted");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   }</a:t>
            </a:r>
            <a:endParaRPr lang="en-US" sz="2000" dirty="0">
              <a:solidFill>
                <a:srgbClr val="0070C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19E1E91-9455-D53A-72C5-A86D64CD418D}"/>
              </a:ext>
            </a:extLst>
          </p:cNvPr>
          <p:cNvSpPr txBox="1"/>
          <p:nvPr/>
        </p:nvSpPr>
        <p:spPr>
          <a:xfrm>
            <a:off x="5455327" y="1736229"/>
            <a:ext cx="3122711" cy="1692771"/>
          </a:xfrm>
          <a:prstGeom prst="rect">
            <a:avLst/>
          </a:prstGeom>
          <a:noFill/>
        </p:spPr>
        <p:txBody>
          <a:bodyPr wrap="square">
            <a:spAutoFit/>
          </a:bodyPr>
          <a:lstStyle/>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Output</a:t>
            </a:r>
          </a:p>
          <a:p>
            <a:pPr algn="l"/>
            <a:endParaRPr lang="en-US" sz="2000" b="0" i="0" u="none" strike="noStrike" baseline="0" dirty="0">
              <a:latin typeface="Times New Roman" panose="02020603050405020304" pitchFamily="18" charset="0"/>
              <a:cs typeface="Times New Roman" panose="02020603050405020304" pitchFamily="18" charset="0"/>
            </a:endParaRPr>
          </a:p>
          <a:p>
            <a:pPr algn="l"/>
            <a:r>
              <a:rPr lang="en-US" sz="2000" b="0" i="0" u="none" strike="noStrike" baseline="0" dirty="0">
                <a:latin typeface="Times New Roman" panose="02020603050405020304" pitchFamily="18" charset="0"/>
                <a:cs typeface="Times New Roman" panose="02020603050405020304" pitchFamily="18" charset="0"/>
              </a:rPr>
              <a:t>Hello[Synchronized[World]</a:t>
            </a:r>
          </a:p>
          <a:p>
            <a:pPr algn="l"/>
            <a:r>
              <a:rPr lang="en-US" sz="2000" b="0" i="0" u="none" strike="noStrike" baseline="0" dirty="0">
                <a:latin typeface="Times New Roman" panose="02020603050405020304" pitchFamily="18" charset="0"/>
                <a:cs typeface="Times New Roman" panose="02020603050405020304" pitchFamily="18" charset="0"/>
              </a:rPr>
              <a:t>]</a:t>
            </a:r>
          </a:p>
          <a:p>
            <a:pPr algn="l"/>
            <a:r>
              <a:rPr lang="en-US" sz="2000" b="0" i="0" u="none" strike="noStrike" baseline="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9905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35</a:t>
            </a:fld>
            <a:endParaRPr lang="en-US"/>
          </a:p>
        </p:txBody>
      </p:sp>
      <p:sp>
        <p:nvSpPr>
          <p:cNvPr id="3" name="TextBox 2">
            <a:extLst>
              <a:ext uri="{FF2B5EF4-FFF2-40B4-BE49-F238E27FC236}">
                <a16:creationId xmlns:a16="http://schemas.microsoft.com/office/drawing/2014/main" id="{259243D7-056D-9922-AED0-820EF967C15F}"/>
              </a:ext>
            </a:extLst>
          </p:cNvPr>
          <p:cNvSpPr txBox="1"/>
          <p:nvPr/>
        </p:nvSpPr>
        <p:spPr>
          <a:xfrm>
            <a:off x="461640" y="363984"/>
            <a:ext cx="3919490" cy="5847755"/>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Synchronization</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Example</a:t>
            </a:r>
          </a:p>
          <a:p>
            <a:pPr algn="l"/>
            <a:endParaRPr lang="en-US" sz="1100" dirty="0">
              <a:latin typeface="Times New Roman" panose="02020603050405020304" pitchFamily="18" charset="0"/>
              <a:cs typeface="Times New Roman" panose="02020603050405020304" pitchFamily="18" charset="0"/>
            </a:endParaRPr>
          </a:p>
          <a:p>
            <a:r>
              <a:rPr lang="en-US" sz="2000" dirty="0">
                <a:solidFill>
                  <a:srgbClr val="C00000"/>
                </a:solidFill>
                <a:latin typeface="Times New Roman" panose="02020603050405020304" pitchFamily="18" charset="0"/>
                <a:cs typeface="Times New Roman" panose="02020603050405020304" pitchFamily="18" charset="0"/>
              </a:rPr>
              <a:t>// This program uses a </a:t>
            </a:r>
          </a:p>
          <a:p>
            <a:r>
              <a:rPr lang="en-US" sz="2000" dirty="0">
                <a:solidFill>
                  <a:srgbClr val="C00000"/>
                </a:solidFill>
                <a:latin typeface="Times New Roman" panose="02020603050405020304" pitchFamily="18" charset="0"/>
                <a:cs typeface="Times New Roman" panose="02020603050405020304" pitchFamily="18" charset="0"/>
              </a:rPr>
              <a:t> //synchronized block</a:t>
            </a:r>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class </a:t>
            </a:r>
            <a:r>
              <a:rPr lang="en-US" sz="2000" dirty="0" err="1">
                <a:solidFill>
                  <a:srgbClr val="0070C0"/>
                </a:solidFill>
                <a:latin typeface="Times New Roman" panose="02020603050405020304" pitchFamily="18" charset="0"/>
                <a:cs typeface="Times New Roman" panose="02020603050405020304" pitchFamily="18" charset="0"/>
              </a:rPr>
              <a:t>Callme</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void call(String msg) {</a:t>
            </a:r>
          </a:p>
          <a:p>
            <a:r>
              <a:rPr lang="en-US" sz="2000" dirty="0" err="1">
                <a:solidFill>
                  <a:srgbClr val="0070C0"/>
                </a:solidFill>
                <a:latin typeface="Times New Roman" panose="02020603050405020304" pitchFamily="18" charset="0"/>
                <a:cs typeface="Times New Roman" panose="02020603050405020304" pitchFamily="18" charset="0"/>
              </a:rPr>
              <a:t>System.out.print</a:t>
            </a:r>
            <a:r>
              <a:rPr lang="en-US" sz="2000" dirty="0">
                <a:solidFill>
                  <a:srgbClr val="0070C0"/>
                </a:solidFill>
                <a:latin typeface="Times New Roman" panose="02020603050405020304" pitchFamily="18" charset="0"/>
                <a:cs typeface="Times New Roman" panose="02020603050405020304" pitchFamily="18" charset="0"/>
              </a:rPr>
              <a:t>("[" + msg);</a:t>
            </a:r>
          </a:p>
          <a:p>
            <a:r>
              <a:rPr lang="en-US" sz="2000" dirty="0">
                <a:solidFill>
                  <a:srgbClr val="0070C0"/>
                </a:solidFill>
                <a:latin typeface="Times New Roman" panose="02020603050405020304" pitchFamily="18" charset="0"/>
                <a:cs typeface="Times New Roman" panose="02020603050405020304" pitchFamily="18" charset="0"/>
              </a:rPr>
              <a:t>try {</a:t>
            </a:r>
          </a:p>
          <a:p>
            <a:r>
              <a:rPr lang="en-US" sz="2000" dirty="0" err="1">
                <a:solidFill>
                  <a:srgbClr val="0070C0"/>
                </a:solidFill>
                <a:latin typeface="Times New Roman" panose="02020603050405020304" pitchFamily="18" charset="0"/>
                <a:cs typeface="Times New Roman" panose="02020603050405020304" pitchFamily="18" charset="0"/>
              </a:rPr>
              <a:t>Thread.sleep</a:t>
            </a:r>
            <a:r>
              <a:rPr lang="en-US" sz="2000" dirty="0">
                <a:solidFill>
                  <a:srgbClr val="0070C0"/>
                </a:solidFill>
                <a:latin typeface="Times New Roman" panose="02020603050405020304" pitchFamily="18" charset="0"/>
                <a:cs typeface="Times New Roman" panose="02020603050405020304" pitchFamily="18" charset="0"/>
              </a:rPr>
              <a:t>(1000);</a:t>
            </a:r>
          </a:p>
          <a:p>
            <a:r>
              <a:rPr lang="en-US" sz="2000" dirty="0">
                <a:solidFill>
                  <a:srgbClr val="0070C0"/>
                </a:solidFill>
                <a:latin typeface="Times New Roman" panose="02020603050405020304" pitchFamily="18" charset="0"/>
                <a:cs typeface="Times New Roman" panose="02020603050405020304" pitchFamily="18" charset="0"/>
              </a:rPr>
              <a:t>} catch (</a:t>
            </a:r>
            <a:r>
              <a:rPr lang="en-US" sz="2000" dirty="0" err="1">
                <a:solidFill>
                  <a:srgbClr val="0070C0"/>
                </a:solidFill>
                <a:latin typeface="Times New Roman" panose="02020603050405020304" pitchFamily="18" charset="0"/>
                <a:cs typeface="Times New Roman" panose="02020603050405020304" pitchFamily="18" charset="0"/>
              </a:rPr>
              <a:t>InterruptedException</a:t>
            </a:r>
            <a:r>
              <a:rPr lang="en-US" sz="2000" dirty="0">
                <a:solidFill>
                  <a:srgbClr val="0070C0"/>
                </a:solidFill>
                <a:latin typeface="Times New Roman" panose="02020603050405020304" pitchFamily="18" charset="0"/>
                <a:cs typeface="Times New Roman" panose="02020603050405020304" pitchFamily="18" charset="0"/>
              </a:rPr>
              <a:t> e)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("Interrupted");</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a:p>
            <a:pPr algn="l"/>
            <a:endParaRPr lang="en-US" sz="2000" b="0" i="0" u="none" strike="noStrike" baseline="0" dirty="0">
              <a:solidFill>
                <a:srgbClr val="0070C0"/>
              </a:solidFill>
              <a:latin typeface="Times New Roman" panose="02020603050405020304" pitchFamily="18" charset="0"/>
              <a:cs typeface="Times New Roman" panose="02020603050405020304" pitchFamily="18" charset="0"/>
            </a:endParaRPr>
          </a:p>
          <a:p>
            <a:pPr algn="l"/>
            <a:endParaRPr lang="en-US" sz="2000" b="0" i="0" u="none" strike="noStrike" baseline="0" dirty="0">
              <a:solidFill>
                <a:srgbClr val="0070C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B5D3C4B-5CBA-5BAF-C247-373D0092DD09}"/>
              </a:ext>
            </a:extLst>
          </p:cNvPr>
          <p:cNvSpPr txBox="1"/>
          <p:nvPr/>
        </p:nvSpPr>
        <p:spPr>
          <a:xfrm>
            <a:off x="4381129" y="1221587"/>
            <a:ext cx="4572000" cy="4801314"/>
          </a:xfrm>
          <a:prstGeom prst="rect">
            <a:avLst/>
          </a:prstGeom>
          <a:noFill/>
        </p:spPr>
        <p:txBody>
          <a:bodyPr wrap="square">
            <a:spAutoFit/>
          </a:bodyPr>
          <a:lstStyle/>
          <a:p>
            <a:r>
              <a:rPr lang="en-US" sz="1800" dirty="0">
                <a:solidFill>
                  <a:srgbClr val="0070C0"/>
                </a:solidFill>
                <a:latin typeface="Times New Roman" panose="02020603050405020304" pitchFamily="18" charset="0"/>
                <a:cs typeface="Times New Roman" panose="02020603050405020304" pitchFamily="18" charset="0"/>
              </a:rPr>
              <a:t>class Caller implements Runnable {</a:t>
            </a:r>
          </a:p>
          <a:p>
            <a:r>
              <a:rPr lang="en-US" sz="1800" dirty="0">
                <a:solidFill>
                  <a:srgbClr val="0070C0"/>
                </a:solidFill>
                <a:latin typeface="Times New Roman" panose="02020603050405020304" pitchFamily="18" charset="0"/>
                <a:cs typeface="Times New Roman" panose="02020603050405020304" pitchFamily="18" charset="0"/>
              </a:rPr>
              <a:t>String msg;</a:t>
            </a:r>
          </a:p>
          <a:p>
            <a:r>
              <a:rPr lang="en-US" sz="1800" dirty="0" err="1">
                <a:solidFill>
                  <a:srgbClr val="0070C0"/>
                </a:solidFill>
                <a:latin typeface="Times New Roman" panose="02020603050405020304" pitchFamily="18" charset="0"/>
                <a:cs typeface="Times New Roman" panose="02020603050405020304" pitchFamily="18" charset="0"/>
              </a:rPr>
              <a:t>Callme</a:t>
            </a:r>
            <a:r>
              <a:rPr lang="en-US" sz="1800" dirty="0">
                <a:solidFill>
                  <a:srgbClr val="0070C0"/>
                </a:solidFill>
                <a:latin typeface="Times New Roman" panose="02020603050405020304" pitchFamily="18" charset="0"/>
                <a:cs typeface="Times New Roman" panose="02020603050405020304" pitchFamily="18" charset="0"/>
              </a:rPr>
              <a:t> target;</a:t>
            </a:r>
          </a:p>
          <a:p>
            <a:r>
              <a:rPr lang="en-US" sz="1800" dirty="0">
                <a:solidFill>
                  <a:srgbClr val="0070C0"/>
                </a:solidFill>
                <a:latin typeface="Times New Roman" panose="02020603050405020304" pitchFamily="18" charset="0"/>
                <a:cs typeface="Times New Roman" panose="02020603050405020304" pitchFamily="18" charset="0"/>
              </a:rPr>
              <a:t>Thread t;</a:t>
            </a:r>
          </a:p>
          <a:p>
            <a:r>
              <a:rPr lang="en-US" sz="1800" dirty="0">
                <a:solidFill>
                  <a:srgbClr val="0070C0"/>
                </a:solidFill>
                <a:latin typeface="Times New Roman" panose="02020603050405020304" pitchFamily="18" charset="0"/>
                <a:cs typeface="Times New Roman" panose="02020603050405020304" pitchFamily="18" charset="0"/>
              </a:rPr>
              <a:t>public Caller(</a:t>
            </a:r>
            <a:r>
              <a:rPr lang="en-US" sz="1800" dirty="0" err="1">
                <a:solidFill>
                  <a:srgbClr val="0070C0"/>
                </a:solidFill>
                <a:latin typeface="Times New Roman" panose="02020603050405020304" pitchFamily="18" charset="0"/>
                <a:cs typeface="Times New Roman" panose="02020603050405020304" pitchFamily="18" charset="0"/>
              </a:rPr>
              <a:t>Callme</a:t>
            </a:r>
            <a:r>
              <a:rPr lang="en-US" sz="1800" dirty="0">
                <a:solidFill>
                  <a:srgbClr val="0070C0"/>
                </a:solidFill>
                <a:latin typeface="Times New Roman" panose="02020603050405020304" pitchFamily="18" charset="0"/>
                <a:cs typeface="Times New Roman" panose="02020603050405020304" pitchFamily="18" charset="0"/>
              </a:rPr>
              <a:t> </a:t>
            </a:r>
            <a:r>
              <a:rPr lang="en-US" sz="1800" dirty="0" err="1">
                <a:solidFill>
                  <a:srgbClr val="0070C0"/>
                </a:solidFill>
                <a:latin typeface="Times New Roman" panose="02020603050405020304" pitchFamily="18" charset="0"/>
                <a:cs typeface="Times New Roman" panose="02020603050405020304" pitchFamily="18" charset="0"/>
              </a:rPr>
              <a:t>targ</a:t>
            </a:r>
            <a:r>
              <a:rPr lang="en-US" sz="1800" dirty="0">
                <a:solidFill>
                  <a:srgbClr val="0070C0"/>
                </a:solidFill>
                <a:latin typeface="Times New Roman" panose="02020603050405020304" pitchFamily="18" charset="0"/>
                <a:cs typeface="Times New Roman" panose="02020603050405020304" pitchFamily="18" charset="0"/>
              </a:rPr>
              <a:t>, String s) {</a:t>
            </a:r>
          </a:p>
          <a:p>
            <a:r>
              <a:rPr lang="en-US" sz="1800" dirty="0">
                <a:solidFill>
                  <a:srgbClr val="0070C0"/>
                </a:solidFill>
                <a:latin typeface="Times New Roman" panose="02020603050405020304" pitchFamily="18" charset="0"/>
                <a:cs typeface="Times New Roman" panose="02020603050405020304" pitchFamily="18" charset="0"/>
              </a:rPr>
              <a:t>target = </a:t>
            </a:r>
            <a:r>
              <a:rPr lang="en-US" sz="1800" dirty="0" err="1">
                <a:solidFill>
                  <a:srgbClr val="0070C0"/>
                </a:solidFill>
                <a:latin typeface="Times New Roman" panose="02020603050405020304" pitchFamily="18" charset="0"/>
                <a:cs typeface="Times New Roman" panose="02020603050405020304" pitchFamily="18" charset="0"/>
              </a:rPr>
              <a:t>targ</a:t>
            </a:r>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a:solidFill>
                  <a:srgbClr val="0070C0"/>
                </a:solidFill>
                <a:latin typeface="Times New Roman" panose="02020603050405020304" pitchFamily="18" charset="0"/>
                <a:cs typeface="Times New Roman" panose="02020603050405020304" pitchFamily="18" charset="0"/>
              </a:rPr>
              <a:t>msg = s;</a:t>
            </a:r>
          </a:p>
          <a:p>
            <a:r>
              <a:rPr lang="en-US" sz="1800" dirty="0">
                <a:solidFill>
                  <a:srgbClr val="0070C0"/>
                </a:solidFill>
                <a:latin typeface="Times New Roman" panose="02020603050405020304" pitchFamily="18" charset="0"/>
                <a:cs typeface="Times New Roman" panose="02020603050405020304" pitchFamily="18" charset="0"/>
              </a:rPr>
              <a:t>t = new Thread(this);</a:t>
            </a:r>
          </a:p>
          <a:p>
            <a:r>
              <a:rPr lang="en-US" sz="1800" dirty="0" err="1">
                <a:solidFill>
                  <a:srgbClr val="0070C0"/>
                </a:solidFill>
                <a:latin typeface="Times New Roman" panose="02020603050405020304" pitchFamily="18" charset="0"/>
                <a:cs typeface="Times New Roman" panose="02020603050405020304" pitchFamily="18" charset="0"/>
              </a:rPr>
              <a:t>t.start</a:t>
            </a:r>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a:solidFill>
                  <a:srgbClr val="0070C0"/>
                </a:solidFill>
                <a:latin typeface="Times New Roman" panose="02020603050405020304" pitchFamily="18" charset="0"/>
                <a:cs typeface="Times New Roman" panose="02020603050405020304" pitchFamily="18" charset="0"/>
              </a:rPr>
              <a:t>// synchronize calls to call()</a:t>
            </a:r>
          </a:p>
          <a:p>
            <a:r>
              <a:rPr lang="en-US" sz="1800" dirty="0">
                <a:solidFill>
                  <a:srgbClr val="0070C0"/>
                </a:solidFill>
                <a:latin typeface="Times New Roman" panose="02020603050405020304" pitchFamily="18" charset="0"/>
                <a:cs typeface="Times New Roman" panose="02020603050405020304" pitchFamily="18" charset="0"/>
              </a:rPr>
              <a:t>public void run() {</a:t>
            </a:r>
          </a:p>
          <a:p>
            <a:r>
              <a:rPr lang="en-US" sz="1800" dirty="0">
                <a:solidFill>
                  <a:srgbClr val="0070C0"/>
                </a:solidFill>
                <a:latin typeface="Times New Roman" panose="02020603050405020304" pitchFamily="18" charset="0"/>
                <a:cs typeface="Times New Roman" panose="02020603050405020304" pitchFamily="18" charset="0"/>
              </a:rPr>
              <a:t>synchronized(target) { // synchronized block</a:t>
            </a:r>
          </a:p>
          <a:p>
            <a:r>
              <a:rPr lang="en-US" sz="1800" dirty="0" err="1">
                <a:solidFill>
                  <a:srgbClr val="0070C0"/>
                </a:solidFill>
                <a:latin typeface="Times New Roman" panose="02020603050405020304" pitchFamily="18" charset="0"/>
                <a:cs typeface="Times New Roman" panose="02020603050405020304" pitchFamily="18" charset="0"/>
              </a:rPr>
              <a:t>target.call</a:t>
            </a:r>
            <a:r>
              <a:rPr lang="en-US" sz="1800" dirty="0">
                <a:solidFill>
                  <a:srgbClr val="0070C0"/>
                </a:solidFill>
                <a:latin typeface="Times New Roman" panose="02020603050405020304" pitchFamily="18" charset="0"/>
                <a:cs typeface="Times New Roman" panose="02020603050405020304" pitchFamily="18" charset="0"/>
              </a:rPr>
              <a:t>(msg);</a:t>
            </a:r>
          </a:p>
          <a:p>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a:solidFill>
                  <a:srgbClr val="0070C0"/>
                </a:solidFill>
                <a:latin typeface="Times New Roman" panose="02020603050405020304" pitchFamily="18" charset="0"/>
                <a:cs typeface="Times New Roman" panose="02020603050405020304" pitchFamily="18" charset="0"/>
              </a:rPr>
              <a:t>}</a:t>
            </a:r>
          </a:p>
          <a:p>
            <a:r>
              <a:rPr lang="en-US" sz="1800" dirty="0">
                <a:solidFill>
                  <a:srgbClr val="0070C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159729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36</a:t>
            </a:fld>
            <a:endParaRPr lang="en-US"/>
          </a:p>
        </p:txBody>
      </p:sp>
      <p:sp>
        <p:nvSpPr>
          <p:cNvPr id="3" name="TextBox 2">
            <a:extLst>
              <a:ext uri="{FF2B5EF4-FFF2-40B4-BE49-F238E27FC236}">
                <a16:creationId xmlns:a16="http://schemas.microsoft.com/office/drawing/2014/main" id="{259243D7-056D-9922-AED0-820EF967C15F}"/>
              </a:ext>
            </a:extLst>
          </p:cNvPr>
          <p:cNvSpPr txBox="1"/>
          <p:nvPr/>
        </p:nvSpPr>
        <p:spPr>
          <a:xfrm>
            <a:off x="461640" y="363984"/>
            <a:ext cx="4572000" cy="6771084"/>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Synchronization</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Example</a:t>
            </a:r>
          </a:p>
          <a:p>
            <a:pPr algn="l"/>
            <a:endParaRPr lang="en-US" sz="1100" dirty="0">
              <a:latin typeface="Times New Roman" panose="02020603050405020304" pitchFamily="18" charset="0"/>
              <a:cs typeface="Times New Roman" panose="02020603050405020304" pitchFamily="18" charset="0"/>
            </a:endParaRPr>
          </a:p>
          <a:p>
            <a:r>
              <a:rPr lang="en-US" sz="2000" dirty="0">
                <a:solidFill>
                  <a:srgbClr val="0070C0"/>
                </a:solidFill>
                <a:latin typeface="Times New Roman" panose="02020603050405020304" pitchFamily="18" charset="0"/>
                <a:cs typeface="Times New Roman" panose="02020603050405020304" pitchFamily="18" charset="0"/>
              </a:rPr>
              <a:t>class Synch1 {</a:t>
            </a:r>
          </a:p>
          <a:p>
            <a:r>
              <a:rPr lang="en-US" sz="2000" dirty="0">
                <a:solidFill>
                  <a:srgbClr val="0070C0"/>
                </a:solidFill>
                <a:latin typeface="Times New Roman" panose="02020603050405020304" pitchFamily="18" charset="0"/>
                <a:cs typeface="Times New Roman" panose="02020603050405020304" pitchFamily="18" charset="0"/>
              </a:rPr>
              <a:t>public static void main(String </a:t>
            </a:r>
            <a:r>
              <a:rPr lang="en-US" sz="2000" dirty="0" err="1">
                <a:solidFill>
                  <a:srgbClr val="0070C0"/>
                </a:solidFill>
                <a:latin typeface="Times New Roman" panose="02020603050405020304" pitchFamily="18" charset="0"/>
                <a:cs typeface="Times New Roman" panose="02020603050405020304" pitchFamily="18" charset="0"/>
              </a:rPr>
              <a:t>args</a:t>
            </a:r>
            <a:r>
              <a:rPr lang="en-US" sz="2000" dirty="0">
                <a:solidFill>
                  <a:srgbClr val="0070C0"/>
                </a:solidFill>
                <a:latin typeface="Times New Roman" panose="02020603050405020304" pitchFamily="18" charset="0"/>
                <a:cs typeface="Times New Roman" panose="02020603050405020304" pitchFamily="18" charset="0"/>
              </a:rPr>
              <a:t>[]) {</a:t>
            </a:r>
          </a:p>
          <a:p>
            <a:r>
              <a:rPr lang="en-US" sz="2000" dirty="0" err="1">
                <a:solidFill>
                  <a:srgbClr val="0070C0"/>
                </a:solidFill>
                <a:latin typeface="Times New Roman" panose="02020603050405020304" pitchFamily="18" charset="0"/>
                <a:cs typeface="Times New Roman" panose="02020603050405020304" pitchFamily="18" charset="0"/>
              </a:rPr>
              <a:t>Callme</a:t>
            </a:r>
            <a:r>
              <a:rPr lang="en-US" sz="2000" dirty="0">
                <a:solidFill>
                  <a:srgbClr val="0070C0"/>
                </a:solidFill>
                <a:latin typeface="Times New Roman" panose="02020603050405020304" pitchFamily="18" charset="0"/>
                <a:cs typeface="Times New Roman" panose="02020603050405020304" pitchFamily="18" charset="0"/>
              </a:rPr>
              <a:t> target = new </a:t>
            </a:r>
            <a:r>
              <a:rPr lang="en-US" sz="2000" dirty="0" err="1">
                <a:solidFill>
                  <a:srgbClr val="0070C0"/>
                </a:solidFill>
                <a:latin typeface="Times New Roman" panose="02020603050405020304" pitchFamily="18" charset="0"/>
                <a:cs typeface="Times New Roman" panose="02020603050405020304" pitchFamily="18" charset="0"/>
              </a:rPr>
              <a:t>Callme</a:t>
            </a:r>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Caller ob1 = new Caller(target, "Hello");</a:t>
            </a:r>
          </a:p>
          <a:p>
            <a:r>
              <a:rPr lang="en-US" sz="2000" dirty="0">
                <a:solidFill>
                  <a:srgbClr val="0070C0"/>
                </a:solidFill>
                <a:latin typeface="Times New Roman" panose="02020603050405020304" pitchFamily="18" charset="0"/>
                <a:cs typeface="Times New Roman" panose="02020603050405020304" pitchFamily="18" charset="0"/>
              </a:rPr>
              <a:t>Caller ob2 = new Caller(target, "Synchronized");</a:t>
            </a:r>
          </a:p>
          <a:p>
            <a:r>
              <a:rPr lang="en-US" sz="2000" dirty="0">
                <a:solidFill>
                  <a:srgbClr val="0070C0"/>
                </a:solidFill>
                <a:latin typeface="Times New Roman" panose="02020603050405020304" pitchFamily="18" charset="0"/>
                <a:cs typeface="Times New Roman" panose="02020603050405020304" pitchFamily="18" charset="0"/>
              </a:rPr>
              <a:t>Caller ob3 = new Caller(target, "World");</a:t>
            </a:r>
          </a:p>
          <a:p>
            <a:r>
              <a:rPr lang="en-US" sz="2000" dirty="0">
                <a:solidFill>
                  <a:srgbClr val="0070C0"/>
                </a:solidFill>
                <a:latin typeface="Times New Roman" panose="02020603050405020304" pitchFamily="18" charset="0"/>
                <a:cs typeface="Times New Roman" panose="02020603050405020304" pitchFamily="18" charset="0"/>
              </a:rPr>
              <a:t>// wait for threads to end</a:t>
            </a:r>
          </a:p>
          <a:p>
            <a:r>
              <a:rPr lang="en-US" sz="2000" dirty="0">
                <a:solidFill>
                  <a:srgbClr val="0070C0"/>
                </a:solidFill>
                <a:latin typeface="Times New Roman" panose="02020603050405020304" pitchFamily="18" charset="0"/>
                <a:cs typeface="Times New Roman" panose="02020603050405020304" pitchFamily="18" charset="0"/>
              </a:rPr>
              <a:t>try {</a:t>
            </a:r>
          </a:p>
          <a:p>
            <a:r>
              <a:rPr lang="en-US" sz="2000" dirty="0">
                <a:solidFill>
                  <a:srgbClr val="0070C0"/>
                </a:solidFill>
                <a:latin typeface="Times New Roman" panose="02020603050405020304" pitchFamily="18" charset="0"/>
                <a:cs typeface="Times New Roman" panose="02020603050405020304" pitchFamily="18" charset="0"/>
              </a:rPr>
              <a:t>ob1.t.join();</a:t>
            </a:r>
          </a:p>
          <a:p>
            <a:r>
              <a:rPr lang="en-US" sz="2000" dirty="0">
                <a:solidFill>
                  <a:srgbClr val="0070C0"/>
                </a:solidFill>
                <a:latin typeface="Times New Roman" panose="02020603050405020304" pitchFamily="18" charset="0"/>
                <a:cs typeface="Times New Roman" panose="02020603050405020304" pitchFamily="18" charset="0"/>
              </a:rPr>
              <a:t>ob2.t.join();</a:t>
            </a:r>
          </a:p>
          <a:p>
            <a:r>
              <a:rPr lang="en-US" sz="2000" dirty="0">
                <a:solidFill>
                  <a:srgbClr val="0070C0"/>
                </a:solidFill>
                <a:latin typeface="Times New Roman" panose="02020603050405020304" pitchFamily="18" charset="0"/>
                <a:cs typeface="Times New Roman" panose="02020603050405020304" pitchFamily="18" charset="0"/>
              </a:rPr>
              <a:t>ob3.t.join();</a:t>
            </a:r>
          </a:p>
          <a:p>
            <a:r>
              <a:rPr lang="en-US" sz="2000" dirty="0">
                <a:solidFill>
                  <a:srgbClr val="0070C0"/>
                </a:solidFill>
                <a:latin typeface="Times New Roman" panose="02020603050405020304" pitchFamily="18" charset="0"/>
                <a:cs typeface="Times New Roman" panose="02020603050405020304" pitchFamily="18" charset="0"/>
              </a:rPr>
              <a:t>} catch(</a:t>
            </a:r>
            <a:r>
              <a:rPr lang="en-US" sz="2000" dirty="0" err="1">
                <a:solidFill>
                  <a:srgbClr val="0070C0"/>
                </a:solidFill>
                <a:latin typeface="Times New Roman" panose="02020603050405020304" pitchFamily="18" charset="0"/>
                <a:cs typeface="Times New Roman" panose="02020603050405020304" pitchFamily="18" charset="0"/>
              </a:rPr>
              <a:t>InterruptedException</a:t>
            </a:r>
            <a:r>
              <a:rPr lang="en-US" sz="2000" dirty="0">
                <a:solidFill>
                  <a:srgbClr val="0070C0"/>
                </a:solidFill>
                <a:latin typeface="Times New Roman" panose="02020603050405020304" pitchFamily="18" charset="0"/>
                <a:cs typeface="Times New Roman" panose="02020603050405020304" pitchFamily="18" charset="0"/>
              </a:rPr>
              <a:t> e) {</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("Interrupted");</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a:p>
            <a:pPr algn="l"/>
            <a:endParaRPr lang="en-US" sz="2000" b="0" i="0" u="none" strike="noStrike" baseline="0" dirty="0">
              <a:solidFill>
                <a:srgbClr val="0070C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B5D3C4B-5CBA-5BAF-C247-373D0092DD09}"/>
              </a:ext>
            </a:extLst>
          </p:cNvPr>
          <p:cNvSpPr txBox="1"/>
          <p:nvPr/>
        </p:nvSpPr>
        <p:spPr>
          <a:xfrm>
            <a:off x="5774923" y="1399141"/>
            <a:ext cx="4572000" cy="1938992"/>
          </a:xfrm>
          <a:prstGeom prst="rect">
            <a:avLst/>
          </a:prstGeom>
          <a:noFill/>
        </p:spPr>
        <p:txBody>
          <a:bodyPr wrap="square">
            <a:spAutoFit/>
          </a:bodyPr>
          <a:lstStyle/>
          <a:p>
            <a:r>
              <a:rPr lang="en-US" sz="2400" b="1" dirty="0">
                <a:solidFill>
                  <a:srgbClr val="7030A0"/>
                </a:solidFill>
                <a:latin typeface="Times New Roman" panose="02020603050405020304" pitchFamily="18" charset="0"/>
                <a:cs typeface="Times New Roman" panose="02020603050405020304" pitchFamily="18" charset="0"/>
              </a:rPr>
              <a:t>Output </a:t>
            </a:r>
          </a:p>
          <a:p>
            <a:endParaRPr lang="en-US" dirty="0">
              <a:solidFill>
                <a:srgbClr val="0070C0"/>
              </a:solidFill>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[Hello]</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[Synchronized]</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[World]</a:t>
            </a:r>
          </a:p>
          <a:p>
            <a:pPr algn="l"/>
            <a:endParaRPr lang="en-US" sz="18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3999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37</a:t>
            </a:fld>
            <a:endParaRPr lang="en-US"/>
          </a:p>
        </p:txBody>
      </p:sp>
      <p:sp>
        <p:nvSpPr>
          <p:cNvPr id="3" name="TextBox 2">
            <a:extLst>
              <a:ext uri="{FF2B5EF4-FFF2-40B4-BE49-F238E27FC236}">
                <a16:creationId xmlns:a16="http://schemas.microsoft.com/office/drawing/2014/main" id="{5FC8E151-9C89-EAFA-2B43-273A4151CA1B}"/>
              </a:ext>
            </a:extLst>
          </p:cNvPr>
          <p:cNvSpPr txBox="1"/>
          <p:nvPr/>
        </p:nvSpPr>
        <p:spPr>
          <a:xfrm>
            <a:off x="412812" y="325147"/>
            <a:ext cx="8358326" cy="4770537"/>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Interthread Communication</a:t>
            </a:r>
          </a:p>
          <a:p>
            <a:pPr algn="l"/>
            <a:endParaRPr lang="en-US" sz="14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The preceding examples unconditionally blocked other threads from asynchronous access to certain methods.</a:t>
            </a:r>
          </a:p>
          <a:p>
            <a:pPr algn="l"/>
            <a:endParaRPr lang="en-US" sz="16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example, consider the classic queuing problem, where one thread is producing some data and another is consuming it. To make the problem more interesting, suppose that the producer has to wait until the consumer is finished before it generates more data.</a:t>
            </a:r>
          </a:p>
          <a:p>
            <a:endParaRPr lang="en-US" sz="1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Java includes an elegant </a:t>
            </a:r>
            <a:r>
              <a:rPr lang="en-US" sz="2400" dirty="0" err="1">
                <a:latin typeface="Times New Roman" panose="02020603050405020304" pitchFamily="18" charset="0"/>
                <a:cs typeface="Times New Roman" panose="02020603050405020304" pitchFamily="18" charset="0"/>
              </a:rPr>
              <a:t>interprocess</a:t>
            </a:r>
            <a:r>
              <a:rPr lang="en-US" sz="2400" dirty="0">
                <a:latin typeface="Times New Roman" panose="02020603050405020304" pitchFamily="18" charset="0"/>
                <a:cs typeface="Times New Roman" panose="02020603050405020304" pitchFamily="18" charset="0"/>
              </a:rPr>
              <a:t> communication mechanism via the </a:t>
            </a:r>
            <a:r>
              <a:rPr lang="en-US" sz="2400" b="1" dirty="0">
                <a:latin typeface="Times New Roman" panose="02020603050405020304" pitchFamily="18" charset="0"/>
                <a:cs typeface="Times New Roman" panose="02020603050405020304" pitchFamily="18" charset="0"/>
              </a:rPr>
              <a:t>wait(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notify( </a:t>
            </a:r>
            <a:r>
              <a:rPr lang="en-US" sz="2400" dirty="0">
                <a:latin typeface="Times New Roman" panose="02020603050405020304" pitchFamily="18" charset="0"/>
                <a:cs typeface="Times New Roman" panose="02020603050405020304" pitchFamily="18" charset="0"/>
              </a:rPr>
              <a:t>), and </a:t>
            </a:r>
            <a:r>
              <a:rPr lang="en-US" sz="2400" b="1" dirty="0" err="1">
                <a:latin typeface="Times New Roman" panose="02020603050405020304" pitchFamily="18" charset="0"/>
                <a:cs typeface="Times New Roman" panose="02020603050405020304" pitchFamily="18" charset="0"/>
              </a:rPr>
              <a:t>notifyAll</a:t>
            </a:r>
            <a:r>
              <a:rPr lang="en-US" sz="2400" b="1"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methods.</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94696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38</a:t>
            </a:fld>
            <a:endParaRPr lang="en-US"/>
          </a:p>
        </p:txBody>
      </p:sp>
      <p:sp>
        <p:nvSpPr>
          <p:cNvPr id="3" name="TextBox 2">
            <a:extLst>
              <a:ext uri="{FF2B5EF4-FFF2-40B4-BE49-F238E27FC236}">
                <a16:creationId xmlns:a16="http://schemas.microsoft.com/office/drawing/2014/main" id="{5FC8E151-9C89-EAFA-2B43-273A4151CA1B}"/>
              </a:ext>
            </a:extLst>
          </p:cNvPr>
          <p:cNvSpPr txBox="1"/>
          <p:nvPr/>
        </p:nvSpPr>
        <p:spPr>
          <a:xfrm>
            <a:off x="412812" y="325147"/>
            <a:ext cx="8358326" cy="4308872"/>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Interthread Communication</a:t>
            </a:r>
          </a:p>
          <a:p>
            <a:pPr algn="l"/>
            <a:endParaRPr lang="en-US" sz="1400" b="0" i="0" u="none" strike="noStrike" baseline="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Java includes an elegant </a:t>
            </a:r>
            <a:r>
              <a:rPr lang="en-US" sz="2400" dirty="0" err="1">
                <a:latin typeface="Times New Roman" panose="02020603050405020304" pitchFamily="18" charset="0"/>
                <a:cs typeface="Times New Roman" panose="02020603050405020304" pitchFamily="18" charset="0"/>
              </a:rPr>
              <a:t>interprocess</a:t>
            </a:r>
            <a:r>
              <a:rPr lang="en-US" sz="2400" dirty="0">
                <a:latin typeface="Times New Roman" panose="02020603050405020304" pitchFamily="18" charset="0"/>
                <a:cs typeface="Times New Roman" panose="02020603050405020304" pitchFamily="18" charset="0"/>
              </a:rPr>
              <a:t> communication mechanism via the </a:t>
            </a:r>
            <a:r>
              <a:rPr lang="en-US" sz="2400" b="1" dirty="0">
                <a:latin typeface="Times New Roman" panose="02020603050405020304" pitchFamily="18" charset="0"/>
                <a:cs typeface="Times New Roman" panose="02020603050405020304" pitchFamily="18" charset="0"/>
              </a:rPr>
              <a:t>wait(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notify( </a:t>
            </a:r>
            <a:r>
              <a:rPr lang="en-US" sz="2400" dirty="0">
                <a:latin typeface="Times New Roman" panose="02020603050405020304" pitchFamily="18" charset="0"/>
                <a:cs typeface="Times New Roman" panose="02020603050405020304" pitchFamily="18" charset="0"/>
              </a:rPr>
              <a:t>), and </a:t>
            </a:r>
            <a:r>
              <a:rPr lang="en-US" sz="2400" b="1" dirty="0" err="1">
                <a:latin typeface="Times New Roman" panose="02020603050405020304" pitchFamily="18" charset="0"/>
                <a:cs typeface="Times New Roman" panose="02020603050405020304" pitchFamily="18" charset="0"/>
              </a:rPr>
              <a:t>notifyAll</a:t>
            </a:r>
            <a:r>
              <a:rPr lang="en-US" sz="2400" b="1"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methods.</a:t>
            </a:r>
          </a:p>
          <a:p>
            <a:endParaRPr lang="en-US" sz="16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wait( ) </a:t>
            </a:r>
            <a:r>
              <a:rPr lang="en-US" sz="2400" dirty="0">
                <a:latin typeface="Times New Roman" panose="02020603050405020304" pitchFamily="18" charset="0"/>
                <a:cs typeface="Times New Roman" panose="02020603050405020304" pitchFamily="18" charset="0"/>
              </a:rPr>
              <a:t>tells the calling thread to give up the monitor and go to sleep until some other thread enters the same monitor and calls notify( ) or </a:t>
            </a:r>
            <a:r>
              <a:rPr lang="en-US" sz="2400" dirty="0" err="1">
                <a:latin typeface="Times New Roman" panose="02020603050405020304" pitchFamily="18" charset="0"/>
                <a:cs typeface="Times New Roman" panose="02020603050405020304" pitchFamily="18" charset="0"/>
              </a:rPr>
              <a:t>notifyAll</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notify( ) </a:t>
            </a:r>
            <a:r>
              <a:rPr lang="en-US" sz="2400" dirty="0">
                <a:latin typeface="Times New Roman" panose="02020603050405020304" pitchFamily="18" charset="0"/>
                <a:cs typeface="Times New Roman" panose="02020603050405020304" pitchFamily="18" charset="0"/>
              </a:rPr>
              <a:t>wakes up a thread that called wait( ) on the same object.</a:t>
            </a:r>
          </a:p>
          <a:p>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notifyAll</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wakes up all the threads that called wait( ) on the same object. One of the threads will be granted access.</a:t>
            </a:r>
          </a:p>
          <a:p>
            <a:pPr algn="l"/>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53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39</a:t>
            </a:fld>
            <a:endParaRPr lang="en-US"/>
          </a:p>
        </p:txBody>
      </p:sp>
      <p:sp>
        <p:nvSpPr>
          <p:cNvPr id="3" name="TextBox 2">
            <a:extLst>
              <a:ext uri="{FF2B5EF4-FFF2-40B4-BE49-F238E27FC236}">
                <a16:creationId xmlns:a16="http://schemas.microsoft.com/office/drawing/2014/main" id="{5FC8E151-9C89-EAFA-2B43-273A4151CA1B}"/>
              </a:ext>
            </a:extLst>
          </p:cNvPr>
          <p:cNvSpPr txBox="1"/>
          <p:nvPr/>
        </p:nvSpPr>
        <p:spPr>
          <a:xfrm>
            <a:off x="412812" y="390617"/>
            <a:ext cx="5810435" cy="6378669"/>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Interthread Communication</a:t>
            </a:r>
          </a:p>
          <a:p>
            <a:pPr algn="l"/>
            <a:endParaRPr lang="en-US" sz="1400"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solidFill>
                  <a:srgbClr val="0070C0"/>
                </a:solidFill>
                <a:latin typeface="Times New Roman" panose="02020603050405020304" pitchFamily="18" charset="0"/>
                <a:cs typeface="Times New Roman" panose="02020603050405020304" pitchFamily="18" charset="0"/>
              </a:rPr>
              <a:t>// An incorrect implementation of a producer </a:t>
            </a:r>
          </a:p>
          <a:p>
            <a:pPr algn="l"/>
            <a:r>
              <a:rPr lang="en-US" dirty="0">
                <a:solidFill>
                  <a:srgbClr val="0070C0"/>
                </a:solidFill>
                <a:latin typeface="Times New Roman" panose="02020603050405020304" pitchFamily="18" charset="0"/>
                <a:cs typeface="Times New Roman" panose="02020603050405020304" pitchFamily="18" charset="0"/>
              </a:rPr>
              <a:t>  //</a:t>
            </a:r>
            <a:r>
              <a:rPr lang="en-US" b="0" i="0" u="none" strike="noStrike" baseline="0" dirty="0">
                <a:solidFill>
                  <a:srgbClr val="0070C0"/>
                </a:solidFill>
                <a:latin typeface="Times New Roman" panose="02020603050405020304" pitchFamily="18" charset="0"/>
                <a:cs typeface="Times New Roman" panose="02020603050405020304" pitchFamily="18" charset="0"/>
              </a:rPr>
              <a:t>and consumer.</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Q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int 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synchronized int get()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("Got: " + 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return 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synchronized void put(int n)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this.n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n;</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("Put: " + 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endParaRPr lang="en-US" sz="1050" b="0" i="0" u="none" strike="noStrike" baseline="0" dirty="0">
              <a:solidFill>
                <a:srgbClr val="0070C0"/>
              </a:solidFill>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Producer implements Runnable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Q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q</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Producer(Q q)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this.q</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q;</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new Thread(this, "Producer").start();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CCFB14E5-1653-A68F-EEBC-4548D0E676AB}"/>
              </a:ext>
            </a:extLst>
          </p:cNvPr>
          <p:cNvSpPr txBox="1"/>
          <p:nvPr/>
        </p:nvSpPr>
        <p:spPr>
          <a:xfrm>
            <a:off x="5002566" y="859976"/>
            <a:ext cx="4017146" cy="5632311"/>
          </a:xfrm>
          <a:prstGeom prst="rect">
            <a:avLst/>
          </a:prstGeom>
          <a:noFill/>
        </p:spPr>
        <p:txBody>
          <a:bodyPr wrap="square">
            <a:spAutoFit/>
          </a:bodyPr>
          <a:lstStyle/>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int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 0;</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while(true)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q.put</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class Consumer implements Runnable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Q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q</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Consumer(Q q)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this.q</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 q;</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new Thread(this, "Consumer").start();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while(true)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q.get</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endParaRPr lang="en-US"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89030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40</a:t>
            </a:fld>
            <a:endParaRPr lang="en-US"/>
          </a:p>
        </p:txBody>
      </p:sp>
      <p:sp>
        <p:nvSpPr>
          <p:cNvPr id="3" name="TextBox 2">
            <a:extLst>
              <a:ext uri="{FF2B5EF4-FFF2-40B4-BE49-F238E27FC236}">
                <a16:creationId xmlns:a16="http://schemas.microsoft.com/office/drawing/2014/main" id="{5FC8E151-9C89-EAFA-2B43-273A4151CA1B}"/>
              </a:ext>
            </a:extLst>
          </p:cNvPr>
          <p:cNvSpPr txBox="1"/>
          <p:nvPr/>
        </p:nvSpPr>
        <p:spPr>
          <a:xfrm>
            <a:off x="412812" y="390617"/>
            <a:ext cx="5038077" cy="3754874"/>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Interthread Communication</a:t>
            </a:r>
          </a:p>
          <a:p>
            <a:pPr algn="l"/>
            <a:endParaRPr lang="en-US" sz="1400"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solidFill>
                  <a:srgbClr val="0070C0"/>
                </a:solidFill>
                <a:latin typeface="Times New Roman" panose="02020603050405020304" pitchFamily="18" charset="0"/>
                <a:cs typeface="Times New Roman" panose="02020603050405020304" pitchFamily="18" charset="0"/>
              </a:rPr>
              <a:t>// An incorrect implementation of a producer </a:t>
            </a:r>
          </a:p>
          <a:p>
            <a:pPr algn="l"/>
            <a:r>
              <a:rPr lang="en-US" dirty="0">
                <a:solidFill>
                  <a:srgbClr val="0070C0"/>
                </a:solidFill>
                <a:latin typeface="Times New Roman" panose="02020603050405020304" pitchFamily="18" charset="0"/>
                <a:cs typeface="Times New Roman" panose="02020603050405020304" pitchFamily="18" charset="0"/>
              </a:rPr>
              <a:t>  //</a:t>
            </a:r>
            <a:r>
              <a:rPr lang="en-US" b="0" i="0" u="none" strike="noStrike" baseline="0" dirty="0">
                <a:solidFill>
                  <a:srgbClr val="0070C0"/>
                </a:solidFill>
                <a:latin typeface="Times New Roman" panose="02020603050405020304" pitchFamily="18" charset="0"/>
                <a:cs typeface="Times New Roman" panose="02020603050405020304" pitchFamily="18" charset="0"/>
              </a:rPr>
              <a:t>and consumer.</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PC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public static void main(String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args</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r>
              <a:rPr lang="en-US" sz="2000" dirty="0">
                <a:solidFill>
                  <a:srgbClr val="0070C0"/>
                </a:solidFill>
                <a:latin typeface="Times New Roman" panose="02020603050405020304" pitchFamily="18" charset="0"/>
                <a:cs typeface="Times New Roman" panose="02020603050405020304" pitchFamily="18" charset="0"/>
              </a:rPr>
              <a:t>Q </a:t>
            </a:r>
            <a:r>
              <a:rPr lang="en-US" sz="2000" dirty="0" err="1">
                <a:solidFill>
                  <a:srgbClr val="0070C0"/>
                </a:solidFill>
                <a:latin typeface="Times New Roman" panose="02020603050405020304" pitchFamily="18" charset="0"/>
                <a:cs typeface="Times New Roman" panose="02020603050405020304" pitchFamily="18" charset="0"/>
              </a:rPr>
              <a:t>q</a:t>
            </a:r>
            <a:r>
              <a:rPr lang="en-US" sz="2000" dirty="0">
                <a:solidFill>
                  <a:srgbClr val="0070C0"/>
                </a:solidFill>
                <a:latin typeface="Times New Roman" panose="02020603050405020304" pitchFamily="18" charset="0"/>
                <a:cs typeface="Times New Roman" panose="02020603050405020304" pitchFamily="18" charset="0"/>
              </a:rPr>
              <a:t> = new Q();</a:t>
            </a:r>
          </a:p>
          <a:p>
            <a:r>
              <a:rPr lang="en-US" sz="2000" dirty="0">
                <a:solidFill>
                  <a:srgbClr val="0070C0"/>
                </a:solidFill>
                <a:latin typeface="Times New Roman" panose="02020603050405020304" pitchFamily="18" charset="0"/>
                <a:cs typeface="Times New Roman" panose="02020603050405020304" pitchFamily="18" charset="0"/>
              </a:rPr>
              <a:t>new Producer(q);</a:t>
            </a:r>
          </a:p>
          <a:p>
            <a:r>
              <a:rPr lang="en-US" sz="2000" dirty="0">
                <a:solidFill>
                  <a:srgbClr val="0070C0"/>
                </a:solidFill>
                <a:latin typeface="Times New Roman" panose="02020603050405020304" pitchFamily="18" charset="0"/>
                <a:cs typeface="Times New Roman" panose="02020603050405020304" pitchFamily="18" charset="0"/>
              </a:rPr>
              <a:t>new Consumer(q);</a:t>
            </a:r>
          </a:p>
          <a:p>
            <a:r>
              <a:rPr lang="en-US" sz="2000" dirty="0" err="1">
                <a:solidFill>
                  <a:srgbClr val="0070C0"/>
                </a:solidFill>
                <a:latin typeface="Times New Roman" panose="02020603050405020304" pitchFamily="18" charset="0"/>
                <a:cs typeface="Times New Roman" panose="02020603050405020304" pitchFamily="18" charset="0"/>
              </a:rPr>
              <a:t>System.out.println</a:t>
            </a:r>
            <a:r>
              <a:rPr lang="en-US" sz="2000" dirty="0">
                <a:solidFill>
                  <a:srgbClr val="0070C0"/>
                </a:solidFill>
                <a:latin typeface="Times New Roman" panose="02020603050405020304" pitchFamily="18" charset="0"/>
                <a:cs typeface="Times New Roman" panose="02020603050405020304" pitchFamily="18" charset="0"/>
              </a:rPr>
              <a:t>("Press Control-C to stop.");</a:t>
            </a:r>
          </a:p>
          <a:p>
            <a:r>
              <a:rPr lang="en-US" sz="2000" dirty="0">
                <a:solidFill>
                  <a:srgbClr val="0070C0"/>
                </a:solidFill>
                <a:latin typeface="Times New Roman" panose="02020603050405020304" pitchFamily="18" charset="0"/>
                <a:cs typeface="Times New Roman" panose="02020603050405020304" pitchFamily="18" charset="0"/>
              </a:rPr>
              <a:t>}</a:t>
            </a:r>
          </a:p>
          <a:p>
            <a:r>
              <a:rPr lang="en-US" sz="2000" dirty="0">
                <a:solidFill>
                  <a:srgbClr val="0070C0"/>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CCFB14E5-1653-A68F-EEBC-4548D0E676AB}"/>
              </a:ext>
            </a:extLst>
          </p:cNvPr>
          <p:cNvSpPr txBox="1"/>
          <p:nvPr/>
        </p:nvSpPr>
        <p:spPr>
          <a:xfrm>
            <a:off x="6556158" y="966508"/>
            <a:ext cx="2001916" cy="4462760"/>
          </a:xfrm>
          <a:prstGeom prst="rect">
            <a:avLst/>
          </a:prstGeom>
          <a:noFill/>
        </p:spPr>
        <p:txBody>
          <a:bodyPr wrap="square">
            <a:spAutoFit/>
          </a:bodyPr>
          <a:lstStyle/>
          <a:p>
            <a:pPr algn="l"/>
            <a:r>
              <a:rPr lang="en-US" sz="2400" b="1" dirty="0">
                <a:solidFill>
                  <a:srgbClr val="7030A0"/>
                </a:solidFill>
                <a:latin typeface="Times New Roman" panose="02020603050405020304" pitchFamily="18" charset="0"/>
                <a:cs typeface="Times New Roman" panose="02020603050405020304" pitchFamily="18" charset="0"/>
              </a:rPr>
              <a:t>Output</a:t>
            </a:r>
            <a:r>
              <a:rPr lang="en-US" sz="2400" dirty="0">
                <a:solidFill>
                  <a:srgbClr val="7030A0"/>
                </a:solidFill>
                <a:latin typeface="Times New Roman" panose="02020603050405020304" pitchFamily="18" charset="0"/>
                <a:cs typeface="Times New Roman" panose="02020603050405020304" pitchFamily="18" charset="0"/>
              </a:rPr>
              <a:t> </a:t>
            </a:r>
          </a:p>
          <a:p>
            <a:pPr algn="l"/>
            <a:r>
              <a:rPr lang="en-US" sz="2000" b="0" i="0" u="none" strike="noStrike" baseline="0" dirty="0">
                <a:latin typeface="Times New Roman" panose="02020603050405020304" pitchFamily="18" charset="0"/>
                <a:cs typeface="Times New Roman" panose="02020603050405020304" pitchFamily="18" charset="0"/>
              </a:rPr>
              <a:t>Put: 1</a:t>
            </a:r>
          </a:p>
          <a:p>
            <a:pPr algn="l"/>
            <a:r>
              <a:rPr lang="en-US" sz="2000" b="0" i="0" u="none" strike="noStrike" baseline="0" dirty="0">
                <a:latin typeface="Times New Roman" panose="02020603050405020304" pitchFamily="18" charset="0"/>
                <a:cs typeface="Times New Roman" panose="02020603050405020304" pitchFamily="18" charset="0"/>
              </a:rPr>
              <a:t>Got: 1</a:t>
            </a:r>
          </a:p>
          <a:p>
            <a:pPr algn="l"/>
            <a:r>
              <a:rPr lang="en-US" sz="2000" b="0" i="0" u="none" strike="noStrike" baseline="0" dirty="0">
                <a:latin typeface="Times New Roman" panose="02020603050405020304" pitchFamily="18" charset="0"/>
                <a:cs typeface="Times New Roman" panose="02020603050405020304" pitchFamily="18" charset="0"/>
              </a:rPr>
              <a:t>Got: 1</a:t>
            </a:r>
          </a:p>
          <a:p>
            <a:pPr algn="l"/>
            <a:r>
              <a:rPr lang="en-US" sz="2000" b="0" i="0" u="none" strike="noStrike" baseline="0" dirty="0">
                <a:latin typeface="Times New Roman" panose="02020603050405020304" pitchFamily="18" charset="0"/>
                <a:cs typeface="Times New Roman" panose="02020603050405020304" pitchFamily="18" charset="0"/>
              </a:rPr>
              <a:t>Got: 1</a:t>
            </a:r>
          </a:p>
          <a:p>
            <a:pPr algn="l"/>
            <a:r>
              <a:rPr lang="en-US" sz="2000" b="0" i="0" u="none" strike="noStrike" baseline="0" dirty="0">
                <a:latin typeface="Times New Roman" panose="02020603050405020304" pitchFamily="18" charset="0"/>
                <a:cs typeface="Times New Roman" panose="02020603050405020304" pitchFamily="18" charset="0"/>
              </a:rPr>
              <a:t>Got: 1</a:t>
            </a:r>
          </a:p>
          <a:p>
            <a:pPr algn="l"/>
            <a:r>
              <a:rPr lang="en-US" sz="2000" b="0" i="0" u="none" strike="noStrike" baseline="0" dirty="0">
                <a:latin typeface="Times New Roman" panose="02020603050405020304" pitchFamily="18" charset="0"/>
                <a:cs typeface="Times New Roman" panose="02020603050405020304" pitchFamily="18" charset="0"/>
              </a:rPr>
              <a:t>Got: 1</a:t>
            </a:r>
          </a:p>
          <a:p>
            <a:pPr algn="l"/>
            <a:r>
              <a:rPr lang="en-US" sz="2000" b="0" i="0" u="none" strike="noStrike" baseline="0" dirty="0">
                <a:latin typeface="Times New Roman" panose="02020603050405020304" pitchFamily="18" charset="0"/>
                <a:cs typeface="Times New Roman" panose="02020603050405020304" pitchFamily="18" charset="0"/>
              </a:rPr>
              <a:t>Put: 2</a:t>
            </a:r>
          </a:p>
          <a:p>
            <a:pPr algn="l"/>
            <a:r>
              <a:rPr lang="en-US" sz="2000" b="0" i="0" u="none" strike="noStrike" baseline="0" dirty="0">
                <a:latin typeface="Times New Roman" panose="02020603050405020304" pitchFamily="18" charset="0"/>
                <a:cs typeface="Times New Roman" panose="02020603050405020304" pitchFamily="18" charset="0"/>
              </a:rPr>
              <a:t>Put: 3</a:t>
            </a:r>
          </a:p>
          <a:p>
            <a:pPr algn="l"/>
            <a:r>
              <a:rPr lang="en-US" sz="2000" b="0" i="0" u="none" strike="noStrike" baseline="0" dirty="0">
                <a:latin typeface="Times New Roman" panose="02020603050405020304" pitchFamily="18" charset="0"/>
                <a:cs typeface="Times New Roman" panose="02020603050405020304" pitchFamily="18" charset="0"/>
              </a:rPr>
              <a:t>Put: 4</a:t>
            </a:r>
          </a:p>
          <a:p>
            <a:pPr algn="l"/>
            <a:r>
              <a:rPr lang="en-US" sz="2000" b="0" i="0" u="none" strike="noStrike" baseline="0" dirty="0">
                <a:latin typeface="Times New Roman" panose="02020603050405020304" pitchFamily="18" charset="0"/>
                <a:cs typeface="Times New Roman" panose="02020603050405020304" pitchFamily="18" charset="0"/>
              </a:rPr>
              <a:t>Put: 5</a:t>
            </a:r>
          </a:p>
          <a:p>
            <a:pPr algn="l"/>
            <a:r>
              <a:rPr lang="en-US" sz="2000" b="0" i="0" u="none" strike="noStrike" baseline="0" dirty="0">
                <a:latin typeface="Times New Roman" panose="02020603050405020304" pitchFamily="18" charset="0"/>
                <a:cs typeface="Times New Roman" panose="02020603050405020304" pitchFamily="18" charset="0"/>
              </a:rPr>
              <a:t>Put: 6</a:t>
            </a:r>
          </a:p>
          <a:p>
            <a:pPr algn="l"/>
            <a:r>
              <a:rPr lang="en-US" sz="2000" b="0" i="0" u="none" strike="noStrike" baseline="0" dirty="0">
                <a:latin typeface="Times New Roman" panose="02020603050405020304" pitchFamily="18" charset="0"/>
                <a:cs typeface="Times New Roman" panose="02020603050405020304" pitchFamily="18" charset="0"/>
              </a:rPr>
              <a:t>Put: 7</a:t>
            </a:r>
          </a:p>
          <a:p>
            <a:pPr algn="l"/>
            <a:r>
              <a:rPr lang="en-US" sz="2000" b="0" i="0" u="none" strike="noStrike" baseline="0" dirty="0">
                <a:latin typeface="Times New Roman" panose="02020603050405020304" pitchFamily="18" charset="0"/>
                <a:cs typeface="Times New Roman" panose="02020603050405020304" pitchFamily="18" charset="0"/>
              </a:rPr>
              <a:t>Got: 7</a:t>
            </a:r>
            <a:endParaRPr lang="en-US" sz="2000" b="0" i="0" u="none" strike="noStrike" baseline="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1242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41</a:t>
            </a:fld>
            <a:endParaRPr lang="en-US"/>
          </a:p>
        </p:txBody>
      </p:sp>
      <p:sp>
        <p:nvSpPr>
          <p:cNvPr id="3" name="TextBox 2">
            <a:extLst>
              <a:ext uri="{FF2B5EF4-FFF2-40B4-BE49-F238E27FC236}">
                <a16:creationId xmlns:a16="http://schemas.microsoft.com/office/drawing/2014/main" id="{5FC8E151-9C89-EAFA-2B43-273A4151CA1B}"/>
              </a:ext>
            </a:extLst>
          </p:cNvPr>
          <p:cNvSpPr txBox="1"/>
          <p:nvPr/>
        </p:nvSpPr>
        <p:spPr>
          <a:xfrm>
            <a:off x="412812" y="390617"/>
            <a:ext cx="5038077" cy="5447645"/>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Interthread Communication</a:t>
            </a:r>
          </a:p>
          <a:p>
            <a:pPr algn="l"/>
            <a:endParaRPr lang="en-US" sz="1400" b="0" i="0" u="none" strike="noStrike" baseline="0" dirty="0">
              <a:latin typeface="Times New Roman" panose="02020603050405020304" pitchFamily="18" charset="0"/>
              <a:cs typeface="Times New Roman" panose="02020603050405020304" pitchFamily="18" charset="0"/>
            </a:endParaRPr>
          </a:p>
          <a:p>
            <a:r>
              <a:rPr lang="en-US" dirty="0">
                <a:solidFill>
                  <a:srgbClr val="0070C0"/>
                </a:solidFill>
                <a:latin typeface="Times New Roman" panose="02020603050405020304" pitchFamily="18" charset="0"/>
                <a:cs typeface="Times New Roman" panose="02020603050405020304" pitchFamily="18" charset="0"/>
              </a:rPr>
              <a:t>// A correct implementation of a producer and consumer.</a:t>
            </a:r>
          </a:p>
          <a:p>
            <a:r>
              <a:rPr lang="en-US" dirty="0">
                <a:solidFill>
                  <a:srgbClr val="0070C0"/>
                </a:solidFill>
                <a:latin typeface="Times New Roman" panose="02020603050405020304" pitchFamily="18" charset="0"/>
                <a:cs typeface="Times New Roman" panose="02020603050405020304" pitchFamily="18" charset="0"/>
              </a:rPr>
              <a:t>class Q {</a:t>
            </a:r>
          </a:p>
          <a:p>
            <a:r>
              <a:rPr lang="en-US" dirty="0">
                <a:solidFill>
                  <a:srgbClr val="0070C0"/>
                </a:solidFill>
                <a:latin typeface="Times New Roman" panose="02020603050405020304" pitchFamily="18" charset="0"/>
                <a:cs typeface="Times New Roman" panose="02020603050405020304" pitchFamily="18" charset="0"/>
              </a:rPr>
              <a:t>int n;</a:t>
            </a:r>
          </a:p>
          <a:p>
            <a:r>
              <a:rPr lang="en-US" dirty="0" err="1">
                <a:solidFill>
                  <a:srgbClr val="0070C0"/>
                </a:solidFill>
                <a:latin typeface="Times New Roman" panose="02020603050405020304" pitchFamily="18" charset="0"/>
                <a:cs typeface="Times New Roman" panose="02020603050405020304" pitchFamily="18" charset="0"/>
              </a:rPr>
              <a:t>boolean</a:t>
            </a:r>
            <a:r>
              <a:rPr lang="en-US" dirty="0">
                <a:solidFill>
                  <a:srgbClr val="0070C0"/>
                </a:solidFill>
                <a:latin typeface="Times New Roman" panose="02020603050405020304" pitchFamily="18" charset="0"/>
                <a:cs typeface="Times New Roman" panose="02020603050405020304" pitchFamily="18" charset="0"/>
              </a:rPr>
              <a:t> </a:t>
            </a:r>
            <a:r>
              <a:rPr lang="en-US" dirty="0" err="1">
                <a:solidFill>
                  <a:srgbClr val="0070C0"/>
                </a:solidFill>
                <a:latin typeface="Times New Roman" panose="02020603050405020304" pitchFamily="18" charset="0"/>
                <a:cs typeface="Times New Roman" panose="02020603050405020304" pitchFamily="18" charset="0"/>
              </a:rPr>
              <a:t>valueSet</a:t>
            </a:r>
            <a:r>
              <a:rPr lang="en-US" dirty="0">
                <a:solidFill>
                  <a:srgbClr val="0070C0"/>
                </a:solidFill>
                <a:latin typeface="Times New Roman" panose="02020603050405020304" pitchFamily="18" charset="0"/>
                <a:cs typeface="Times New Roman" panose="02020603050405020304" pitchFamily="18" charset="0"/>
              </a:rPr>
              <a:t> = false;</a:t>
            </a:r>
          </a:p>
          <a:p>
            <a:r>
              <a:rPr lang="en-US" dirty="0">
                <a:solidFill>
                  <a:srgbClr val="0070C0"/>
                </a:solidFill>
                <a:latin typeface="Times New Roman" panose="02020603050405020304" pitchFamily="18" charset="0"/>
                <a:cs typeface="Times New Roman" panose="02020603050405020304" pitchFamily="18" charset="0"/>
              </a:rPr>
              <a:t>synchronized int get() {</a:t>
            </a:r>
          </a:p>
          <a:p>
            <a:r>
              <a:rPr lang="en-US" dirty="0">
                <a:solidFill>
                  <a:srgbClr val="0070C0"/>
                </a:solidFill>
                <a:latin typeface="Times New Roman" panose="02020603050405020304" pitchFamily="18" charset="0"/>
                <a:cs typeface="Times New Roman" panose="02020603050405020304" pitchFamily="18" charset="0"/>
              </a:rPr>
              <a:t>while(!</a:t>
            </a:r>
            <a:r>
              <a:rPr lang="en-US" dirty="0" err="1">
                <a:solidFill>
                  <a:srgbClr val="0070C0"/>
                </a:solidFill>
                <a:latin typeface="Times New Roman" panose="02020603050405020304" pitchFamily="18" charset="0"/>
                <a:cs typeface="Times New Roman" panose="02020603050405020304" pitchFamily="18" charset="0"/>
              </a:rPr>
              <a:t>valueSet</a:t>
            </a:r>
            <a:r>
              <a:rPr lang="en-US" dirty="0">
                <a:solidFill>
                  <a:srgbClr val="0070C0"/>
                </a:solidFill>
                <a:latin typeface="Times New Roman" panose="02020603050405020304" pitchFamily="18" charset="0"/>
                <a:cs typeface="Times New Roman" panose="02020603050405020304" pitchFamily="18" charset="0"/>
              </a:rPr>
              <a:t>)</a:t>
            </a:r>
          </a:p>
          <a:p>
            <a:r>
              <a:rPr lang="en-US" dirty="0">
                <a:solidFill>
                  <a:srgbClr val="0070C0"/>
                </a:solidFill>
                <a:latin typeface="Times New Roman" panose="02020603050405020304" pitchFamily="18" charset="0"/>
                <a:cs typeface="Times New Roman" panose="02020603050405020304" pitchFamily="18" charset="0"/>
              </a:rPr>
              <a:t>try {</a:t>
            </a:r>
          </a:p>
          <a:p>
            <a:r>
              <a:rPr lang="en-US" dirty="0">
                <a:solidFill>
                  <a:srgbClr val="0070C0"/>
                </a:solidFill>
                <a:latin typeface="Times New Roman" panose="02020603050405020304" pitchFamily="18" charset="0"/>
                <a:cs typeface="Times New Roman" panose="02020603050405020304" pitchFamily="18" charset="0"/>
              </a:rPr>
              <a:t>wait();</a:t>
            </a:r>
          </a:p>
          <a:p>
            <a:r>
              <a:rPr lang="en-US" dirty="0">
                <a:solidFill>
                  <a:srgbClr val="0070C0"/>
                </a:solidFill>
                <a:latin typeface="Times New Roman" panose="02020603050405020304" pitchFamily="18" charset="0"/>
                <a:cs typeface="Times New Roman" panose="02020603050405020304" pitchFamily="18" charset="0"/>
              </a:rPr>
              <a:t>} catch(</a:t>
            </a:r>
            <a:r>
              <a:rPr lang="en-US" dirty="0" err="1">
                <a:solidFill>
                  <a:srgbClr val="0070C0"/>
                </a:solidFill>
                <a:latin typeface="Times New Roman" panose="02020603050405020304" pitchFamily="18" charset="0"/>
                <a:cs typeface="Times New Roman" panose="02020603050405020304" pitchFamily="18" charset="0"/>
              </a:rPr>
              <a:t>InterruptedException</a:t>
            </a:r>
            <a:r>
              <a:rPr lang="en-US" dirty="0">
                <a:solidFill>
                  <a:srgbClr val="0070C0"/>
                </a:solidFill>
                <a:latin typeface="Times New Roman" panose="02020603050405020304" pitchFamily="18" charset="0"/>
                <a:cs typeface="Times New Roman" panose="02020603050405020304" pitchFamily="18" charset="0"/>
              </a:rPr>
              <a:t> e) {</a:t>
            </a:r>
          </a:p>
          <a:p>
            <a:r>
              <a:rPr lang="en-US" dirty="0" err="1">
                <a:solidFill>
                  <a:srgbClr val="0070C0"/>
                </a:solidFill>
                <a:latin typeface="Times New Roman" panose="02020603050405020304" pitchFamily="18" charset="0"/>
                <a:cs typeface="Times New Roman" panose="02020603050405020304" pitchFamily="18" charset="0"/>
              </a:rPr>
              <a:t>System.out.println</a:t>
            </a:r>
            <a:r>
              <a:rPr lang="en-US" dirty="0">
                <a:solidFill>
                  <a:srgbClr val="0070C0"/>
                </a:solidFill>
                <a:latin typeface="Times New Roman" panose="02020603050405020304" pitchFamily="18" charset="0"/>
                <a:cs typeface="Times New Roman" panose="02020603050405020304" pitchFamily="18" charset="0"/>
              </a:rPr>
              <a:t>("</a:t>
            </a:r>
            <a:r>
              <a:rPr lang="en-US" dirty="0" err="1">
                <a:solidFill>
                  <a:srgbClr val="0070C0"/>
                </a:solidFill>
                <a:latin typeface="Times New Roman" panose="02020603050405020304" pitchFamily="18" charset="0"/>
                <a:cs typeface="Times New Roman" panose="02020603050405020304" pitchFamily="18" charset="0"/>
              </a:rPr>
              <a:t>InterruptedException</a:t>
            </a:r>
            <a:r>
              <a:rPr lang="en-US" dirty="0">
                <a:solidFill>
                  <a:srgbClr val="0070C0"/>
                </a:solidFill>
                <a:latin typeface="Times New Roman" panose="02020603050405020304" pitchFamily="18" charset="0"/>
                <a:cs typeface="Times New Roman" panose="02020603050405020304" pitchFamily="18" charset="0"/>
              </a:rPr>
              <a:t> caught");</a:t>
            </a:r>
          </a:p>
          <a:p>
            <a:r>
              <a:rPr lang="en-US" dirty="0">
                <a:solidFill>
                  <a:srgbClr val="0070C0"/>
                </a:solidFill>
                <a:latin typeface="Times New Roman" panose="02020603050405020304" pitchFamily="18" charset="0"/>
                <a:cs typeface="Times New Roman" panose="02020603050405020304" pitchFamily="18" charset="0"/>
              </a:rPr>
              <a:t>}</a:t>
            </a:r>
          </a:p>
          <a:p>
            <a:r>
              <a:rPr lang="en-US" dirty="0" err="1">
                <a:solidFill>
                  <a:srgbClr val="0070C0"/>
                </a:solidFill>
                <a:latin typeface="Times New Roman" panose="02020603050405020304" pitchFamily="18" charset="0"/>
                <a:cs typeface="Times New Roman" panose="02020603050405020304" pitchFamily="18" charset="0"/>
              </a:rPr>
              <a:t>System.out.println</a:t>
            </a:r>
            <a:r>
              <a:rPr lang="en-US" dirty="0">
                <a:solidFill>
                  <a:srgbClr val="0070C0"/>
                </a:solidFill>
                <a:latin typeface="Times New Roman" panose="02020603050405020304" pitchFamily="18" charset="0"/>
                <a:cs typeface="Times New Roman" panose="02020603050405020304" pitchFamily="18" charset="0"/>
              </a:rPr>
              <a:t>("Got: " + n);</a:t>
            </a:r>
          </a:p>
          <a:p>
            <a:r>
              <a:rPr lang="en-US" dirty="0" err="1">
                <a:solidFill>
                  <a:srgbClr val="0070C0"/>
                </a:solidFill>
                <a:latin typeface="Times New Roman" panose="02020603050405020304" pitchFamily="18" charset="0"/>
                <a:cs typeface="Times New Roman" panose="02020603050405020304" pitchFamily="18" charset="0"/>
              </a:rPr>
              <a:t>valueSet</a:t>
            </a:r>
            <a:r>
              <a:rPr lang="en-US" dirty="0">
                <a:solidFill>
                  <a:srgbClr val="0070C0"/>
                </a:solidFill>
                <a:latin typeface="Times New Roman" panose="02020603050405020304" pitchFamily="18" charset="0"/>
                <a:cs typeface="Times New Roman" panose="02020603050405020304" pitchFamily="18" charset="0"/>
              </a:rPr>
              <a:t> = false;</a:t>
            </a:r>
          </a:p>
          <a:p>
            <a:r>
              <a:rPr lang="en-US" dirty="0">
                <a:solidFill>
                  <a:srgbClr val="0070C0"/>
                </a:solidFill>
                <a:latin typeface="Times New Roman" panose="02020603050405020304" pitchFamily="18" charset="0"/>
                <a:cs typeface="Times New Roman" panose="02020603050405020304" pitchFamily="18" charset="0"/>
              </a:rPr>
              <a:t>notify();</a:t>
            </a:r>
          </a:p>
          <a:p>
            <a:r>
              <a:rPr lang="en-US" dirty="0">
                <a:solidFill>
                  <a:srgbClr val="0070C0"/>
                </a:solidFill>
                <a:latin typeface="Times New Roman" panose="02020603050405020304" pitchFamily="18" charset="0"/>
                <a:cs typeface="Times New Roman" panose="02020603050405020304" pitchFamily="18" charset="0"/>
              </a:rPr>
              <a:t>return n;</a:t>
            </a:r>
          </a:p>
          <a:p>
            <a:r>
              <a:rPr lang="en-US" dirty="0">
                <a:solidFill>
                  <a:srgbClr val="0070C0"/>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CCFB14E5-1653-A68F-EEBC-4548D0E676AB}"/>
              </a:ext>
            </a:extLst>
          </p:cNvPr>
          <p:cNvSpPr txBox="1"/>
          <p:nvPr/>
        </p:nvSpPr>
        <p:spPr>
          <a:xfrm>
            <a:off x="5326602" y="742739"/>
            <a:ext cx="3666477" cy="4401205"/>
          </a:xfrm>
          <a:prstGeom prst="rect">
            <a:avLst/>
          </a:prstGeom>
          <a:noFill/>
        </p:spPr>
        <p:txBody>
          <a:bodyPr wrap="square">
            <a:spAutoFit/>
          </a:bodyPr>
          <a:lstStyle/>
          <a:p>
            <a:r>
              <a:rPr lang="en-US" sz="2000" dirty="0">
                <a:solidFill>
                  <a:srgbClr val="0070C0"/>
                </a:solidFill>
                <a:latin typeface="Times New Roman" panose="02020603050405020304" pitchFamily="18" charset="0"/>
                <a:cs typeface="Times New Roman" panose="02020603050405020304" pitchFamily="18" charset="0"/>
              </a:rPr>
              <a:t>synchronized void put(int n)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while(</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valueSet</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try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wait();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 catch(</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e) {</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InterruptedException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caught");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this.n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n;</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valueSet</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true;</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("Put: " + n);</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notify();</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04443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42</a:t>
            </a:fld>
            <a:endParaRPr lang="en-US"/>
          </a:p>
        </p:txBody>
      </p:sp>
      <p:sp>
        <p:nvSpPr>
          <p:cNvPr id="3" name="TextBox 2">
            <a:extLst>
              <a:ext uri="{FF2B5EF4-FFF2-40B4-BE49-F238E27FC236}">
                <a16:creationId xmlns:a16="http://schemas.microsoft.com/office/drawing/2014/main" id="{5FC8E151-9C89-EAFA-2B43-273A4151CA1B}"/>
              </a:ext>
            </a:extLst>
          </p:cNvPr>
          <p:cNvSpPr txBox="1"/>
          <p:nvPr/>
        </p:nvSpPr>
        <p:spPr>
          <a:xfrm>
            <a:off x="412812" y="390617"/>
            <a:ext cx="5038077" cy="6555641"/>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Interthread Communication</a:t>
            </a:r>
          </a:p>
          <a:p>
            <a:pPr algn="l"/>
            <a:endParaRPr lang="en-US" sz="14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class Producer implements Runnable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Q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q</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Producer(Q q)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this.q</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 q;</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new Thread(this, "Producer").start();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int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 0;</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while(true)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q.put</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i</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 }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class Consumer implements Runnable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Q </a:t>
            </a:r>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q</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Consumer(Q q)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this.q</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 = q;</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new Thread(this, "Consumer").start();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while(true) {</a:t>
            </a:r>
          </a:p>
          <a:p>
            <a:pPr algn="l"/>
            <a:r>
              <a:rPr lang="en-US" sz="1800" b="0" i="0" u="none" strike="noStrike" baseline="0" dirty="0" err="1">
                <a:solidFill>
                  <a:srgbClr val="0070C0"/>
                </a:solidFill>
                <a:latin typeface="Times New Roman" panose="02020603050405020304" pitchFamily="18" charset="0"/>
                <a:cs typeface="Times New Roman" panose="02020603050405020304" pitchFamily="18" charset="0"/>
              </a:rPr>
              <a:t>q.get</a:t>
            </a:r>
            <a:r>
              <a:rPr lang="en-US" sz="18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70C0"/>
                </a:solidFill>
                <a:latin typeface="Times New Roman" panose="02020603050405020304" pitchFamily="18" charset="0"/>
                <a:cs typeface="Times New Roman" panose="02020603050405020304" pitchFamily="18" charset="0"/>
              </a:rPr>
              <a:t>}  } }</a:t>
            </a:r>
          </a:p>
        </p:txBody>
      </p:sp>
      <p:sp>
        <p:nvSpPr>
          <p:cNvPr id="4" name="TextBox 3">
            <a:extLst>
              <a:ext uri="{FF2B5EF4-FFF2-40B4-BE49-F238E27FC236}">
                <a16:creationId xmlns:a16="http://schemas.microsoft.com/office/drawing/2014/main" id="{CCFB14E5-1653-A68F-EEBC-4548D0E676AB}"/>
              </a:ext>
            </a:extLst>
          </p:cNvPr>
          <p:cNvSpPr txBox="1"/>
          <p:nvPr/>
        </p:nvSpPr>
        <p:spPr>
          <a:xfrm>
            <a:off x="5202315" y="702260"/>
            <a:ext cx="3666477" cy="5940088"/>
          </a:xfrm>
          <a:prstGeom prst="rect">
            <a:avLst/>
          </a:prstGeom>
          <a:noFill/>
        </p:spPr>
        <p:txBody>
          <a:bodyPr wrap="square">
            <a:spAutoFit/>
          </a:bodyPr>
          <a:lstStyle/>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PCFixed</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public static void main(String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args</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Q </a:t>
            </a:r>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q</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 = new Q();</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new Producer(q);</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new Consumer(q);</a:t>
            </a:r>
          </a:p>
          <a:p>
            <a:pPr algn="l"/>
            <a:r>
              <a:rPr lang="en-US" sz="2000" b="0" i="0" u="none" strike="noStrike" baseline="0" dirty="0" err="1">
                <a:solidFill>
                  <a:srgbClr val="0070C0"/>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70C0"/>
                </a:solidFill>
                <a:latin typeface="Times New Roman" panose="02020603050405020304" pitchFamily="18" charset="0"/>
                <a:cs typeface="Times New Roman" panose="02020603050405020304" pitchFamily="18" charset="0"/>
              </a:rPr>
              <a:t>("Press Control-C to stop.");</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70C0"/>
                </a:solidFill>
                <a:latin typeface="Times New Roman" panose="02020603050405020304" pitchFamily="18" charset="0"/>
                <a:cs typeface="Times New Roman" panose="02020603050405020304" pitchFamily="18" charset="0"/>
              </a:rPr>
              <a:t>}</a:t>
            </a:r>
          </a:p>
          <a:p>
            <a:pPr algn="l"/>
            <a:r>
              <a:rPr lang="en-US" sz="2000" b="1" dirty="0">
                <a:solidFill>
                  <a:srgbClr val="7030A0"/>
                </a:solidFill>
                <a:latin typeface="Times New Roman" panose="02020603050405020304" pitchFamily="18" charset="0"/>
                <a:cs typeface="Times New Roman" panose="02020603050405020304" pitchFamily="18" charset="0"/>
              </a:rPr>
              <a:t>Output</a:t>
            </a:r>
          </a:p>
          <a:p>
            <a:pPr algn="l"/>
            <a:r>
              <a:rPr lang="en-US" sz="1600" b="0" i="0" u="none" strike="noStrike" baseline="0" dirty="0">
                <a:latin typeface="Times New Roman" panose="02020603050405020304" pitchFamily="18" charset="0"/>
                <a:cs typeface="Times New Roman" panose="02020603050405020304" pitchFamily="18" charset="0"/>
              </a:rPr>
              <a:t>Put: 1</a:t>
            </a:r>
          </a:p>
          <a:p>
            <a:pPr algn="l"/>
            <a:r>
              <a:rPr lang="en-US" sz="1600" b="0" i="0" u="none" strike="noStrike" baseline="0" dirty="0">
                <a:latin typeface="Times New Roman" panose="02020603050405020304" pitchFamily="18" charset="0"/>
                <a:cs typeface="Times New Roman" panose="02020603050405020304" pitchFamily="18" charset="0"/>
              </a:rPr>
              <a:t>Got: 1</a:t>
            </a:r>
          </a:p>
          <a:p>
            <a:pPr algn="l"/>
            <a:r>
              <a:rPr lang="en-US" sz="1600" b="0" i="0" u="none" strike="noStrike" baseline="0" dirty="0">
                <a:latin typeface="Times New Roman" panose="02020603050405020304" pitchFamily="18" charset="0"/>
                <a:cs typeface="Times New Roman" panose="02020603050405020304" pitchFamily="18" charset="0"/>
              </a:rPr>
              <a:t>Put: 2</a:t>
            </a:r>
          </a:p>
          <a:p>
            <a:pPr algn="l"/>
            <a:r>
              <a:rPr lang="en-US" sz="1600" b="0" i="0" u="none" strike="noStrike" baseline="0" dirty="0">
                <a:latin typeface="Times New Roman" panose="02020603050405020304" pitchFamily="18" charset="0"/>
                <a:cs typeface="Times New Roman" panose="02020603050405020304" pitchFamily="18" charset="0"/>
              </a:rPr>
              <a:t>Got: 2</a:t>
            </a:r>
          </a:p>
          <a:p>
            <a:pPr algn="l"/>
            <a:r>
              <a:rPr lang="en-US" sz="1600" b="0" i="0" u="none" strike="noStrike" baseline="0" dirty="0">
                <a:latin typeface="Times New Roman" panose="02020603050405020304" pitchFamily="18" charset="0"/>
                <a:cs typeface="Times New Roman" panose="02020603050405020304" pitchFamily="18" charset="0"/>
              </a:rPr>
              <a:t>Put: 3</a:t>
            </a:r>
          </a:p>
          <a:p>
            <a:pPr algn="l"/>
            <a:r>
              <a:rPr lang="en-US" sz="1600" b="0" i="0" u="none" strike="noStrike" baseline="0" dirty="0">
                <a:latin typeface="Times New Roman" panose="02020603050405020304" pitchFamily="18" charset="0"/>
                <a:cs typeface="Times New Roman" panose="02020603050405020304" pitchFamily="18" charset="0"/>
              </a:rPr>
              <a:t>Got: 3</a:t>
            </a:r>
          </a:p>
          <a:p>
            <a:pPr algn="l"/>
            <a:r>
              <a:rPr lang="en-US" sz="1600" b="0" i="0" u="none" strike="noStrike" baseline="0" dirty="0">
                <a:latin typeface="Times New Roman" panose="02020603050405020304" pitchFamily="18" charset="0"/>
                <a:cs typeface="Times New Roman" panose="02020603050405020304" pitchFamily="18" charset="0"/>
              </a:rPr>
              <a:t>Put: 4</a:t>
            </a:r>
          </a:p>
          <a:p>
            <a:pPr algn="l"/>
            <a:r>
              <a:rPr lang="en-US" sz="1600" b="0" i="0" u="none" strike="noStrike" baseline="0" dirty="0">
                <a:latin typeface="Times New Roman" panose="02020603050405020304" pitchFamily="18" charset="0"/>
                <a:cs typeface="Times New Roman" panose="02020603050405020304" pitchFamily="18" charset="0"/>
              </a:rPr>
              <a:t>Got: 4</a:t>
            </a:r>
          </a:p>
          <a:p>
            <a:pPr algn="l"/>
            <a:r>
              <a:rPr lang="en-US" sz="1600" b="0" i="0" u="none" strike="noStrike" baseline="0" dirty="0">
                <a:latin typeface="Times New Roman" panose="02020603050405020304" pitchFamily="18" charset="0"/>
                <a:cs typeface="Times New Roman" panose="02020603050405020304" pitchFamily="18" charset="0"/>
              </a:rPr>
              <a:t>Put: 5</a:t>
            </a:r>
          </a:p>
          <a:p>
            <a:pPr algn="l"/>
            <a:r>
              <a:rPr lang="en-US" sz="1600" b="0" i="0" u="none" strike="noStrike" baseline="0" dirty="0">
                <a:latin typeface="Times New Roman" panose="02020603050405020304" pitchFamily="18" charset="0"/>
                <a:cs typeface="Times New Roman" panose="02020603050405020304" pitchFamily="18" charset="0"/>
              </a:rPr>
              <a:t>Got: 5</a:t>
            </a:r>
            <a:endParaRPr lang="en-US" sz="1600" b="0" i="0" u="none" strike="noStrike" baseline="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445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43</a:t>
            </a:fld>
            <a:endParaRPr lang="en-US"/>
          </a:p>
        </p:txBody>
      </p:sp>
      <p:sp>
        <p:nvSpPr>
          <p:cNvPr id="3" name="TextBox 2">
            <a:extLst>
              <a:ext uri="{FF2B5EF4-FFF2-40B4-BE49-F238E27FC236}">
                <a16:creationId xmlns:a16="http://schemas.microsoft.com/office/drawing/2014/main" id="{EC9B6F98-F7CB-0679-1200-139147FA3619}"/>
              </a:ext>
            </a:extLst>
          </p:cNvPr>
          <p:cNvSpPr txBox="1"/>
          <p:nvPr/>
        </p:nvSpPr>
        <p:spPr>
          <a:xfrm>
            <a:off x="395056" y="427991"/>
            <a:ext cx="8393837" cy="5201424"/>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sz="16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A special type of error that you need to avoid that relates specifically to multitasking is </a:t>
            </a:r>
            <a:r>
              <a:rPr lang="en-US" sz="2400" b="0" i="1" u="none" strike="noStrike" baseline="0" dirty="0">
                <a:latin typeface="Times New Roman" panose="02020603050405020304" pitchFamily="18" charset="0"/>
                <a:cs typeface="Times New Roman" panose="02020603050405020304" pitchFamily="18" charset="0"/>
              </a:rPr>
              <a:t>deadlock</a:t>
            </a:r>
            <a:r>
              <a:rPr lang="en-US" sz="2400" b="0" i="0" u="none" strike="noStrike" baseline="0" dirty="0">
                <a:latin typeface="Times New Roman" panose="02020603050405020304" pitchFamily="18" charset="0"/>
                <a:cs typeface="Times New Roman" panose="02020603050405020304" pitchFamily="18" charset="0"/>
              </a:rPr>
              <a:t>, which occurs when two threads have a circular dependency on a pair of synchronized objects. </a:t>
            </a:r>
          </a:p>
          <a:p>
            <a:pPr algn="l"/>
            <a:r>
              <a:rPr lang="en-US" sz="2400" b="0" i="0" u="none" strike="noStrike" baseline="0" dirty="0">
                <a:latin typeface="Times New Roman" panose="02020603050405020304" pitchFamily="18" charset="0"/>
                <a:cs typeface="Times New Roman" panose="02020603050405020304" pitchFamily="18" charset="0"/>
              </a:rPr>
              <a:t>For example, suppose one thread enters the monitor on object X and another thread enters the monitor on object Y. </a:t>
            </a:r>
          </a:p>
          <a:p>
            <a:pPr algn="l"/>
            <a:endParaRPr lang="en-US" sz="240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Now if the thread in X tries to call any synchronized method on Y, it will block as expected. However, if the thread in Y, in turn, tries to call any synchronized method on X, the thread waits forever, because to access X, it would have to release its own lock on Y so that the first thread could complete.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66494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44</a:t>
            </a:fld>
            <a:endParaRPr lang="en-US"/>
          </a:p>
        </p:txBody>
      </p:sp>
      <p:sp>
        <p:nvSpPr>
          <p:cNvPr id="3" name="TextBox 2">
            <a:extLst>
              <a:ext uri="{FF2B5EF4-FFF2-40B4-BE49-F238E27FC236}">
                <a16:creationId xmlns:a16="http://schemas.microsoft.com/office/drawing/2014/main" id="{EC9B6F98-F7CB-0679-1200-139147FA3619}"/>
              </a:ext>
            </a:extLst>
          </p:cNvPr>
          <p:cNvSpPr txBox="1"/>
          <p:nvPr/>
        </p:nvSpPr>
        <p:spPr>
          <a:xfrm>
            <a:off x="395056" y="427991"/>
            <a:ext cx="8393837" cy="3354765"/>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sz="16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latin typeface="Times New Roman" panose="02020603050405020304" pitchFamily="18" charset="0"/>
                <a:cs typeface="Times New Roman" panose="02020603050405020304" pitchFamily="18" charset="0"/>
              </a:rPr>
              <a:t>Deadlock is a difficult error to debug for two reasons:</a:t>
            </a:r>
          </a:p>
          <a:p>
            <a:pPr algn="l"/>
            <a:r>
              <a:rPr lang="en-US" sz="2400" b="0" i="0" u="none" strike="noStrike" baseline="0" dirty="0">
                <a:latin typeface="Times New Roman" panose="02020603050405020304" pitchFamily="18" charset="0"/>
                <a:cs typeface="Times New Roman" panose="02020603050405020304" pitchFamily="18" charset="0"/>
              </a:rPr>
              <a:t>• In general, it occurs only rarely, when the two threads time-slice in just the right way.</a:t>
            </a:r>
          </a:p>
          <a:p>
            <a:pPr algn="l"/>
            <a:r>
              <a:rPr lang="en-US" sz="2400" b="0" i="0" u="none" strike="noStrike" baseline="0" dirty="0">
                <a:latin typeface="Times New Roman" panose="02020603050405020304" pitchFamily="18" charset="0"/>
                <a:cs typeface="Times New Roman" panose="02020603050405020304" pitchFamily="18" charset="0"/>
              </a:rPr>
              <a:t>• It may involve more than two threads and two synchronized objects. </a:t>
            </a:r>
          </a:p>
          <a:p>
            <a:pPr algn="l"/>
            <a:endParaRPr lang="en-US" sz="2400" dirty="0">
              <a:latin typeface="Times New Roman" panose="02020603050405020304" pitchFamily="18" charset="0"/>
              <a:cs typeface="Times New Roman" panose="02020603050405020304" pitchFamily="18" charset="0"/>
            </a:endParaRPr>
          </a:p>
          <a:p>
            <a:pPr algn="l"/>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0250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45</a:t>
            </a:fld>
            <a:endParaRPr lang="en-US"/>
          </a:p>
        </p:txBody>
      </p:sp>
      <p:sp>
        <p:nvSpPr>
          <p:cNvPr id="3" name="TextBox 2">
            <a:extLst>
              <a:ext uri="{FF2B5EF4-FFF2-40B4-BE49-F238E27FC236}">
                <a16:creationId xmlns:a16="http://schemas.microsoft.com/office/drawing/2014/main" id="{EC9B6F98-F7CB-0679-1200-139147FA3619}"/>
              </a:ext>
            </a:extLst>
          </p:cNvPr>
          <p:cNvSpPr txBox="1"/>
          <p:nvPr/>
        </p:nvSpPr>
        <p:spPr>
          <a:xfrm>
            <a:off x="239699" y="161661"/>
            <a:ext cx="4802818" cy="6817251"/>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7030A0"/>
                </a:solidFill>
                <a:latin typeface="Times New Roman" panose="02020603050405020304" pitchFamily="18" charset="0"/>
                <a:cs typeface="Times New Roman" panose="02020603050405020304" pitchFamily="18" charset="0"/>
              </a:rPr>
              <a:t>Example </a:t>
            </a:r>
          </a:p>
          <a:p>
            <a:pPr algn="l"/>
            <a:endParaRPr lang="en-US" sz="140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 An example of deadlock.</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class A {</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synchronized void foo(B b) {</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String name = </a:t>
            </a:r>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Thread.currentThread</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a:t>
            </a:r>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getName</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(name + " entered </a:t>
            </a:r>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A.foo</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try {</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Thread.sleep</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(1000);</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 catch(Exception e) {</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("A Interrupted");</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(name + " trying to call </a:t>
            </a:r>
            <a:r>
              <a:rPr lang="en-US" sz="2000" dirty="0" err="1">
                <a:solidFill>
                  <a:srgbClr val="0000FF"/>
                </a:solidFill>
                <a:latin typeface="Times New Roman" panose="02020603050405020304" pitchFamily="18" charset="0"/>
                <a:cs typeface="Times New Roman" panose="02020603050405020304" pitchFamily="18" charset="0"/>
              </a:rPr>
              <a:t>B.last</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err="1">
                <a:solidFill>
                  <a:srgbClr val="0000FF"/>
                </a:solidFill>
                <a:latin typeface="Times New Roman" panose="02020603050405020304" pitchFamily="18" charset="0"/>
                <a:cs typeface="Times New Roman" panose="02020603050405020304" pitchFamily="18" charset="0"/>
              </a:rPr>
              <a:t>b.last</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synchronized void last() {</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("Inside </a:t>
            </a:r>
            <a:r>
              <a:rPr lang="en-US" sz="2000" dirty="0" err="1">
                <a:solidFill>
                  <a:srgbClr val="0000FF"/>
                </a:solidFill>
                <a:latin typeface="Times New Roman" panose="02020603050405020304" pitchFamily="18" charset="0"/>
                <a:cs typeface="Times New Roman" panose="02020603050405020304" pitchFamily="18" charset="0"/>
              </a:rPr>
              <a:t>A.last</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9B9C7598-CC1F-9552-5836-8BAFACF05ABE}"/>
              </a:ext>
            </a:extLst>
          </p:cNvPr>
          <p:cNvSpPr txBox="1"/>
          <p:nvPr/>
        </p:nvSpPr>
        <p:spPr>
          <a:xfrm>
            <a:off x="5099395" y="349954"/>
            <a:ext cx="4044605" cy="5940088"/>
          </a:xfrm>
          <a:prstGeom prst="rect">
            <a:avLst/>
          </a:prstGeom>
          <a:noFill/>
        </p:spPr>
        <p:txBody>
          <a:bodyPr wrap="square">
            <a:spAutoFit/>
          </a:bodyPr>
          <a:lstStyle/>
          <a:p>
            <a:r>
              <a:rPr lang="en-US" sz="2000" dirty="0">
                <a:solidFill>
                  <a:srgbClr val="0000FF"/>
                </a:solidFill>
                <a:latin typeface="Times New Roman" panose="02020603050405020304" pitchFamily="18" charset="0"/>
                <a:cs typeface="Times New Roman" panose="02020603050405020304" pitchFamily="18" charset="0"/>
              </a:rPr>
              <a:t>class B {</a:t>
            </a:r>
          </a:p>
          <a:p>
            <a:r>
              <a:rPr lang="en-US" sz="2000" dirty="0">
                <a:solidFill>
                  <a:srgbClr val="0000FF"/>
                </a:solidFill>
                <a:latin typeface="Times New Roman" panose="02020603050405020304" pitchFamily="18" charset="0"/>
                <a:cs typeface="Times New Roman" panose="02020603050405020304" pitchFamily="18" charset="0"/>
              </a:rPr>
              <a:t>synchronized void bar(A a) {</a:t>
            </a:r>
          </a:p>
          <a:p>
            <a:r>
              <a:rPr lang="en-US" sz="2000" dirty="0">
                <a:solidFill>
                  <a:srgbClr val="0000FF"/>
                </a:solidFill>
                <a:latin typeface="Times New Roman" panose="02020603050405020304" pitchFamily="18" charset="0"/>
                <a:cs typeface="Times New Roman" panose="02020603050405020304" pitchFamily="18" charset="0"/>
              </a:rPr>
              <a:t>String name = </a:t>
            </a:r>
            <a:r>
              <a:rPr lang="en-US" sz="2000" dirty="0" err="1">
                <a:solidFill>
                  <a:srgbClr val="0000FF"/>
                </a:solidFill>
                <a:latin typeface="Times New Roman" panose="02020603050405020304" pitchFamily="18" charset="0"/>
                <a:cs typeface="Times New Roman" panose="02020603050405020304" pitchFamily="18" charset="0"/>
              </a:rPr>
              <a:t>Thread.currentThread</a:t>
            </a:r>
            <a:r>
              <a:rPr lang="en-US" sz="2000" dirty="0">
                <a:solidFill>
                  <a:srgbClr val="0000FF"/>
                </a:solidFill>
                <a:latin typeface="Times New Roman" panose="02020603050405020304" pitchFamily="18" charset="0"/>
                <a:cs typeface="Times New Roman" panose="02020603050405020304" pitchFamily="18" charset="0"/>
              </a:rPr>
              <a:t>().</a:t>
            </a:r>
            <a:r>
              <a:rPr lang="en-US" sz="2000" dirty="0" err="1">
                <a:solidFill>
                  <a:srgbClr val="0000FF"/>
                </a:solidFill>
                <a:latin typeface="Times New Roman" panose="02020603050405020304" pitchFamily="18" charset="0"/>
                <a:cs typeface="Times New Roman" panose="02020603050405020304" pitchFamily="18" charset="0"/>
              </a:rPr>
              <a:t>getName</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(name + " entered </a:t>
            </a:r>
            <a:r>
              <a:rPr lang="en-US" sz="2000" dirty="0" err="1">
                <a:solidFill>
                  <a:srgbClr val="0000FF"/>
                </a:solidFill>
                <a:latin typeface="Times New Roman" panose="02020603050405020304" pitchFamily="18" charset="0"/>
                <a:cs typeface="Times New Roman" panose="02020603050405020304" pitchFamily="18" charset="0"/>
              </a:rPr>
              <a:t>B.bar</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try {</a:t>
            </a:r>
          </a:p>
          <a:p>
            <a:r>
              <a:rPr lang="en-US" sz="2000" dirty="0" err="1">
                <a:solidFill>
                  <a:srgbClr val="0000FF"/>
                </a:solidFill>
                <a:latin typeface="Times New Roman" panose="02020603050405020304" pitchFamily="18" charset="0"/>
                <a:cs typeface="Times New Roman" panose="02020603050405020304" pitchFamily="18" charset="0"/>
              </a:rPr>
              <a:t>Thread.sleep</a:t>
            </a:r>
            <a:r>
              <a:rPr lang="en-US" sz="2000" dirty="0">
                <a:solidFill>
                  <a:srgbClr val="0000FF"/>
                </a:solidFill>
                <a:latin typeface="Times New Roman" panose="02020603050405020304" pitchFamily="18" charset="0"/>
                <a:cs typeface="Times New Roman" panose="02020603050405020304" pitchFamily="18" charset="0"/>
              </a:rPr>
              <a:t>(1000);</a:t>
            </a:r>
          </a:p>
          <a:p>
            <a:r>
              <a:rPr lang="en-US" sz="2000" dirty="0">
                <a:solidFill>
                  <a:srgbClr val="0000FF"/>
                </a:solidFill>
                <a:latin typeface="Times New Roman" panose="02020603050405020304" pitchFamily="18" charset="0"/>
                <a:cs typeface="Times New Roman" panose="02020603050405020304" pitchFamily="18" charset="0"/>
              </a:rPr>
              <a:t>} catch(Exception e) {</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("B Interrupted");</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(name + " trying to call </a:t>
            </a:r>
            <a:r>
              <a:rPr lang="en-US" sz="2000" dirty="0" err="1">
                <a:solidFill>
                  <a:srgbClr val="0000FF"/>
                </a:solidFill>
                <a:latin typeface="Times New Roman" panose="02020603050405020304" pitchFamily="18" charset="0"/>
                <a:cs typeface="Times New Roman" panose="02020603050405020304" pitchFamily="18" charset="0"/>
              </a:rPr>
              <a:t>A.last</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err="1">
                <a:solidFill>
                  <a:srgbClr val="0000FF"/>
                </a:solidFill>
                <a:latin typeface="Times New Roman" panose="02020603050405020304" pitchFamily="18" charset="0"/>
                <a:cs typeface="Times New Roman" panose="02020603050405020304" pitchFamily="18" charset="0"/>
              </a:rPr>
              <a:t>a.last</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synchronized void last() {</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("Inside </a:t>
            </a:r>
            <a:r>
              <a:rPr lang="en-US" sz="2000" dirty="0" err="1">
                <a:solidFill>
                  <a:srgbClr val="0000FF"/>
                </a:solidFill>
                <a:latin typeface="Times New Roman" panose="02020603050405020304" pitchFamily="18" charset="0"/>
                <a:cs typeface="Times New Roman" panose="02020603050405020304" pitchFamily="18" charset="0"/>
              </a:rPr>
              <a:t>A.last</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979046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46</a:t>
            </a:fld>
            <a:endParaRPr lang="en-US"/>
          </a:p>
        </p:txBody>
      </p:sp>
      <p:sp>
        <p:nvSpPr>
          <p:cNvPr id="3" name="TextBox 2">
            <a:extLst>
              <a:ext uri="{FF2B5EF4-FFF2-40B4-BE49-F238E27FC236}">
                <a16:creationId xmlns:a16="http://schemas.microsoft.com/office/drawing/2014/main" id="{EC9B6F98-F7CB-0679-1200-139147FA3619}"/>
              </a:ext>
            </a:extLst>
          </p:cNvPr>
          <p:cNvSpPr txBox="1"/>
          <p:nvPr/>
        </p:nvSpPr>
        <p:spPr>
          <a:xfrm>
            <a:off x="239698" y="161661"/>
            <a:ext cx="5672829" cy="7125027"/>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0" i="0" u="none" strike="noStrike" baseline="0" dirty="0">
                <a:solidFill>
                  <a:srgbClr val="7030A0"/>
                </a:solidFill>
                <a:latin typeface="Times New Roman" panose="02020603050405020304" pitchFamily="18" charset="0"/>
                <a:cs typeface="Times New Roman" panose="02020603050405020304" pitchFamily="18" charset="0"/>
              </a:rPr>
              <a:t>Example </a:t>
            </a:r>
          </a:p>
          <a:p>
            <a:pPr algn="l"/>
            <a:endParaRPr lang="en-US" sz="1400" dirty="0">
              <a:latin typeface="Times New Roman" panose="02020603050405020304" pitchFamily="18" charset="0"/>
              <a:cs typeface="Times New Roman" panose="02020603050405020304" pitchFamily="18" charset="0"/>
            </a:endParaRPr>
          </a:p>
          <a:p>
            <a:r>
              <a:rPr lang="en-US" sz="2000" dirty="0">
                <a:solidFill>
                  <a:srgbClr val="0000FF"/>
                </a:solidFill>
                <a:latin typeface="Times New Roman" panose="02020603050405020304" pitchFamily="18" charset="0"/>
                <a:cs typeface="Times New Roman" panose="02020603050405020304" pitchFamily="18" charset="0"/>
              </a:rPr>
              <a:t>class Deadlock implements Runnable {</a:t>
            </a:r>
          </a:p>
          <a:p>
            <a:r>
              <a:rPr lang="en-US" sz="2000" dirty="0">
                <a:solidFill>
                  <a:srgbClr val="0000FF"/>
                </a:solidFill>
                <a:latin typeface="Times New Roman" panose="02020603050405020304" pitchFamily="18" charset="0"/>
                <a:cs typeface="Times New Roman" panose="02020603050405020304" pitchFamily="18" charset="0"/>
              </a:rPr>
              <a:t>A </a:t>
            </a:r>
            <a:r>
              <a:rPr lang="en-US" sz="2000" dirty="0" err="1">
                <a:solidFill>
                  <a:srgbClr val="0000FF"/>
                </a:solidFill>
                <a:latin typeface="Times New Roman" panose="02020603050405020304" pitchFamily="18" charset="0"/>
                <a:cs typeface="Times New Roman" panose="02020603050405020304" pitchFamily="18" charset="0"/>
              </a:rPr>
              <a:t>a</a:t>
            </a:r>
            <a:r>
              <a:rPr lang="en-US" sz="2000" dirty="0">
                <a:solidFill>
                  <a:srgbClr val="0000FF"/>
                </a:solidFill>
                <a:latin typeface="Times New Roman" panose="02020603050405020304" pitchFamily="18" charset="0"/>
                <a:cs typeface="Times New Roman" panose="02020603050405020304" pitchFamily="18" charset="0"/>
              </a:rPr>
              <a:t> = new A();</a:t>
            </a:r>
          </a:p>
          <a:p>
            <a:r>
              <a:rPr lang="en-US" sz="2000" dirty="0">
                <a:solidFill>
                  <a:srgbClr val="0000FF"/>
                </a:solidFill>
                <a:latin typeface="Times New Roman" panose="02020603050405020304" pitchFamily="18" charset="0"/>
                <a:cs typeface="Times New Roman" panose="02020603050405020304" pitchFamily="18" charset="0"/>
              </a:rPr>
              <a:t>B </a:t>
            </a:r>
            <a:r>
              <a:rPr lang="en-US" sz="2000" dirty="0" err="1">
                <a:solidFill>
                  <a:srgbClr val="0000FF"/>
                </a:solidFill>
                <a:latin typeface="Times New Roman" panose="02020603050405020304" pitchFamily="18" charset="0"/>
                <a:cs typeface="Times New Roman" panose="02020603050405020304" pitchFamily="18" charset="0"/>
              </a:rPr>
              <a:t>b</a:t>
            </a:r>
            <a:r>
              <a:rPr lang="en-US" sz="2000" dirty="0">
                <a:solidFill>
                  <a:srgbClr val="0000FF"/>
                </a:solidFill>
                <a:latin typeface="Times New Roman" panose="02020603050405020304" pitchFamily="18" charset="0"/>
                <a:cs typeface="Times New Roman" panose="02020603050405020304" pitchFamily="18" charset="0"/>
              </a:rPr>
              <a:t> = new B();</a:t>
            </a:r>
          </a:p>
          <a:p>
            <a:r>
              <a:rPr lang="en-US" sz="2000" dirty="0">
                <a:solidFill>
                  <a:srgbClr val="0000FF"/>
                </a:solidFill>
                <a:latin typeface="Times New Roman" panose="02020603050405020304" pitchFamily="18" charset="0"/>
                <a:cs typeface="Times New Roman" panose="02020603050405020304" pitchFamily="18" charset="0"/>
              </a:rPr>
              <a:t>Deadlock() {</a:t>
            </a:r>
          </a:p>
          <a:p>
            <a:r>
              <a:rPr lang="en-US" sz="2000" dirty="0" err="1">
                <a:solidFill>
                  <a:srgbClr val="0000FF"/>
                </a:solidFill>
                <a:latin typeface="Times New Roman" panose="02020603050405020304" pitchFamily="18" charset="0"/>
                <a:cs typeface="Times New Roman" panose="02020603050405020304" pitchFamily="18" charset="0"/>
              </a:rPr>
              <a:t>Thread.currentThread</a:t>
            </a:r>
            <a:r>
              <a:rPr lang="en-US" sz="2000" dirty="0">
                <a:solidFill>
                  <a:srgbClr val="0000FF"/>
                </a:solidFill>
                <a:latin typeface="Times New Roman" panose="02020603050405020304" pitchFamily="18" charset="0"/>
                <a:cs typeface="Times New Roman" panose="02020603050405020304" pitchFamily="18" charset="0"/>
              </a:rPr>
              <a:t>().</a:t>
            </a:r>
            <a:r>
              <a:rPr lang="en-US" sz="2000" dirty="0" err="1">
                <a:solidFill>
                  <a:srgbClr val="0000FF"/>
                </a:solidFill>
                <a:latin typeface="Times New Roman" panose="02020603050405020304" pitchFamily="18" charset="0"/>
                <a:cs typeface="Times New Roman" panose="02020603050405020304" pitchFamily="18" charset="0"/>
              </a:rPr>
              <a:t>setName</a:t>
            </a:r>
            <a:r>
              <a:rPr lang="en-US" sz="2000" dirty="0">
                <a:solidFill>
                  <a:srgbClr val="0000FF"/>
                </a:solidFill>
                <a:latin typeface="Times New Roman" panose="02020603050405020304" pitchFamily="18" charset="0"/>
                <a:cs typeface="Times New Roman" panose="02020603050405020304" pitchFamily="18" charset="0"/>
              </a:rPr>
              <a:t>("</a:t>
            </a:r>
            <a:r>
              <a:rPr lang="en-US" sz="2000" dirty="0" err="1">
                <a:solidFill>
                  <a:srgbClr val="0000FF"/>
                </a:solidFill>
                <a:latin typeface="Times New Roman" panose="02020603050405020304" pitchFamily="18" charset="0"/>
                <a:cs typeface="Times New Roman" panose="02020603050405020304" pitchFamily="18" charset="0"/>
              </a:rPr>
              <a:t>MainThread</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Thread t = new Thread(this, "</a:t>
            </a:r>
            <a:r>
              <a:rPr lang="en-US" sz="2000" dirty="0" err="1">
                <a:solidFill>
                  <a:srgbClr val="0000FF"/>
                </a:solidFill>
                <a:latin typeface="Times New Roman" panose="02020603050405020304" pitchFamily="18" charset="0"/>
                <a:cs typeface="Times New Roman" panose="02020603050405020304" pitchFamily="18" charset="0"/>
              </a:rPr>
              <a:t>RacingThread</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err="1">
                <a:solidFill>
                  <a:srgbClr val="0000FF"/>
                </a:solidFill>
                <a:latin typeface="Times New Roman" panose="02020603050405020304" pitchFamily="18" charset="0"/>
                <a:cs typeface="Times New Roman" panose="02020603050405020304" pitchFamily="18" charset="0"/>
              </a:rPr>
              <a:t>t.start</a:t>
            </a:r>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err="1">
                <a:solidFill>
                  <a:srgbClr val="0000FF"/>
                </a:solidFill>
                <a:latin typeface="Times New Roman" panose="02020603050405020304" pitchFamily="18" charset="0"/>
                <a:cs typeface="Times New Roman" panose="02020603050405020304" pitchFamily="18" charset="0"/>
              </a:rPr>
              <a:t>a.foo</a:t>
            </a:r>
            <a:r>
              <a:rPr lang="en-US" sz="2000" dirty="0">
                <a:solidFill>
                  <a:srgbClr val="0000FF"/>
                </a:solidFill>
                <a:latin typeface="Times New Roman" panose="02020603050405020304" pitchFamily="18" charset="0"/>
                <a:cs typeface="Times New Roman" panose="02020603050405020304" pitchFamily="18" charset="0"/>
              </a:rPr>
              <a:t>(b); // get lock on a in this thread.</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("Back in main thread");</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public void run() {</a:t>
            </a:r>
          </a:p>
          <a:p>
            <a:r>
              <a:rPr lang="en-US" sz="2000" dirty="0" err="1">
                <a:solidFill>
                  <a:srgbClr val="0000FF"/>
                </a:solidFill>
                <a:latin typeface="Times New Roman" panose="02020603050405020304" pitchFamily="18" charset="0"/>
                <a:cs typeface="Times New Roman" panose="02020603050405020304" pitchFamily="18" charset="0"/>
              </a:rPr>
              <a:t>b.bar</a:t>
            </a:r>
            <a:r>
              <a:rPr lang="en-US" sz="2000" dirty="0">
                <a:solidFill>
                  <a:srgbClr val="0000FF"/>
                </a:solidFill>
                <a:latin typeface="Times New Roman" panose="02020603050405020304" pitchFamily="18" charset="0"/>
                <a:cs typeface="Times New Roman" panose="02020603050405020304" pitchFamily="18" charset="0"/>
              </a:rPr>
              <a:t>(a); // get lock on b in other thread.</a:t>
            </a:r>
          </a:p>
          <a:p>
            <a:r>
              <a:rPr lang="en-US" sz="2000" dirty="0" err="1">
                <a:solidFill>
                  <a:srgbClr val="0000FF"/>
                </a:solidFill>
                <a:latin typeface="Times New Roman" panose="02020603050405020304" pitchFamily="18" charset="0"/>
                <a:cs typeface="Times New Roman" panose="02020603050405020304" pitchFamily="18" charset="0"/>
              </a:rPr>
              <a:t>System.out.println</a:t>
            </a:r>
            <a:r>
              <a:rPr lang="en-US" sz="2000" dirty="0">
                <a:solidFill>
                  <a:srgbClr val="0000FF"/>
                </a:solidFill>
                <a:latin typeface="Times New Roman" panose="02020603050405020304" pitchFamily="18" charset="0"/>
                <a:cs typeface="Times New Roman" panose="02020603050405020304" pitchFamily="18" charset="0"/>
              </a:rPr>
              <a:t>("Back in other thread");</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public static void main(String </a:t>
            </a:r>
            <a:r>
              <a:rPr lang="en-US" sz="2000" dirty="0" err="1">
                <a:solidFill>
                  <a:srgbClr val="0000FF"/>
                </a:solidFill>
                <a:latin typeface="Times New Roman" panose="02020603050405020304" pitchFamily="18" charset="0"/>
                <a:cs typeface="Times New Roman" panose="02020603050405020304" pitchFamily="18" charset="0"/>
              </a:rPr>
              <a:t>args</a:t>
            </a:r>
            <a:r>
              <a:rPr lang="en-US" sz="2000" dirty="0">
                <a:solidFill>
                  <a:srgbClr val="0000FF"/>
                </a:solidFill>
                <a:latin typeface="Times New Roman" panose="02020603050405020304" pitchFamily="18" charset="0"/>
                <a:cs typeface="Times New Roman" panose="02020603050405020304" pitchFamily="18" charset="0"/>
              </a:rPr>
              <a:t>[]) {</a:t>
            </a:r>
          </a:p>
          <a:p>
            <a:r>
              <a:rPr lang="en-US" sz="2000" dirty="0">
                <a:solidFill>
                  <a:srgbClr val="0000FF"/>
                </a:solidFill>
                <a:latin typeface="Times New Roman" panose="02020603050405020304" pitchFamily="18" charset="0"/>
                <a:cs typeface="Times New Roman" panose="02020603050405020304" pitchFamily="18" charset="0"/>
              </a:rPr>
              <a:t>new Deadlock();</a:t>
            </a:r>
          </a:p>
          <a:p>
            <a:r>
              <a:rPr lang="en-US" sz="2000" dirty="0">
                <a:solidFill>
                  <a:srgbClr val="0000FF"/>
                </a:solidFill>
                <a:latin typeface="Times New Roman" panose="02020603050405020304" pitchFamily="18" charset="0"/>
                <a:cs typeface="Times New Roman" panose="02020603050405020304" pitchFamily="18" charset="0"/>
              </a:rPr>
              <a:t>}</a:t>
            </a:r>
          </a:p>
          <a:p>
            <a:r>
              <a:rPr lang="en-US" sz="2000" dirty="0">
                <a:solidFill>
                  <a:srgbClr val="0000FF"/>
                </a:solidFill>
                <a:latin typeface="Times New Roman" panose="02020603050405020304" pitchFamily="18" charset="0"/>
                <a:cs typeface="Times New Roman" panose="02020603050405020304" pitchFamily="18" charset="0"/>
              </a:rPr>
              <a:t>}</a:t>
            </a:r>
          </a:p>
          <a:p>
            <a:endParaRPr lang="en-US" sz="2000" dirty="0">
              <a:solidFill>
                <a:srgbClr val="0070C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B9C7598-CC1F-9552-5836-8BAFACF05ABE}"/>
              </a:ext>
            </a:extLst>
          </p:cNvPr>
          <p:cNvSpPr txBox="1"/>
          <p:nvPr/>
        </p:nvSpPr>
        <p:spPr>
          <a:xfrm>
            <a:off x="5500696" y="4300176"/>
            <a:ext cx="3501262" cy="1508105"/>
          </a:xfrm>
          <a:prstGeom prst="rect">
            <a:avLst/>
          </a:prstGeom>
          <a:noFill/>
        </p:spPr>
        <p:txBody>
          <a:bodyPr wrap="square">
            <a:spAutoFit/>
          </a:bodyPr>
          <a:lstStyle/>
          <a:p>
            <a:r>
              <a:rPr lang="en-US" sz="2000" b="1" dirty="0">
                <a:solidFill>
                  <a:srgbClr val="7030A0"/>
                </a:solidFill>
                <a:latin typeface="Times New Roman" panose="02020603050405020304" pitchFamily="18" charset="0"/>
                <a:cs typeface="Times New Roman" panose="02020603050405020304" pitchFamily="18" charset="0"/>
              </a:rPr>
              <a:t>Output </a:t>
            </a:r>
          </a:p>
          <a:p>
            <a:pPr algn="l"/>
            <a:r>
              <a:rPr lang="en-US" sz="1800" b="0" i="0" u="none" strike="noStrike" baseline="0" dirty="0" err="1">
                <a:latin typeface="Times New Roman" panose="02020603050405020304" pitchFamily="18" charset="0"/>
                <a:cs typeface="Times New Roman" panose="02020603050405020304" pitchFamily="18" charset="0"/>
              </a:rPr>
              <a:t>MainThread</a:t>
            </a:r>
            <a:r>
              <a:rPr lang="en-US" sz="1800" b="0" i="0" u="none" strike="noStrike" baseline="0" dirty="0">
                <a:latin typeface="Times New Roman" panose="02020603050405020304" pitchFamily="18" charset="0"/>
                <a:cs typeface="Times New Roman" panose="02020603050405020304" pitchFamily="18" charset="0"/>
              </a:rPr>
              <a:t> entered </a:t>
            </a:r>
            <a:r>
              <a:rPr lang="en-US" sz="1800" b="0" i="0" u="none" strike="noStrike" baseline="0" dirty="0" err="1">
                <a:latin typeface="Times New Roman" panose="02020603050405020304" pitchFamily="18" charset="0"/>
                <a:cs typeface="Times New Roman" panose="02020603050405020304" pitchFamily="18" charset="0"/>
              </a:rPr>
              <a:t>A.foo</a:t>
            </a:r>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err="1">
                <a:latin typeface="Times New Roman" panose="02020603050405020304" pitchFamily="18" charset="0"/>
                <a:cs typeface="Times New Roman" panose="02020603050405020304" pitchFamily="18" charset="0"/>
              </a:rPr>
              <a:t>RacingThread</a:t>
            </a:r>
            <a:r>
              <a:rPr lang="en-US" sz="1800" b="0" i="0" u="none" strike="noStrike" baseline="0" dirty="0">
                <a:latin typeface="Times New Roman" panose="02020603050405020304" pitchFamily="18" charset="0"/>
                <a:cs typeface="Times New Roman" panose="02020603050405020304" pitchFamily="18" charset="0"/>
              </a:rPr>
              <a:t> entered </a:t>
            </a:r>
            <a:r>
              <a:rPr lang="en-US" sz="1800" b="0" i="0" u="none" strike="noStrike" baseline="0" dirty="0" err="1">
                <a:latin typeface="Times New Roman" panose="02020603050405020304" pitchFamily="18" charset="0"/>
                <a:cs typeface="Times New Roman" panose="02020603050405020304" pitchFamily="18" charset="0"/>
              </a:rPr>
              <a:t>B.bar</a:t>
            </a:r>
            <a:endParaRPr lang="en-US" sz="180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err="1">
                <a:latin typeface="Times New Roman" panose="02020603050405020304" pitchFamily="18" charset="0"/>
                <a:cs typeface="Times New Roman" panose="02020603050405020304" pitchFamily="18" charset="0"/>
              </a:rPr>
              <a:t>MainThread</a:t>
            </a:r>
            <a:r>
              <a:rPr lang="en-US" sz="1800" b="0" i="0" u="none" strike="noStrike" baseline="0" dirty="0">
                <a:latin typeface="Times New Roman" panose="02020603050405020304" pitchFamily="18" charset="0"/>
                <a:cs typeface="Times New Roman" panose="02020603050405020304" pitchFamily="18" charset="0"/>
              </a:rPr>
              <a:t> trying to call </a:t>
            </a:r>
            <a:r>
              <a:rPr lang="en-US" sz="1800" b="0" i="0" u="none" strike="noStrike" baseline="0" dirty="0" err="1">
                <a:latin typeface="Times New Roman" panose="02020603050405020304" pitchFamily="18" charset="0"/>
                <a:cs typeface="Times New Roman" panose="02020603050405020304" pitchFamily="18" charset="0"/>
              </a:rPr>
              <a:t>B.last</a:t>
            </a:r>
            <a:r>
              <a:rPr lang="en-US" sz="1800" b="0" i="0" u="none" strike="noStrike" baseline="0" dirty="0">
                <a:latin typeface="Times New Roman" panose="02020603050405020304" pitchFamily="18" charset="0"/>
                <a:cs typeface="Times New Roman" panose="02020603050405020304" pitchFamily="18" charset="0"/>
              </a:rPr>
              <a:t>()</a:t>
            </a:r>
          </a:p>
          <a:p>
            <a:pPr algn="l"/>
            <a:r>
              <a:rPr lang="en-US" sz="1800" b="0" i="0" u="none" strike="noStrike" baseline="0" dirty="0" err="1">
                <a:latin typeface="Times New Roman" panose="02020603050405020304" pitchFamily="18" charset="0"/>
                <a:cs typeface="Times New Roman" panose="02020603050405020304" pitchFamily="18" charset="0"/>
              </a:rPr>
              <a:t>RacingThread</a:t>
            </a:r>
            <a:r>
              <a:rPr lang="en-US" sz="1800" b="0" i="0" u="none" strike="noStrike" baseline="0" dirty="0">
                <a:latin typeface="Times New Roman" panose="02020603050405020304" pitchFamily="18" charset="0"/>
                <a:cs typeface="Times New Roman" panose="02020603050405020304" pitchFamily="18" charset="0"/>
              </a:rPr>
              <a:t> trying to call </a:t>
            </a:r>
            <a:r>
              <a:rPr lang="en-US" sz="1800" b="0" i="0" u="none" strike="noStrike" baseline="0" dirty="0" err="1">
                <a:latin typeface="Times New Roman" panose="02020603050405020304" pitchFamily="18" charset="0"/>
                <a:cs typeface="Times New Roman" panose="02020603050405020304" pitchFamily="18" charset="0"/>
              </a:rPr>
              <a:t>A.last</a:t>
            </a:r>
            <a:r>
              <a:rPr lang="en-US" sz="1800" b="0" i="0" u="none" strike="noStrike" baseline="0" dirty="0">
                <a:latin typeface="Times New Roman" panose="02020603050405020304" pitchFamily="18" charset="0"/>
                <a:cs typeface="Times New Roman" panose="02020603050405020304" pitchFamily="18" charset="0"/>
              </a:rPr>
              <a:t>()</a:t>
            </a:r>
            <a:endParaRPr lang="en-US" sz="20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0522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47</a:t>
            </a:fld>
            <a:endParaRPr lang="en-US"/>
          </a:p>
        </p:txBody>
      </p:sp>
      <p:sp>
        <p:nvSpPr>
          <p:cNvPr id="3" name="TextBox 2">
            <a:extLst>
              <a:ext uri="{FF2B5EF4-FFF2-40B4-BE49-F238E27FC236}">
                <a16:creationId xmlns:a16="http://schemas.microsoft.com/office/drawing/2014/main" id="{EC9B6F98-F7CB-0679-1200-139147FA3619}"/>
              </a:ext>
            </a:extLst>
          </p:cNvPr>
          <p:cNvSpPr txBox="1"/>
          <p:nvPr/>
        </p:nvSpPr>
        <p:spPr>
          <a:xfrm>
            <a:off x="239698" y="161661"/>
            <a:ext cx="8169665" cy="6971139"/>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Suspending, Resuming, and Stopping Threads</a:t>
            </a:r>
          </a:p>
          <a:p>
            <a:pPr algn="l"/>
            <a:r>
              <a:rPr lang="en-US" sz="2400" b="0" i="0" u="none" strike="noStrike" baseline="0" dirty="0">
                <a:latin typeface="Times New Roman" panose="02020603050405020304" pitchFamily="18" charset="0"/>
                <a:cs typeface="Times New Roman" panose="02020603050405020304" pitchFamily="18" charset="0"/>
              </a:rPr>
              <a:t>Sometimes, suspending execution of a thread is useful. For example, a separate thread can be used to display the time of day. If the user doesn’t want a clock, then its thread can be suspended. Whatever the case, suspending a thread is a simple matter. Once suspended, restarting the thread is also a simple matter. The mechanisms to suspend, stop, and resume threads</a:t>
            </a:r>
          </a:p>
          <a:p>
            <a:pPr algn="l"/>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Because you can’t now use the suspend( ), resume( ), or stop( ) methods to control a thread, you might be thinking that no way exists to pause, restart, or terminate a thread. But, fortunately, this is not true. Instead, a thread must be designed so that the run( ) method periodically checks to determine whether that thread should suspend, resume, or stop its own execution. Typically, this is accomplished by establishing a flag variable that indicates the execution state of the thread.</a:t>
            </a:r>
          </a:p>
          <a:p>
            <a:pPr algn="l"/>
            <a:endParaRPr lang="en-US" sz="24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9127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48</a:t>
            </a:fld>
            <a:endParaRPr lang="en-US"/>
          </a:p>
        </p:txBody>
      </p:sp>
      <p:sp>
        <p:nvSpPr>
          <p:cNvPr id="3" name="TextBox 2">
            <a:extLst>
              <a:ext uri="{FF2B5EF4-FFF2-40B4-BE49-F238E27FC236}">
                <a16:creationId xmlns:a16="http://schemas.microsoft.com/office/drawing/2014/main" id="{EC9B6F98-F7CB-0679-1200-139147FA3619}"/>
              </a:ext>
            </a:extLst>
          </p:cNvPr>
          <p:cNvSpPr txBox="1"/>
          <p:nvPr/>
        </p:nvSpPr>
        <p:spPr>
          <a:xfrm>
            <a:off x="239699" y="161661"/>
            <a:ext cx="4935984" cy="4693593"/>
          </a:xfrm>
          <a:prstGeom prst="rect">
            <a:avLst/>
          </a:prstGeom>
          <a:noFill/>
        </p:spPr>
        <p:txBody>
          <a:bodyPr wrap="square">
            <a:spAutoFit/>
          </a:bodyPr>
          <a:lstStyle/>
          <a:p>
            <a:pPr algn="l"/>
            <a:r>
              <a:rPr lang="en-US" sz="28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sz="1100" b="0" i="0" u="none" strike="noStrike" baseline="0" dirty="0">
              <a:latin typeface="Times New Roman" panose="02020603050405020304" pitchFamily="18" charset="0"/>
              <a:cs typeface="Times New Roman" panose="02020603050405020304" pitchFamily="18" charset="0"/>
            </a:endParaRP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 Suspending and resuming a thread the modern way.</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class </a:t>
            </a:r>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 implements Runnable {</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String name; // name of thread</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Thread t;</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boolean</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 </a:t>
            </a:r>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suspendFlag</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NewThread</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(String </a:t>
            </a:r>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threadname</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 {</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name = </a:t>
            </a:r>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threadname</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t = new Thread(this, name);</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System.out.println</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("New thread: " + t);</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suspendFlag</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 = false;</a:t>
            </a:r>
          </a:p>
          <a:p>
            <a:pPr algn="l"/>
            <a:r>
              <a:rPr lang="en-US" sz="2000" b="0" i="0" u="none" strike="noStrike" baseline="0" dirty="0" err="1">
                <a:solidFill>
                  <a:srgbClr val="0000FF"/>
                </a:solidFill>
                <a:latin typeface="Times New Roman" panose="02020603050405020304" pitchFamily="18" charset="0"/>
                <a:cs typeface="Times New Roman" panose="02020603050405020304" pitchFamily="18" charset="0"/>
              </a:rPr>
              <a:t>t.start</a:t>
            </a:r>
            <a:r>
              <a:rPr lang="en-US" sz="2000" b="0" i="0" u="none" strike="noStrike" baseline="0" dirty="0">
                <a:solidFill>
                  <a:srgbClr val="0000FF"/>
                </a:solidFill>
                <a:latin typeface="Times New Roman" panose="02020603050405020304" pitchFamily="18" charset="0"/>
                <a:cs typeface="Times New Roman" panose="02020603050405020304" pitchFamily="18" charset="0"/>
              </a:rPr>
              <a:t>(); // Start the thread</a:t>
            </a:r>
          </a:p>
          <a:p>
            <a:pPr algn="l"/>
            <a:r>
              <a:rPr lang="en-US" sz="2000" b="0" i="0" u="none" strike="noStrike" baseline="0" dirty="0">
                <a:solidFill>
                  <a:srgbClr val="0000FF"/>
                </a:solidFill>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652EB6AD-F086-9A2C-7267-3CE2E5734545}"/>
              </a:ext>
            </a:extLst>
          </p:cNvPr>
          <p:cNvSpPr txBox="1"/>
          <p:nvPr/>
        </p:nvSpPr>
        <p:spPr>
          <a:xfrm>
            <a:off x="4887157" y="304305"/>
            <a:ext cx="4572000" cy="6186309"/>
          </a:xfrm>
          <a:prstGeom prst="rect">
            <a:avLst/>
          </a:prstGeom>
          <a:noFill/>
        </p:spPr>
        <p:txBody>
          <a:bodyPr wrap="square">
            <a:spAutoFit/>
          </a:bodyPr>
          <a:lstStyle/>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 This is the entry point for thread.</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public void run() {</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try {</a:t>
            </a:r>
          </a:p>
          <a:p>
            <a:pPr algn="l"/>
            <a:r>
              <a:rPr lang="nn-NO" sz="1800" b="0" i="0" u="none" strike="noStrike" baseline="0" dirty="0">
                <a:solidFill>
                  <a:srgbClr val="0000FF"/>
                </a:solidFill>
                <a:latin typeface="Times New Roman" panose="02020603050405020304" pitchFamily="18" charset="0"/>
                <a:cs typeface="Times New Roman" panose="02020603050405020304" pitchFamily="18" charset="0"/>
              </a:rPr>
              <a:t>for(int i = 15; i &gt; 0; i--) {</a:t>
            </a:r>
          </a:p>
          <a:p>
            <a:pPr algn="l"/>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(name + ": " + </a:t>
            </a:r>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i</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Thread.sleep</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(200);</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synchronized(this) {</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while(</a:t>
            </a:r>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suspendFlag</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 {</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wait();</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  } }</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 catch (</a:t>
            </a:r>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InterruptedException</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 e) {</a:t>
            </a:r>
          </a:p>
          <a:p>
            <a:pPr algn="l"/>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(name + " interrupted.");</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System.out.println</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(name + " exiting.");</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synchronized void </a:t>
            </a:r>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mysuspend</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 {</a:t>
            </a:r>
          </a:p>
          <a:p>
            <a:pPr algn="l"/>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suspendFlag</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 = true;</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synchronized void </a:t>
            </a:r>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myresume</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 {</a:t>
            </a:r>
          </a:p>
          <a:p>
            <a:pPr algn="l"/>
            <a:r>
              <a:rPr lang="en-US" sz="1800" b="0" i="0" u="none" strike="noStrike" baseline="0" dirty="0" err="1">
                <a:solidFill>
                  <a:srgbClr val="0000FF"/>
                </a:solidFill>
                <a:latin typeface="Times New Roman" panose="02020603050405020304" pitchFamily="18" charset="0"/>
                <a:cs typeface="Times New Roman" panose="02020603050405020304" pitchFamily="18" charset="0"/>
              </a:rPr>
              <a:t>suspendFlag</a:t>
            </a:r>
            <a:r>
              <a:rPr lang="en-US" sz="1800" b="0" i="0" u="none" strike="noStrike" baseline="0" dirty="0">
                <a:solidFill>
                  <a:srgbClr val="0000FF"/>
                </a:solidFill>
                <a:latin typeface="Times New Roman" panose="02020603050405020304" pitchFamily="18" charset="0"/>
                <a:cs typeface="Times New Roman" panose="02020603050405020304" pitchFamily="18" charset="0"/>
              </a:rPr>
              <a:t> = false;</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notify();</a:t>
            </a: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 }</a:t>
            </a:r>
            <a:endParaRPr lang="en-US" sz="1800"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62916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6B78AF-A54D-734A-607E-B271D5995F56}"/>
              </a:ext>
            </a:extLst>
          </p:cNvPr>
          <p:cNvSpPr>
            <a:spLocks noGrp="1"/>
          </p:cNvSpPr>
          <p:nvPr>
            <p:ph type="sldNum" sz="quarter" idx="12"/>
          </p:nvPr>
        </p:nvSpPr>
        <p:spPr/>
        <p:txBody>
          <a:bodyPr/>
          <a:lstStyle/>
          <a:p>
            <a:fld id="{FFEB7DBD-EAFA-4393-9BBA-2D358FF94BB4}" type="slidenum">
              <a:rPr lang="en-US" smtClean="0"/>
              <a:t>49</a:t>
            </a:fld>
            <a:endParaRPr lang="en-US"/>
          </a:p>
        </p:txBody>
      </p:sp>
      <p:sp>
        <p:nvSpPr>
          <p:cNvPr id="4" name="TextBox 3">
            <a:extLst>
              <a:ext uri="{FF2B5EF4-FFF2-40B4-BE49-F238E27FC236}">
                <a16:creationId xmlns:a16="http://schemas.microsoft.com/office/drawing/2014/main" id="{BCB19545-73CF-0C2F-D26D-DA98879E0828}"/>
              </a:ext>
            </a:extLst>
          </p:cNvPr>
          <p:cNvSpPr txBox="1"/>
          <p:nvPr/>
        </p:nvSpPr>
        <p:spPr>
          <a:xfrm>
            <a:off x="270769" y="137265"/>
            <a:ext cx="5233386" cy="6317114"/>
          </a:xfrm>
          <a:prstGeom prst="rect">
            <a:avLst/>
          </a:prstGeom>
          <a:noFill/>
        </p:spPr>
        <p:txBody>
          <a:bodyPr wrap="square">
            <a:spAutoFit/>
          </a:bodyPr>
          <a:lstStyle/>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sz="1050" b="0" i="0" u="none" strike="noStrike" baseline="0" dirty="0">
              <a:latin typeface="Times New Roman" panose="02020603050405020304" pitchFamily="18" charset="0"/>
              <a:cs typeface="Times New Roman" panose="02020603050405020304" pitchFamily="18" charset="0"/>
            </a:endParaRPr>
          </a:p>
          <a:p>
            <a:pPr algn="l"/>
            <a:r>
              <a:rPr lang="en-US" sz="1800" b="0" i="0" u="none" strike="noStrike" baseline="0" dirty="0">
                <a:solidFill>
                  <a:srgbClr val="0000FF"/>
                </a:solidFill>
                <a:latin typeface="Times New Roman" panose="02020603050405020304" pitchFamily="18" charset="0"/>
                <a:cs typeface="Times New Roman" panose="02020603050405020304" pitchFamily="18" charset="0"/>
              </a:rPr>
              <a:t>// Suspending and resuming a thread the modern way.</a:t>
            </a:r>
          </a:p>
          <a:p>
            <a:pPr algn="l"/>
            <a:endParaRPr lang="en-US" sz="1000" b="0" i="0" u="none" strike="noStrike" baseline="0" dirty="0">
              <a:solidFill>
                <a:srgbClr val="0000FF"/>
              </a:solidFill>
              <a:latin typeface="CourierStd"/>
            </a:endParaRPr>
          </a:p>
          <a:p>
            <a:pPr algn="l"/>
            <a:r>
              <a:rPr lang="en-US" dirty="0">
                <a:solidFill>
                  <a:srgbClr val="0000FF"/>
                </a:solidFill>
                <a:latin typeface="Times New Roman" panose="02020603050405020304" pitchFamily="18" charset="0"/>
                <a:cs typeface="Times New Roman" panose="02020603050405020304" pitchFamily="18" charset="0"/>
              </a:rPr>
              <a:t>class </a:t>
            </a:r>
            <a:r>
              <a:rPr lang="en-US" dirty="0" err="1">
                <a:solidFill>
                  <a:srgbClr val="0000FF"/>
                </a:solidFill>
                <a:latin typeface="Times New Roman" panose="02020603050405020304" pitchFamily="18" charset="0"/>
                <a:cs typeface="Times New Roman" panose="02020603050405020304" pitchFamily="18" charset="0"/>
              </a:rPr>
              <a:t>SuspendResume</a:t>
            </a:r>
            <a:r>
              <a:rPr lang="en-US" dirty="0">
                <a:solidFill>
                  <a:srgbClr val="0000FF"/>
                </a:solidFill>
                <a:latin typeface="Times New Roman" panose="02020603050405020304" pitchFamily="18" charset="0"/>
                <a:cs typeface="Times New Roman" panose="02020603050405020304" pitchFamily="18" charset="0"/>
              </a:rPr>
              <a:t> {</a:t>
            </a:r>
          </a:p>
          <a:p>
            <a:pPr algn="l"/>
            <a:r>
              <a:rPr lang="en-US" dirty="0">
                <a:solidFill>
                  <a:srgbClr val="0000FF"/>
                </a:solidFill>
                <a:latin typeface="Times New Roman" panose="02020603050405020304" pitchFamily="18" charset="0"/>
                <a:cs typeface="Times New Roman" panose="02020603050405020304" pitchFamily="18" charset="0"/>
              </a:rPr>
              <a:t>public static void main(String </a:t>
            </a:r>
            <a:r>
              <a:rPr lang="en-US" dirty="0" err="1">
                <a:solidFill>
                  <a:srgbClr val="0000FF"/>
                </a:solidFill>
                <a:latin typeface="Times New Roman" panose="02020603050405020304" pitchFamily="18" charset="0"/>
                <a:cs typeface="Times New Roman" panose="02020603050405020304" pitchFamily="18" charset="0"/>
              </a:rPr>
              <a:t>args</a:t>
            </a:r>
            <a:r>
              <a:rPr lang="en-US" dirty="0">
                <a:solidFill>
                  <a:srgbClr val="0000FF"/>
                </a:solidFill>
                <a:latin typeface="Times New Roman" panose="02020603050405020304" pitchFamily="18" charset="0"/>
                <a:cs typeface="Times New Roman" panose="02020603050405020304" pitchFamily="18" charset="0"/>
              </a:rPr>
              <a:t>[]) {</a:t>
            </a:r>
          </a:p>
          <a:p>
            <a:pPr algn="l"/>
            <a:r>
              <a:rPr lang="en-US" dirty="0" err="1">
                <a:solidFill>
                  <a:srgbClr val="0000FF"/>
                </a:solidFill>
                <a:latin typeface="Times New Roman" panose="02020603050405020304" pitchFamily="18" charset="0"/>
                <a:cs typeface="Times New Roman" panose="02020603050405020304" pitchFamily="18" charset="0"/>
              </a:rPr>
              <a:t>NewThread</a:t>
            </a:r>
            <a:r>
              <a:rPr lang="en-US" dirty="0">
                <a:solidFill>
                  <a:srgbClr val="0000FF"/>
                </a:solidFill>
                <a:latin typeface="Times New Roman" panose="02020603050405020304" pitchFamily="18" charset="0"/>
                <a:cs typeface="Times New Roman" panose="02020603050405020304" pitchFamily="18" charset="0"/>
              </a:rPr>
              <a:t> ob1 = new </a:t>
            </a:r>
            <a:r>
              <a:rPr lang="en-US" dirty="0" err="1">
                <a:solidFill>
                  <a:srgbClr val="0000FF"/>
                </a:solidFill>
                <a:latin typeface="Times New Roman" panose="02020603050405020304" pitchFamily="18" charset="0"/>
                <a:cs typeface="Times New Roman" panose="02020603050405020304" pitchFamily="18" charset="0"/>
              </a:rPr>
              <a:t>NewThread</a:t>
            </a:r>
            <a:r>
              <a:rPr lang="en-US" dirty="0">
                <a:solidFill>
                  <a:srgbClr val="0000FF"/>
                </a:solidFill>
                <a:latin typeface="Times New Roman" panose="02020603050405020304" pitchFamily="18" charset="0"/>
                <a:cs typeface="Times New Roman" panose="02020603050405020304" pitchFamily="18" charset="0"/>
              </a:rPr>
              <a:t>("One");</a:t>
            </a:r>
          </a:p>
          <a:p>
            <a:pPr algn="l"/>
            <a:r>
              <a:rPr lang="en-US" dirty="0" err="1">
                <a:solidFill>
                  <a:srgbClr val="0000FF"/>
                </a:solidFill>
                <a:latin typeface="Times New Roman" panose="02020603050405020304" pitchFamily="18" charset="0"/>
                <a:cs typeface="Times New Roman" panose="02020603050405020304" pitchFamily="18" charset="0"/>
              </a:rPr>
              <a:t>NewThread</a:t>
            </a:r>
            <a:r>
              <a:rPr lang="en-US" dirty="0">
                <a:solidFill>
                  <a:srgbClr val="0000FF"/>
                </a:solidFill>
                <a:latin typeface="Times New Roman" panose="02020603050405020304" pitchFamily="18" charset="0"/>
                <a:cs typeface="Times New Roman" panose="02020603050405020304" pitchFamily="18" charset="0"/>
              </a:rPr>
              <a:t> ob2 = new </a:t>
            </a:r>
            <a:r>
              <a:rPr lang="en-US" dirty="0" err="1">
                <a:solidFill>
                  <a:srgbClr val="0000FF"/>
                </a:solidFill>
                <a:latin typeface="Times New Roman" panose="02020603050405020304" pitchFamily="18" charset="0"/>
                <a:cs typeface="Times New Roman" panose="02020603050405020304" pitchFamily="18" charset="0"/>
              </a:rPr>
              <a:t>NewThread</a:t>
            </a:r>
            <a:r>
              <a:rPr lang="en-US" dirty="0">
                <a:solidFill>
                  <a:srgbClr val="0000FF"/>
                </a:solidFill>
                <a:latin typeface="Times New Roman" panose="02020603050405020304" pitchFamily="18" charset="0"/>
                <a:cs typeface="Times New Roman" panose="02020603050405020304" pitchFamily="18" charset="0"/>
              </a:rPr>
              <a:t>("Two");</a:t>
            </a:r>
          </a:p>
          <a:p>
            <a:pPr algn="l"/>
            <a:r>
              <a:rPr lang="en-US" dirty="0">
                <a:solidFill>
                  <a:srgbClr val="0000FF"/>
                </a:solidFill>
                <a:latin typeface="Times New Roman" panose="02020603050405020304" pitchFamily="18" charset="0"/>
                <a:cs typeface="Times New Roman" panose="02020603050405020304" pitchFamily="18" charset="0"/>
              </a:rPr>
              <a:t>try {</a:t>
            </a:r>
          </a:p>
          <a:p>
            <a:pPr algn="l"/>
            <a:r>
              <a:rPr lang="en-US" dirty="0" err="1">
                <a:solidFill>
                  <a:srgbClr val="0000FF"/>
                </a:solidFill>
                <a:latin typeface="Times New Roman" panose="02020603050405020304" pitchFamily="18" charset="0"/>
                <a:cs typeface="Times New Roman" panose="02020603050405020304" pitchFamily="18" charset="0"/>
              </a:rPr>
              <a:t>Thread.sleep</a:t>
            </a:r>
            <a:r>
              <a:rPr lang="en-US" dirty="0">
                <a:solidFill>
                  <a:srgbClr val="0000FF"/>
                </a:solidFill>
                <a:latin typeface="Times New Roman" panose="02020603050405020304" pitchFamily="18" charset="0"/>
                <a:cs typeface="Times New Roman" panose="02020603050405020304" pitchFamily="18" charset="0"/>
              </a:rPr>
              <a:t>(1000);</a:t>
            </a:r>
          </a:p>
          <a:p>
            <a:pPr algn="l"/>
            <a:r>
              <a:rPr lang="en-US" dirty="0">
                <a:solidFill>
                  <a:srgbClr val="0000FF"/>
                </a:solidFill>
                <a:latin typeface="Times New Roman" panose="02020603050405020304" pitchFamily="18" charset="0"/>
                <a:cs typeface="Times New Roman" panose="02020603050405020304" pitchFamily="18" charset="0"/>
              </a:rPr>
              <a:t>ob1.mysuspend();</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("Suspending thread One");</a:t>
            </a:r>
          </a:p>
          <a:p>
            <a:pPr algn="l"/>
            <a:r>
              <a:rPr lang="en-US" dirty="0" err="1">
                <a:solidFill>
                  <a:srgbClr val="0000FF"/>
                </a:solidFill>
                <a:latin typeface="Times New Roman" panose="02020603050405020304" pitchFamily="18" charset="0"/>
                <a:cs typeface="Times New Roman" panose="02020603050405020304" pitchFamily="18" charset="0"/>
              </a:rPr>
              <a:t>Thread.sleep</a:t>
            </a:r>
            <a:r>
              <a:rPr lang="en-US" dirty="0">
                <a:solidFill>
                  <a:srgbClr val="0000FF"/>
                </a:solidFill>
                <a:latin typeface="Times New Roman" panose="02020603050405020304" pitchFamily="18" charset="0"/>
                <a:cs typeface="Times New Roman" panose="02020603050405020304" pitchFamily="18" charset="0"/>
              </a:rPr>
              <a:t>(1000);</a:t>
            </a:r>
          </a:p>
          <a:p>
            <a:pPr algn="l"/>
            <a:r>
              <a:rPr lang="en-US" dirty="0">
                <a:solidFill>
                  <a:srgbClr val="0000FF"/>
                </a:solidFill>
                <a:latin typeface="Times New Roman" panose="02020603050405020304" pitchFamily="18" charset="0"/>
                <a:cs typeface="Times New Roman" panose="02020603050405020304" pitchFamily="18" charset="0"/>
              </a:rPr>
              <a:t>ob1.myresume();</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("Resuming thread One");</a:t>
            </a:r>
          </a:p>
          <a:p>
            <a:pPr algn="l"/>
            <a:r>
              <a:rPr lang="en-US" dirty="0">
                <a:solidFill>
                  <a:srgbClr val="0000FF"/>
                </a:solidFill>
                <a:latin typeface="Times New Roman" panose="02020603050405020304" pitchFamily="18" charset="0"/>
                <a:cs typeface="Times New Roman" panose="02020603050405020304" pitchFamily="18" charset="0"/>
              </a:rPr>
              <a:t>ob2.mysuspend();</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("Suspending thread Two");</a:t>
            </a:r>
          </a:p>
          <a:p>
            <a:pPr algn="l"/>
            <a:r>
              <a:rPr lang="en-US" dirty="0" err="1">
                <a:solidFill>
                  <a:srgbClr val="0000FF"/>
                </a:solidFill>
                <a:latin typeface="Times New Roman" panose="02020603050405020304" pitchFamily="18" charset="0"/>
                <a:cs typeface="Times New Roman" panose="02020603050405020304" pitchFamily="18" charset="0"/>
              </a:rPr>
              <a:t>Thread.sleep</a:t>
            </a:r>
            <a:r>
              <a:rPr lang="en-US" dirty="0">
                <a:solidFill>
                  <a:srgbClr val="0000FF"/>
                </a:solidFill>
                <a:latin typeface="Times New Roman" panose="02020603050405020304" pitchFamily="18" charset="0"/>
                <a:cs typeface="Times New Roman" panose="02020603050405020304" pitchFamily="18" charset="0"/>
              </a:rPr>
              <a:t>(1000);</a:t>
            </a:r>
          </a:p>
          <a:p>
            <a:pPr algn="l"/>
            <a:r>
              <a:rPr lang="en-US" dirty="0">
                <a:solidFill>
                  <a:srgbClr val="0000FF"/>
                </a:solidFill>
                <a:latin typeface="Times New Roman" panose="02020603050405020304" pitchFamily="18" charset="0"/>
                <a:cs typeface="Times New Roman" panose="02020603050405020304" pitchFamily="18" charset="0"/>
              </a:rPr>
              <a:t>ob2.myresume();</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("Resuming thread Two");</a:t>
            </a:r>
          </a:p>
          <a:p>
            <a:pPr algn="l"/>
            <a:r>
              <a:rPr lang="en-US" dirty="0">
                <a:solidFill>
                  <a:srgbClr val="0000FF"/>
                </a:solidFill>
                <a:latin typeface="Times New Roman" panose="02020603050405020304" pitchFamily="18" charset="0"/>
                <a:cs typeface="Times New Roman" panose="02020603050405020304" pitchFamily="18" charset="0"/>
              </a:rPr>
              <a:t>} catch (</a:t>
            </a:r>
            <a:r>
              <a:rPr lang="en-US" dirty="0" err="1">
                <a:solidFill>
                  <a:srgbClr val="0000FF"/>
                </a:solidFill>
                <a:latin typeface="Times New Roman" panose="02020603050405020304" pitchFamily="18" charset="0"/>
                <a:cs typeface="Times New Roman" panose="02020603050405020304" pitchFamily="18" charset="0"/>
              </a:rPr>
              <a:t>InterruptedException</a:t>
            </a:r>
            <a:r>
              <a:rPr lang="en-US" dirty="0">
                <a:solidFill>
                  <a:srgbClr val="0000FF"/>
                </a:solidFill>
                <a:latin typeface="Times New Roman" panose="02020603050405020304" pitchFamily="18" charset="0"/>
                <a:cs typeface="Times New Roman" panose="02020603050405020304" pitchFamily="18" charset="0"/>
              </a:rPr>
              <a:t> e) {</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("Main thread Interrupted");</a:t>
            </a:r>
          </a:p>
          <a:p>
            <a:pPr algn="l"/>
            <a:r>
              <a:rPr lang="en-US" dirty="0">
                <a:solidFill>
                  <a:srgbClr val="0000FF"/>
                </a:solidFill>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FF1F5278-A5F8-B707-4EAA-AF47DE6DA0A8}"/>
              </a:ext>
            </a:extLst>
          </p:cNvPr>
          <p:cNvSpPr txBox="1"/>
          <p:nvPr/>
        </p:nvSpPr>
        <p:spPr>
          <a:xfrm>
            <a:off x="4709604" y="1332446"/>
            <a:ext cx="4572000" cy="3416320"/>
          </a:xfrm>
          <a:prstGeom prst="rect">
            <a:avLst/>
          </a:prstGeom>
          <a:noFill/>
        </p:spPr>
        <p:txBody>
          <a:bodyPr wrap="square">
            <a:spAutoFit/>
          </a:bodyPr>
          <a:lstStyle/>
          <a:p>
            <a:pPr algn="l"/>
            <a:r>
              <a:rPr lang="en-US" dirty="0">
                <a:solidFill>
                  <a:srgbClr val="0000FF"/>
                </a:solidFill>
                <a:latin typeface="Times New Roman" panose="02020603050405020304" pitchFamily="18" charset="0"/>
                <a:cs typeface="Times New Roman" panose="02020603050405020304" pitchFamily="18" charset="0"/>
              </a:rPr>
              <a:t>// wait for threads to finish</a:t>
            </a:r>
          </a:p>
          <a:p>
            <a:pPr algn="l"/>
            <a:r>
              <a:rPr lang="en-US" dirty="0">
                <a:solidFill>
                  <a:srgbClr val="0000FF"/>
                </a:solidFill>
                <a:latin typeface="Times New Roman" panose="02020603050405020304" pitchFamily="18" charset="0"/>
                <a:cs typeface="Times New Roman" panose="02020603050405020304" pitchFamily="18" charset="0"/>
              </a:rPr>
              <a:t>try {</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("Waiting for threads to finish.");</a:t>
            </a:r>
          </a:p>
          <a:p>
            <a:pPr algn="l"/>
            <a:r>
              <a:rPr lang="en-US" dirty="0">
                <a:solidFill>
                  <a:srgbClr val="0000FF"/>
                </a:solidFill>
                <a:latin typeface="Times New Roman" panose="02020603050405020304" pitchFamily="18" charset="0"/>
                <a:cs typeface="Times New Roman" panose="02020603050405020304" pitchFamily="18" charset="0"/>
              </a:rPr>
              <a:t>ob1.t.join();</a:t>
            </a:r>
          </a:p>
          <a:p>
            <a:pPr algn="l"/>
            <a:r>
              <a:rPr lang="en-US" dirty="0">
                <a:solidFill>
                  <a:srgbClr val="0000FF"/>
                </a:solidFill>
                <a:latin typeface="Times New Roman" panose="02020603050405020304" pitchFamily="18" charset="0"/>
                <a:cs typeface="Times New Roman" panose="02020603050405020304" pitchFamily="18" charset="0"/>
              </a:rPr>
              <a:t>ob2.t.join();</a:t>
            </a:r>
          </a:p>
          <a:p>
            <a:pPr algn="l"/>
            <a:r>
              <a:rPr lang="en-US" dirty="0">
                <a:solidFill>
                  <a:srgbClr val="0000FF"/>
                </a:solidFill>
                <a:latin typeface="Times New Roman" panose="02020603050405020304" pitchFamily="18" charset="0"/>
                <a:cs typeface="Times New Roman" panose="02020603050405020304" pitchFamily="18" charset="0"/>
              </a:rPr>
              <a:t>} catch (</a:t>
            </a:r>
            <a:r>
              <a:rPr lang="en-US" dirty="0" err="1">
                <a:solidFill>
                  <a:srgbClr val="0000FF"/>
                </a:solidFill>
                <a:latin typeface="Times New Roman" panose="02020603050405020304" pitchFamily="18" charset="0"/>
                <a:cs typeface="Times New Roman" panose="02020603050405020304" pitchFamily="18" charset="0"/>
              </a:rPr>
              <a:t>InterruptedException</a:t>
            </a:r>
            <a:r>
              <a:rPr lang="en-US" dirty="0">
                <a:solidFill>
                  <a:srgbClr val="0000FF"/>
                </a:solidFill>
                <a:latin typeface="Times New Roman" panose="02020603050405020304" pitchFamily="18" charset="0"/>
                <a:cs typeface="Times New Roman" panose="02020603050405020304" pitchFamily="18" charset="0"/>
              </a:rPr>
              <a:t> e) {</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("Main thread Interrupted");</a:t>
            </a:r>
          </a:p>
          <a:p>
            <a:pPr algn="l"/>
            <a:r>
              <a:rPr lang="en-US" dirty="0">
                <a:solidFill>
                  <a:srgbClr val="0000FF"/>
                </a:solidFill>
                <a:latin typeface="Times New Roman" panose="02020603050405020304" pitchFamily="18" charset="0"/>
                <a:cs typeface="Times New Roman" panose="02020603050405020304" pitchFamily="18" charset="0"/>
              </a:rPr>
              <a:t>}</a:t>
            </a:r>
          </a:p>
          <a:p>
            <a:pPr algn="l"/>
            <a:r>
              <a:rPr lang="en-US" dirty="0" err="1">
                <a:solidFill>
                  <a:srgbClr val="0000FF"/>
                </a:solidFill>
                <a:latin typeface="Times New Roman" panose="02020603050405020304" pitchFamily="18" charset="0"/>
                <a:cs typeface="Times New Roman" panose="02020603050405020304" pitchFamily="18" charset="0"/>
              </a:rPr>
              <a:t>System.out.println</a:t>
            </a:r>
            <a:r>
              <a:rPr lang="en-US" dirty="0">
                <a:solidFill>
                  <a:srgbClr val="0000FF"/>
                </a:solidFill>
                <a:latin typeface="Times New Roman" panose="02020603050405020304" pitchFamily="18" charset="0"/>
                <a:cs typeface="Times New Roman" panose="02020603050405020304" pitchFamily="18" charset="0"/>
              </a:rPr>
              <a:t>("Main thread exiting.");</a:t>
            </a:r>
          </a:p>
          <a:p>
            <a:pPr algn="l"/>
            <a:r>
              <a:rPr lang="en-US" dirty="0">
                <a:solidFill>
                  <a:srgbClr val="0000FF"/>
                </a:solidFill>
                <a:latin typeface="Times New Roman" panose="02020603050405020304" pitchFamily="18" charset="0"/>
                <a:cs typeface="Times New Roman" panose="02020603050405020304" pitchFamily="18" charset="0"/>
              </a:rPr>
              <a:t>}</a:t>
            </a:r>
          </a:p>
          <a:p>
            <a:pPr algn="l"/>
            <a:r>
              <a:rPr lang="en-US" dirty="0">
                <a:solidFill>
                  <a:srgbClr val="0000FF"/>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773918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6B78AF-A54D-734A-607E-B271D5995F56}"/>
              </a:ext>
            </a:extLst>
          </p:cNvPr>
          <p:cNvSpPr>
            <a:spLocks noGrp="1"/>
          </p:cNvSpPr>
          <p:nvPr>
            <p:ph type="sldNum" sz="quarter" idx="12"/>
          </p:nvPr>
        </p:nvSpPr>
        <p:spPr/>
        <p:txBody>
          <a:bodyPr/>
          <a:lstStyle/>
          <a:p>
            <a:fld id="{FFEB7DBD-EAFA-4393-9BBA-2D358FF94BB4}" type="slidenum">
              <a:rPr lang="en-US" smtClean="0"/>
              <a:t>50</a:t>
            </a:fld>
            <a:endParaRPr lang="en-US"/>
          </a:p>
        </p:txBody>
      </p:sp>
      <p:sp>
        <p:nvSpPr>
          <p:cNvPr id="4" name="TextBox 3">
            <a:extLst>
              <a:ext uri="{FF2B5EF4-FFF2-40B4-BE49-F238E27FC236}">
                <a16:creationId xmlns:a16="http://schemas.microsoft.com/office/drawing/2014/main" id="{BCB19545-73CF-0C2F-D26D-DA98879E0828}"/>
              </a:ext>
            </a:extLst>
          </p:cNvPr>
          <p:cNvSpPr txBox="1"/>
          <p:nvPr/>
        </p:nvSpPr>
        <p:spPr>
          <a:xfrm>
            <a:off x="270769" y="137265"/>
            <a:ext cx="7026676" cy="6555641"/>
          </a:xfrm>
          <a:prstGeom prst="rect">
            <a:avLst/>
          </a:prstGeom>
          <a:noFill/>
        </p:spPr>
        <p:txBody>
          <a:bodyPr wrap="square">
            <a:spAutoFit/>
          </a:bodyPr>
          <a:lstStyle/>
          <a:p>
            <a:pPr algn="l"/>
            <a:r>
              <a:rPr lang="en-US" sz="2400" b="1" i="0" u="none" strike="noStrike" baseline="0" dirty="0">
                <a:solidFill>
                  <a:srgbClr val="7030A0"/>
                </a:solidFill>
                <a:latin typeface="Times New Roman" panose="02020603050405020304" pitchFamily="18" charset="0"/>
                <a:cs typeface="Times New Roman" panose="02020603050405020304" pitchFamily="18" charset="0"/>
              </a:rPr>
              <a:t>Deadlock</a:t>
            </a:r>
          </a:p>
          <a:p>
            <a:pPr algn="l"/>
            <a:endParaRPr lang="en-US" dirty="0">
              <a:solidFill>
                <a:srgbClr val="0070C0"/>
              </a:solidFill>
              <a:latin typeface="Times New Roman" panose="02020603050405020304" pitchFamily="18" charset="0"/>
              <a:cs typeface="Times New Roman" panose="02020603050405020304" pitchFamily="18" charset="0"/>
            </a:endParaRPr>
          </a:p>
          <a:p>
            <a:r>
              <a:rPr lang="en-US" b="1" dirty="0">
                <a:solidFill>
                  <a:srgbClr val="7030A0"/>
                </a:solidFill>
              </a:rPr>
              <a:t>Output</a:t>
            </a:r>
          </a:p>
          <a:p>
            <a:r>
              <a:rPr lang="en-US" dirty="0">
                <a:solidFill>
                  <a:srgbClr val="0070C0"/>
                </a:solidFill>
              </a:rPr>
              <a:t>New thread: Thread[One,5,main]</a:t>
            </a:r>
          </a:p>
          <a:p>
            <a:r>
              <a:rPr lang="en-US" dirty="0">
                <a:solidFill>
                  <a:srgbClr val="0070C0"/>
                </a:solidFill>
              </a:rPr>
              <a:t>New thread: Thread[Two,5,main]</a:t>
            </a:r>
          </a:p>
          <a:p>
            <a:r>
              <a:rPr lang="en-US" dirty="0">
                <a:solidFill>
                  <a:srgbClr val="0070C0"/>
                </a:solidFill>
              </a:rPr>
              <a:t>One: 15</a:t>
            </a:r>
          </a:p>
          <a:p>
            <a:r>
              <a:rPr lang="en-US" dirty="0">
                <a:solidFill>
                  <a:srgbClr val="0070C0"/>
                </a:solidFill>
              </a:rPr>
              <a:t>Two: 15</a:t>
            </a:r>
          </a:p>
          <a:p>
            <a:r>
              <a:rPr lang="en-US" dirty="0">
                <a:solidFill>
                  <a:srgbClr val="0070C0"/>
                </a:solidFill>
              </a:rPr>
              <a:t>Two: 14</a:t>
            </a:r>
          </a:p>
          <a:p>
            <a:r>
              <a:rPr lang="en-US" dirty="0">
                <a:solidFill>
                  <a:srgbClr val="0070C0"/>
                </a:solidFill>
              </a:rPr>
              <a:t>One: 14</a:t>
            </a:r>
          </a:p>
          <a:p>
            <a:r>
              <a:rPr lang="en-US" dirty="0">
                <a:solidFill>
                  <a:srgbClr val="0070C0"/>
                </a:solidFill>
              </a:rPr>
              <a:t>Two: 13</a:t>
            </a:r>
          </a:p>
          <a:p>
            <a:r>
              <a:rPr lang="en-US" dirty="0">
                <a:solidFill>
                  <a:srgbClr val="0070C0"/>
                </a:solidFill>
              </a:rPr>
              <a:t>One: 13</a:t>
            </a:r>
          </a:p>
          <a:p>
            <a:r>
              <a:rPr lang="en-US" dirty="0">
                <a:solidFill>
                  <a:srgbClr val="0070C0"/>
                </a:solidFill>
              </a:rPr>
              <a:t>One: 12</a:t>
            </a:r>
          </a:p>
          <a:p>
            <a:r>
              <a:rPr lang="en-US" dirty="0">
                <a:solidFill>
                  <a:srgbClr val="0070C0"/>
                </a:solidFill>
              </a:rPr>
              <a:t>Two: 12</a:t>
            </a:r>
          </a:p>
          <a:p>
            <a:r>
              <a:rPr lang="en-US" dirty="0">
                <a:solidFill>
                  <a:srgbClr val="0070C0"/>
                </a:solidFill>
              </a:rPr>
              <a:t>Two: 11</a:t>
            </a:r>
          </a:p>
          <a:p>
            <a:r>
              <a:rPr lang="en-US" dirty="0">
                <a:solidFill>
                  <a:srgbClr val="0070C0"/>
                </a:solidFill>
              </a:rPr>
              <a:t>One: 11</a:t>
            </a:r>
          </a:p>
          <a:p>
            <a:r>
              <a:rPr lang="en-US" dirty="0">
                <a:solidFill>
                  <a:srgbClr val="0070C0"/>
                </a:solidFill>
              </a:rPr>
              <a:t>Suspending thread One</a:t>
            </a:r>
          </a:p>
          <a:p>
            <a:r>
              <a:rPr lang="en-US" dirty="0">
                <a:solidFill>
                  <a:srgbClr val="0070C0"/>
                </a:solidFill>
              </a:rPr>
              <a:t>Two: 10</a:t>
            </a:r>
          </a:p>
          <a:p>
            <a:r>
              <a:rPr lang="en-US" dirty="0">
                <a:solidFill>
                  <a:srgbClr val="0070C0"/>
                </a:solidFill>
              </a:rPr>
              <a:t>Two: 9</a:t>
            </a:r>
          </a:p>
          <a:p>
            <a:r>
              <a:rPr lang="en-US" dirty="0">
                <a:solidFill>
                  <a:srgbClr val="0070C0"/>
                </a:solidFill>
              </a:rPr>
              <a:t>Two: 8</a:t>
            </a:r>
          </a:p>
          <a:p>
            <a:r>
              <a:rPr lang="en-US" dirty="0">
                <a:solidFill>
                  <a:srgbClr val="0070C0"/>
                </a:solidFill>
              </a:rPr>
              <a:t>Two: 7</a:t>
            </a:r>
          </a:p>
          <a:p>
            <a:r>
              <a:rPr lang="en-US" dirty="0">
                <a:solidFill>
                  <a:srgbClr val="0070C0"/>
                </a:solidFill>
              </a:rPr>
              <a:t>Two: 6</a:t>
            </a:r>
          </a:p>
          <a:p>
            <a:r>
              <a:rPr lang="en-US" dirty="0">
                <a:solidFill>
                  <a:srgbClr val="0070C0"/>
                </a:solidFill>
              </a:rPr>
              <a:t>Resuming thread One</a:t>
            </a:r>
          </a:p>
          <a:p>
            <a:pPr algn="l"/>
            <a:r>
              <a:rPr lang="en-US" dirty="0">
                <a:solidFill>
                  <a:srgbClr val="0070C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105639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B36DEC-7303-CCC7-86D7-B0B7F85B781A}"/>
              </a:ext>
            </a:extLst>
          </p:cNvPr>
          <p:cNvSpPr>
            <a:spLocks noGrp="1"/>
          </p:cNvSpPr>
          <p:nvPr>
            <p:ph type="sldNum" sz="quarter" idx="12"/>
          </p:nvPr>
        </p:nvSpPr>
        <p:spPr/>
        <p:txBody>
          <a:bodyPr/>
          <a:lstStyle/>
          <a:p>
            <a:fld id="{FFEB7DBD-EAFA-4393-9BBA-2D358FF94BB4}" type="slidenum">
              <a:rPr lang="en-US" smtClean="0"/>
              <a:t>51</a:t>
            </a:fld>
            <a:endParaRPr lang="en-US"/>
          </a:p>
        </p:txBody>
      </p:sp>
    </p:spTree>
    <p:extLst>
      <p:ext uri="{BB962C8B-B14F-4D97-AF65-F5344CB8AC3E}">
        <p14:creationId xmlns:p14="http://schemas.microsoft.com/office/powerpoint/2010/main" val="4416477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7BACFD-4AEA-8C3B-9A6C-14A570303171}"/>
              </a:ext>
            </a:extLst>
          </p:cNvPr>
          <p:cNvSpPr>
            <a:spLocks noGrp="1"/>
          </p:cNvSpPr>
          <p:nvPr>
            <p:ph type="sldNum" sz="quarter" idx="12"/>
          </p:nvPr>
        </p:nvSpPr>
        <p:spPr/>
        <p:txBody>
          <a:bodyPr/>
          <a:lstStyle/>
          <a:p>
            <a:fld id="{FFEB7DBD-EAFA-4393-9BBA-2D358FF94BB4}" type="slidenum">
              <a:rPr lang="en-US" smtClean="0"/>
              <a:t>52</a:t>
            </a:fld>
            <a:endParaRPr lang="en-US"/>
          </a:p>
        </p:txBody>
      </p:sp>
    </p:spTree>
    <p:extLst>
      <p:ext uri="{BB962C8B-B14F-4D97-AF65-F5344CB8AC3E}">
        <p14:creationId xmlns:p14="http://schemas.microsoft.com/office/powerpoint/2010/main" val="9684257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4E566B-FC8B-2B79-703E-B09497CFC0BD}"/>
              </a:ext>
            </a:extLst>
          </p:cNvPr>
          <p:cNvSpPr>
            <a:spLocks noGrp="1"/>
          </p:cNvSpPr>
          <p:nvPr>
            <p:ph type="sldNum" sz="quarter" idx="12"/>
          </p:nvPr>
        </p:nvSpPr>
        <p:spPr/>
        <p:txBody>
          <a:bodyPr/>
          <a:lstStyle/>
          <a:p>
            <a:fld id="{FFEB7DBD-EAFA-4393-9BBA-2D358FF94BB4}" type="slidenum">
              <a:rPr lang="en-US" smtClean="0"/>
              <a:t>53</a:t>
            </a:fld>
            <a:endParaRPr lang="en-US"/>
          </a:p>
        </p:txBody>
      </p:sp>
    </p:spTree>
    <p:extLst>
      <p:ext uri="{BB962C8B-B14F-4D97-AF65-F5344CB8AC3E}">
        <p14:creationId xmlns:p14="http://schemas.microsoft.com/office/powerpoint/2010/main" val="36074643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7A1195-7BE9-293D-867E-07525BDAFB5B}"/>
              </a:ext>
            </a:extLst>
          </p:cNvPr>
          <p:cNvSpPr>
            <a:spLocks noGrp="1"/>
          </p:cNvSpPr>
          <p:nvPr>
            <p:ph type="sldNum" sz="quarter" idx="12"/>
          </p:nvPr>
        </p:nvSpPr>
        <p:spPr/>
        <p:txBody>
          <a:bodyPr/>
          <a:lstStyle/>
          <a:p>
            <a:fld id="{FFEB7DBD-EAFA-4393-9BBA-2D358FF94BB4}" type="slidenum">
              <a:rPr lang="en-US" smtClean="0"/>
              <a:t>54</a:t>
            </a:fld>
            <a:endParaRPr lang="en-US"/>
          </a:p>
        </p:txBody>
      </p:sp>
    </p:spTree>
    <p:extLst>
      <p:ext uri="{BB962C8B-B14F-4D97-AF65-F5344CB8AC3E}">
        <p14:creationId xmlns:p14="http://schemas.microsoft.com/office/powerpoint/2010/main" val="31385725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FFEB7DBD-EAFA-4393-9BBA-2D358FF94BB4}" type="slidenum">
              <a:rPr lang="en-US" smtClean="0"/>
              <a:t>55</a:t>
            </a:fld>
            <a:endParaRPr lang="en-US"/>
          </a:p>
        </p:txBody>
      </p:sp>
    </p:spTree>
    <p:extLst>
      <p:ext uri="{BB962C8B-B14F-4D97-AF65-F5344CB8AC3E}">
        <p14:creationId xmlns:p14="http://schemas.microsoft.com/office/powerpoint/2010/main" val="73871250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5548</TotalTime>
  <Words>5791</Words>
  <Application>Microsoft Office PowerPoint</Application>
  <PresentationFormat>On-screen Show (4:3)</PresentationFormat>
  <Paragraphs>963</Paragraphs>
  <Slides>55</Slides>
  <Notes>49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Arial</vt:lpstr>
      <vt:lpstr>Calibri</vt:lpstr>
      <vt:lpstr>CourierStd</vt:lpstr>
      <vt:lpstr>DINMittelEFOP-Bold</vt:lpstr>
      <vt:lpstr>NewBaskervilleStd-Bold</vt:lpstr>
      <vt:lpstr>NewBaskervilleStd-Roman</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WIN</cp:lastModifiedBy>
  <cp:revision>197</cp:revision>
  <dcterms:created xsi:type="dcterms:W3CDTF">2021-06-21T05:08:42Z</dcterms:created>
  <dcterms:modified xsi:type="dcterms:W3CDTF">2024-06-06T01:59:28Z</dcterms:modified>
</cp:coreProperties>
</file>